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30"/>
  </p:notesMasterIdLst>
  <p:sldIdLst>
    <p:sldId id="256" r:id="rId2"/>
    <p:sldId id="258" r:id="rId3"/>
    <p:sldId id="259" r:id="rId4"/>
    <p:sldId id="260" r:id="rId5"/>
    <p:sldId id="261" r:id="rId6"/>
    <p:sldId id="262" r:id="rId7"/>
    <p:sldId id="263" r:id="rId8"/>
    <p:sldId id="288" r:id="rId9"/>
    <p:sldId id="264" r:id="rId10"/>
    <p:sldId id="265" r:id="rId11"/>
    <p:sldId id="267" r:id="rId12"/>
    <p:sldId id="269" r:id="rId13"/>
    <p:sldId id="270" r:id="rId14"/>
    <p:sldId id="271" r:id="rId15"/>
    <p:sldId id="273" r:id="rId16"/>
    <p:sldId id="274" r:id="rId17"/>
    <p:sldId id="275" r:id="rId18"/>
    <p:sldId id="276" r:id="rId19"/>
    <p:sldId id="277" r:id="rId20"/>
    <p:sldId id="278" r:id="rId21"/>
    <p:sldId id="279" r:id="rId22"/>
    <p:sldId id="280" r:id="rId23"/>
    <p:sldId id="287" r:id="rId24"/>
    <p:sldId id="289" r:id="rId25"/>
    <p:sldId id="281" r:id="rId26"/>
    <p:sldId id="282" r:id="rId27"/>
    <p:sldId id="283" r:id="rId28"/>
    <p:sldId id="284"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DA30F2-CF03-469B-82A4-C0ED8C173674}" v="54" dt="2025-03-19T14:18:04.689"/>
    <p1510:client id="{75617809-710E-4BB3-8FFA-48EAB39CB45C}" v="144" dt="2025-03-19T14:36:47.8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3" autoAdjust="0"/>
    <p:restoredTop sz="94660"/>
  </p:normalViewPr>
  <p:slideViewPr>
    <p:cSldViewPr>
      <p:cViewPr varScale="1">
        <p:scale>
          <a:sx n="78" d="100"/>
          <a:sy n="78" d="100"/>
        </p:scale>
        <p:origin x="1579"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5/10/relationships/revisionInfo" Target="revisionInfo.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DB7437F-1B6C-49E1-B5BF-106608D33C17}" type="datetimeFigureOut">
              <a:rPr lang="en-US" smtClean="0"/>
              <a:pPr/>
              <a:t>3/19/2025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D1452C5-E25D-4588-86AE-5C1488D0848F}" type="slidenum">
              <a:rPr lang="en-US" smtClean="0"/>
              <a:pPr/>
              <a:t>‹#›</a:t>
            </a:fld>
            <a:endParaRPr lang="en-US" dirty="0"/>
          </a:p>
        </p:txBody>
      </p:sp>
    </p:spTree>
    <p:extLst>
      <p:ext uri="{BB962C8B-B14F-4D97-AF65-F5344CB8AC3E}">
        <p14:creationId xmlns:p14="http://schemas.microsoft.com/office/powerpoint/2010/main" val="31137476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D1452C5-E25D-4588-86AE-5C1488D0848F}" type="slidenum">
              <a:rPr lang="en-US" smtClean="0"/>
              <a:pPr/>
              <a:t>7</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D1452C5-E25D-4588-86AE-5C1488D0848F}" type="slidenum">
              <a:rPr lang="en-US" smtClean="0"/>
              <a:pPr/>
              <a:t>9</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D1452C5-E25D-4588-86AE-5C1488D0848F}" type="slidenum">
              <a:rPr lang="en-US" smtClean="0"/>
              <a:pPr/>
              <a:t>10</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D1452C5-E25D-4588-86AE-5C1488D0848F}" type="slidenum">
              <a:rPr lang="en-US" smtClean="0"/>
              <a:pPr/>
              <a:t>12</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D1452C5-E25D-4588-86AE-5C1488D0848F}" type="slidenum">
              <a:rPr lang="en-US" smtClean="0"/>
              <a:pPr/>
              <a:t>13</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D1452C5-E25D-4588-86AE-5C1488D0848F}" type="slidenum">
              <a:rPr lang="en-US" smtClean="0"/>
              <a:pPr/>
              <a:t>14</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D1452C5-E25D-4588-86AE-5C1488D0848F}" type="slidenum">
              <a:rPr lang="en-US" smtClean="0"/>
              <a:pPr/>
              <a:t>15</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D1452C5-E25D-4588-86AE-5C1488D0848F}" type="slidenum">
              <a:rPr lang="en-US" smtClean="0"/>
              <a:pPr/>
              <a:t>16</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D1452C5-E25D-4588-86AE-5C1488D0848F}" type="slidenum">
              <a:rPr lang="en-US" smtClean="0"/>
              <a:pPr/>
              <a:t>17</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D1452C5-E25D-4588-86AE-5C1488D0848F}" type="slidenum">
              <a:rPr lang="en-US" smtClean="0"/>
              <a:pPr/>
              <a:t>19</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D1452C5-E25D-4588-86AE-5C1488D0848F}" type="slidenum">
              <a:rPr lang="en-US" smtClean="0"/>
              <a:pPr/>
              <a:t>20</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D1452C5-E25D-4588-86AE-5C1488D0848F}" type="slidenum">
              <a:rPr lang="en-US" smtClean="0"/>
              <a:pPr/>
              <a:t>21</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85800" y="1346947"/>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685800" y="4282763"/>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685800" y="1484779"/>
            <a:ext cx="7772400" cy="274320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a:grpSpLocks noChangeAspect="1"/>
          </p:cNvGrpSpPr>
          <p:nvPr/>
        </p:nvGrpSpPr>
        <p:grpSpPr>
          <a:xfrm>
            <a:off x="7234780" y="4107023"/>
            <a:ext cx="914400" cy="914400"/>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788670" y="1432223"/>
            <a:ext cx="7593330" cy="3035808"/>
          </a:xfrm>
        </p:spPr>
        <p:txBody>
          <a:bodyPr anchor="ctr">
            <a:noAutofit/>
          </a:bodyPr>
          <a:lstStyle>
            <a:lvl1pPr algn="l">
              <a:lnSpc>
                <a:spcPct val="80000"/>
              </a:lnSpc>
              <a:defRPr sz="6400" b="0" cap="all" baseline="0">
                <a:blipFill dpi="0" rotWithShape="1">
                  <a:blip r:embed="rId4"/>
                  <a:srcRect/>
                  <a:tile tx="6350" ty="-127000" sx="65000" sy="64000" flip="none" algn="tl"/>
                </a:blipFill>
              </a:defRPr>
            </a:lvl1pPr>
          </a:lstStyle>
          <a:p>
            <a:r>
              <a:rPr lang="en-US" dirty="0"/>
              <a:t>Click to edit Master title style</a:t>
            </a:r>
          </a:p>
        </p:txBody>
      </p:sp>
      <p:sp>
        <p:nvSpPr>
          <p:cNvPr id="3" name="Subtitle 2"/>
          <p:cNvSpPr>
            <a:spLocks noGrp="1"/>
          </p:cNvSpPr>
          <p:nvPr>
            <p:ph type="subTitle" idx="1"/>
          </p:nvPr>
        </p:nvSpPr>
        <p:spPr>
          <a:xfrm>
            <a:off x="802386" y="4389120"/>
            <a:ext cx="5918454" cy="1069848"/>
          </a:xfrm>
        </p:spPr>
        <p:txBody>
          <a:bodyPr>
            <a:normAutofit/>
          </a:bodyPr>
          <a:lstStyle>
            <a:lvl1pPr marL="0" indent="0" algn="l">
              <a:buNone/>
              <a:defRPr sz="1800" b="0">
                <a:solidFill>
                  <a:schemeClr val="tx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dirty="0"/>
              <a:t>Click to edit Master subtitle style</a:t>
            </a:r>
          </a:p>
        </p:txBody>
      </p:sp>
      <p:sp>
        <p:nvSpPr>
          <p:cNvPr id="4" name="Date Placeholder 3"/>
          <p:cNvSpPr>
            <a:spLocks noGrp="1"/>
          </p:cNvSpPr>
          <p:nvPr>
            <p:ph type="dt" sz="half" idx="10"/>
          </p:nvPr>
        </p:nvSpPr>
        <p:spPr/>
        <p:txBody>
          <a:bodyPr/>
          <a:lstStyle/>
          <a:p>
            <a:fld id="{444FA04C-D7CF-4861-95F0-3F5ACF508755}" type="datetimeFigureOut">
              <a:rPr lang="en-US" dirty="0"/>
              <a:t>3/19/2025</a:t>
            </a:fld>
            <a:endParaRPr lang="en-US" dirty="0"/>
          </a:p>
        </p:txBody>
      </p:sp>
      <p:sp>
        <p:nvSpPr>
          <p:cNvPr id="5" name="Footer Placeholder 4"/>
          <p:cNvSpPr>
            <a:spLocks noGrp="1"/>
          </p:cNvSpPr>
          <p:nvPr>
            <p:ph type="ftr" sz="quarter" idx="11"/>
          </p:nvPr>
        </p:nvSpPr>
        <p:spPr>
          <a:xfrm>
            <a:off x="812805" y="6272785"/>
            <a:ext cx="4745736" cy="365125"/>
          </a:xfrm>
        </p:spPr>
        <p:txBody>
          <a:bodyPr/>
          <a:lstStyle/>
          <a:p>
            <a:endParaRPr lang="en-US" dirty="0"/>
          </a:p>
        </p:txBody>
      </p:sp>
      <p:sp>
        <p:nvSpPr>
          <p:cNvPr id="6" name="Slide Number Placeholder 5"/>
          <p:cNvSpPr>
            <a:spLocks noGrp="1"/>
          </p:cNvSpPr>
          <p:nvPr>
            <p:ph type="sldNum" sz="quarter" idx="12"/>
          </p:nvPr>
        </p:nvSpPr>
        <p:spPr>
          <a:xfrm>
            <a:off x="7244280" y="4227195"/>
            <a:ext cx="895401" cy="640080"/>
          </a:xfrm>
        </p:spPr>
        <p:txBody>
          <a:bodyPr/>
          <a:lstStyle>
            <a:lvl1pPr>
              <a:defRPr sz="2800" b="1"/>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34701695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0D6BC42F-EA91-460E-9436-9A6C9B1CB0C6}" type="datetimeFigureOut">
              <a:rPr lang="en-US" dirty="0"/>
              <a:t>3/19/2025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29089173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9144000" cy="194001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5346" y="1225296"/>
            <a:ext cx="6960870" cy="3520440"/>
          </a:xfrm>
        </p:spPr>
        <p:txBody>
          <a:bodyPr anchor="ctr">
            <a:normAutofit/>
          </a:bodyPr>
          <a:lstStyle>
            <a:lvl1pPr>
              <a:lnSpc>
                <a:spcPct val="80000"/>
              </a:lnSpc>
              <a:defRPr sz="6400" b="0"/>
            </a:lvl1pPr>
          </a:lstStyle>
          <a:p>
            <a:r>
              <a:rPr lang="en-US" dirty="0"/>
              <a:t>Click to edit Master title style</a:t>
            </a:r>
          </a:p>
        </p:txBody>
      </p:sp>
      <p:sp>
        <p:nvSpPr>
          <p:cNvPr id="3" name="Text Placeholder 2"/>
          <p:cNvSpPr>
            <a:spLocks noGrp="1"/>
          </p:cNvSpPr>
          <p:nvPr>
            <p:ph type="body" idx="1"/>
          </p:nvPr>
        </p:nvSpPr>
        <p:spPr>
          <a:xfrm>
            <a:off x="1624330" y="5020056"/>
            <a:ext cx="6789420" cy="1066800"/>
          </a:xfrm>
        </p:spPr>
        <p:txBody>
          <a:bodyPr anchor="t">
            <a:normAutofit/>
          </a:bodyPr>
          <a:lstStyle>
            <a:lvl1pPr marL="0" indent="0">
              <a:buNone/>
              <a:defRPr sz="1800" b="0">
                <a:solidFill>
                  <a:schemeClr val="accent1">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a:xfrm>
            <a:off x="6445251" y="6272785"/>
            <a:ext cx="1983232" cy="365125"/>
          </a:xfrm>
        </p:spPr>
        <p:txBody>
          <a:bodyPr/>
          <a:lstStyle>
            <a:lvl1pPr>
              <a:defRPr>
                <a:solidFill>
                  <a:schemeClr val="accent1">
                    <a:lumMod val="50000"/>
                  </a:schemeClr>
                </a:solidFill>
              </a:defRPr>
            </a:lvl1pPr>
          </a:lstStyle>
          <a:p>
            <a:fld id="{823D4350-0632-4F67-B357-AFC21C62564D}" type="datetimeFigureOut">
              <a:rPr lang="en-US" dirty="0"/>
              <a:t>3/19/2025</a:t>
            </a:fld>
            <a:endParaRPr lang="en-US" dirty="0"/>
          </a:p>
        </p:txBody>
      </p:sp>
      <p:sp>
        <p:nvSpPr>
          <p:cNvPr id="5" name="Footer Placeholder 4"/>
          <p:cNvSpPr>
            <a:spLocks noGrp="1"/>
          </p:cNvSpPr>
          <p:nvPr>
            <p:ph type="ftr" sz="quarter" idx="11"/>
          </p:nvPr>
        </p:nvSpPr>
        <p:spPr>
          <a:xfrm>
            <a:off x="1636099" y="6272784"/>
            <a:ext cx="4745736" cy="365125"/>
          </a:xfrm>
        </p:spPr>
        <p:txBody>
          <a:bodyPr/>
          <a:lstStyle>
            <a:lvl1pPr>
              <a:defRPr>
                <a:solidFill>
                  <a:schemeClr val="accent1">
                    <a:lumMod val="50000"/>
                  </a:schemeClr>
                </a:solidFill>
              </a:defRPr>
            </a:lvl1pPr>
          </a:lstStyle>
          <a:p>
            <a:endParaRPr lang="en-US" dirty="0"/>
          </a:p>
        </p:txBody>
      </p:sp>
      <p:grpSp>
        <p:nvGrpSpPr>
          <p:cNvPr id="8" name="Group 7"/>
          <p:cNvGrpSpPr>
            <a:grpSpLocks noChangeAspect="1"/>
          </p:cNvGrpSpPr>
          <p:nvPr/>
        </p:nvGrpSpPr>
        <p:grpSpPr>
          <a:xfrm>
            <a:off x="633862" y="2430623"/>
            <a:ext cx="914400" cy="914400"/>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645450" y="2508607"/>
            <a:ext cx="891224" cy="720332"/>
          </a:xfrm>
        </p:spPr>
        <p:txBody>
          <a:bodyPr/>
          <a:lstStyle>
            <a:lvl1pPr>
              <a:defRPr sz="2800"/>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3493278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685800" y="2194560"/>
            <a:ext cx="365760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792218" y="2194560"/>
            <a:ext cx="365760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87F31A35-803D-44FA-BA88-E6B5FB347587}" type="datetimeFigureOut">
              <a:rPr lang="en-US" dirty="0"/>
              <a:t>3/19/2025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495469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Click to edit Master title style</a:t>
            </a:r>
          </a:p>
        </p:txBody>
      </p:sp>
      <p:sp>
        <p:nvSpPr>
          <p:cNvPr id="3" name="Text Placeholder 2"/>
          <p:cNvSpPr>
            <a:spLocks noGrp="1"/>
          </p:cNvSpPr>
          <p:nvPr>
            <p:ph type="body" idx="1"/>
          </p:nvPr>
        </p:nvSpPr>
        <p:spPr>
          <a:xfrm>
            <a:off x="685800"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85800"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820793"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820793"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14956CED-B3EE-49D9-9922-CBB48E543356}" type="datetimeFigureOut">
              <a:rPr lang="en-US" dirty="0"/>
              <a:t>3/19/2025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14856449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lvl1pPr>
              <a:defRPr>
                <a:solidFill>
                  <a:schemeClr val="accent1">
                    <a:lumMod val="50000"/>
                  </a:schemeClr>
                </a:solidFill>
              </a:defRPr>
            </a:lvl1pPr>
          </a:lstStyle>
          <a:p>
            <a:fld id="{3F9237B0-CC05-45CB-9D8E-44851499E325}" type="datetimeFigureOut">
              <a:rPr lang="en-US" dirty="0"/>
              <a:t>3/19/2025</a:t>
            </a:fld>
            <a:endParaRPr lang="en-US" dirty="0"/>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0780842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B41777-83B6-4CFA-89A1-52400FB2059F}" type="datetimeFigureOut">
              <a:rPr lang="en-US" dirty="0"/>
              <a:t>3/19/2025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8739243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en-US" dirty="0"/>
              <a:t>Click to edit Master title style</a:t>
            </a:r>
          </a:p>
        </p:txBody>
      </p:sp>
      <p:sp>
        <p:nvSpPr>
          <p:cNvPr id="3" name="Content Placeholder 2"/>
          <p:cNvSpPr>
            <a:spLocks noGrp="1"/>
          </p:cNvSpPr>
          <p:nvPr>
            <p:ph idx="1"/>
          </p:nvPr>
        </p:nvSpPr>
        <p:spPr>
          <a:xfrm>
            <a:off x="628650" y="685800"/>
            <a:ext cx="5033772"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9" name="Date Placeholder 8"/>
          <p:cNvSpPr>
            <a:spLocks noGrp="1"/>
          </p:cNvSpPr>
          <p:nvPr>
            <p:ph type="dt" sz="half" idx="10"/>
          </p:nvPr>
        </p:nvSpPr>
        <p:spPr/>
        <p:txBody>
          <a:bodyPr/>
          <a:lstStyle/>
          <a:p>
            <a:fld id="{6F6AA2A1-C9A8-42DC-AF5F-29D58FE3A81E}" type="datetimeFigureOut">
              <a:rPr lang="en-US" dirty="0"/>
              <a:t>3/19/2025</a:t>
            </a:fld>
            <a:endParaRPr lang="en-US" dirty="0"/>
          </a:p>
        </p:txBody>
      </p:sp>
      <p:sp>
        <p:nvSpPr>
          <p:cNvPr id="10" name="Footer Placeholder 9"/>
          <p:cNvSpPr>
            <a:spLocks noGrp="1"/>
          </p:cNvSpPr>
          <p:nvPr>
            <p:ph type="ftr" sz="quarter" idx="11"/>
          </p:nvPr>
        </p:nvSpPr>
        <p:spPr/>
        <p:txBody>
          <a:bodyPr/>
          <a:lstStyle/>
          <a:p>
            <a:endParaRPr lang="en-US" dirty="0"/>
          </a:p>
        </p:txBody>
      </p:sp>
      <p:sp>
        <p:nvSpPr>
          <p:cNvPr id="11" name="Slide Number Placeholder 10"/>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37373058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en-US" dirty="0"/>
              <a:t>Click to edit Master title style</a:t>
            </a:r>
          </a:p>
        </p:txBody>
      </p:sp>
      <p:sp>
        <p:nvSpPr>
          <p:cNvPr id="3" name="Picture Placeholder 2"/>
          <p:cNvSpPr>
            <a:spLocks noGrp="1" noChangeAspect="1"/>
          </p:cNvSpPr>
          <p:nvPr>
            <p:ph type="pic" idx="1"/>
          </p:nvPr>
        </p:nvSpPr>
        <p:spPr>
          <a:xfrm>
            <a:off x="0" y="0"/>
            <a:ext cx="6227805"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8" name="Date Placeholder 7"/>
          <p:cNvSpPr>
            <a:spLocks noGrp="1"/>
          </p:cNvSpPr>
          <p:nvPr>
            <p:ph type="dt" sz="half" idx="10"/>
          </p:nvPr>
        </p:nvSpPr>
        <p:spPr/>
        <p:txBody>
          <a:bodyPr/>
          <a:lstStyle/>
          <a:p>
            <a:fld id="{18FC28B6-2144-4760-B3DF-18C646FA52B1}" type="datetimeFigureOut">
              <a:rPr lang="en-US" dirty="0"/>
              <a:t>3/19/2025</a:t>
            </a:fld>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4098414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4B45B24B-F41A-4540-8EEC-C29B4F79802D}" type="datetimeFigureOut">
              <a:rPr lang="en-US" dirty="0"/>
              <a:t>3/19/2025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27592526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533400"/>
            <a:ext cx="1914525" cy="5638800"/>
          </a:xfrm>
        </p:spPr>
        <p:txBody>
          <a:bodyPr vert="eaVert"/>
          <a:lstStyle>
            <a:lvl1pPr>
              <a:defRPr b="0"/>
            </a:lvl1pPr>
          </a:lstStyle>
          <a:p>
            <a:r>
              <a:rPr lang="en-US" dirty="0"/>
              <a:t>Click to edit Master title style</a:t>
            </a:r>
          </a:p>
        </p:txBody>
      </p:sp>
      <p:sp>
        <p:nvSpPr>
          <p:cNvPr id="3" name="Vertical Text Placeholder 2"/>
          <p:cNvSpPr>
            <a:spLocks noGrp="1"/>
          </p:cNvSpPr>
          <p:nvPr>
            <p:ph type="body" orient="vert" idx="1"/>
          </p:nvPr>
        </p:nvSpPr>
        <p:spPr>
          <a:xfrm>
            <a:off x="800100" y="533400"/>
            <a:ext cx="5629275" cy="5638800"/>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CFBF989E-5397-49EE-B0F5-E72D9FFD7EC0}" type="datetimeFigureOut">
              <a:rPr lang="en-US" dirty="0"/>
              <a:t>3/19/2025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33471491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2" name="Group 11"/>
          <p:cNvGrpSpPr/>
          <p:nvPr/>
        </p:nvGrpSpPr>
        <p:grpSpPr>
          <a:xfrm>
            <a:off x="8522664" y="6255258"/>
            <a:ext cx="393192" cy="393192"/>
            <a:chOff x="8532189" y="5068824"/>
            <a:chExt cx="393192" cy="393192"/>
          </a:xfrm>
        </p:grpSpPr>
        <p:sp>
          <p:nvSpPr>
            <p:cNvPr id="8" name="Oval 7"/>
            <p:cNvSpPr>
              <a:spLocks noChangeAspect="1"/>
            </p:cNvSpPr>
            <p:nvPr/>
          </p:nvSpPr>
          <p:spPr>
            <a:xfrm>
              <a:off x="8532189" y="5068824"/>
              <a:ext cx="393192" cy="393192"/>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2" name="Title Placeholder 1"/>
          <p:cNvSpPr>
            <a:spLocks noGrp="1"/>
          </p:cNvSpPr>
          <p:nvPr>
            <p:ph type="title"/>
          </p:nvPr>
        </p:nvSpPr>
        <p:spPr>
          <a:xfrm>
            <a:off x="685800" y="484632"/>
            <a:ext cx="7772400" cy="1609344"/>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85800" y="2121408"/>
            <a:ext cx="7772400" cy="405079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992368" y="6272785"/>
            <a:ext cx="2455164" cy="365125"/>
          </a:xfrm>
          <a:prstGeom prst="rect">
            <a:avLst/>
          </a:prstGeom>
        </p:spPr>
        <p:txBody>
          <a:bodyPr vert="horz" lIns="91440" tIns="45720" rIns="91440" bIns="45720" rtlCol="0" anchor="ctr"/>
          <a:lstStyle>
            <a:lvl1pPr algn="r">
              <a:defRPr sz="1000">
                <a:solidFill>
                  <a:schemeClr val="accent1">
                    <a:lumMod val="50000"/>
                  </a:schemeClr>
                </a:solidFill>
              </a:defRPr>
            </a:lvl1pPr>
          </a:lstStyle>
          <a:p>
            <a:fld id="{251F38EA-B09F-4C97-9264-D1353869D1EA}" type="datetimeFigureOut">
              <a:rPr lang="en-US" dirty="0"/>
              <a:t>3/19/2025</a:t>
            </a:fld>
            <a:endParaRPr lang="en-US" dirty="0"/>
          </a:p>
        </p:txBody>
      </p:sp>
      <p:sp>
        <p:nvSpPr>
          <p:cNvPr id="5" name="Footer Placeholder 4"/>
          <p:cNvSpPr>
            <a:spLocks noGrp="1"/>
          </p:cNvSpPr>
          <p:nvPr>
            <p:ph type="ftr" sz="quarter" idx="3"/>
          </p:nvPr>
        </p:nvSpPr>
        <p:spPr>
          <a:xfrm>
            <a:off x="685800" y="6272785"/>
            <a:ext cx="4745736" cy="365125"/>
          </a:xfrm>
          <a:prstGeom prst="rect">
            <a:avLst/>
          </a:prstGeom>
        </p:spPr>
        <p:txBody>
          <a:bodyPr vert="horz" lIns="91440" tIns="45720" rIns="91440" bIns="45720" rtlCol="0" anchor="ctr"/>
          <a:lstStyle>
            <a:lvl1pPr algn="l">
              <a:defRPr sz="1000">
                <a:solidFill>
                  <a:schemeClr val="accent1">
                    <a:lumMod val="50000"/>
                  </a:schemeClr>
                </a:solidFill>
              </a:defRPr>
            </a:lvl1pPr>
          </a:lstStyle>
          <a:p>
            <a:endParaRPr lang="en-US" dirty="0"/>
          </a:p>
        </p:txBody>
      </p:sp>
      <p:sp>
        <p:nvSpPr>
          <p:cNvPr id="6" name="Slide Number Placeholder 5"/>
          <p:cNvSpPr>
            <a:spLocks noGrp="1"/>
          </p:cNvSpPr>
          <p:nvPr>
            <p:ph type="sldNum" sz="quarter" idx="4"/>
          </p:nvPr>
        </p:nvSpPr>
        <p:spPr>
          <a:xfrm>
            <a:off x="8483346" y="6272785"/>
            <a:ext cx="480060" cy="365125"/>
          </a:xfrm>
          <a:prstGeom prst="rect">
            <a:avLst/>
          </a:prstGeom>
        </p:spPr>
        <p:txBody>
          <a:bodyPr vert="horz" lIns="91440" tIns="45720" rIns="91440" bIns="45720" rtlCol="0" anchor="ctr"/>
          <a:lstStyle>
            <a:lvl1pPr algn="ctr">
              <a:defRPr sz="1100" b="1" spc="-70" baseline="0">
                <a:solidFill>
                  <a:srgbClr val="FFFFFF"/>
                </a:solidFill>
                <a:latin typeface="+mn-lt"/>
              </a:defRPr>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1030299991"/>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sldNum="0" hdr="0" ftr="0" dt="0"/>
  <p:txStyles>
    <p:titleStyle>
      <a:lvl1pPr algn="l" defTabSz="914400" rtl="0" eaLnBrk="1" latinLnBrk="0" hangingPunct="1">
        <a:lnSpc>
          <a:spcPct val="90000"/>
        </a:lnSpc>
        <a:spcBef>
          <a:spcPct val="0"/>
        </a:spcBef>
        <a:buNone/>
        <a:defRPr sz="4200" b="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9.jpeg"/><Relationship Id="rId4" Type="http://schemas.microsoft.com/office/2007/relationships/hdphoto" Target="../media/hdphoto2.wdp"/></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1.jpe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1.jpe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2.jpeg"/><Relationship Id="rId4" Type="http://schemas.microsoft.com/office/2007/relationships/hdphoto" Target="../media/hdphoto2.wdp"/></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2.jpeg"/><Relationship Id="rId5" Type="http://schemas.openxmlformats.org/officeDocument/2006/relationships/image" Target="../media/image2.png"/><Relationship Id="rId4" Type="http://schemas.microsoft.com/office/2007/relationships/hdphoto" Target="../media/hdphoto2.wdp"/></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2.jpeg"/><Relationship Id="rId5" Type="http://schemas.openxmlformats.org/officeDocument/2006/relationships/image" Target="../media/image2.png"/><Relationship Id="rId4" Type="http://schemas.microsoft.com/office/2007/relationships/hdphoto" Target="../media/hdphoto2.wdp"/></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microsoft.com/office/2007/relationships/hdphoto" Target="../media/hdphoto2.wdp"/></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3.jpeg"/><Relationship Id="rId4" Type="http://schemas.microsoft.com/office/2007/relationships/hdphoto" Target="../media/hdphoto2.wdp"/></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png"/><Relationship Id="rId4" Type="http://schemas.microsoft.com/office/2007/relationships/hdphoto" Target="../media/hdphoto3.wdp"/></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6.jpeg"/><Relationship Id="rId4" Type="http://schemas.microsoft.com/office/2007/relationships/hdphoto" Target="../media/hdphoto2.wdp"/></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png"/><Relationship Id="rId4" Type="http://schemas.microsoft.com/office/2007/relationships/hdphoto" Target="../media/hdphoto2.wdp"/></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png"/><Relationship Id="rId4" Type="http://schemas.microsoft.com/office/2007/relationships/hdphoto" Target="../media/hdphoto3.wdp"/></Relationships>
</file>

<file path=ppt/slides/_rels/slide2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19199" y="2057400"/>
            <a:ext cx="5410200" cy="1091184"/>
          </a:xfrm>
        </p:spPr>
        <p:txBody>
          <a:bodyPr>
            <a:noAutofit/>
          </a:bodyPr>
          <a:lstStyle/>
          <a:p>
            <a:r>
              <a:rPr lang="en-US" sz="4000" b="1" dirty="0">
                <a:solidFill>
                  <a:schemeClr val="tx1"/>
                </a:solidFill>
              </a:rPr>
              <a:t>Regulation of Respiration</a:t>
            </a:r>
          </a:p>
        </p:txBody>
      </p:sp>
      <p:sp>
        <p:nvSpPr>
          <p:cNvPr id="4" name="TextBox 3">
            <a:extLst>
              <a:ext uri="{FF2B5EF4-FFF2-40B4-BE49-F238E27FC236}">
                <a16:creationId xmlns:a16="http://schemas.microsoft.com/office/drawing/2014/main" id="{5DEE846E-3763-4895-D6AC-6FFAA56FCDCC}"/>
              </a:ext>
            </a:extLst>
          </p:cNvPr>
          <p:cNvSpPr txBox="1"/>
          <p:nvPr/>
        </p:nvSpPr>
        <p:spPr>
          <a:xfrm rot="10800000" flipH="1" flipV="1">
            <a:off x="1219200" y="5257800"/>
            <a:ext cx="3168069" cy="369332"/>
          </a:xfrm>
          <a:prstGeom prst="rect">
            <a:avLst/>
          </a:prstGeom>
          <a:noFill/>
        </p:spPr>
        <p:txBody>
          <a:bodyPr wrap="square" rtlCol="0">
            <a:spAutoFit/>
          </a:bodyPr>
          <a:lstStyle/>
          <a:p>
            <a:r>
              <a:rPr lang="en-US" b="1" dirty="0"/>
              <a:t>Dr. Tabish Masood Ranjha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64958D-AF5D-4863-B5FB-83F6B8CB1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08" y="0"/>
            <a:ext cx="9141492"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p:cNvSpPr>
            <a:spLocks noGrp="1"/>
          </p:cNvSpPr>
          <p:nvPr>
            <p:ph type="title"/>
          </p:nvPr>
        </p:nvSpPr>
        <p:spPr>
          <a:xfrm>
            <a:off x="3727581" y="484632"/>
            <a:ext cx="5047708" cy="1609344"/>
          </a:xfrm>
          <a:ln>
            <a:noFill/>
          </a:ln>
        </p:spPr>
        <p:txBody>
          <a:bodyPr>
            <a:normAutofit/>
          </a:bodyPr>
          <a:lstStyle/>
          <a:p>
            <a:r>
              <a:rPr lang="en-US" dirty="0"/>
              <a:t>Respiratory center</a:t>
            </a:r>
            <a:br>
              <a:rPr lang="en-US" dirty="0"/>
            </a:br>
            <a:endParaRPr lang="en-US" dirty="0"/>
          </a:p>
        </p:txBody>
      </p:sp>
      <p:pic>
        <p:nvPicPr>
          <p:cNvPr id="6" name="Picture 5" descr="Neuron system in 3D rendering">
            <a:extLst>
              <a:ext uri="{FF2B5EF4-FFF2-40B4-BE49-F238E27FC236}">
                <a16:creationId xmlns:a16="http://schemas.microsoft.com/office/drawing/2014/main" id="{2A70F174-D295-1588-7A44-519B7A9CFA86}"/>
              </a:ext>
            </a:extLst>
          </p:cNvPr>
          <p:cNvPicPr>
            <a:picLocks noChangeAspect="1"/>
          </p:cNvPicPr>
          <p:nvPr/>
        </p:nvPicPr>
        <p:blipFill>
          <a:blip r:embed="rId4"/>
          <a:srcRect l="40767" r="24744" b="4"/>
          <a:stretch/>
        </p:blipFill>
        <p:spPr>
          <a:xfrm>
            <a:off x="2508" y="10"/>
            <a:ext cx="3485044" cy="6857990"/>
          </a:xfrm>
          <a:prstGeom prst="rect">
            <a:avLst/>
          </a:prstGeom>
        </p:spPr>
      </p:pic>
      <p:sp>
        <p:nvSpPr>
          <p:cNvPr id="3" name="Content Placeholder 2"/>
          <p:cNvSpPr>
            <a:spLocks noGrp="1"/>
          </p:cNvSpPr>
          <p:nvPr>
            <p:ph idx="1"/>
          </p:nvPr>
        </p:nvSpPr>
        <p:spPr>
          <a:xfrm>
            <a:off x="3486344" y="2086945"/>
            <a:ext cx="5645055" cy="4981273"/>
          </a:xfrm>
        </p:spPr>
        <p:txBody>
          <a:bodyPr vert="horz" lIns="91440" tIns="45720" rIns="91440" bIns="45720" rtlCol="0" anchor="t">
            <a:normAutofit fontScale="92500"/>
          </a:bodyPr>
          <a:lstStyle/>
          <a:p>
            <a:r>
              <a:rPr lang="en-US" sz="2400" dirty="0"/>
              <a:t>Normal respiration is spontaneous and unconscious.</a:t>
            </a:r>
          </a:p>
          <a:p>
            <a:r>
              <a:rPr lang="en-US" sz="2400" dirty="0"/>
              <a:t>There are 4 groups of neurons on each side in the Pons and medulla oblongata which are involved in regulation of respiration. These include</a:t>
            </a:r>
          </a:p>
          <a:p>
            <a:pPr marL="457200" lvl="1" indent="0">
              <a:buNone/>
            </a:pPr>
            <a:r>
              <a:rPr lang="en-US" sz="2400" b="1" dirty="0"/>
              <a:t>1. Medullary centers</a:t>
            </a:r>
          </a:p>
          <a:p>
            <a:pPr lvl="1"/>
            <a:r>
              <a:rPr lang="en-US" sz="2400" dirty="0"/>
              <a:t>Dorsal respiratory group of neurons</a:t>
            </a:r>
          </a:p>
          <a:p>
            <a:pPr lvl="1"/>
            <a:r>
              <a:rPr lang="en-US" sz="2400" dirty="0"/>
              <a:t>Ventral respiratory group of neurons</a:t>
            </a:r>
          </a:p>
          <a:p>
            <a:pPr marL="457200" lvl="1" indent="0">
              <a:buNone/>
            </a:pPr>
            <a:r>
              <a:rPr lang="en-US" sz="2400" b="1" dirty="0"/>
              <a:t>2. Pontine centers</a:t>
            </a:r>
          </a:p>
          <a:p>
            <a:pPr lvl="1"/>
            <a:r>
              <a:rPr lang="en-US" sz="2400" dirty="0"/>
              <a:t>Pneumotaxic Centre</a:t>
            </a:r>
          </a:p>
          <a:p>
            <a:pPr lvl="1"/>
            <a:r>
              <a:rPr lang="en-US" sz="2400" dirty="0"/>
              <a:t>Apneustic center.</a:t>
            </a:r>
          </a:p>
          <a:p>
            <a:endParaRPr lang="en-US" sz="2400" dirty="0"/>
          </a:p>
        </p:txBody>
      </p:sp>
      <p:grpSp>
        <p:nvGrpSpPr>
          <p:cNvPr id="12" name="Group 11">
            <a:extLst>
              <a:ext uri="{FF2B5EF4-FFF2-40B4-BE49-F238E27FC236}">
                <a16:creationId xmlns:a16="http://schemas.microsoft.com/office/drawing/2014/main" id="{11002ACD-3B0C-4885-8754-8A00E926FE4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51293" y="6229681"/>
            <a:ext cx="342900" cy="457200"/>
            <a:chOff x="11361456" y="6195813"/>
            <a:chExt cx="548640" cy="548640"/>
          </a:xfrm>
        </p:grpSpPr>
        <p:sp>
          <p:nvSpPr>
            <p:cNvPr id="13" name="Oval 12">
              <a:extLst>
                <a:ext uri="{FF2B5EF4-FFF2-40B4-BE49-F238E27FC236}">
                  <a16:creationId xmlns:a16="http://schemas.microsoft.com/office/drawing/2014/main" id="{DF0313CD-4196-4456-A70D-5EE2B995BA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4" name="Oval 13">
              <a:extLst>
                <a:ext uri="{FF2B5EF4-FFF2-40B4-BE49-F238E27FC236}">
                  <a16:creationId xmlns:a16="http://schemas.microsoft.com/office/drawing/2014/main" id="{80DE0B32-9EE8-4975-AD48-3855B0A82A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1"/>
          <p:cNvPicPr>
            <a:picLocks noChangeAspect="1" noChangeArrowheads="1"/>
          </p:cNvPicPr>
          <p:nvPr/>
        </p:nvPicPr>
        <p:blipFill>
          <a:blip r:embed="rId2" cstate="print"/>
          <a:srcRect/>
          <a:stretch>
            <a:fillRect/>
          </a:stretch>
        </p:blipFill>
        <p:spPr bwMode="auto">
          <a:xfrm>
            <a:off x="1371600" y="0"/>
            <a:ext cx="6858000" cy="6385514"/>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964958D-AF5D-4863-B5FB-83F6B8CB1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08" y="0"/>
            <a:ext cx="9141492"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3911380" y="105547"/>
            <a:ext cx="5047708" cy="1609344"/>
          </a:xfrm>
          <a:ln>
            <a:noFill/>
          </a:ln>
        </p:spPr>
        <p:txBody>
          <a:bodyPr>
            <a:normAutofit/>
          </a:bodyPr>
          <a:lstStyle/>
          <a:p>
            <a:r>
              <a:rPr lang="en-US" dirty="0"/>
              <a:t>Dorsal Group of Neurons</a:t>
            </a:r>
          </a:p>
        </p:txBody>
      </p:sp>
      <p:pic>
        <p:nvPicPr>
          <p:cNvPr id="5" name="Picture 4" descr="Neuron system in yellow and light blue">
            <a:extLst>
              <a:ext uri="{FF2B5EF4-FFF2-40B4-BE49-F238E27FC236}">
                <a16:creationId xmlns:a16="http://schemas.microsoft.com/office/drawing/2014/main" id="{B3413BE4-0F86-2B4D-0FF5-466238AAA6B2}"/>
              </a:ext>
            </a:extLst>
          </p:cNvPr>
          <p:cNvPicPr>
            <a:picLocks noChangeAspect="1"/>
          </p:cNvPicPr>
          <p:nvPr/>
        </p:nvPicPr>
        <p:blipFill>
          <a:blip r:embed="rId4"/>
          <a:srcRect l="32147" r="33217" b="8"/>
          <a:stretch/>
        </p:blipFill>
        <p:spPr>
          <a:xfrm>
            <a:off x="2508" y="10"/>
            <a:ext cx="3485044" cy="6857990"/>
          </a:xfrm>
          <a:prstGeom prst="rect">
            <a:avLst/>
          </a:prstGeom>
        </p:spPr>
      </p:pic>
      <p:sp>
        <p:nvSpPr>
          <p:cNvPr id="3" name="Content Placeholder 2"/>
          <p:cNvSpPr>
            <a:spLocks noGrp="1"/>
          </p:cNvSpPr>
          <p:nvPr>
            <p:ph idx="1"/>
          </p:nvPr>
        </p:nvSpPr>
        <p:spPr>
          <a:xfrm>
            <a:off x="3555269" y="2098434"/>
            <a:ext cx="5403817" cy="4556238"/>
          </a:xfrm>
        </p:spPr>
        <p:txBody>
          <a:bodyPr vert="horz" lIns="91440" tIns="45720" rIns="91440" bIns="45720" rtlCol="0" anchor="t">
            <a:normAutofit/>
          </a:bodyPr>
          <a:lstStyle/>
          <a:p>
            <a:r>
              <a:rPr lang="en-US" dirty="0"/>
              <a:t>It contains “I”, neurons which are </a:t>
            </a:r>
            <a:r>
              <a:rPr lang="en-US" b="1" dirty="0"/>
              <a:t>inspiratory neurons.</a:t>
            </a:r>
          </a:p>
          <a:p>
            <a:r>
              <a:rPr lang="en-US" dirty="0"/>
              <a:t>It’s located in </a:t>
            </a:r>
            <a:r>
              <a:rPr lang="en-US" b="1" dirty="0"/>
              <a:t>dorsal portion of medulla oblongata.</a:t>
            </a:r>
          </a:p>
          <a:p>
            <a:r>
              <a:rPr lang="en-US" dirty="0"/>
              <a:t>It also includes the </a:t>
            </a:r>
            <a:r>
              <a:rPr lang="en-US" b="1" dirty="0"/>
              <a:t>nucleus of tractus solitarius</a:t>
            </a:r>
            <a:r>
              <a:rPr lang="en-US" dirty="0"/>
              <a:t> which is the sensory termination of afferent fibers in </a:t>
            </a:r>
            <a:r>
              <a:rPr lang="en-US" b="1" dirty="0"/>
              <a:t>9th ( GLOSSOPHARYNGEAL NERVE) and 10</a:t>
            </a:r>
            <a:r>
              <a:rPr lang="en-US" b="1" baseline="30000" dirty="0"/>
              <a:t>th</a:t>
            </a:r>
            <a:r>
              <a:rPr lang="en-US" b="1" dirty="0"/>
              <a:t> (VAGUS NERVE)</a:t>
            </a:r>
            <a:r>
              <a:rPr lang="en-US" dirty="0"/>
              <a:t> cranial nerves.</a:t>
            </a:r>
          </a:p>
          <a:p>
            <a:endParaRPr lang="en-US" dirty="0"/>
          </a:p>
          <a:p>
            <a:r>
              <a:rPr lang="en-US" dirty="0"/>
              <a:t>They </a:t>
            </a:r>
            <a:r>
              <a:rPr lang="en-US" b="1" dirty="0"/>
              <a:t>receive impulses from peripheral chemoreceptors, carotid and aortic baroreceptors</a:t>
            </a:r>
            <a:r>
              <a:rPr lang="en-US" dirty="0"/>
              <a:t> and also other receptors in the lungs. </a:t>
            </a:r>
          </a:p>
        </p:txBody>
      </p:sp>
      <p:grpSp>
        <p:nvGrpSpPr>
          <p:cNvPr id="11" name="Group 10">
            <a:extLst>
              <a:ext uri="{FF2B5EF4-FFF2-40B4-BE49-F238E27FC236}">
                <a16:creationId xmlns:a16="http://schemas.microsoft.com/office/drawing/2014/main" id="{11002ACD-3B0C-4885-8754-8A00E926FE4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51293" y="6229681"/>
            <a:ext cx="342900" cy="457200"/>
            <a:chOff x="11361456" y="6195813"/>
            <a:chExt cx="548640" cy="548640"/>
          </a:xfrm>
        </p:grpSpPr>
        <p:sp>
          <p:nvSpPr>
            <p:cNvPr id="12" name="Oval 11">
              <a:extLst>
                <a:ext uri="{FF2B5EF4-FFF2-40B4-BE49-F238E27FC236}">
                  <a16:creationId xmlns:a16="http://schemas.microsoft.com/office/drawing/2014/main" id="{DF0313CD-4196-4456-A70D-5EE2B995BA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3" name="Oval 12">
              <a:extLst>
                <a:ext uri="{FF2B5EF4-FFF2-40B4-BE49-F238E27FC236}">
                  <a16:creationId xmlns:a16="http://schemas.microsoft.com/office/drawing/2014/main" id="{80DE0B32-9EE8-4975-AD48-3855B0A82A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964958D-AF5D-4863-B5FB-83F6B8CB1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08" y="0"/>
            <a:ext cx="9141492"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3670144" y="105547"/>
            <a:ext cx="5047708" cy="1609344"/>
          </a:xfrm>
          <a:ln>
            <a:noFill/>
          </a:ln>
        </p:spPr>
        <p:txBody>
          <a:bodyPr>
            <a:normAutofit/>
          </a:bodyPr>
          <a:lstStyle/>
          <a:p>
            <a:r>
              <a:rPr lang="en-US" dirty="0"/>
              <a:t>Dorsal Group of Neurons</a:t>
            </a:r>
          </a:p>
        </p:txBody>
      </p:sp>
      <p:pic>
        <p:nvPicPr>
          <p:cNvPr id="5" name="Picture 4" descr="Neuron system in yellow and light blue">
            <a:extLst>
              <a:ext uri="{FF2B5EF4-FFF2-40B4-BE49-F238E27FC236}">
                <a16:creationId xmlns:a16="http://schemas.microsoft.com/office/drawing/2014/main" id="{17F15662-09C3-C044-183A-FEBBE33CC8EA}"/>
              </a:ext>
            </a:extLst>
          </p:cNvPr>
          <p:cNvPicPr>
            <a:picLocks noChangeAspect="1"/>
          </p:cNvPicPr>
          <p:nvPr/>
        </p:nvPicPr>
        <p:blipFill>
          <a:blip r:embed="rId4"/>
          <a:srcRect l="32147" r="33217" b="8"/>
          <a:stretch/>
        </p:blipFill>
        <p:spPr>
          <a:xfrm>
            <a:off x="2508" y="10"/>
            <a:ext cx="3485044" cy="6857990"/>
          </a:xfrm>
          <a:prstGeom prst="rect">
            <a:avLst/>
          </a:prstGeom>
        </p:spPr>
      </p:pic>
      <p:sp>
        <p:nvSpPr>
          <p:cNvPr id="3" name="Content Placeholder 2"/>
          <p:cNvSpPr>
            <a:spLocks noGrp="1"/>
          </p:cNvSpPr>
          <p:nvPr>
            <p:ph idx="1"/>
          </p:nvPr>
        </p:nvSpPr>
        <p:spPr>
          <a:xfrm>
            <a:off x="3497833" y="1960585"/>
            <a:ext cx="5645053" cy="4877886"/>
          </a:xfrm>
        </p:spPr>
        <p:txBody>
          <a:bodyPr vert="horz" lIns="91440" tIns="45720" rIns="91440" bIns="45720" rtlCol="0" anchor="t">
            <a:noAutofit/>
          </a:bodyPr>
          <a:lstStyle/>
          <a:p>
            <a:r>
              <a:rPr lang="en-US" dirty="0"/>
              <a:t>In this group </a:t>
            </a:r>
            <a:r>
              <a:rPr lang="en-US" b="1" dirty="0"/>
              <a:t>inspiratory ramp signals</a:t>
            </a:r>
            <a:r>
              <a:rPr lang="en-US" dirty="0"/>
              <a:t> are produced spontaneously.</a:t>
            </a:r>
          </a:p>
          <a:p>
            <a:r>
              <a:rPr lang="en-US" dirty="0"/>
              <a:t>If we cut the medulla oblongata from other parts of brain and also the afferent nerves which enter the medulla, still inspiratory ramp signals are produced which indicate it’s </a:t>
            </a:r>
            <a:r>
              <a:rPr lang="en-US" b="1" dirty="0"/>
              <a:t>the inherent property of medulla</a:t>
            </a:r>
            <a:r>
              <a:rPr lang="en-US" dirty="0"/>
              <a:t>.</a:t>
            </a:r>
          </a:p>
          <a:p>
            <a:r>
              <a:rPr lang="en-US" dirty="0"/>
              <a:t>Initially the signal is weak and then it progressively increases and then fades away.</a:t>
            </a:r>
          </a:p>
          <a:p>
            <a:r>
              <a:rPr lang="en-US" dirty="0"/>
              <a:t>Each </a:t>
            </a:r>
            <a:r>
              <a:rPr lang="en-US" b="1" dirty="0"/>
              <a:t>ramp signal’s duration is 2 sec and then for 3 seconds</a:t>
            </a:r>
            <a:r>
              <a:rPr lang="en-US" dirty="0"/>
              <a:t> there is no ramp signal. </a:t>
            </a:r>
          </a:p>
          <a:p>
            <a:r>
              <a:rPr lang="en-US" dirty="0"/>
              <a:t>So </a:t>
            </a:r>
            <a:r>
              <a:rPr lang="en-US" b="1" dirty="0"/>
              <a:t>each cycle lasts for 5 seconds</a:t>
            </a:r>
            <a:r>
              <a:rPr lang="en-US" dirty="0"/>
              <a:t> and there are </a:t>
            </a:r>
            <a:r>
              <a:rPr lang="en-US" b="1" dirty="0"/>
              <a:t>12 cycles /minute </a:t>
            </a:r>
            <a:r>
              <a:rPr lang="en-US" dirty="0"/>
              <a:t>which is the respiratory rate. </a:t>
            </a:r>
          </a:p>
          <a:p>
            <a:pPr>
              <a:buNone/>
            </a:pPr>
            <a:endParaRPr lang="en-US" dirty="0"/>
          </a:p>
          <a:p>
            <a:endParaRPr lang="en-US" dirty="0"/>
          </a:p>
        </p:txBody>
      </p:sp>
      <p:grpSp>
        <p:nvGrpSpPr>
          <p:cNvPr id="11" name="Group 10">
            <a:extLst>
              <a:ext uri="{FF2B5EF4-FFF2-40B4-BE49-F238E27FC236}">
                <a16:creationId xmlns:a16="http://schemas.microsoft.com/office/drawing/2014/main" id="{11002ACD-3B0C-4885-8754-8A00E926FE4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51293" y="6229681"/>
            <a:ext cx="342900" cy="457200"/>
            <a:chOff x="11361456" y="6195813"/>
            <a:chExt cx="548640" cy="548640"/>
          </a:xfrm>
        </p:grpSpPr>
        <p:sp>
          <p:nvSpPr>
            <p:cNvPr id="12" name="Oval 11">
              <a:extLst>
                <a:ext uri="{FF2B5EF4-FFF2-40B4-BE49-F238E27FC236}">
                  <a16:creationId xmlns:a16="http://schemas.microsoft.com/office/drawing/2014/main" id="{DF0313CD-4196-4456-A70D-5EE2B995BA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3" name="Oval 12">
              <a:extLst>
                <a:ext uri="{FF2B5EF4-FFF2-40B4-BE49-F238E27FC236}">
                  <a16:creationId xmlns:a16="http://schemas.microsoft.com/office/drawing/2014/main" id="{80DE0B32-9EE8-4975-AD48-3855B0A82A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964958D-AF5D-4863-B5FB-83F6B8CB1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08" y="0"/>
            <a:ext cx="9141492"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3509320" y="105547"/>
            <a:ext cx="5047708" cy="1609344"/>
          </a:xfrm>
          <a:ln>
            <a:noFill/>
          </a:ln>
        </p:spPr>
        <p:txBody>
          <a:bodyPr>
            <a:normAutofit/>
          </a:bodyPr>
          <a:lstStyle/>
          <a:p>
            <a:r>
              <a:rPr lang="en-US" dirty="0"/>
              <a:t>Dorsal Group of Neurons</a:t>
            </a:r>
          </a:p>
        </p:txBody>
      </p:sp>
      <p:pic>
        <p:nvPicPr>
          <p:cNvPr id="5" name="Picture 4" descr="3D neurons connecting">
            <a:extLst>
              <a:ext uri="{FF2B5EF4-FFF2-40B4-BE49-F238E27FC236}">
                <a16:creationId xmlns:a16="http://schemas.microsoft.com/office/drawing/2014/main" id="{C91F39F1-FAE7-4404-7A5C-670088CCE024}"/>
              </a:ext>
            </a:extLst>
          </p:cNvPr>
          <p:cNvPicPr>
            <a:picLocks noChangeAspect="1"/>
          </p:cNvPicPr>
          <p:nvPr/>
        </p:nvPicPr>
        <p:blipFill>
          <a:blip r:embed="rId4"/>
          <a:srcRect l="32407" r="33722" b="-3"/>
          <a:stretch/>
        </p:blipFill>
        <p:spPr>
          <a:xfrm>
            <a:off x="2508" y="10"/>
            <a:ext cx="3485044" cy="6857990"/>
          </a:xfrm>
          <a:prstGeom prst="rect">
            <a:avLst/>
          </a:prstGeom>
        </p:spPr>
      </p:pic>
      <p:sp>
        <p:nvSpPr>
          <p:cNvPr id="3" name="Content Placeholder 2"/>
          <p:cNvSpPr>
            <a:spLocks noGrp="1"/>
          </p:cNvSpPr>
          <p:nvPr>
            <p:ph idx="1"/>
          </p:nvPr>
        </p:nvSpPr>
        <p:spPr>
          <a:xfrm>
            <a:off x="3509320" y="1880173"/>
            <a:ext cx="5622078" cy="4969785"/>
          </a:xfrm>
        </p:spPr>
        <p:txBody>
          <a:bodyPr vert="horz" lIns="91440" tIns="45720" rIns="91440" bIns="45720" rtlCol="0" anchor="t">
            <a:normAutofit/>
          </a:bodyPr>
          <a:lstStyle/>
          <a:p>
            <a:r>
              <a:rPr lang="en-US" dirty="0"/>
              <a:t>Significance of the signal in the form of ramp is that </a:t>
            </a:r>
            <a:r>
              <a:rPr lang="en-US" b="1" dirty="0"/>
              <a:t>it causes progressive expansion of the lungs</a:t>
            </a:r>
            <a:r>
              <a:rPr lang="en-US" dirty="0"/>
              <a:t>. After production, these ramp signals are</a:t>
            </a:r>
            <a:r>
              <a:rPr lang="en-US" b="1" dirty="0"/>
              <a:t> transmitted to the contra lateral motor neurons supplying the inspiratory muscles. </a:t>
            </a:r>
          </a:p>
          <a:p>
            <a:endParaRPr lang="en-US" dirty="0"/>
          </a:p>
          <a:p>
            <a:r>
              <a:rPr lang="en-US" b="1" dirty="0"/>
              <a:t>Rate and duration</a:t>
            </a:r>
            <a:r>
              <a:rPr lang="en-US" dirty="0"/>
              <a:t> of inspiratory ramp signals is </a:t>
            </a:r>
            <a:r>
              <a:rPr lang="en-US" b="1" dirty="0"/>
              <a:t>controlled by impulses from the Pneumotaxic Centre and impulses from the lungs via vagi. </a:t>
            </a:r>
          </a:p>
          <a:p>
            <a:endParaRPr lang="en-US" dirty="0"/>
          </a:p>
        </p:txBody>
      </p:sp>
      <p:grpSp>
        <p:nvGrpSpPr>
          <p:cNvPr id="11" name="Group 10">
            <a:extLst>
              <a:ext uri="{FF2B5EF4-FFF2-40B4-BE49-F238E27FC236}">
                <a16:creationId xmlns:a16="http://schemas.microsoft.com/office/drawing/2014/main" id="{11002ACD-3B0C-4885-8754-8A00E926FE4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51293" y="6229681"/>
            <a:ext cx="342900" cy="457200"/>
            <a:chOff x="11361456" y="6195813"/>
            <a:chExt cx="548640" cy="548640"/>
          </a:xfrm>
        </p:grpSpPr>
        <p:sp>
          <p:nvSpPr>
            <p:cNvPr id="12" name="Oval 11">
              <a:extLst>
                <a:ext uri="{FF2B5EF4-FFF2-40B4-BE49-F238E27FC236}">
                  <a16:creationId xmlns:a16="http://schemas.microsoft.com/office/drawing/2014/main" id="{DF0313CD-4196-4456-A70D-5EE2B995BA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3" name="Oval 12">
              <a:extLst>
                <a:ext uri="{FF2B5EF4-FFF2-40B4-BE49-F238E27FC236}">
                  <a16:creationId xmlns:a16="http://schemas.microsoft.com/office/drawing/2014/main" id="{80DE0B32-9EE8-4975-AD48-3855B0A82A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362E11DD-B54B-4751-9C17-39DAF9EF46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7999"/>
          </a:xfrm>
          <a:prstGeom prst="rect">
            <a:avLst/>
          </a:prstGeom>
          <a:blipFill dpi="0" rotWithShape="1">
            <a:blip r:embed="rId3">
              <a:alphaModFix amt="60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286710" y="484632"/>
            <a:ext cx="5057883" cy="1609344"/>
          </a:xfrm>
        </p:spPr>
        <p:txBody>
          <a:bodyPr>
            <a:normAutofit/>
          </a:bodyPr>
          <a:lstStyle/>
          <a:p>
            <a:r>
              <a:rPr lang="en-US" sz="3900" b="1" dirty="0"/>
              <a:t>VENTRAL RESPIRATORY GROUP OF NEURONS</a:t>
            </a:r>
          </a:p>
        </p:txBody>
      </p:sp>
      <p:sp>
        <p:nvSpPr>
          <p:cNvPr id="16" name="Content Placeholder 2"/>
          <p:cNvSpPr>
            <a:spLocks noGrp="1"/>
          </p:cNvSpPr>
          <p:nvPr>
            <p:ph idx="1"/>
          </p:nvPr>
        </p:nvSpPr>
        <p:spPr>
          <a:xfrm>
            <a:off x="-131854" y="2099944"/>
            <a:ext cx="5787686" cy="4759129"/>
          </a:xfrm>
        </p:spPr>
        <p:txBody>
          <a:bodyPr vert="horz" lIns="91440" tIns="45720" rIns="91440" bIns="45720" rtlCol="0" anchor="t">
            <a:normAutofit/>
          </a:bodyPr>
          <a:lstStyle/>
          <a:p>
            <a:r>
              <a:rPr lang="en-US" dirty="0"/>
              <a:t>Located in the </a:t>
            </a:r>
            <a:r>
              <a:rPr lang="en-US" b="1" dirty="0"/>
              <a:t>ventral portion of medulla oblongata</a:t>
            </a:r>
          </a:p>
          <a:p>
            <a:r>
              <a:rPr lang="en-US" dirty="0"/>
              <a:t>Include </a:t>
            </a:r>
            <a:r>
              <a:rPr lang="en-US" b="1" dirty="0"/>
              <a:t>nucleus ambigus and retro ambiguous</a:t>
            </a:r>
          </a:p>
          <a:p>
            <a:pPr>
              <a:buClr>
                <a:srgbClr val="9E3611"/>
              </a:buClr>
            </a:pPr>
            <a:r>
              <a:rPr lang="en-US" dirty="0"/>
              <a:t>Has both </a:t>
            </a:r>
            <a:r>
              <a:rPr lang="en-US" b="1" dirty="0"/>
              <a:t>Inspiratory and expiratory neurons.</a:t>
            </a:r>
          </a:p>
          <a:p>
            <a:r>
              <a:rPr lang="en-US" dirty="0"/>
              <a:t>This group is</a:t>
            </a:r>
            <a:r>
              <a:rPr lang="en-US" b="1" dirty="0"/>
              <a:t> not involved during quiet breathing</a:t>
            </a:r>
          </a:p>
          <a:p>
            <a:r>
              <a:rPr lang="en-US" dirty="0"/>
              <a:t>This group is</a:t>
            </a:r>
            <a:r>
              <a:rPr lang="en-US" b="1" dirty="0"/>
              <a:t> stimulated when there is need for increased pulmonary ventilation.</a:t>
            </a:r>
          </a:p>
          <a:p>
            <a:r>
              <a:rPr lang="en-US" dirty="0"/>
              <a:t>So this group is stimulated </a:t>
            </a:r>
            <a:r>
              <a:rPr lang="en-US" b="1" dirty="0"/>
              <a:t>during exercise.</a:t>
            </a:r>
            <a:r>
              <a:rPr lang="en-US" dirty="0"/>
              <a:t> </a:t>
            </a:r>
          </a:p>
        </p:txBody>
      </p:sp>
      <p:pic>
        <p:nvPicPr>
          <p:cNvPr id="18" name="Picture 17" descr="A close up of nerve cell">
            <a:extLst>
              <a:ext uri="{FF2B5EF4-FFF2-40B4-BE49-F238E27FC236}">
                <a16:creationId xmlns:a16="http://schemas.microsoft.com/office/drawing/2014/main" id="{AEE862B8-021D-AA41-DEC8-76210E45F859}"/>
              </a:ext>
            </a:extLst>
          </p:cNvPr>
          <p:cNvPicPr>
            <a:picLocks noChangeAspect="1"/>
          </p:cNvPicPr>
          <p:nvPr/>
        </p:nvPicPr>
        <p:blipFill>
          <a:blip r:embed="rId5"/>
          <a:srcRect l="48938" r="12951" b="4"/>
          <a:stretch/>
        </p:blipFill>
        <p:spPr>
          <a:xfrm>
            <a:off x="5658955" y="10"/>
            <a:ext cx="3485045" cy="6857990"/>
          </a:xfrm>
          <a:prstGeom prst="rect">
            <a:avLst/>
          </a:prstGeom>
        </p:spPr>
      </p:pic>
      <p:grpSp>
        <p:nvGrpSpPr>
          <p:cNvPr id="24" name="Group 23">
            <a:extLst>
              <a:ext uri="{FF2B5EF4-FFF2-40B4-BE49-F238E27FC236}">
                <a16:creationId xmlns:a16="http://schemas.microsoft.com/office/drawing/2014/main" id="{B55DE4E1-F219-45A4-96D9-9A86D0E4DBD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51293" y="6229681"/>
            <a:ext cx="342900" cy="457200"/>
            <a:chOff x="11361456" y="6195813"/>
            <a:chExt cx="548640" cy="548640"/>
          </a:xfrm>
        </p:grpSpPr>
        <p:sp>
          <p:nvSpPr>
            <p:cNvPr id="25" name="Oval 24">
              <a:extLst>
                <a:ext uri="{FF2B5EF4-FFF2-40B4-BE49-F238E27FC236}">
                  <a16:creationId xmlns:a16="http://schemas.microsoft.com/office/drawing/2014/main" id="{3601C3FF-4A5D-437C-B3DB-A53B99D308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6">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6" name="Oval 25">
              <a:extLst>
                <a:ext uri="{FF2B5EF4-FFF2-40B4-BE49-F238E27FC236}">
                  <a16:creationId xmlns:a16="http://schemas.microsoft.com/office/drawing/2014/main" id="{61B1BDC9-B583-4F65-8FE9-E2CBE71D93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609600"/>
            <a:ext cx="8915400" cy="55625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480120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89C8D586-1ECD-4981-BED2-97336112C0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999"/>
          </a:xfrm>
          <a:prstGeom prst="rect">
            <a:avLst/>
          </a:prstGeom>
          <a:blipFill dpi="0" rotWithShape="1">
            <a:blip r:embed="rId3">
              <a:alphaModFix amt="60000"/>
              <a:lum bright="70000" contrast="-70000"/>
              <a:extLs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4800600" y="484632"/>
            <a:ext cx="3974689" cy="1609344"/>
          </a:xfrm>
          <a:ln>
            <a:noFill/>
          </a:ln>
        </p:spPr>
        <p:txBody>
          <a:bodyPr>
            <a:normAutofit/>
          </a:bodyPr>
          <a:lstStyle/>
          <a:p>
            <a:r>
              <a:rPr lang="en-US" sz="3500" b="1" dirty="0"/>
              <a:t>PNEUMOTAXIC CENTRE</a:t>
            </a:r>
          </a:p>
        </p:txBody>
      </p:sp>
      <p:sp>
        <p:nvSpPr>
          <p:cNvPr id="3" name="Content Placeholder 2"/>
          <p:cNvSpPr>
            <a:spLocks noGrp="1"/>
          </p:cNvSpPr>
          <p:nvPr>
            <p:ph idx="1"/>
          </p:nvPr>
        </p:nvSpPr>
        <p:spPr>
          <a:xfrm>
            <a:off x="4571999" y="2175838"/>
            <a:ext cx="4584288" cy="4507990"/>
          </a:xfrm>
        </p:spPr>
        <p:txBody>
          <a:bodyPr vert="horz" lIns="91440" tIns="45720" rIns="91440" bIns="45720" rtlCol="0" anchor="t">
            <a:normAutofit/>
          </a:bodyPr>
          <a:lstStyle/>
          <a:p>
            <a:r>
              <a:rPr lang="en-US" sz="1800" dirty="0"/>
              <a:t>Located in the</a:t>
            </a:r>
            <a:r>
              <a:rPr lang="en-US" sz="1800" b="1" dirty="0"/>
              <a:t> upper Pons</a:t>
            </a:r>
          </a:p>
          <a:p>
            <a:r>
              <a:rPr lang="en-US" sz="1800" dirty="0"/>
              <a:t>It contains two nuclei i.e. </a:t>
            </a:r>
            <a:r>
              <a:rPr lang="en-US" sz="1800" b="1" dirty="0"/>
              <a:t>Kolliker fuse</a:t>
            </a:r>
            <a:r>
              <a:rPr lang="en-US" sz="1800" dirty="0"/>
              <a:t> and </a:t>
            </a:r>
            <a:r>
              <a:rPr lang="en-US" sz="1800" b="1" dirty="0"/>
              <a:t>nucleus para brachialis. </a:t>
            </a:r>
          </a:p>
          <a:p>
            <a:r>
              <a:rPr lang="en-US" sz="1800" b="1" dirty="0"/>
              <a:t>Signals</a:t>
            </a:r>
            <a:r>
              <a:rPr lang="en-US" sz="1800" dirty="0"/>
              <a:t> from this Centre are </a:t>
            </a:r>
            <a:r>
              <a:rPr lang="en-US" sz="1800" b="1" dirty="0"/>
              <a:t>transmitted to the dorsal group of neurons</a:t>
            </a:r>
            <a:r>
              <a:rPr lang="en-US" sz="1800" dirty="0"/>
              <a:t> to control </a:t>
            </a:r>
            <a:r>
              <a:rPr lang="en-US" sz="1800" b="1" dirty="0"/>
              <a:t>rate and duration of inspiratory ramp signals.</a:t>
            </a:r>
          </a:p>
          <a:p>
            <a:r>
              <a:rPr lang="en-US" sz="1800" dirty="0"/>
              <a:t> When signals from this center are strong, inspiratory ramp signals are terminated early and there is</a:t>
            </a:r>
            <a:r>
              <a:rPr lang="en-US" sz="1800" b="1" dirty="0"/>
              <a:t> increase in respiratory rate</a:t>
            </a:r>
          </a:p>
          <a:p>
            <a:r>
              <a:rPr lang="en-US" sz="1800" dirty="0"/>
              <a:t>When signals from this center are weak, inspiratory ramp signals are not terminated early leading to decreased Respiratory rate.</a:t>
            </a:r>
          </a:p>
        </p:txBody>
      </p:sp>
      <p:grpSp>
        <p:nvGrpSpPr>
          <p:cNvPr id="38" name="Group 37">
            <a:extLst>
              <a:ext uri="{FF2B5EF4-FFF2-40B4-BE49-F238E27FC236}">
                <a16:creationId xmlns:a16="http://schemas.microsoft.com/office/drawing/2014/main" id="{AF001A23-2767-4A31-BD30-56112DE9527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51293" y="6229681"/>
            <a:ext cx="342900" cy="457200"/>
            <a:chOff x="11361456" y="6195813"/>
            <a:chExt cx="548640" cy="548640"/>
          </a:xfrm>
        </p:grpSpPr>
        <p:sp>
          <p:nvSpPr>
            <p:cNvPr id="39" name="Oval 38">
              <a:extLst>
                <a:ext uri="{FF2B5EF4-FFF2-40B4-BE49-F238E27FC236}">
                  <a16:creationId xmlns:a16="http://schemas.microsoft.com/office/drawing/2014/main" id="{C6BD30CE-7C6B-4C5B-8206-2A912062D6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40" name="Oval 39">
              <a:extLst>
                <a:ext uri="{FF2B5EF4-FFF2-40B4-BE49-F238E27FC236}">
                  <a16:creationId xmlns:a16="http://schemas.microsoft.com/office/drawing/2014/main" id="{7FA45EC6-AD58-4CAF-846D-46D82B614D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pic>
        <p:nvPicPr>
          <p:cNvPr id="7" name="Picture 6" descr="Diagram of a diagram showing the internal organs of the human body&#10;&#10;AI-generated content may be incorrect.">
            <a:extLst>
              <a:ext uri="{FF2B5EF4-FFF2-40B4-BE49-F238E27FC236}">
                <a16:creationId xmlns:a16="http://schemas.microsoft.com/office/drawing/2014/main" id="{5AD33AB2-8A88-3C22-BAFA-089129903C2A}"/>
              </a:ext>
            </a:extLst>
          </p:cNvPr>
          <p:cNvPicPr>
            <a:picLocks noChangeAspect="1"/>
          </p:cNvPicPr>
          <p:nvPr/>
        </p:nvPicPr>
        <p:blipFill>
          <a:blip r:embed="rId5"/>
          <a:stretch>
            <a:fillRect/>
          </a:stretch>
        </p:blipFill>
        <p:spPr>
          <a:xfrm>
            <a:off x="-4083" y="1361"/>
            <a:ext cx="4699906" cy="685527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9C8D586-1ECD-4981-BED2-97336112C0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999"/>
          </a:xfrm>
          <a:prstGeom prst="rect">
            <a:avLst/>
          </a:prstGeom>
          <a:blipFill dpi="0" rotWithShape="1">
            <a:blip r:embed="rId3">
              <a:alphaModFix amt="60000"/>
              <a:lum bright="70000" contrast="-70000"/>
              <a:extLs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4800600" y="484632"/>
            <a:ext cx="3974689" cy="1609344"/>
          </a:xfrm>
          <a:ln>
            <a:noFill/>
          </a:ln>
        </p:spPr>
        <p:txBody>
          <a:bodyPr>
            <a:normAutofit/>
          </a:bodyPr>
          <a:lstStyle/>
          <a:p>
            <a:r>
              <a:rPr lang="en-US" sz="4000" b="1" dirty="0"/>
              <a:t>APNEUSTIC CENTRE</a:t>
            </a:r>
          </a:p>
        </p:txBody>
      </p:sp>
      <p:sp>
        <p:nvSpPr>
          <p:cNvPr id="3" name="Content Placeholder 2"/>
          <p:cNvSpPr>
            <a:spLocks noGrp="1"/>
          </p:cNvSpPr>
          <p:nvPr>
            <p:ph idx="1"/>
          </p:nvPr>
        </p:nvSpPr>
        <p:spPr>
          <a:xfrm>
            <a:off x="4680856" y="2328236"/>
            <a:ext cx="4464546" cy="3898392"/>
          </a:xfrm>
        </p:spPr>
        <p:txBody>
          <a:bodyPr vert="horz" lIns="91440" tIns="45720" rIns="91440" bIns="45720" rtlCol="0" anchor="t">
            <a:normAutofit fontScale="92500" lnSpcReduction="10000"/>
          </a:bodyPr>
          <a:lstStyle/>
          <a:p>
            <a:r>
              <a:rPr lang="en-US" dirty="0"/>
              <a:t>Not well understood.</a:t>
            </a:r>
          </a:p>
          <a:p>
            <a:endParaRPr lang="en-US" dirty="0"/>
          </a:p>
          <a:p>
            <a:r>
              <a:rPr lang="en-US" dirty="0"/>
              <a:t>Located in </a:t>
            </a:r>
            <a:r>
              <a:rPr lang="en-US" b="1" dirty="0"/>
              <a:t>lower Pons.</a:t>
            </a:r>
          </a:p>
          <a:p>
            <a:endParaRPr lang="en-US" dirty="0"/>
          </a:p>
          <a:p>
            <a:r>
              <a:rPr lang="en-US" dirty="0"/>
              <a:t>Physiological role is not certain, however when </a:t>
            </a:r>
            <a:r>
              <a:rPr lang="en-US" b="1" dirty="0"/>
              <a:t>this center is stimulated there is Apneusis i.e. prolonged inspiration with short expiration.</a:t>
            </a:r>
          </a:p>
          <a:p>
            <a:endParaRPr lang="en-US" dirty="0"/>
          </a:p>
          <a:p>
            <a:r>
              <a:rPr lang="en-US" dirty="0"/>
              <a:t>It may</a:t>
            </a:r>
            <a:r>
              <a:rPr lang="en-US" b="1" dirty="0"/>
              <a:t> provide extra stimulation to dorsal group of neurons.</a:t>
            </a:r>
          </a:p>
          <a:p>
            <a:endParaRPr lang="en-US" dirty="0"/>
          </a:p>
        </p:txBody>
      </p:sp>
      <p:grpSp>
        <p:nvGrpSpPr>
          <p:cNvPr id="11" name="Group 10">
            <a:extLst>
              <a:ext uri="{FF2B5EF4-FFF2-40B4-BE49-F238E27FC236}">
                <a16:creationId xmlns:a16="http://schemas.microsoft.com/office/drawing/2014/main" id="{AF001A23-2767-4A31-BD30-56112DE9527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51293" y="6229681"/>
            <a:ext cx="342900" cy="457200"/>
            <a:chOff x="11361456" y="6195813"/>
            <a:chExt cx="548640" cy="548640"/>
          </a:xfrm>
        </p:grpSpPr>
        <p:sp>
          <p:nvSpPr>
            <p:cNvPr id="12" name="Oval 11">
              <a:extLst>
                <a:ext uri="{FF2B5EF4-FFF2-40B4-BE49-F238E27FC236}">
                  <a16:creationId xmlns:a16="http://schemas.microsoft.com/office/drawing/2014/main" id="{C6BD30CE-7C6B-4C5B-8206-2A912062D6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3" name="Oval 12">
              <a:extLst>
                <a:ext uri="{FF2B5EF4-FFF2-40B4-BE49-F238E27FC236}">
                  <a16:creationId xmlns:a16="http://schemas.microsoft.com/office/drawing/2014/main" id="{7FA45EC6-AD58-4CAF-846D-46D82B614D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pic>
        <p:nvPicPr>
          <p:cNvPr id="7" name="Picture 6" descr="Diagram of a diagram showing the internal organs of the human body&#10;&#10;AI-generated content may be incorrect.">
            <a:extLst>
              <a:ext uri="{FF2B5EF4-FFF2-40B4-BE49-F238E27FC236}">
                <a16:creationId xmlns:a16="http://schemas.microsoft.com/office/drawing/2014/main" id="{D37EF712-6673-1F3C-2ED8-13E3E19551DD}"/>
              </a:ext>
            </a:extLst>
          </p:cNvPr>
          <p:cNvPicPr>
            <a:picLocks noChangeAspect="1"/>
          </p:cNvPicPr>
          <p:nvPr/>
        </p:nvPicPr>
        <p:blipFill>
          <a:blip r:embed="rId5"/>
          <a:stretch>
            <a:fillRect/>
          </a:stretch>
        </p:blipFill>
        <p:spPr>
          <a:xfrm>
            <a:off x="-4083" y="1361"/>
            <a:ext cx="4699906" cy="685527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FCA88C2-C73C-4062-A097-8FBCE3090B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83981C21-E132-4402-B31B-D725C1CE77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203" y="653241"/>
            <a:ext cx="818159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6A685C77-4E84-486A-9AE5-F3635BE98E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201" y="822324"/>
            <a:ext cx="3862197" cy="5228279"/>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965200" y="1465790"/>
            <a:ext cx="2895599" cy="3941345"/>
          </a:xfrm>
        </p:spPr>
        <p:txBody>
          <a:bodyPr>
            <a:normAutofit/>
          </a:bodyPr>
          <a:lstStyle/>
          <a:p>
            <a:r>
              <a:rPr lang="en-US" sz="4800" dirty="0"/>
              <a:t>Regulation of Respiration</a:t>
            </a:r>
          </a:p>
        </p:txBody>
      </p:sp>
      <p:sp>
        <p:nvSpPr>
          <p:cNvPr id="3" name="Content Placeholder 2"/>
          <p:cNvSpPr>
            <a:spLocks noGrp="1"/>
          </p:cNvSpPr>
          <p:nvPr>
            <p:ph idx="1"/>
          </p:nvPr>
        </p:nvSpPr>
        <p:spPr>
          <a:xfrm>
            <a:off x="4813299" y="1359090"/>
            <a:ext cx="3849499" cy="4048046"/>
          </a:xfrm>
        </p:spPr>
        <p:txBody>
          <a:bodyPr anchor="ctr">
            <a:normAutofit/>
          </a:bodyPr>
          <a:lstStyle/>
          <a:p>
            <a:r>
              <a:rPr lang="en-US" dirty="0"/>
              <a:t>Activity of the respiratory center is controlled by :-</a:t>
            </a:r>
          </a:p>
          <a:p>
            <a:pPr lvl="0"/>
            <a:r>
              <a:rPr lang="en-US" dirty="0"/>
              <a:t>Nervous Stimuli (Nervous regulation)</a:t>
            </a:r>
          </a:p>
          <a:p>
            <a:pPr lvl="0"/>
            <a:r>
              <a:rPr lang="en-US" dirty="0"/>
              <a:t>Chemical Stimuli (Chemical Regulation)</a:t>
            </a:r>
          </a:p>
          <a:p>
            <a:endParaRPr lang="en-US" dirty="0"/>
          </a:p>
        </p:txBody>
      </p:sp>
      <p:sp>
        <p:nvSpPr>
          <p:cNvPr id="14" name="Rectangle 13">
            <a:extLst>
              <a:ext uri="{FF2B5EF4-FFF2-40B4-BE49-F238E27FC236}">
                <a16:creationId xmlns:a16="http://schemas.microsoft.com/office/drawing/2014/main" id="{E55C1C3E-5158-47F3-8FD9-14B22C3E6E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203" y="6121662"/>
            <a:ext cx="818159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62E11DD-B54B-4751-9C17-39DAF9EF46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7999"/>
          </a:xfrm>
          <a:prstGeom prst="rect">
            <a:avLst/>
          </a:prstGeom>
          <a:blipFill dpi="0" rotWithShape="1">
            <a:blip r:embed="rId3">
              <a:alphaModFix amt="60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3681" y="114518"/>
            <a:ext cx="5057883" cy="1609344"/>
          </a:xfrm>
        </p:spPr>
        <p:txBody>
          <a:bodyPr>
            <a:normAutofit/>
          </a:bodyPr>
          <a:lstStyle/>
          <a:p>
            <a:r>
              <a:rPr lang="en-US" b="1" dirty="0"/>
              <a:t>Nervous Regulation</a:t>
            </a:r>
          </a:p>
        </p:txBody>
      </p:sp>
      <p:sp>
        <p:nvSpPr>
          <p:cNvPr id="3" name="Content Placeholder 2"/>
          <p:cNvSpPr>
            <a:spLocks noGrp="1"/>
          </p:cNvSpPr>
          <p:nvPr>
            <p:ph idx="1"/>
          </p:nvPr>
        </p:nvSpPr>
        <p:spPr>
          <a:xfrm>
            <a:off x="3681" y="1707751"/>
            <a:ext cx="5656598" cy="5150247"/>
          </a:xfrm>
        </p:spPr>
        <p:txBody>
          <a:bodyPr vert="horz" lIns="91440" tIns="45720" rIns="91440" bIns="45720" rtlCol="0" anchor="t">
            <a:normAutofit/>
          </a:bodyPr>
          <a:lstStyle/>
          <a:p>
            <a:pPr lvl="0"/>
            <a:r>
              <a:rPr lang="en-US" sz="1800" b="1" u="sng" dirty="0"/>
              <a:t>Impulses from Higher centers: </a:t>
            </a:r>
            <a:r>
              <a:rPr lang="en-US" sz="1800" dirty="0"/>
              <a:t>During emotional states, respiration is modified by impulses from</a:t>
            </a:r>
            <a:r>
              <a:rPr lang="en-US" sz="1800" b="1" dirty="0"/>
              <a:t> higher centers i.e. cerebral cortex, limbic system, and hypothalamus.</a:t>
            </a:r>
          </a:p>
          <a:p>
            <a:pPr lvl="0"/>
            <a:endParaRPr lang="en-US" sz="1800" b="1" dirty="0"/>
          </a:p>
          <a:p>
            <a:r>
              <a:rPr lang="en-US" sz="1800" b="1" u="sng" dirty="0"/>
              <a:t>For voluntary hypo and hyperventilation: </a:t>
            </a:r>
            <a:r>
              <a:rPr lang="en-US" sz="1800" dirty="0"/>
              <a:t>Impulses arise f</a:t>
            </a:r>
            <a:r>
              <a:rPr lang="en-US" sz="1800" b="1" dirty="0"/>
              <a:t>rom the cerebral cortex and go directly to the motor neurons supplying the inspiratory muscles.</a:t>
            </a:r>
          </a:p>
          <a:p>
            <a:endParaRPr lang="en-US" sz="1800" dirty="0"/>
          </a:p>
          <a:p>
            <a:pPr lvl="0"/>
            <a:r>
              <a:rPr lang="en-US" sz="1800" b="1" u="sng" dirty="0"/>
              <a:t>Impulses from Proprioceptors:  </a:t>
            </a:r>
            <a:r>
              <a:rPr lang="en-US" sz="1800" dirty="0"/>
              <a:t>Proprioceptors are the receptors presents around joints, in muscles, ligaments, tendons and deeper parts of skin. These receptors respond to changes in position and movement. Impulses from these proprioceptors go to the respiratory center to stimulate it. These are the major stimulatory factors to stimulate respiration during exercise.</a:t>
            </a:r>
          </a:p>
          <a:p>
            <a:endParaRPr lang="en-US" sz="1800" dirty="0"/>
          </a:p>
        </p:txBody>
      </p:sp>
      <p:pic>
        <p:nvPicPr>
          <p:cNvPr id="5" name="Picture 4" descr="Computer Generated Lights">
            <a:extLst>
              <a:ext uri="{FF2B5EF4-FFF2-40B4-BE49-F238E27FC236}">
                <a16:creationId xmlns:a16="http://schemas.microsoft.com/office/drawing/2014/main" id="{13D7C229-EFEC-C170-E7F1-5BFD10F19007}"/>
              </a:ext>
            </a:extLst>
          </p:cNvPr>
          <p:cNvPicPr>
            <a:picLocks noChangeAspect="1"/>
          </p:cNvPicPr>
          <p:nvPr/>
        </p:nvPicPr>
        <p:blipFill>
          <a:blip r:embed="rId5"/>
          <a:srcRect l="26759" r="35626" b="-60"/>
          <a:stretch/>
        </p:blipFill>
        <p:spPr>
          <a:xfrm>
            <a:off x="5658955" y="10"/>
            <a:ext cx="3485045" cy="6857990"/>
          </a:xfrm>
          <a:prstGeom prst="rect">
            <a:avLst/>
          </a:prstGeom>
        </p:spPr>
      </p:pic>
      <p:grpSp>
        <p:nvGrpSpPr>
          <p:cNvPr id="11" name="Group 10">
            <a:extLst>
              <a:ext uri="{FF2B5EF4-FFF2-40B4-BE49-F238E27FC236}">
                <a16:creationId xmlns:a16="http://schemas.microsoft.com/office/drawing/2014/main" id="{B55DE4E1-F219-45A4-96D9-9A86D0E4DBD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51293" y="6229681"/>
            <a:ext cx="342900" cy="457200"/>
            <a:chOff x="11361456" y="6195813"/>
            <a:chExt cx="548640" cy="548640"/>
          </a:xfrm>
        </p:grpSpPr>
        <p:sp>
          <p:nvSpPr>
            <p:cNvPr id="12" name="Oval 11">
              <a:extLst>
                <a:ext uri="{FF2B5EF4-FFF2-40B4-BE49-F238E27FC236}">
                  <a16:creationId xmlns:a16="http://schemas.microsoft.com/office/drawing/2014/main" id="{3601C3FF-4A5D-437C-B3DB-A53B99D308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6">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3" name="Oval 12">
              <a:extLst>
                <a:ext uri="{FF2B5EF4-FFF2-40B4-BE49-F238E27FC236}">
                  <a16:creationId xmlns:a16="http://schemas.microsoft.com/office/drawing/2014/main" id="{61B1BDC9-B583-4F65-8FE9-E2CBE71D93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964958D-AF5D-4863-B5FB-83F6B8CB1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08" y="0"/>
            <a:ext cx="9141492" cy="6857999"/>
          </a:xfrm>
          <a:prstGeom prst="rect">
            <a:avLst/>
          </a:prstGeom>
          <a:blipFill dpi="0" rotWithShape="1">
            <a:blip r:embed="rId3">
              <a:alphaModFix amt="60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3727581" y="484632"/>
            <a:ext cx="5047708" cy="1609344"/>
          </a:xfrm>
          <a:ln>
            <a:noFill/>
          </a:ln>
        </p:spPr>
        <p:txBody>
          <a:bodyPr>
            <a:normAutofit/>
          </a:bodyPr>
          <a:lstStyle/>
          <a:p>
            <a:r>
              <a:rPr lang="en-US" b="1" dirty="0"/>
              <a:t>Nervous Regulation</a:t>
            </a:r>
          </a:p>
        </p:txBody>
      </p:sp>
      <p:sp>
        <p:nvSpPr>
          <p:cNvPr id="3" name="Content Placeholder 2"/>
          <p:cNvSpPr>
            <a:spLocks noGrp="1"/>
          </p:cNvSpPr>
          <p:nvPr>
            <p:ph idx="1"/>
          </p:nvPr>
        </p:nvSpPr>
        <p:spPr>
          <a:xfrm>
            <a:off x="3727581" y="2121408"/>
            <a:ext cx="5047707" cy="4050792"/>
          </a:xfrm>
        </p:spPr>
        <p:txBody>
          <a:bodyPr>
            <a:normAutofit/>
          </a:bodyPr>
          <a:lstStyle/>
          <a:p>
            <a:pPr lvl="0"/>
            <a:r>
              <a:rPr lang="en-US" sz="1500" b="1" u="sng" dirty="0"/>
              <a:t>Impulses from Irritant receptors: </a:t>
            </a:r>
            <a:r>
              <a:rPr lang="en-US" sz="1500" dirty="0"/>
              <a:t>These are nerve endings present in the epithelium of airways; these are stimulated by mechanical irritants like mucus, sputum or foreign body or may be stimulated by chemical stimuli like histamine and bradykinin. These receptors are involved in cough and sneezing reflex. </a:t>
            </a:r>
          </a:p>
          <a:p>
            <a:pPr lvl="0"/>
            <a:endParaRPr lang="en-US" sz="1500" dirty="0"/>
          </a:p>
          <a:p>
            <a:pPr lvl="0"/>
            <a:r>
              <a:rPr lang="en-US" sz="1500" b="1" u="sng" dirty="0"/>
              <a:t>Impulses from stretch receptors in the lungs</a:t>
            </a:r>
            <a:r>
              <a:rPr lang="en-US" sz="1500" dirty="0"/>
              <a:t>: when lungs are inflated, impulses from stretch receptors in the lungs are stimulated and transmitted along the vagi to the respiratory center to terminate inspiratory ramp signal. These receptors are stimulated when lungs are over inflated and in human beings, herring Breuer reflex is activated, when the tidal volume is 1 – 1.5 liters. This reflex prevents over inflation of lungs.</a:t>
            </a:r>
          </a:p>
          <a:p>
            <a:endParaRPr lang="en-US" sz="1500" dirty="0"/>
          </a:p>
        </p:txBody>
      </p:sp>
      <p:grpSp>
        <p:nvGrpSpPr>
          <p:cNvPr id="11" name="Group 10">
            <a:extLst>
              <a:ext uri="{FF2B5EF4-FFF2-40B4-BE49-F238E27FC236}">
                <a16:creationId xmlns:a16="http://schemas.microsoft.com/office/drawing/2014/main" id="{11002ACD-3B0C-4885-8754-8A00E926FE4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51293" y="6229681"/>
            <a:ext cx="342900" cy="457200"/>
            <a:chOff x="11361456" y="6195813"/>
            <a:chExt cx="548640" cy="548640"/>
          </a:xfrm>
        </p:grpSpPr>
        <p:sp>
          <p:nvSpPr>
            <p:cNvPr id="16" name="Oval 15">
              <a:extLst>
                <a:ext uri="{FF2B5EF4-FFF2-40B4-BE49-F238E27FC236}">
                  <a16:creationId xmlns:a16="http://schemas.microsoft.com/office/drawing/2014/main" id="{DF0313CD-4196-4456-A70D-5EE2B995BA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3" name="Oval 12">
              <a:extLst>
                <a:ext uri="{FF2B5EF4-FFF2-40B4-BE49-F238E27FC236}">
                  <a16:creationId xmlns:a16="http://schemas.microsoft.com/office/drawing/2014/main" id="{80DE0B32-9EE8-4975-AD48-3855B0A82A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pic>
        <p:nvPicPr>
          <p:cNvPr id="6" name="Picture 5" descr="Computer Generated Lights">
            <a:extLst>
              <a:ext uri="{FF2B5EF4-FFF2-40B4-BE49-F238E27FC236}">
                <a16:creationId xmlns:a16="http://schemas.microsoft.com/office/drawing/2014/main" id="{C2273CAA-BFA4-83DB-ECBD-57822EF1C8FC}"/>
              </a:ext>
            </a:extLst>
          </p:cNvPr>
          <p:cNvPicPr>
            <a:picLocks noChangeAspect="1"/>
          </p:cNvPicPr>
          <p:nvPr/>
        </p:nvPicPr>
        <p:blipFill>
          <a:blip r:embed="rId6"/>
          <a:srcRect l="26759" r="35626" b="-60"/>
          <a:stretch/>
        </p:blipFill>
        <p:spPr>
          <a:xfrm>
            <a:off x="-1616" y="10"/>
            <a:ext cx="3485045" cy="685799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62E11DD-B54B-4751-9C17-39DAF9EF46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7999"/>
          </a:xfrm>
          <a:prstGeom prst="rect">
            <a:avLst/>
          </a:prstGeom>
          <a:blipFill dpi="0" rotWithShape="1">
            <a:blip r:embed="rId3">
              <a:alphaModFix amt="60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3681" y="-5225"/>
            <a:ext cx="5057883" cy="1609344"/>
          </a:xfrm>
        </p:spPr>
        <p:txBody>
          <a:bodyPr>
            <a:normAutofit/>
          </a:bodyPr>
          <a:lstStyle/>
          <a:p>
            <a:r>
              <a:rPr lang="en-US" b="1" dirty="0"/>
              <a:t>Nervous Regulation</a:t>
            </a:r>
          </a:p>
        </p:txBody>
      </p:sp>
      <p:sp>
        <p:nvSpPr>
          <p:cNvPr id="3" name="Content Placeholder 2"/>
          <p:cNvSpPr>
            <a:spLocks noGrp="1"/>
          </p:cNvSpPr>
          <p:nvPr>
            <p:ph idx="1"/>
          </p:nvPr>
        </p:nvSpPr>
        <p:spPr>
          <a:xfrm>
            <a:off x="-116429" y="1604119"/>
            <a:ext cx="5785780" cy="5716305"/>
          </a:xfrm>
        </p:spPr>
        <p:txBody>
          <a:bodyPr vert="horz" lIns="91440" tIns="45720" rIns="91440" bIns="45720" rtlCol="0" anchor="t">
            <a:noAutofit/>
          </a:bodyPr>
          <a:lstStyle/>
          <a:p>
            <a:r>
              <a:rPr lang="en-US" sz="1600" b="1" u="sng" dirty="0"/>
              <a:t>Impulses from J receptors:</a:t>
            </a:r>
            <a:r>
              <a:rPr lang="en-US" sz="1600" b="1" dirty="0"/>
              <a:t> </a:t>
            </a:r>
            <a:r>
              <a:rPr lang="en-US" sz="1600" dirty="0"/>
              <a:t>J means juxta position to pulmonary capillaries.</a:t>
            </a:r>
          </a:p>
          <a:p>
            <a:pPr>
              <a:buClr>
                <a:srgbClr val="9E3611"/>
              </a:buClr>
            </a:pPr>
            <a:r>
              <a:rPr lang="en-US" sz="1600" dirty="0"/>
              <a:t> Stimulated when some irritant chemical is present in the pulmonary blood or when there is engorgement of pulmonary capillaries or there is pulmonary edema. </a:t>
            </a:r>
          </a:p>
          <a:p>
            <a:pPr>
              <a:buClr>
                <a:srgbClr val="9E3611"/>
              </a:buClr>
            </a:pPr>
            <a:r>
              <a:rPr lang="en-US" sz="1600" dirty="0"/>
              <a:t>This leads to rapid breathing.</a:t>
            </a:r>
          </a:p>
          <a:p>
            <a:pPr lvl="0"/>
            <a:endParaRPr lang="en-US" sz="1600" dirty="0"/>
          </a:p>
          <a:p>
            <a:pPr lvl="0"/>
            <a:r>
              <a:rPr lang="en-US" sz="1600" b="1" u="sng" dirty="0"/>
              <a:t>Visceral reflexes: </a:t>
            </a:r>
            <a:r>
              <a:rPr lang="en-US" sz="1600" dirty="0"/>
              <a:t>There is physiological apnea during swallowing.</a:t>
            </a:r>
          </a:p>
          <a:p>
            <a:pPr lvl="1"/>
            <a:r>
              <a:rPr lang="en-US" sz="1600" dirty="0"/>
              <a:t>There is short apnea during defecation, vomiting.</a:t>
            </a:r>
          </a:p>
          <a:p>
            <a:pPr lvl="1"/>
            <a:r>
              <a:rPr lang="en-US" sz="1600" dirty="0"/>
              <a:t>During inspiration heart rate increases and during expiration it decreases.</a:t>
            </a:r>
          </a:p>
          <a:p>
            <a:pPr lvl="1"/>
            <a:r>
              <a:rPr lang="en-US" sz="1600" dirty="0"/>
              <a:t>Application of cold water over the body leads to hyperventilation.</a:t>
            </a:r>
          </a:p>
          <a:p>
            <a:pPr lvl="1"/>
            <a:r>
              <a:rPr lang="en-US" sz="1600" dirty="0"/>
              <a:t>When cold water is applied only to the face, there is hypoventilation.</a:t>
            </a:r>
          </a:p>
          <a:p>
            <a:pPr marL="274320" lvl="1" indent="0">
              <a:buNone/>
            </a:pPr>
            <a:endParaRPr lang="en-US" sz="1600" dirty="0"/>
          </a:p>
        </p:txBody>
      </p:sp>
      <p:grpSp>
        <p:nvGrpSpPr>
          <p:cNvPr id="11" name="Group 10">
            <a:extLst>
              <a:ext uri="{FF2B5EF4-FFF2-40B4-BE49-F238E27FC236}">
                <a16:creationId xmlns:a16="http://schemas.microsoft.com/office/drawing/2014/main" id="{B55DE4E1-F219-45A4-96D9-9A86D0E4DBD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51293" y="6229681"/>
            <a:ext cx="342900" cy="457200"/>
            <a:chOff x="11361456" y="6195813"/>
            <a:chExt cx="548640" cy="548640"/>
          </a:xfrm>
        </p:grpSpPr>
        <p:sp>
          <p:nvSpPr>
            <p:cNvPr id="16" name="Oval 15">
              <a:extLst>
                <a:ext uri="{FF2B5EF4-FFF2-40B4-BE49-F238E27FC236}">
                  <a16:creationId xmlns:a16="http://schemas.microsoft.com/office/drawing/2014/main" id="{3601C3FF-4A5D-437C-B3DB-A53B99D308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3" name="Oval 12">
              <a:extLst>
                <a:ext uri="{FF2B5EF4-FFF2-40B4-BE49-F238E27FC236}">
                  <a16:creationId xmlns:a16="http://schemas.microsoft.com/office/drawing/2014/main" id="{61B1BDC9-B583-4F65-8FE9-E2CBE71D93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pic>
        <p:nvPicPr>
          <p:cNvPr id="6" name="Picture 5" descr="Computer Generated Lights">
            <a:extLst>
              <a:ext uri="{FF2B5EF4-FFF2-40B4-BE49-F238E27FC236}">
                <a16:creationId xmlns:a16="http://schemas.microsoft.com/office/drawing/2014/main" id="{B0DA1997-9A78-FF80-A900-62FA3552A4D3}"/>
              </a:ext>
            </a:extLst>
          </p:cNvPr>
          <p:cNvPicPr>
            <a:picLocks noChangeAspect="1"/>
          </p:cNvPicPr>
          <p:nvPr/>
        </p:nvPicPr>
        <p:blipFill>
          <a:blip r:embed="rId6"/>
          <a:srcRect l="26759" r="35626" b="-60"/>
          <a:stretch/>
        </p:blipFill>
        <p:spPr>
          <a:xfrm>
            <a:off x="5658955" y="10"/>
            <a:ext cx="3485045" cy="685799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FCA88C2-C73C-4062-A097-8FBCE3090B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83981C21-E132-4402-B31B-D725C1CE77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203" y="653241"/>
            <a:ext cx="8181594" cy="80683"/>
          </a:xfrm>
          <a:prstGeom prst="rect">
            <a:avLst/>
          </a:prstGeom>
          <a:blipFill dpi="0" rotWithShape="1">
            <a:blip r:embed="rId3">
              <a:alphaModFix amt="85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6A685C77-4E84-486A-9AE5-F3635BE98E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201" y="822324"/>
            <a:ext cx="3862197" cy="5228279"/>
          </a:xfrm>
          <a:prstGeom prst="rect">
            <a:avLst/>
          </a:prstGeom>
          <a:blipFill dpi="0" rotWithShape="1">
            <a:blip r:embed="rId3">
              <a:alphaModFix amt="85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965200" y="1465790"/>
            <a:ext cx="2895599" cy="3941345"/>
          </a:xfrm>
        </p:spPr>
        <p:txBody>
          <a:bodyPr>
            <a:normAutofit/>
          </a:bodyPr>
          <a:lstStyle/>
          <a:p>
            <a:r>
              <a:rPr lang="en-US" sz="4000" b="1" dirty="0"/>
              <a:t>Nervous Regulation</a:t>
            </a:r>
          </a:p>
        </p:txBody>
      </p:sp>
      <p:sp>
        <p:nvSpPr>
          <p:cNvPr id="3" name="Content Placeholder 2"/>
          <p:cNvSpPr>
            <a:spLocks noGrp="1"/>
          </p:cNvSpPr>
          <p:nvPr>
            <p:ph idx="1"/>
          </p:nvPr>
        </p:nvSpPr>
        <p:spPr>
          <a:xfrm>
            <a:off x="4323733" y="733924"/>
            <a:ext cx="4572001" cy="5819276"/>
          </a:xfrm>
        </p:spPr>
        <p:txBody>
          <a:bodyPr anchor="ctr">
            <a:normAutofit/>
          </a:bodyPr>
          <a:lstStyle/>
          <a:p>
            <a:r>
              <a:rPr lang="en-US" sz="1600" b="1" u="sng" dirty="0"/>
              <a:t>Effect of sleep on respiration</a:t>
            </a:r>
            <a:r>
              <a:rPr lang="en-US" sz="1600" dirty="0"/>
              <a:t>: during sleep respiration is less controlled because of less sensitivity of respiratory centers to CO2.</a:t>
            </a:r>
          </a:p>
          <a:p>
            <a:r>
              <a:rPr lang="en-US" sz="1600" dirty="0"/>
              <a:t>During REM SLEEP irregular respiration</a:t>
            </a:r>
          </a:p>
          <a:p>
            <a:r>
              <a:rPr lang="en-US" sz="1600" dirty="0"/>
              <a:t>In slow wave sleep respiration is regular</a:t>
            </a:r>
          </a:p>
          <a:p>
            <a:r>
              <a:rPr lang="en-US" sz="1600" dirty="0"/>
              <a:t>In certain individuals there is sleep apnea syndrome in which respiration stops suddenly and frequently during night</a:t>
            </a:r>
          </a:p>
          <a:p>
            <a:pPr lvl="0"/>
            <a:r>
              <a:rPr lang="en-US" sz="1600" b="1" u="sng" dirty="0"/>
              <a:t>Effect of temperature on Respiratory center: </a:t>
            </a:r>
            <a:r>
              <a:rPr lang="en-US" sz="1600" dirty="0"/>
              <a:t>Increased temperature stimulates respiratory center by two mechanisms</a:t>
            </a:r>
          </a:p>
          <a:p>
            <a:pPr lvl="1"/>
            <a:r>
              <a:rPr lang="en-US" sz="1600" dirty="0"/>
              <a:t>direct stimulatory effect</a:t>
            </a:r>
          </a:p>
          <a:p>
            <a:pPr lvl="1"/>
            <a:r>
              <a:rPr lang="en-US" sz="1600" dirty="0"/>
              <a:t>indirect by increased metabolic rate, Increased PCO2, decreased PO2, H ions concentration increases which leads to hyperventilation.</a:t>
            </a:r>
          </a:p>
          <a:p>
            <a:endParaRPr lang="en-US" sz="1600" dirty="0"/>
          </a:p>
        </p:txBody>
      </p:sp>
      <p:sp>
        <p:nvSpPr>
          <p:cNvPr id="14" name="Rectangle 13">
            <a:extLst>
              <a:ext uri="{FF2B5EF4-FFF2-40B4-BE49-F238E27FC236}">
                <a16:creationId xmlns:a16="http://schemas.microsoft.com/office/drawing/2014/main" id="{E55C1C3E-5158-47F3-8FD9-14B22C3E6E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203" y="6121662"/>
            <a:ext cx="8181594" cy="80683"/>
          </a:xfrm>
          <a:prstGeom prst="rect">
            <a:avLst/>
          </a:prstGeom>
          <a:blipFill dpi="0" rotWithShape="1">
            <a:blip r:embed="rId3">
              <a:alphaModFix amt="85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964958D-AF5D-4863-B5FB-83F6B8CB1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08" y="0"/>
            <a:ext cx="9141492" cy="6857999"/>
          </a:xfrm>
          <a:prstGeom prst="rect">
            <a:avLst/>
          </a:prstGeom>
          <a:blipFill dpi="0" rotWithShape="1">
            <a:blip r:embed="rId3">
              <a:alphaModFix amt="60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3727581" y="484632"/>
            <a:ext cx="5047708" cy="1609344"/>
          </a:xfrm>
          <a:ln>
            <a:noFill/>
          </a:ln>
        </p:spPr>
        <p:txBody>
          <a:bodyPr>
            <a:normAutofit/>
          </a:bodyPr>
          <a:lstStyle/>
          <a:p>
            <a:r>
              <a:rPr lang="en-US" b="1" dirty="0"/>
              <a:t>Chemical Regulation</a:t>
            </a:r>
          </a:p>
        </p:txBody>
      </p:sp>
      <p:pic>
        <p:nvPicPr>
          <p:cNvPr id="5" name="Picture 4" descr="Chemical formulas are written on paper">
            <a:extLst>
              <a:ext uri="{FF2B5EF4-FFF2-40B4-BE49-F238E27FC236}">
                <a16:creationId xmlns:a16="http://schemas.microsoft.com/office/drawing/2014/main" id="{A689AF39-EE45-8C6E-F9E6-B0CE52FE1787}"/>
              </a:ext>
            </a:extLst>
          </p:cNvPr>
          <p:cNvPicPr>
            <a:picLocks noChangeAspect="1"/>
          </p:cNvPicPr>
          <p:nvPr/>
        </p:nvPicPr>
        <p:blipFill>
          <a:blip r:embed="rId5"/>
          <a:srcRect l="34827" r="36588" b="-2"/>
          <a:stretch/>
        </p:blipFill>
        <p:spPr>
          <a:xfrm>
            <a:off x="2508" y="10"/>
            <a:ext cx="3485044" cy="6857990"/>
          </a:xfrm>
          <a:prstGeom prst="rect">
            <a:avLst/>
          </a:prstGeom>
        </p:spPr>
      </p:pic>
      <p:sp>
        <p:nvSpPr>
          <p:cNvPr id="3" name="Content Placeholder 2"/>
          <p:cNvSpPr>
            <a:spLocks noGrp="1"/>
          </p:cNvSpPr>
          <p:nvPr>
            <p:ph idx="1"/>
          </p:nvPr>
        </p:nvSpPr>
        <p:spPr>
          <a:xfrm>
            <a:off x="3530397" y="1905000"/>
            <a:ext cx="5047707" cy="4050792"/>
          </a:xfrm>
        </p:spPr>
        <p:txBody>
          <a:bodyPr>
            <a:noAutofit/>
          </a:bodyPr>
          <a:lstStyle/>
          <a:p>
            <a:r>
              <a:rPr lang="en-US" sz="1600" dirty="0"/>
              <a:t>Chemical changes in the body modify the activity of respiratory center. </a:t>
            </a:r>
          </a:p>
          <a:p>
            <a:r>
              <a:rPr lang="en-US" sz="1600" dirty="0"/>
              <a:t>These changes include</a:t>
            </a:r>
          </a:p>
          <a:p>
            <a:pPr lvl="1"/>
            <a:r>
              <a:rPr lang="en-US" sz="1600" dirty="0"/>
              <a:t>Changes in PCO2</a:t>
            </a:r>
          </a:p>
          <a:p>
            <a:pPr lvl="1"/>
            <a:r>
              <a:rPr lang="en-US" sz="1600" dirty="0"/>
              <a:t>Changes in H ion concentration</a:t>
            </a:r>
          </a:p>
          <a:p>
            <a:pPr lvl="1"/>
            <a:r>
              <a:rPr lang="en-US" sz="1600" dirty="0"/>
              <a:t>Changes in PO2 </a:t>
            </a:r>
          </a:p>
          <a:p>
            <a:pPr lvl="1"/>
            <a:endParaRPr lang="en-US" sz="1600" dirty="0"/>
          </a:p>
          <a:p>
            <a:r>
              <a:rPr lang="en-US" sz="1600" dirty="0"/>
              <a:t>One of the aim of the respiration is to keep the above-mentioned stimuli within normal limits.</a:t>
            </a:r>
          </a:p>
          <a:p>
            <a:r>
              <a:rPr lang="en-US" sz="1600" dirty="0"/>
              <a:t>These chemical stimuli don’t affect the respiratory centers directly.</a:t>
            </a:r>
          </a:p>
          <a:p>
            <a:r>
              <a:rPr lang="en-US" sz="1600" dirty="0"/>
              <a:t>These chemical </a:t>
            </a:r>
            <a:r>
              <a:rPr lang="en-US" sz="1600" b="1" dirty="0"/>
              <a:t>stimuli first act on chemoreceptors which in turn affect the activity of respiratory centers.</a:t>
            </a:r>
          </a:p>
          <a:p>
            <a:endParaRPr lang="en-US" sz="1600" dirty="0"/>
          </a:p>
        </p:txBody>
      </p:sp>
      <p:grpSp>
        <p:nvGrpSpPr>
          <p:cNvPr id="11" name="Group 10">
            <a:extLst>
              <a:ext uri="{FF2B5EF4-FFF2-40B4-BE49-F238E27FC236}">
                <a16:creationId xmlns:a16="http://schemas.microsoft.com/office/drawing/2014/main" id="{11002ACD-3B0C-4885-8754-8A00E926FE4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51293" y="6229681"/>
            <a:ext cx="342900" cy="457200"/>
            <a:chOff x="11361456" y="6195813"/>
            <a:chExt cx="548640" cy="548640"/>
          </a:xfrm>
        </p:grpSpPr>
        <p:sp>
          <p:nvSpPr>
            <p:cNvPr id="16" name="Oval 15">
              <a:extLst>
                <a:ext uri="{FF2B5EF4-FFF2-40B4-BE49-F238E27FC236}">
                  <a16:creationId xmlns:a16="http://schemas.microsoft.com/office/drawing/2014/main" id="{DF0313CD-4196-4456-A70D-5EE2B995BA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6">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3" name="Oval 12">
              <a:extLst>
                <a:ext uri="{FF2B5EF4-FFF2-40B4-BE49-F238E27FC236}">
                  <a16:creationId xmlns:a16="http://schemas.microsoft.com/office/drawing/2014/main" id="{80DE0B32-9EE8-4975-AD48-3855B0A82A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C06EAFD-0C69-4B3B-BEA7-E7E11DDF9C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A4066C89-42FB-4624-9AFE-3A31B36491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08" y="0"/>
            <a:ext cx="3486126" cy="6858000"/>
          </a:xfrm>
          <a:prstGeom prst="rect">
            <a:avLst/>
          </a:prstGeom>
          <a:blipFill dpi="0" rotWithShape="1">
            <a:blip r:embed="rId3">
              <a:duotone>
                <a:schemeClr val="accent1">
                  <a:shade val="45000"/>
                  <a:satMod val="135000"/>
                </a:schemeClr>
                <a:prstClr val="white"/>
              </a:duotone>
              <a:extLst>
                <a:ext uri="{BEBA8EAE-BF5A-486C-A8C5-ECC9F3942E4B}">
                  <a14:imgProps xmlns:a14="http://schemas.microsoft.com/office/drawing/2010/main">
                    <a14:imgLayer r:embed="rId4">
                      <a14:imgEffect>
                        <a14:saturation sat="400000"/>
                      </a14:imgEffect>
                      <a14:imgEffect>
                        <a14:brightnessContrast bright="-40000" contrast="40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algn="ctr" defTabSz="914400"/>
            <a:endParaRPr lang="en-US" sz="2000" kern="0" dirty="0">
              <a:solidFill>
                <a:prstClr val="white"/>
              </a:solidFill>
              <a:latin typeface="Rockwell Extra Bold" pitchFamily="18" charset="0"/>
            </a:endParaRPr>
          </a:p>
        </p:txBody>
      </p:sp>
      <p:sp>
        <p:nvSpPr>
          <p:cNvPr id="2" name="Title 1"/>
          <p:cNvSpPr>
            <a:spLocks noGrp="1"/>
          </p:cNvSpPr>
          <p:nvPr>
            <p:ph type="title"/>
          </p:nvPr>
        </p:nvSpPr>
        <p:spPr>
          <a:xfrm>
            <a:off x="482601" y="643466"/>
            <a:ext cx="2764734" cy="5528734"/>
          </a:xfrm>
        </p:spPr>
        <p:txBody>
          <a:bodyPr>
            <a:normAutofit/>
          </a:bodyPr>
          <a:lstStyle/>
          <a:p>
            <a:pPr algn="r"/>
            <a:r>
              <a:rPr lang="en-US" sz="2600" b="1" dirty="0">
                <a:solidFill>
                  <a:srgbClr val="FFFFFF"/>
                </a:solidFill>
              </a:rPr>
              <a:t>CHEMORECEPTORS</a:t>
            </a:r>
          </a:p>
        </p:txBody>
      </p:sp>
      <p:sp>
        <p:nvSpPr>
          <p:cNvPr id="3" name="Content Placeholder 2"/>
          <p:cNvSpPr>
            <a:spLocks noGrp="1"/>
          </p:cNvSpPr>
          <p:nvPr>
            <p:ph idx="1"/>
          </p:nvPr>
        </p:nvSpPr>
        <p:spPr>
          <a:xfrm>
            <a:off x="3790335" y="599767"/>
            <a:ext cx="5103858" cy="6057921"/>
          </a:xfrm>
        </p:spPr>
        <p:txBody>
          <a:bodyPr anchor="ctr">
            <a:normAutofit/>
          </a:bodyPr>
          <a:lstStyle/>
          <a:p>
            <a:pPr lvl="0"/>
            <a:r>
              <a:rPr lang="en-US" sz="1700" b="1" u="sng" dirty="0"/>
              <a:t>Central chemoreceptors: </a:t>
            </a:r>
            <a:r>
              <a:rPr lang="en-US" sz="1700" dirty="0"/>
              <a:t>present in the </a:t>
            </a:r>
            <a:r>
              <a:rPr lang="en-US" sz="1700" b="1" dirty="0"/>
              <a:t>chemo sensitive area </a:t>
            </a:r>
            <a:r>
              <a:rPr lang="en-US" sz="1700" dirty="0"/>
              <a:t>in the anterolateral portion of the </a:t>
            </a:r>
            <a:r>
              <a:rPr lang="en-US" sz="1700" b="1" dirty="0"/>
              <a:t>medulla oblongata.</a:t>
            </a:r>
          </a:p>
          <a:p>
            <a:pPr lvl="0"/>
            <a:endParaRPr lang="en-US" sz="1700" dirty="0"/>
          </a:p>
          <a:p>
            <a:pPr lvl="0"/>
            <a:r>
              <a:rPr lang="en-US" sz="1700" b="1" u="sng" dirty="0"/>
              <a:t>Peripheral chemoreceptors: </a:t>
            </a:r>
            <a:r>
              <a:rPr lang="en-US" sz="1700" dirty="0"/>
              <a:t>present in the </a:t>
            </a:r>
            <a:r>
              <a:rPr lang="en-US" sz="1700" b="1" dirty="0"/>
              <a:t>carotid and aortic bodies</a:t>
            </a:r>
            <a:r>
              <a:rPr lang="en-US" sz="1700" dirty="0"/>
              <a:t>.</a:t>
            </a:r>
          </a:p>
          <a:p>
            <a:pPr lvl="1"/>
            <a:r>
              <a:rPr lang="en-US" sz="1700" b="1" dirty="0">
                <a:solidFill>
                  <a:srgbClr val="FF0000"/>
                </a:solidFill>
              </a:rPr>
              <a:t>Carotid bodies </a:t>
            </a:r>
            <a:r>
              <a:rPr lang="en-US" sz="1700" dirty="0"/>
              <a:t>are present in the angle between the external and internal carotid arteries. </a:t>
            </a:r>
            <a:r>
              <a:rPr lang="en-US" sz="1700" b="1" dirty="0"/>
              <a:t>From these impulses are first carried by herring’s nerves which join the glossopharyngeal nerve</a:t>
            </a:r>
            <a:r>
              <a:rPr lang="en-US" sz="1700" dirty="0"/>
              <a:t>.</a:t>
            </a:r>
          </a:p>
          <a:p>
            <a:pPr lvl="1"/>
            <a:r>
              <a:rPr lang="en-US" sz="1700" b="1" dirty="0">
                <a:solidFill>
                  <a:srgbClr val="FF0000"/>
                </a:solidFill>
              </a:rPr>
              <a:t>Aortic bodies </a:t>
            </a:r>
            <a:r>
              <a:rPr lang="en-US" sz="1700" dirty="0"/>
              <a:t>are present along the arch of aorta and </a:t>
            </a:r>
            <a:r>
              <a:rPr lang="en-US" sz="1700" b="1" dirty="0"/>
              <a:t>from here impulses are carried by the afferent nerve fibers in the vagi.</a:t>
            </a:r>
          </a:p>
          <a:p>
            <a:pPr lvl="1"/>
            <a:r>
              <a:rPr lang="en-US" sz="1700" dirty="0"/>
              <a:t> Impulses from both these </a:t>
            </a:r>
            <a:r>
              <a:rPr lang="en-US" sz="1700" b="1" dirty="0"/>
              <a:t>go to dorsal group of neurons</a:t>
            </a:r>
          </a:p>
          <a:p>
            <a:endParaRPr lang="en-US" sz="1700" dirty="0"/>
          </a:p>
        </p:txBody>
      </p:sp>
      <p:sp>
        <p:nvSpPr>
          <p:cNvPr id="12" name="Oval 11">
            <a:extLst>
              <a:ext uri="{FF2B5EF4-FFF2-40B4-BE49-F238E27FC236}">
                <a16:creationId xmlns:a16="http://schemas.microsoft.com/office/drawing/2014/main" id="{BA218FBC-B2D6-48CA-9289-C4110162E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51293" y="6229681"/>
            <a:ext cx="342900" cy="45720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4" name="Oval 13">
            <a:extLst>
              <a:ext uri="{FF2B5EF4-FFF2-40B4-BE49-F238E27FC236}">
                <a16:creationId xmlns:a16="http://schemas.microsoft.com/office/drawing/2014/main" id="{2DED9084-49DA-4911-ACB7-5F9E4DEFA0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7"/>
          <p:cNvPicPr>
            <a:picLocks noChangeAspect="1" noChangeArrowheads="1"/>
          </p:cNvPicPr>
          <p:nvPr/>
        </p:nvPicPr>
        <p:blipFill>
          <a:blip r:embed="rId2" cstate="print"/>
          <a:srcRect/>
          <a:stretch>
            <a:fillRect/>
          </a:stretch>
        </p:blipFill>
        <p:spPr bwMode="auto">
          <a:xfrm>
            <a:off x="1295400" y="0"/>
            <a:ext cx="6248400" cy="6553695"/>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964958D-AF5D-4863-B5FB-83F6B8CB1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08" y="0"/>
            <a:ext cx="9141492" cy="6857999"/>
          </a:xfrm>
          <a:prstGeom prst="rect">
            <a:avLst/>
          </a:prstGeom>
          <a:blipFill dpi="0" rotWithShape="1">
            <a:blip r:embed="rId3">
              <a:alphaModFix amt="60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3527938" y="34413"/>
            <a:ext cx="5047708" cy="1609344"/>
          </a:xfrm>
          <a:ln>
            <a:noFill/>
          </a:ln>
        </p:spPr>
        <p:txBody>
          <a:bodyPr>
            <a:normAutofit/>
          </a:bodyPr>
          <a:lstStyle/>
          <a:p>
            <a:r>
              <a:rPr lang="en-US" b="1" dirty="0"/>
              <a:t>Changes in PCO2</a:t>
            </a:r>
          </a:p>
        </p:txBody>
      </p:sp>
      <p:pic>
        <p:nvPicPr>
          <p:cNvPr id="5" name="Picture 4" descr="Models if molecules in science classroom">
            <a:extLst>
              <a:ext uri="{FF2B5EF4-FFF2-40B4-BE49-F238E27FC236}">
                <a16:creationId xmlns:a16="http://schemas.microsoft.com/office/drawing/2014/main" id="{E5987202-FF10-EA39-48D0-ED59F206A92A}"/>
              </a:ext>
            </a:extLst>
          </p:cNvPr>
          <p:cNvPicPr>
            <a:picLocks noChangeAspect="1"/>
          </p:cNvPicPr>
          <p:nvPr/>
        </p:nvPicPr>
        <p:blipFill>
          <a:blip r:embed="rId5"/>
          <a:srcRect l="35386" r="30743" b="-3"/>
          <a:stretch/>
        </p:blipFill>
        <p:spPr>
          <a:xfrm>
            <a:off x="2508" y="10"/>
            <a:ext cx="3485044" cy="6857990"/>
          </a:xfrm>
          <a:prstGeom prst="rect">
            <a:avLst/>
          </a:prstGeom>
        </p:spPr>
      </p:pic>
      <p:sp>
        <p:nvSpPr>
          <p:cNvPr id="3" name="Content Placeholder 2"/>
          <p:cNvSpPr>
            <a:spLocks noGrp="1"/>
          </p:cNvSpPr>
          <p:nvPr>
            <p:ph idx="1"/>
          </p:nvPr>
        </p:nvSpPr>
        <p:spPr>
          <a:xfrm>
            <a:off x="3429000" y="1142999"/>
            <a:ext cx="5613553" cy="5514689"/>
          </a:xfrm>
        </p:spPr>
        <p:txBody>
          <a:bodyPr>
            <a:noAutofit/>
          </a:bodyPr>
          <a:lstStyle/>
          <a:p>
            <a:r>
              <a:rPr lang="en-US" sz="1600" dirty="0"/>
              <a:t>CO2 can cross both the blood brain barrier and blood CSF barrier</a:t>
            </a:r>
          </a:p>
          <a:p>
            <a:r>
              <a:rPr lang="en-US" sz="1600" dirty="0"/>
              <a:t>It binds with water to form Carbonic acid in the presence of carbonic anhydrase enzyme. </a:t>
            </a:r>
          </a:p>
          <a:p>
            <a:r>
              <a:rPr lang="en-US" sz="1600" dirty="0"/>
              <a:t>Carbonic acid is unstable and dissociates immediately into Hydrogen ions and bicarbonate ions.</a:t>
            </a:r>
          </a:p>
          <a:p>
            <a:r>
              <a:rPr lang="en-US" sz="1600" b="1" dirty="0"/>
              <a:t>H ions produced directly stimulate the chemo sensitive area.</a:t>
            </a:r>
          </a:p>
          <a:p>
            <a:r>
              <a:rPr lang="en-US" sz="1600" dirty="0"/>
              <a:t>H ions are the </a:t>
            </a:r>
            <a:r>
              <a:rPr lang="en-US" sz="1600" b="1" dirty="0"/>
              <a:t>most powerful stimulus of chemo sensitive area.</a:t>
            </a:r>
          </a:p>
          <a:p>
            <a:r>
              <a:rPr lang="en-US" sz="1600" dirty="0"/>
              <a:t>Increased PCO2 can also stimulate respiratory center </a:t>
            </a:r>
            <a:r>
              <a:rPr lang="en-US" sz="1600" b="1" dirty="0"/>
              <a:t>through peripheral chemoreceptors.</a:t>
            </a:r>
          </a:p>
          <a:p>
            <a:r>
              <a:rPr lang="en-US" sz="1600" dirty="0"/>
              <a:t>So, the effect is through both central and peripheral chemoreceptors however </a:t>
            </a:r>
            <a:r>
              <a:rPr lang="en-US" sz="1600" b="1" dirty="0"/>
              <a:t>effect through central chemoreceptors is much more pronounced.</a:t>
            </a:r>
          </a:p>
          <a:p>
            <a:r>
              <a:rPr lang="en-US" sz="1600" dirty="0"/>
              <a:t>H ions produced in CSF is much more potent stimulator than the H ions produced in brain. </a:t>
            </a:r>
          </a:p>
        </p:txBody>
      </p:sp>
      <p:grpSp>
        <p:nvGrpSpPr>
          <p:cNvPr id="11" name="Group 10">
            <a:extLst>
              <a:ext uri="{FF2B5EF4-FFF2-40B4-BE49-F238E27FC236}">
                <a16:creationId xmlns:a16="http://schemas.microsoft.com/office/drawing/2014/main" id="{11002ACD-3B0C-4885-8754-8A00E926FE4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51293" y="6229681"/>
            <a:ext cx="342900" cy="457200"/>
            <a:chOff x="11361456" y="6195813"/>
            <a:chExt cx="548640" cy="548640"/>
          </a:xfrm>
        </p:grpSpPr>
        <p:sp>
          <p:nvSpPr>
            <p:cNvPr id="12" name="Oval 11">
              <a:extLst>
                <a:ext uri="{FF2B5EF4-FFF2-40B4-BE49-F238E27FC236}">
                  <a16:creationId xmlns:a16="http://schemas.microsoft.com/office/drawing/2014/main" id="{DF0313CD-4196-4456-A70D-5EE2B995BA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6">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3" name="Oval 12">
              <a:extLst>
                <a:ext uri="{FF2B5EF4-FFF2-40B4-BE49-F238E27FC236}">
                  <a16:creationId xmlns:a16="http://schemas.microsoft.com/office/drawing/2014/main" id="{80DE0B32-9EE8-4975-AD48-3855B0A82A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C4C5769-E723-4A1E-B4F6-F6BB27AE73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08" y="0"/>
            <a:ext cx="9141492" cy="6857999"/>
          </a:xfrm>
          <a:prstGeom prst="rect">
            <a:avLst/>
          </a:prstGeom>
          <a:blipFill dpi="0" rotWithShape="1">
            <a:blip r:embed="rId3">
              <a:alphaModFix amt="45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E878380D-0E99-4278-9939-702074B88F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08" y="0"/>
            <a:ext cx="3486126"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482599" y="643466"/>
            <a:ext cx="2762045" cy="5571067"/>
          </a:xfrm>
        </p:spPr>
        <p:txBody>
          <a:bodyPr>
            <a:normAutofit/>
          </a:bodyPr>
          <a:lstStyle/>
          <a:p>
            <a:pPr algn="r"/>
            <a:r>
              <a:rPr lang="en-US" sz="2900" b="1" dirty="0">
                <a:solidFill>
                  <a:srgbClr val="FFFFFF"/>
                </a:solidFill>
              </a:rPr>
              <a:t>Changes in H Ion Concentration</a:t>
            </a:r>
          </a:p>
        </p:txBody>
      </p:sp>
      <p:sp>
        <p:nvSpPr>
          <p:cNvPr id="12" name="Oval 11">
            <a:extLst>
              <a:ext uri="{FF2B5EF4-FFF2-40B4-BE49-F238E27FC236}">
                <a16:creationId xmlns:a16="http://schemas.microsoft.com/office/drawing/2014/main" id="{75A92D53-A461-451B-87E6-8746F6FCEF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51293" y="6229681"/>
            <a:ext cx="342900" cy="45720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3" name="Content Placeholder 2"/>
          <p:cNvSpPr>
            <a:spLocks noGrp="1"/>
          </p:cNvSpPr>
          <p:nvPr>
            <p:ph idx="1"/>
          </p:nvPr>
        </p:nvSpPr>
        <p:spPr>
          <a:xfrm>
            <a:off x="3699417" y="643465"/>
            <a:ext cx="4851876" cy="5586215"/>
          </a:xfrm>
        </p:spPr>
        <p:txBody>
          <a:bodyPr anchor="ctr">
            <a:normAutofit/>
          </a:bodyPr>
          <a:lstStyle/>
          <a:p>
            <a:r>
              <a:rPr lang="en-US" dirty="0"/>
              <a:t>Whenever H ions concentration Increase in arterial blood </a:t>
            </a:r>
            <a:r>
              <a:rPr lang="en-US" b="1" dirty="0"/>
              <a:t>it stimulate the peripheral chemoreceptor. </a:t>
            </a:r>
          </a:p>
          <a:p>
            <a:endParaRPr lang="en-US" dirty="0"/>
          </a:p>
          <a:p>
            <a:r>
              <a:rPr lang="en-US" dirty="0"/>
              <a:t>They </a:t>
            </a:r>
            <a:r>
              <a:rPr lang="en-US" b="1" dirty="0"/>
              <a:t>can’t cross the blood brain barrier.</a:t>
            </a:r>
          </a:p>
          <a:p>
            <a:endParaRPr lang="en-US" dirty="0"/>
          </a:p>
          <a:p>
            <a:r>
              <a:rPr lang="en-US" dirty="0"/>
              <a:t>In animal, if we denervate the carotid and aortic bodies and change the pH there won’t be any effect on respiration .</a:t>
            </a:r>
            <a:endParaRPr lang="en-US" b="1" dirty="0"/>
          </a:p>
        </p:txBody>
      </p:sp>
      <p:sp>
        <p:nvSpPr>
          <p:cNvPr id="14" name="Oval 13">
            <a:extLst>
              <a:ext uri="{FF2B5EF4-FFF2-40B4-BE49-F238E27FC236}">
                <a16:creationId xmlns:a16="http://schemas.microsoft.com/office/drawing/2014/main" id="{F003ABC2-0D2A-42E5-9778-D9E8DBB547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C06EAFD-0C69-4B3B-BEA7-E7E11DDF9C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A4066C89-42FB-4624-9AFE-3A31B36491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08" y="0"/>
            <a:ext cx="3486126" cy="6858000"/>
          </a:xfrm>
          <a:prstGeom prst="rect">
            <a:avLst/>
          </a:prstGeom>
          <a:blipFill dpi="0" rotWithShape="1">
            <a:blip r:embed="rId3">
              <a:duotone>
                <a:schemeClr val="accent1">
                  <a:shade val="45000"/>
                  <a:satMod val="135000"/>
                </a:schemeClr>
                <a:prstClr val="white"/>
              </a:duotone>
              <a:extLst>
                <a:ext uri="{BEBA8EAE-BF5A-486C-A8C5-ECC9F3942E4B}">
                  <a14:imgProps xmlns:a14="http://schemas.microsoft.com/office/drawing/2010/main">
                    <a14:imgLayer r:embed="rId4">
                      <a14:imgEffect>
                        <a14:saturation sat="400000"/>
                      </a14:imgEffect>
                      <a14:imgEffect>
                        <a14:brightnessContrast bright="-40000" contrast="40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algn="ctr" defTabSz="914400"/>
            <a:endParaRPr lang="en-US" sz="2000" kern="0" dirty="0">
              <a:solidFill>
                <a:prstClr val="white"/>
              </a:solidFill>
              <a:latin typeface="Rockwell Extra Bold" pitchFamily="18" charset="0"/>
            </a:endParaRPr>
          </a:p>
        </p:txBody>
      </p:sp>
      <p:sp>
        <p:nvSpPr>
          <p:cNvPr id="2" name="Title 1"/>
          <p:cNvSpPr>
            <a:spLocks noGrp="1"/>
          </p:cNvSpPr>
          <p:nvPr>
            <p:ph type="title"/>
          </p:nvPr>
        </p:nvSpPr>
        <p:spPr>
          <a:xfrm>
            <a:off x="482601" y="643466"/>
            <a:ext cx="2764734" cy="5528734"/>
          </a:xfrm>
        </p:spPr>
        <p:txBody>
          <a:bodyPr>
            <a:normAutofit/>
          </a:bodyPr>
          <a:lstStyle/>
          <a:p>
            <a:pPr algn="r"/>
            <a:r>
              <a:rPr lang="en-US" b="1" dirty="0">
                <a:solidFill>
                  <a:srgbClr val="FFFFFF"/>
                </a:solidFill>
              </a:rPr>
              <a:t>Changes in PO2</a:t>
            </a:r>
          </a:p>
        </p:txBody>
      </p:sp>
      <p:sp>
        <p:nvSpPr>
          <p:cNvPr id="3" name="Content Placeholder 2"/>
          <p:cNvSpPr>
            <a:spLocks noGrp="1"/>
          </p:cNvSpPr>
          <p:nvPr>
            <p:ph idx="1"/>
          </p:nvPr>
        </p:nvSpPr>
        <p:spPr>
          <a:xfrm>
            <a:off x="3488634" y="457200"/>
            <a:ext cx="5655365" cy="6400800"/>
          </a:xfrm>
        </p:spPr>
        <p:txBody>
          <a:bodyPr anchor="ctr">
            <a:normAutofit/>
          </a:bodyPr>
          <a:lstStyle/>
          <a:p>
            <a:r>
              <a:rPr lang="en-US" sz="1700" b="1" dirty="0"/>
              <a:t>Hypoxia</a:t>
            </a:r>
            <a:r>
              <a:rPr lang="en-US" sz="1700" dirty="0"/>
              <a:t> stimulates the respiration through </a:t>
            </a:r>
            <a:r>
              <a:rPr lang="en-US" sz="1700" b="1" dirty="0"/>
              <a:t>peripheral chemoreceptors</a:t>
            </a:r>
            <a:r>
              <a:rPr lang="en-US" sz="1700" dirty="0"/>
              <a:t>.</a:t>
            </a:r>
          </a:p>
          <a:p>
            <a:r>
              <a:rPr lang="en-US" sz="1700" dirty="0"/>
              <a:t>When arterial PO2 falls from its normal value of 95 to 60 mm of Hg, there is no stimulatory effect of hypoxia.</a:t>
            </a:r>
          </a:p>
          <a:p>
            <a:r>
              <a:rPr lang="en-US" sz="1700" dirty="0"/>
              <a:t>During this, increased amount of deoxyhemoglobin is formed which can bind more CO2 and H ions.</a:t>
            </a:r>
          </a:p>
          <a:p>
            <a:r>
              <a:rPr lang="en-US" sz="1700" dirty="0"/>
              <a:t>So stimulatory affect of hypoxia is neutralized by increased binding of H ions and CO2 with deoxyhemoglobin.</a:t>
            </a:r>
          </a:p>
          <a:p>
            <a:r>
              <a:rPr lang="en-US" sz="1700" dirty="0"/>
              <a:t>Its </a:t>
            </a:r>
            <a:r>
              <a:rPr lang="en-US" sz="1700" b="1" dirty="0"/>
              <a:t>stimulatory effect starts when PO2 falls below 60 mm of Hg.</a:t>
            </a:r>
          </a:p>
          <a:p>
            <a:r>
              <a:rPr lang="en-US" sz="1700" dirty="0"/>
              <a:t>At this stimulatory effect becomes so strong that it overcomes the binding of CO2 and H ions with deoxyhemoglobin.</a:t>
            </a:r>
          </a:p>
          <a:p>
            <a:r>
              <a:rPr lang="en-US" sz="1700" dirty="0"/>
              <a:t>This </a:t>
            </a:r>
            <a:r>
              <a:rPr lang="en-US" sz="1700" b="1" dirty="0"/>
              <a:t>effect becomes marked when PO2 falls below 40 mm of Hg.</a:t>
            </a:r>
            <a:r>
              <a:rPr lang="en-US" sz="1700" dirty="0"/>
              <a:t> </a:t>
            </a:r>
            <a:endParaRPr lang="en-US" sz="1700" b="1" dirty="0"/>
          </a:p>
        </p:txBody>
      </p:sp>
      <p:sp>
        <p:nvSpPr>
          <p:cNvPr id="12" name="Oval 11">
            <a:extLst>
              <a:ext uri="{FF2B5EF4-FFF2-40B4-BE49-F238E27FC236}">
                <a16:creationId xmlns:a16="http://schemas.microsoft.com/office/drawing/2014/main" id="{BA218FBC-B2D6-48CA-9289-C4110162E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51293" y="6229681"/>
            <a:ext cx="342900" cy="45720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4" name="Oval 13">
            <a:extLst>
              <a:ext uri="{FF2B5EF4-FFF2-40B4-BE49-F238E27FC236}">
                <a16:creationId xmlns:a16="http://schemas.microsoft.com/office/drawing/2014/main" id="{2DED9084-49DA-4911-ACB7-5F9E4DEFA0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C06EAFD-0C69-4B3B-BEA7-E7E11DDF9C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A4066C89-42FB-4624-9AFE-3A31B36491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08" y="0"/>
            <a:ext cx="3486126" cy="6858000"/>
          </a:xfrm>
          <a:prstGeom prst="rect">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400000"/>
                      </a14:imgEffect>
                      <a14:imgEffect>
                        <a14:brightnessContrast bright="-40000" contrast="40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algn="ctr" defTabSz="914400"/>
            <a:endParaRPr lang="en-US" sz="2000" kern="0" dirty="0">
              <a:solidFill>
                <a:prstClr val="white"/>
              </a:solidFill>
              <a:latin typeface="Rockwell Extra Bold" pitchFamily="18" charset="0"/>
            </a:endParaRPr>
          </a:p>
        </p:txBody>
      </p:sp>
      <p:sp>
        <p:nvSpPr>
          <p:cNvPr id="3" name="Content Placeholder 2"/>
          <p:cNvSpPr>
            <a:spLocks noGrp="1"/>
          </p:cNvSpPr>
          <p:nvPr>
            <p:ph idx="1"/>
          </p:nvPr>
        </p:nvSpPr>
        <p:spPr>
          <a:xfrm>
            <a:off x="3790335" y="599768"/>
            <a:ext cx="4555850" cy="5572432"/>
          </a:xfrm>
        </p:spPr>
        <p:txBody>
          <a:bodyPr anchor="ctr">
            <a:normAutofit/>
          </a:bodyPr>
          <a:lstStyle/>
          <a:p>
            <a:r>
              <a:rPr lang="en-US" dirty="0"/>
              <a:t>If we compare the relative stimulatory effect of above stimuli then we can say that </a:t>
            </a:r>
            <a:r>
              <a:rPr lang="en-US" b="1" dirty="0"/>
              <a:t>the effect of Increase PCO2 is 1000%, increased H ions is 400 % and least affect is through decreased PO2 i.e. 66 %.</a:t>
            </a:r>
          </a:p>
          <a:p>
            <a:endParaRPr lang="en-US" dirty="0"/>
          </a:p>
        </p:txBody>
      </p:sp>
      <p:sp>
        <p:nvSpPr>
          <p:cNvPr id="12" name="Oval 11">
            <a:extLst>
              <a:ext uri="{FF2B5EF4-FFF2-40B4-BE49-F238E27FC236}">
                <a16:creationId xmlns:a16="http://schemas.microsoft.com/office/drawing/2014/main" id="{BA218FBC-B2D6-48CA-9289-C4110162E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51293" y="6229681"/>
            <a:ext cx="3429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4" name="Oval 13">
            <a:extLst>
              <a:ext uri="{FF2B5EF4-FFF2-40B4-BE49-F238E27FC236}">
                <a16:creationId xmlns:a16="http://schemas.microsoft.com/office/drawing/2014/main" id="{2DED9084-49DA-4911-ACB7-5F9E4DEFA0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C06EAFD-0C69-4B3B-BEA7-E7E11DDF9C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A4066C89-42FB-4624-9AFE-3A31B36491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08" y="0"/>
            <a:ext cx="3486126" cy="6858000"/>
          </a:xfrm>
          <a:prstGeom prst="rect">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400000"/>
                      </a14:imgEffect>
                      <a14:imgEffect>
                        <a14:brightnessContrast bright="-40000" contrast="40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algn="ctr" defTabSz="914400"/>
            <a:endParaRPr lang="en-US" sz="2000" kern="0" dirty="0">
              <a:solidFill>
                <a:prstClr val="white"/>
              </a:solidFill>
              <a:latin typeface="Rockwell Extra Bold" pitchFamily="18" charset="0"/>
            </a:endParaRPr>
          </a:p>
        </p:txBody>
      </p:sp>
      <p:sp>
        <p:nvSpPr>
          <p:cNvPr id="2" name="Title 1"/>
          <p:cNvSpPr>
            <a:spLocks noGrp="1"/>
          </p:cNvSpPr>
          <p:nvPr>
            <p:ph type="title"/>
          </p:nvPr>
        </p:nvSpPr>
        <p:spPr>
          <a:xfrm>
            <a:off x="482601" y="643466"/>
            <a:ext cx="2764734" cy="5528734"/>
          </a:xfrm>
        </p:spPr>
        <p:txBody>
          <a:bodyPr>
            <a:normAutofit/>
          </a:bodyPr>
          <a:lstStyle/>
          <a:p>
            <a:pPr algn="r"/>
            <a:r>
              <a:rPr lang="en-US" dirty="0">
                <a:solidFill>
                  <a:srgbClr val="FFFFFF"/>
                </a:solidFill>
              </a:rPr>
              <a:t>Hering-Breuer Reﬂex</a:t>
            </a:r>
          </a:p>
        </p:txBody>
      </p:sp>
      <p:sp>
        <p:nvSpPr>
          <p:cNvPr id="3" name="Content Placeholder 2"/>
          <p:cNvSpPr>
            <a:spLocks noGrp="1"/>
          </p:cNvSpPr>
          <p:nvPr>
            <p:ph idx="1"/>
          </p:nvPr>
        </p:nvSpPr>
        <p:spPr>
          <a:xfrm>
            <a:off x="3790335" y="599768"/>
            <a:ext cx="4555850" cy="5572432"/>
          </a:xfrm>
        </p:spPr>
        <p:txBody>
          <a:bodyPr anchor="ctr">
            <a:normAutofit/>
          </a:bodyPr>
          <a:lstStyle/>
          <a:p>
            <a:r>
              <a:rPr lang="en-US" dirty="0"/>
              <a:t>Hering Breuer reﬂex is</a:t>
            </a:r>
            <a:r>
              <a:rPr lang="en-US" b="1" dirty="0"/>
              <a:t> a protective reﬂex that restricts  inspiration and prevents overstretching of lung tissues.</a:t>
            </a:r>
          </a:p>
          <a:p>
            <a:endParaRPr lang="en-US" dirty="0"/>
          </a:p>
          <a:p>
            <a:r>
              <a:rPr lang="en-US" dirty="0"/>
              <a:t>It is </a:t>
            </a:r>
            <a:r>
              <a:rPr lang="en-US" b="1" dirty="0"/>
              <a:t>initiated by the stimulation of stretch receptors of air passage.</a:t>
            </a:r>
          </a:p>
          <a:p>
            <a:r>
              <a:rPr lang="en-US" dirty="0"/>
              <a:t>Stretch receptors are the receptors which give response to stretch of the tissues. These receptors are </a:t>
            </a:r>
            <a:r>
              <a:rPr lang="en-US" b="1" dirty="0"/>
              <a:t>situated on the wall of the bronchi and bronchioles.</a:t>
            </a:r>
          </a:p>
        </p:txBody>
      </p:sp>
      <p:sp>
        <p:nvSpPr>
          <p:cNvPr id="12" name="Oval 11">
            <a:extLst>
              <a:ext uri="{FF2B5EF4-FFF2-40B4-BE49-F238E27FC236}">
                <a16:creationId xmlns:a16="http://schemas.microsoft.com/office/drawing/2014/main" id="{BA218FBC-B2D6-48CA-9289-C4110162E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51293" y="6229681"/>
            <a:ext cx="3429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4" name="Oval 13">
            <a:extLst>
              <a:ext uri="{FF2B5EF4-FFF2-40B4-BE49-F238E27FC236}">
                <a16:creationId xmlns:a16="http://schemas.microsoft.com/office/drawing/2014/main" id="{2DED9084-49DA-4911-ACB7-5F9E4DEFA0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7050060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381000"/>
            <a:ext cx="7315200" cy="5867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929158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9A3CA49A-71DD-4E8D-8D00-0D000AB38C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36E8537E-57AF-43EA-8734-3C66AD7246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78992" cy="6858000"/>
          </a:xfrm>
          <a:prstGeom prst="rect">
            <a:avLst/>
          </a:prstGeom>
          <a:solidFill>
            <a:schemeClr val="accent1">
              <a:lumMod val="75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dirty="0">
              <a:solidFill>
                <a:schemeClr val="accent2"/>
              </a:solidFill>
            </a:endParaRPr>
          </a:p>
        </p:txBody>
      </p:sp>
      <p:sp>
        <p:nvSpPr>
          <p:cNvPr id="11" name="Rectangle 10">
            <a:extLst>
              <a:ext uri="{FF2B5EF4-FFF2-40B4-BE49-F238E27FC236}">
                <a16:creationId xmlns:a16="http://schemas.microsoft.com/office/drawing/2014/main" id="{1DA8C18B-9C8E-47E6-BAEF-86331BC0A9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8992" y="0"/>
            <a:ext cx="241173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3973322" y="643467"/>
            <a:ext cx="4703818" cy="5571066"/>
          </a:xfrm>
        </p:spPr>
        <p:txBody>
          <a:bodyPr>
            <a:normAutofit/>
          </a:bodyPr>
          <a:lstStyle/>
          <a:p>
            <a:r>
              <a:rPr lang="en-US" sz="7000" dirty="0"/>
              <a:t>REGULATION OF RESPIRATION DURING EXERCISE</a:t>
            </a:r>
            <a:br>
              <a:rPr lang="en-US" sz="7000" dirty="0"/>
            </a:br>
            <a:endParaRPr lang="en-US" sz="7000" dirty="0"/>
          </a:p>
        </p:txBody>
      </p:sp>
    </p:spTree>
    <p:extLst>
      <p:ext uri="{BB962C8B-B14F-4D97-AF65-F5344CB8AC3E}">
        <p14:creationId xmlns:p14="http://schemas.microsoft.com/office/powerpoint/2010/main" val="41317154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C4C5769-E723-4A1E-B4F6-F6BB27AE73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08" y="0"/>
            <a:ext cx="9141492" cy="6857999"/>
          </a:xfrm>
          <a:prstGeom prst="rect">
            <a:avLst/>
          </a:prstGeom>
          <a:blipFill dpi="0" rotWithShape="1">
            <a:blip r:embed="rId2">
              <a:alphaModFix amt="4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E878380D-0E99-4278-9939-702074B88F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08" y="0"/>
            <a:ext cx="3486126"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75A92D53-A461-451B-87E6-8746F6FCEF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51293" y="6229681"/>
            <a:ext cx="3429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3" name="Content Placeholder 2"/>
          <p:cNvSpPr>
            <a:spLocks noGrp="1"/>
          </p:cNvSpPr>
          <p:nvPr>
            <p:ph idx="1"/>
          </p:nvPr>
        </p:nvSpPr>
        <p:spPr>
          <a:xfrm>
            <a:off x="3699417" y="643465"/>
            <a:ext cx="4851876" cy="5586215"/>
          </a:xfrm>
        </p:spPr>
        <p:txBody>
          <a:bodyPr anchor="ctr">
            <a:normAutofit/>
          </a:bodyPr>
          <a:lstStyle/>
          <a:p>
            <a:r>
              <a:rPr lang="en-US" dirty="0"/>
              <a:t>There is tremendous increases in demand for oxygen during exercise i.e. more than 100 times increase in oxygen consumption.</a:t>
            </a:r>
          </a:p>
          <a:p>
            <a:endParaRPr lang="en-US" dirty="0"/>
          </a:p>
          <a:p>
            <a:r>
              <a:rPr lang="en-US" dirty="0"/>
              <a:t>So, there is need for increased pulmonary ventilation.</a:t>
            </a:r>
          </a:p>
          <a:p>
            <a:endParaRPr lang="en-US" dirty="0"/>
          </a:p>
          <a:p>
            <a:r>
              <a:rPr lang="en-US" dirty="0"/>
              <a:t>During exercise, the chemical stimuli for respiration i.e. PCO2, PO2 and H ion concentration remain within normal limits except during very strenuous exercise</a:t>
            </a:r>
          </a:p>
        </p:txBody>
      </p:sp>
      <p:sp>
        <p:nvSpPr>
          <p:cNvPr id="14" name="Oval 13">
            <a:extLst>
              <a:ext uri="{FF2B5EF4-FFF2-40B4-BE49-F238E27FC236}">
                <a16:creationId xmlns:a16="http://schemas.microsoft.com/office/drawing/2014/main" id="{F003ABC2-0D2A-42E5-9778-D9E8DBB547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4311599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C4C5769-E723-4A1E-B4F6-F6BB27AE73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08" y="0"/>
            <a:ext cx="9141492" cy="6857999"/>
          </a:xfrm>
          <a:prstGeom prst="rect">
            <a:avLst/>
          </a:prstGeom>
          <a:blipFill dpi="0" rotWithShape="1">
            <a:blip r:embed="rId2">
              <a:alphaModFix amt="4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E878380D-0E99-4278-9939-702074B88F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08" y="0"/>
            <a:ext cx="3486126"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75A92D53-A461-451B-87E6-8746F6FCEF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51293" y="6229681"/>
            <a:ext cx="3429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3" name="Content Placeholder 2"/>
          <p:cNvSpPr>
            <a:spLocks noGrp="1"/>
          </p:cNvSpPr>
          <p:nvPr>
            <p:ph idx="1"/>
          </p:nvPr>
        </p:nvSpPr>
        <p:spPr>
          <a:xfrm>
            <a:off x="3699417" y="643465"/>
            <a:ext cx="4851876" cy="5586215"/>
          </a:xfrm>
        </p:spPr>
        <p:txBody>
          <a:bodyPr anchor="ctr">
            <a:normAutofit/>
          </a:bodyPr>
          <a:lstStyle/>
          <a:p>
            <a:pPr lvl="0"/>
            <a:r>
              <a:rPr lang="en-US" dirty="0"/>
              <a:t>When a person intends to exercise, </a:t>
            </a:r>
            <a:r>
              <a:rPr lang="en-US" b="1" dirty="0"/>
              <a:t>impulses from motor cortex go to the muscles to initiate the muscle contraction,</a:t>
            </a:r>
            <a:r>
              <a:rPr lang="en-US" dirty="0"/>
              <a:t> simultaneously impulses are </a:t>
            </a:r>
            <a:r>
              <a:rPr lang="en-US" b="1" dirty="0"/>
              <a:t>sent to respiratory center to increase the rate of pulmonary ventilation.</a:t>
            </a:r>
          </a:p>
          <a:p>
            <a:pPr lvl="0"/>
            <a:endParaRPr lang="en-US" dirty="0"/>
          </a:p>
          <a:p>
            <a:pPr lvl="0"/>
            <a:r>
              <a:rPr lang="en-US" dirty="0"/>
              <a:t>When there is start of exercise, </a:t>
            </a:r>
            <a:r>
              <a:rPr lang="en-US" b="1" dirty="0"/>
              <a:t>impulses from the proprioceptors from the joints go to the respiratory center to stimulate ventilation</a:t>
            </a:r>
            <a:r>
              <a:rPr lang="en-US" dirty="0"/>
              <a:t>. This is the major stimulatory factor.</a:t>
            </a:r>
          </a:p>
          <a:p>
            <a:endParaRPr lang="en-US" dirty="0"/>
          </a:p>
          <a:p>
            <a:r>
              <a:rPr lang="en-US" b="1" dirty="0"/>
              <a:t>Increased temperature </a:t>
            </a:r>
            <a:r>
              <a:rPr lang="en-US" dirty="0"/>
              <a:t>during exercise stimulates the respiratory center to </a:t>
            </a:r>
            <a:r>
              <a:rPr lang="en-US" b="1" dirty="0"/>
              <a:t>increase ventilation</a:t>
            </a:r>
          </a:p>
        </p:txBody>
      </p:sp>
      <p:sp>
        <p:nvSpPr>
          <p:cNvPr id="14" name="Oval 13">
            <a:extLst>
              <a:ext uri="{FF2B5EF4-FFF2-40B4-BE49-F238E27FC236}">
                <a16:creationId xmlns:a16="http://schemas.microsoft.com/office/drawing/2014/main" id="{F003ABC2-0D2A-42E5-9778-D9E8DBB547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1686349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77108" y="144442"/>
            <a:ext cx="6248400" cy="65691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7111730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Wood Type</Template>
  <TotalTime>299</TotalTime>
  <Words>1666</Words>
  <Application>Microsoft Office PowerPoint</Application>
  <PresentationFormat>On-screen Show (4:3)</PresentationFormat>
  <Paragraphs>149</Paragraphs>
  <Slides>28</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Calibri</vt:lpstr>
      <vt:lpstr>Rockwell</vt:lpstr>
      <vt:lpstr>Rockwell Condensed</vt:lpstr>
      <vt:lpstr>Rockwell Extra Bold</vt:lpstr>
      <vt:lpstr>Wingdings</vt:lpstr>
      <vt:lpstr>Wood Type</vt:lpstr>
      <vt:lpstr>Regulation of Respiration</vt:lpstr>
      <vt:lpstr>Respiratory center </vt:lpstr>
      <vt:lpstr>PowerPoint Presentation</vt:lpstr>
      <vt:lpstr>Dorsal Group of Neurons</vt:lpstr>
      <vt:lpstr>Dorsal Group of Neurons</vt:lpstr>
      <vt:lpstr>Dorsal Group of Neurons</vt:lpstr>
      <vt:lpstr>VENTRAL RESPIRATORY GROUP OF NEURONS</vt:lpstr>
      <vt:lpstr>PowerPoint Presentation</vt:lpstr>
      <vt:lpstr>PNEUMOTAXIC CENTRE</vt:lpstr>
      <vt:lpstr>APNEUSTIC CENTRE</vt:lpstr>
      <vt:lpstr>Regulation of Respiration</vt:lpstr>
      <vt:lpstr>Nervous Regulation</vt:lpstr>
      <vt:lpstr>Nervous Regulation</vt:lpstr>
      <vt:lpstr>Nervous Regulation</vt:lpstr>
      <vt:lpstr>Nervous Regulation</vt:lpstr>
      <vt:lpstr>Chemical Regulation</vt:lpstr>
      <vt:lpstr>CHEMORECEPTORS</vt:lpstr>
      <vt:lpstr>PowerPoint Presentation</vt:lpstr>
      <vt:lpstr>Changes in PCO2</vt:lpstr>
      <vt:lpstr>Changes in H Ion Concentration</vt:lpstr>
      <vt:lpstr>Changes in PO2</vt:lpstr>
      <vt:lpstr>PowerPoint Presentation</vt:lpstr>
      <vt:lpstr>Hering-Breuer Reﬂex</vt:lpstr>
      <vt:lpstr>PowerPoint Presentation</vt:lpstr>
      <vt:lpstr>REGULATION OF RESPIRATION DURING EXERCISE </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Regulation of Respiration</dc:title>
  <dc:creator>MOHSIN</dc:creator>
  <cp:lastModifiedBy>Dr. Rabia Saeed</cp:lastModifiedBy>
  <cp:revision>229</cp:revision>
  <dcterms:created xsi:type="dcterms:W3CDTF">2012-09-20T09:05:29Z</dcterms:created>
  <dcterms:modified xsi:type="dcterms:W3CDTF">2025-03-19T14:59:03Z</dcterms:modified>
</cp:coreProperties>
</file>