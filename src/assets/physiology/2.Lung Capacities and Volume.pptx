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4"/>
  </p:notesMasterIdLst>
  <p:sldIdLst>
    <p:sldId id="342" r:id="rId2"/>
    <p:sldId id="260" r:id="rId3"/>
    <p:sldId id="340" r:id="rId4"/>
    <p:sldId id="318" r:id="rId5"/>
    <p:sldId id="328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322" r:id="rId14"/>
    <p:sldId id="323" r:id="rId15"/>
    <p:sldId id="330" r:id="rId16"/>
    <p:sldId id="331" r:id="rId17"/>
    <p:sldId id="341" r:id="rId18"/>
    <p:sldId id="332" r:id="rId19"/>
    <p:sldId id="333" r:id="rId20"/>
    <p:sldId id="329" r:id="rId21"/>
    <p:sldId id="334" r:id="rId22"/>
    <p:sldId id="337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  <a:srgbClr val="F8F206"/>
    <a:srgbClr val="FEF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202170-652A-4DE6-B7CB-674EDA3755A8}" v="153" dt="2025-03-19T22:02:31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F8C0638-D0AD-C1DC-C9A5-593D55B72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F1209-2EA5-0617-20C3-0128C446112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E123FB1-B267-46FC-BE87-DFE0BB265A4A}" type="datetimeFigureOut">
              <a:rPr lang="en-US"/>
              <a:pPr>
                <a:defRPr/>
              </a:pPr>
              <a:t>3/19/2025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B86D8D0-D861-29C3-82B6-E8321D1112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FA13A03-F275-EFFB-5B7C-BF6920C568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4E98C-90F7-511C-F5DF-22594E960A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029BB-482A-7723-7EC2-1A09223E5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6028D66-58C1-4078-B59C-3E8CB8610BD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7F7096-2A0B-4978-9F93-A25CFA6D0444}" type="slidenum">
              <a:rPr lang="en-US"/>
              <a:pPr/>
              <a:t>3</a:t>
            </a:fld>
            <a:endParaRPr lang="en-US"/>
          </a:p>
        </p:txBody>
      </p:sp>
      <p:sp>
        <p:nvSpPr>
          <p:cNvPr id="27033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033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9050" tIns="0" rIns="19050" bIns="0" anchor="b"/>
          <a:lstStyle/>
          <a:p>
            <a:pPr algn="r" eaLnBrk="0" hangingPunct="0"/>
            <a:r>
              <a:rPr lang="en-US" sz="1000" i="1">
                <a:latin typeface="Times New Roman" pitchFamily="18" charset="0"/>
              </a:rPr>
              <a:t>3</a:t>
            </a:r>
          </a:p>
        </p:txBody>
      </p:sp>
      <p:sp>
        <p:nvSpPr>
          <p:cNvPr id="27034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034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03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2703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0F4B9F-F571-4BA8-9924-86D215F04348}" type="slidenum">
              <a:rPr lang="en-US"/>
              <a:pPr/>
              <a:t>9</a:t>
            </a:fld>
            <a:endParaRPr lang="en-US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>
            <a:extLst>
              <a:ext uri="{FF2B5EF4-FFF2-40B4-BE49-F238E27FC236}">
                <a16:creationId xmlns:a16="http://schemas.microsoft.com/office/drawing/2014/main" id="{3C5A0040-5342-0718-3A4E-1D340DEB8F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8519D2E-C513-4BB0-968A-24265ABD5E54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2A143E25-F8F0-22A6-392D-5DE99D4E3D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8CA430DA-42C9-5559-FB4A-713B79462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31">
            <a:extLst>
              <a:ext uri="{FF2B5EF4-FFF2-40B4-BE49-F238E27FC236}">
                <a16:creationId xmlns:a16="http://schemas.microsoft.com/office/drawing/2014/main" id="{53642700-E357-3FD9-FF96-8D7E2E04C4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16C9BF-C006-4D1D-8F08-BE70699C3652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428369DA-62EC-CC37-5173-33F0C6C284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447FF8FB-2030-CF0D-6BB3-ADFB530034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4F10000C-74E5-F257-9DAE-BEF5F940B9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9FA729-14BE-4733-97EE-EE14D0ADE3AC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29ECCDF-A995-6E0C-B92B-B86D70F1A8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B69B0B5A-5137-6B8D-68C1-E0FD946B30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FA04C-D7CF-4861-95F0-3F5ACF508755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66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C42F-EA91-460E-9436-9A6C9B1CB0C6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589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23D4350-0632-4F67-B357-AFC21C62564D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31A35-803D-44FA-BA88-E6B5FB347587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387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6CED-B3EE-49D9-9922-CBB48E543356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8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F9237B0-CC05-45CB-9D8E-44851499E325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84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41777-83B6-4CFA-89A1-52400FB2059F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77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A2A1-C9A8-42DC-AF5F-29D58FE3A81E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44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28B6-2144-4760-B3DF-18C646FA52B1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755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B24B-F41A-4540-8EEC-C29B4F79802D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24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F989E-5397-49EE-B0F5-E72D9FFD7EC0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92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2C6A3-2890-0024-7418-C083F49C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1A912-BFA5-6083-7464-A13BD5C1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F8AE9-0181-9016-5981-3747C51EC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055989D5-6148-474C-A7A0-D7C6F4E5AD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7832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9B6CD8B-A5B7-1B0E-3582-024CCA10DD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4027CAE-6479-37CE-3131-FBAA81D1F0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20E2AA6-BCE9-8844-7EEF-6A8A2B6150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28B171-D3FA-4C74-8B65-3457A8C0EF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1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51F38EA-B09F-4C97-9264-D1353869D1EA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67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2B7E-8001-C80B-C065-C5B5979F0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LUNG VOLUMES AND CAPACITIES, DEAD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219B5-3721-B8E7-C59F-728CC71CA1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Dr. Tabish Masood Ranjha</a:t>
            </a:r>
          </a:p>
        </p:txBody>
      </p:sp>
    </p:spTree>
    <p:extLst>
      <p:ext uri="{BB962C8B-B14F-4D97-AF65-F5344CB8AC3E}">
        <p14:creationId xmlns:p14="http://schemas.microsoft.com/office/powerpoint/2010/main" val="376789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9319" name="Rectangle 269318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320" name="Rectangle 269319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8" y="0"/>
            <a:ext cx="3486126" cy="6858000"/>
          </a:xfrm>
          <a:prstGeom prst="rect">
            <a:avLst/>
          </a:prstGeom>
          <a:blipFill dpi="0"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69316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-72570" y="643466"/>
            <a:ext cx="3581162" cy="3678163"/>
          </a:xfrm>
        </p:spPr>
        <p:txBody>
          <a:bodyPr lIns="92075" tIns="46038" rIns="92075" bIns="46038">
            <a:normAutofit/>
          </a:bodyPr>
          <a:lstStyle/>
          <a:p>
            <a:pPr algn="r"/>
            <a:r>
              <a:rPr lang="en-US" sz="3900" b="1" i="1" dirty="0">
                <a:solidFill>
                  <a:srgbClr val="FFFFFF"/>
                </a:solidFill>
              </a:rPr>
              <a:t>Volumes Versus Capacities</a:t>
            </a:r>
            <a:endParaRPr lang="en-US" sz="3900" i="1" dirty="0">
              <a:solidFill>
                <a:srgbClr val="FFFFFF"/>
              </a:solidFill>
            </a:endParaRPr>
          </a:p>
        </p:txBody>
      </p:sp>
      <p:sp>
        <p:nvSpPr>
          <p:cNvPr id="269317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3790335" y="599768"/>
            <a:ext cx="4555850" cy="5572432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en-US"/>
              <a:t>There are four volume subdivisions which:</a:t>
            </a:r>
          </a:p>
          <a:p>
            <a:pPr lvl="1"/>
            <a:r>
              <a:rPr lang="en-US"/>
              <a:t>do not overlap.</a:t>
            </a:r>
          </a:p>
          <a:p>
            <a:pPr lvl="1"/>
            <a:r>
              <a:rPr lang="en-US"/>
              <a:t>can not be further divided.</a:t>
            </a:r>
          </a:p>
          <a:p>
            <a:pPr lvl="1"/>
            <a:r>
              <a:rPr lang="en-US"/>
              <a:t>when added together equal total lung capacity.</a:t>
            </a:r>
          </a:p>
          <a:p>
            <a:pPr lvl="1"/>
            <a:endParaRPr lang="en-US"/>
          </a:p>
          <a:p>
            <a:r>
              <a:rPr lang="en-US"/>
              <a:t>Lung capacities are subdivisions of total volume that include </a:t>
            </a:r>
            <a:r>
              <a:rPr lang="en-US" u="sng"/>
              <a:t>two or more </a:t>
            </a:r>
            <a:r>
              <a:rPr lang="en-US"/>
              <a:t>of the 4 basic lung volumes.</a:t>
            </a:r>
          </a:p>
        </p:txBody>
      </p:sp>
      <p:sp>
        <p:nvSpPr>
          <p:cNvPr id="269321" name="Oval 269320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69323" name="Oval 269322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83346" y="6272784"/>
            <a:ext cx="48006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7B4622D-DD15-45FB-A7D9-3B9101555BE1}" type="slidenum">
              <a:rPr lang="en-US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26931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931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>
            <a:extLst>
              <a:ext uri="{FF2B5EF4-FFF2-40B4-BE49-F238E27FC236}">
                <a16:creationId xmlns:a16="http://schemas.microsoft.com/office/drawing/2014/main" id="{621D85DD-DD3F-2B30-AB91-B2A8D98C51C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685800" y="782171"/>
            <a:ext cx="7772400" cy="1143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Spirometer and Lung Volumes/Capacities</a:t>
            </a:r>
          </a:p>
        </p:txBody>
      </p:sp>
      <p:pic>
        <p:nvPicPr>
          <p:cNvPr id="13315" name="Picture 4" descr="FG23_18">
            <a:extLst>
              <a:ext uri="{FF2B5EF4-FFF2-40B4-BE49-F238E27FC236}">
                <a16:creationId xmlns:a16="http://schemas.microsoft.com/office/drawing/2014/main" id="{07B10E14-AF17-43D9-8D35-5805F96C95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345" y="2020047"/>
            <a:ext cx="6587309" cy="4835711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5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81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Content Placeholder 3" descr="S9781416045748-037-f006.jpg">
            <a:extLst>
              <a:ext uri="{FF2B5EF4-FFF2-40B4-BE49-F238E27FC236}">
                <a16:creationId xmlns:a16="http://schemas.microsoft.com/office/drawing/2014/main" id="{F0B7F7F5-2A88-94DD-A55B-160EA8C60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685800"/>
            <a:ext cx="7097713" cy="602297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97472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LUNG VOLUMES AND CAPACITIES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1B29-5BB2-4783-B643-40CB24B26A7C}" type="slidenum">
              <a:rPr lang="en-US"/>
              <a:pPr/>
              <a:t>5</a:t>
            </a:fld>
            <a:endParaRPr lang="en-US"/>
          </a:p>
        </p:txBody>
      </p:sp>
      <p:sp>
        <p:nvSpPr>
          <p:cNvPr id="97283" name="Rectangle 3"/>
          <p:cNvSpPr>
            <a:spLocks noGrp="1" noRot="1" noChangeArrowheads="1"/>
          </p:cNvSpPr>
          <p:nvPr>
            <p:ph sz="quarter" idx="1"/>
          </p:nvPr>
        </p:nvSpPr>
        <p:spPr>
          <a:xfrm>
            <a:off x="533400" y="914400"/>
            <a:ext cx="8610600" cy="56388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=  	Tidal volume=  500 ml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IRV   =  	Inspiratory Reserve Volume= 3000ml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ERV  =  	Expiratory Reserve Volume= 1100ml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RV    =   	Residual Volume=  1200 ml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VC    =   	Vital Capacity=  4600 ml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	(V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+ IRV + ERV )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FRC  =   	Functional residual capacity=  2300 ml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           (RV + IRV )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IC     =  	Inspiratory Capacity=    3500 ml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    (V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+  IRV ) 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TLC  = 	Total lung capacity=  5800ml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      ( VC + RV 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Tidal Volume (TV)</a:t>
            </a:r>
          </a:p>
        </p:txBody>
      </p:sp>
      <p:sp>
        <p:nvSpPr>
          <p:cNvPr id="199701" name="Rectangle 21"/>
          <p:cNvSpPr>
            <a:spLocks noGrp="1" noChangeArrowheads="1"/>
          </p:cNvSpPr>
          <p:nvPr>
            <p:ph sz="quarter" idx="1"/>
          </p:nvPr>
        </p:nvSpPr>
        <p:spPr>
          <a:xfrm>
            <a:off x="5486400" y="1676400"/>
            <a:ext cx="3352800" cy="4724400"/>
          </a:xfrm>
          <a:noFill/>
          <a:ln/>
        </p:spPr>
        <p:txBody>
          <a:bodyPr/>
          <a:lstStyle/>
          <a:p>
            <a:r>
              <a:rPr lang="en-US" sz="2800" dirty="0"/>
              <a:t>Volume of air inspired and expired during normal quiet breathing</a:t>
            </a:r>
          </a:p>
          <a:p>
            <a:pPr lvl="1"/>
            <a:endParaRPr lang="en-US" dirty="0"/>
          </a:p>
        </p:txBody>
      </p:sp>
      <p:sp>
        <p:nvSpPr>
          <p:cNvPr id="199683" name="Rectangle 3"/>
          <p:cNvSpPr>
            <a:spLocks noChangeArrowheads="1"/>
          </p:cNvSpPr>
          <p:nvPr/>
        </p:nvSpPr>
        <p:spPr bwMode="auto">
          <a:xfrm>
            <a:off x="228600" y="1676400"/>
            <a:ext cx="5181600" cy="46482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684" name="Line 4"/>
          <p:cNvSpPr>
            <a:spLocks noChangeShapeType="1"/>
          </p:cNvSpPr>
          <p:nvPr/>
        </p:nvSpPr>
        <p:spPr bwMode="auto">
          <a:xfrm>
            <a:off x="457200" y="43434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685" name="Line 5"/>
          <p:cNvSpPr>
            <a:spLocks noChangeShapeType="1"/>
          </p:cNvSpPr>
          <p:nvPr/>
        </p:nvSpPr>
        <p:spPr bwMode="auto">
          <a:xfrm>
            <a:off x="457200" y="38100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686" name="Line 6"/>
          <p:cNvSpPr>
            <a:spLocks noChangeShapeType="1"/>
          </p:cNvSpPr>
          <p:nvPr/>
        </p:nvSpPr>
        <p:spPr bwMode="auto">
          <a:xfrm>
            <a:off x="457200" y="2590800"/>
            <a:ext cx="31242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687" name="Line 7"/>
          <p:cNvSpPr>
            <a:spLocks noChangeShapeType="1"/>
          </p:cNvSpPr>
          <p:nvPr/>
        </p:nvSpPr>
        <p:spPr bwMode="auto">
          <a:xfrm>
            <a:off x="381000" y="5105400"/>
            <a:ext cx="3124200" cy="0"/>
          </a:xfrm>
          <a:prstGeom prst="line">
            <a:avLst/>
          </a:prstGeom>
          <a:noFill/>
          <a:ln w="12700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688" name="Rectangle 8"/>
          <p:cNvSpPr>
            <a:spLocks noChangeArrowheads="1"/>
          </p:cNvSpPr>
          <p:nvPr/>
        </p:nvSpPr>
        <p:spPr bwMode="auto">
          <a:xfrm>
            <a:off x="2895600" y="2590800"/>
            <a:ext cx="609600" cy="1219200"/>
          </a:xfrm>
          <a:prstGeom prst="rect">
            <a:avLst/>
          </a:prstGeom>
          <a:solidFill>
            <a:srgbClr val="FF7C8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199689" name="Rectangle 9" descr="5%"/>
          <p:cNvSpPr>
            <a:spLocks noChangeArrowheads="1"/>
          </p:cNvSpPr>
          <p:nvPr/>
        </p:nvSpPr>
        <p:spPr bwMode="auto">
          <a:xfrm>
            <a:off x="2895600" y="3810000"/>
            <a:ext cx="609600" cy="533400"/>
          </a:xfrm>
          <a:prstGeom prst="rect">
            <a:avLst/>
          </a:prstGeom>
          <a:pattFill prst="pct5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199690" name="Rectangle 10" descr="Divot"/>
          <p:cNvSpPr>
            <a:spLocks noChangeArrowheads="1"/>
          </p:cNvSpPr>
          <p:nvPr/>
        </p:nvSpPr>
        <p:spPr bwMode="auto">
          <a:xfrm>
            <a:off x="2895600" y="4343400"/>
            <a:ext cx="609600" cy="762000"/>
          </a:xfrm>
          <a:prstGeom prst="rect">
            <a:avLst/>
          </a:prstGeom>
          <a:pattFill prst="divot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ERV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199692" name="Rectangle 12" descr="50%"/>
          <p:cNvSpPr>
            <a:spLocks noChangeArrowheads="1"/>
          </p:cNvSpPr>
          <p:nvPr/>
        </p:nvSpPr>
        <p:spPr bwMode="auto">
          <a:xfrm>
            <a:off x="2895600" y="5105400"/>
            <a:ext cx="6096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199693" name="Rectangle 13" descr="Solid diamond"/>
          <p:cNvSpPr>
            <a:spLocks noChangeArrowheads="1"/>
          </p:cNvSpPr>
          <p:nvPr/>
        </p:nvSpPr>
        <p:spPr bwMode="auto">
          <a:xfrm>
            <a:off x="3505200" y="2590800"/>
            <a:ext cx="609600" cy="1752600"/>
          </a:xfrm>
          <a:prstGeom prst="rect">
            <a:avLst/>
          </a:prstGeom>
          <a:pattFill prst="solidDmn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199694" name="Rectangle 14" descr="Large grid"/>
          <p:cNvSpPr>
            <a:spLocks noChangeArrowheads="1"/>
          </p:cNvSpPr>
          <p:nvPr/>
        </p:nvSpPr>
        <p:spPr bwMode="auto">
          <a:xfrm>
            <a:off x="3505200" y="4343400"/>
            <a:ext cx="609600" cy="1524000"/>
          </a:xfrm>
          <a:prstGeom prst="rect">
            <a:avLst/>
          </a:prstGeom>
          <a:pattFill prst="lgGri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FRC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199695" name="Rectangle 15" descr="Dark downward diagonal"/>
          <p:cNvSpPr>
            <a:spLocks noChangeArrowheads="1"/>
          </p:cNvSpPr>
          <p:nvPr/>
        </p:nvSpPr>
        <p:spPr bwMode="auto">
          <a:xfrm>
            <a:off x="4114800" y="2590800"/>
            <a:ext cx="533400" cy="2514600"/>
          </a:xfrm>
          <a:prstGeom prst="rect">
            <a:avLst/>
          </a:prstGeom>
          <a:pattFill prst="dkDnDiag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VC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199696" name="Rectangle 16"/>
          <p:cNvSpPr>
            <a:spLocks noChangeArrowheads="1"/>
          </p:cNvSpPr>
          <p:nvPr/>
        </p:nvSpPr>
        <p:spPr bwMode="auto">
          <a:xfrm>
            <a:off x="4648200" y="2590800"/>
            <a:ext cx="609600" cy="3276600"/>
          </a:xfrm>
          <a:prstGeom prst="rect">
            <a:avLst/>
          </a:prstGeom>
          <a:solidFill>
            <a:srgbClr val="FFFF0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TLC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199697" name="Freeform 17"/>
          <p:cNvSpPr>
            <a:spLocks/>
          </p:cNvSpPr>
          <p:nvPr/>
        </p:nvSpPr>
        <p:spPr bwMode="auto">
          <a:xfrm>
            <a:off x="533400" y="2438400"/>
            <a:ext cx="2286000" cy="2844800"/>
          </a:xfrm>
          <a:custGeom>
            <a:avLst/>
            <a:gdLst/>
            <a:ahLst/>
            <a:cxnLst>
              <a:cxn ang="0">
                <a:pos x="0" y="1184"/>
              </a:cxn>
              <a:cxn ang="0">
                <a:pos x="48" y="848"/>
              </a:cxn>
              <a:cxn ang="0">
                <a:pos x="192" y="1184"/>
              </a:cxn>
              <a:cxn ang="0">
                <a:pos x="336" y="848"/>
              </a:cxn>
              <a:cxn ang="0">
                <a:pos x="480" y="1184"/>
              </a:cxn>
              <a:cxn ang="0">
                <a:pos x="624" y="80"/>
              </a:cxn>
              <a:cxn ang="0">
                <a:pos x="768" y="1664"/>
              </a:cxn>
              <a:cxn ang="0">
                <a:pos x="912" y="848"/>
              </a:cxn>
              <a:cxn ang="0">
                <a:pos x="1056" y="1184"/>
              </a:cxn>
              <a:cxn ang="0">
                <a:pos x="1248" y="848"/>
              </a:cxn>
              <a:cxn ang="0">
                <a:pos x="1392" y="1184"/>
              </a:cxn>
            </a:cxnLst>
            <a:rect l="0" t="0" r="r" b="b"/>
            <a:pathLst>
              <a:path w="1392" h="1792">
                <a:moveTo>
                  <a:pt x="0" y="1184"/>
                </a:moveTo>
                <a:cubicBezTo>
                  <a:pt x="8" y="1016"/>
                  <a:pt x="16" y="848"/>
                  <a:pt x="48" y="848"/>
                </a:cubicBezTo>
                <a:cubicBezTo>
                  <a:pt x="80" y="848"/>
                  <a:pt x="144" y="1184"/>
                  <a:pt x="192" y="1184"/>
                </a:cubicBezTo>
                <a:cubicBezTo>
                  <a:pt x="240" y="1184"/>
                  <a:pt x="288" y="848"/>
                  <a:pt x="336" y="848"/>
                </a:cubicBezTo>
                <a:cubicBezTo>
                  <a:pt x="384" y="848"/>
                  <a:pt x="432" y="1312"/>
                  <a:pt x="480" y="1184"/>
                </a:cubicBezTo>
                <a:cubicBezTo>
                  <a:pt x="528" y="1056"/>
                  <a:pt x="576" y="0"/>
                  <a:pt x="624" y="80"/>
                </a:cubicBezTo>
                <a:cubicBezTo>
                  <a:pt x="672" y="160"/>
                  <a:pt x="720" y="1536"/>
                  <a:pt x="768" y="1664"/>
                </a:cubicBezTo>
                <a:cubicBezTo>
                  <a:pt x="816" y="1792"/>
                  <a:pt x="864" y="928"/>
                  <a:pt x="912" y="848"/>
                </a:cubicBezTo>
                <a:cubicBezTo>
                  <a:pt x="960" y="768"/>
                  <a:pt x="1000" y="1184"/>
                  <a:pt x="1056" y="1184"/>
                </a:cubicBezTo>
                <a:cubicBezTo>
                  <a:pt x="1112" y="1184"/>
                  <a:pt x="1192" y="848"/>
                  <a:pt x="1248" y="848"/>
                </a:cubicBezTo>
                <a:cubicBezTo>
                  <a:pt x="1304" y="848"/>
                  <a:pt x="1348" y="1016"/>
                  <a:pt x="1392" y="1184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698" name="Rectangle 18" descr="50%"/>
          <p:cNvSpPr>
            <a:spLocks noChangeArrowheads="1"/>
          </p:cNvSpPr>
          <p:nvPr/>
        </p:nvSpPr>
        <p:spPr bwMode="auto">
          <a:xfrm>
            <a:off x="4114800" y="5105400"/>
            <a:ext cx="5334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996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Inspiratory Reserve Volume (IRV)</a:t>
            </a:r>
          </a:p>
        </p:txBody>
      </p:sp>
      <p:sp>
        <p:nvSpPr>
          <p:cNvPr id="200715" name="Rectangle 11"/>
          <p:cNvSpPr>
            <a:spLocks noGrp="1" noChangeArrowheads="1"/>
          </p:cNvSpPr>
          <p:nvPr>
            <p:ph sz="quarter" idx="1"/>
          </p:nvPr>
        </p:nvSpPr>
        <p:spPr>
          <a:xfrm>
            <a:off x="5638800" y="1676400"/>
            <a:ext cx="3200400" cy="4800600"/>
          </a:xfrm>
        </p:spPr>
        <p:txBody>
          <a:bodyPr>
            <a:normAutofit/>
          </a:bodyPr>
          <a:lstStyle/>
          <a:p>
            <a:r>
              <a:rPr lang="en-US" sz="2800" dirty="0"/>
              <a:t>The maximum amount of air that can be inhaled after a normal tidal volume inspiration</a:t>
            </a:r>
          </a:p>
        </p:txBody>
      </p:sp>
      <p:sp>
        <p:nvSpPr>
          <p:cNvPr id="200707" name="Rectangle 3"/>
          <p:cNvSpPr>
            <a:spLocks noChangeArrowheads="1"/>
          </p:cNvSpPr>
          <p:nvPr/>
        </p:nvSpPr>
        <p:spPr bwMode="auto">
          <a:xfrm>
            <a:off x="228600" y="1676400"/>
            <a:ext cx="5181600" cy="46482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0708" name="Line 4"/>
          <p:cNvSpPr>
            <a:spLocks noChangeShapeType="1"/>
          </p:cNvSpPr>
          <p:nvPr/>
        </p:nvSpPr>
        <p:spPr bwMode="auto">
          <a:xfrm>
            <a:off x="457200" y="43434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0709" name="Line 5"/>
          <p:cNvSpPr>
            <a:spLocks noChangeShapeType="1"/>
          </p:cNvSpPr>
          <p:nvPr/>
        </p:nvSpPr>
        <p:spPr bwMode="auto">
          <a:xfrm>
            <a:off x="457200" y="38100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0710" name="Line 6"/>
          <p:cNvSpPr>
            <a:spLocks noChangeShapeType="1"/>
          </p:cNvSpPr>
          <p:nvPr/>
        </p:nvSpPr>
        <p:spPr bwMode="auto">
          <a:xfrm>
            <a:off x="457200" y="2590800"/>
            <a:ext cx="31242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0711" name="Line 7"/>
          <p:cNvSpPr>
            <a:spLocks noChangeShapeType="1"/>
          </p:cNvSpPr>
          <p:nvPr/>
        </p:nvSpPr>
        <p:spPr bwMode="auto">
          <a:xfrm>
            <a:off x="381000" y="5105400"/>
            <a:ext cx="3124200" cy="0"/>
          </a:xfrm>
          <a:prstGeom prst="line">
            <a:avLst/>
          </a:prstGeom>
          <a:noFill/>
          <a:ln w="12700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0712" name="Rectangle 8"/>
          <p:cNvSpPr>
            <a:spLocks noChangeArrowheads="1"/>
          </p:cNvSpPr>
          <p:nvPr/>
        </p:nvSpPr>
        <p:spPr bwMode="auto">
          <a:xfrm>
            <a:off x="2895600" y="2590800"/>
            <a:ext cx="609600" cy="1219200"/>
          </a:xfrm>
          <a:prstGeom prst="rect">
            <a:avLst/>
          </a:prstGeom>
          <a:solidFill>
            <a:srgbClr val="FF7C8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0713" name="Rectangle 9" descr="5%"/>
          <p:cNvSpPr>
            <a:spLocks noChangeArrowheads="1"/>
          </p:cNvSpPr>
          <p:nvPr/>
        </p:nvSpPr>
        <p:spPr bwMode="auto">
          <a:xfrm>
            <a:off x="2895600" y="3810000"/>
            <a:ext cx="609600" cy="533400"/>
          </a:xfrm>
          <a:prstGeom prst="rect">
            <a:avLst/>
          </a:prstGeom>
          <a:pattFill prst="pct5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0714" name="Rectangle 10" descr="Divot"/>
          <p:cNvSpPr>
            <a:spLocks noChangeArrowheads="1"/>
          </p:cNvSpPr>
          <p:nvPr/>
        </p:nvSpPr>
        <p:spPr bwMode="auto">
          <a:xfrm>
            <a:off x="2895600" y="4343400"/>
            <a:ext cx="609600" cy="762000"/>
          </a:xfrm>
          <a:prstGeom prst="rect">
            <a:avLst/>
          </a:prstGeom>
          <a:pattFill prst="divot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ERV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0716" name="Rectangle 12" descr="50%"/>
          <p:cNvSpPr>
            <a:spLocks noChangeArrowheads="1"/>
          </p:cNvSpPr>
          <p:nvPr/>
        </p:nvSpPr>
        <p:spPr bwMode="auto">
          <a:xfrm>
            <a:off x="2895600" y="5105400"/>
            <a:ext cx="6096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0717" name="Rectangle 13" descr="Solid diamond"/>
          <p:cNvSpPr>
            <a:spLocks noChangeArrowheads="1"/>
          </p:cNvSpPr>
          <p:nvPr/>
        </p:nvSpPr>
        <p:spPr bwMode="auto">
          <a:xfrm>
            <a:off x="3505200" y="2590800"/>
            <a:ext cx="609600" cy="1752600"/>
          </a:xfrm>
          <a:prstGeom prst="rect">
            <a:avLst/>
          </a:prstGeom>
          <a:pattFill prst="solidDmn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0718" name="Rectangle 14" descr="Large grid"/>
          <p:cNvSpPr>
            <a:spLocks noChangeArrowheads="1"/>
          </p:cNvSpPr>
          <p:nvPr/>
        </p:nvSpPr>
        <p:spPr bwMode="auto">
          <a:xfrm>
            <a:off x="3505200" y="4343400"/>
            <a:ext cx="609600" cy="1524000"/>
          </a:xfrm>
          <a:prstGeom prst="rect">
            <a:avLst/>
          </a:prstGeom>
          <a:pattFill prst="lgGri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FRC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0719" name="Rectangle 15" descr="Dark downward diagonal"/>
          <p:cNvSpPr>
            <a:spLocks noChangeArrowheads="1"/>
          </p:cNvSpPr>
          <p:nvPr/>
        </p:nvSpPr>
        <p:spPr bwMode="auto">
          <a:xfrm>
            <a:off x="4114800" y="2590800"/>
            <a:ext cx="533400" cy="2514600"/>
          </a:xfrm>
          <a:prstGeom prst="rect">
            <a:avLst/>
          </a:prstGeom>
          <a:pattFill prst="dkDnDiag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VC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0720" name="Rectangle 16"/>
          <p:cNvSpPr>
            <a:spLocks noChangeArrowheads="1"/>
          </p:cNvSpPr>
          <p:nvPr/>
        </p:nvSpPr>
        <p:spPr bwMode="auto">
          <a:xfrm>
            <a:off x="4648200" y="2590800"/>
            <a:ext cx="609600" cy="3276600"/>
          </a:xfrm>
          <a:prstGeom prst="rect">
            <a:avLst/>
          </a:prstGeom>
          <a:solidFill>
            <a:srgbClr val="FFFF0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TLC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0721" name="Freeform 17"/>
          <p:cNvSpPr>
            <a:spLocks/>
          </p:cNvSpPr>
          <p:nvPr/>
        </p:nvSpPr>
        <p:spPr bwMode="auto">
          <a:xfrm>
            <a:off x="533400" y="2438400"/>
            <a:ext cx="2286000" cy="2844800"/>
          </a:xfrm>
          <a:custGeom>
            <a:avLst/>
            <a:gdLst/>
            <a:ahLst/>
            <a:cxnLst>
              <a:cxn ang="0">
                <a:pos x="0" y="1184"/>
              </a:cxn>
              <a:cxn ang="0">
                <a:pos x="48" y="848"/>
              </a:cxn>
              <a:cxn ang="0">
                <a:pos x="192" y="1184"/>
              </a:cxn>
              <a:cxn ang="0">
                <a:pos x="336" y="848"/>
              </a:cxn>
              <a:cxn ang="0">
                <a:pos x="480" y="1184"/>
              </a:cxn>
              <a:cxn ang="0">
                <a:pos x="624" y="80"/>
              </a:cxn>
              <a:cxn ang="0">
                <a:pos x="768" y="1664"/>
              </a:cxn>
              <a:cxn ang="0">
                <a:pos x="912" y="848"/>
              </a:cxn>
              <a:cxn ang="0">
                <a:pos x="1056" y="1184"/>
              </a:cxn>
              <a:cxn ang="0">
                <a:pos x="1248" y="848"/>
              </a:cxn>
              <a:cxn ang="0">
                <a:pos x="1392" y="1184"/>
              </a:cxn>
            </a:cxnLst>
            <a:rect l="0" t="0" r="r" b="b"/>
            <a:pathLst>
              <a:path w="1392" h="1792">
                <a:moveTo>
                  <a:pt x="0" y="1184"/>
                </a:moveTo>
                <a:cubicBezTo>
                  <a:pt x="8" y="1016"/>
                  <a:pt x="16" y="848"/>
                  <a:pt x="48" y="848"/>
                </a:cubicBezTo>
                <a:cubicBezTo>
                  <a:pt x="80" y="848"/>
                  <a:pt x="144" y="1184"/>
                  <a:pt x="192" y="1184"/>
                </a:cubicBezTo>
                <a:cubicBezTo>
                  <a:pt x="240" y="1184"/>
                  <a:pt x="288" y="848"/>
                  <a:pt x="336" y="848"/>
                </a:cubicBezTo>
                <a:cubicBezTo>
                  <a:pt x="384" y="848"/>
                  <a:pt x="432" y="1312"/>
                  <a:pt x="480" y="1184"/>
                </a:cubicBezTo>
                <a:cubicBezTo>
                  <a:pt x="528" y="1056"/>
                  <a:pt x="576" y="0"/>
                  <a:pt x="624" y="80"/>
                </a:cubicBezTo>
                <a:cubicBezTo>
                  <a:pt x="672" y="160"/>
                  <a:pt x="720" y="1536"/>
                  <a:pt x="768" y="1664"/>
                </a:cubicBezTo>
                <a:cubicBezTo>
                  <a:pt x="816" y="1792"/>
                  <a:pt x="864" y="928"/>
                  <a:pt x="912" y="848"/>
                </a:cubicBezTo>
                <a:cubicBezTo>
                  <a:pt x="960" y="768"/>
                  <a:pt x="1000" y="1184"/>
                  <a:pt x="1056" y="1184"/>
                </a:cubicBezTo>
                <a:cubicBezTo>
                  <a:pt x="1112" y="1184"/>
                  <a:pt x="1192" y="848"/>
                  <a:pt x="1248" y="848"/>
                </a:cubicBezTo>
                <a:cubicBezTo>
                  <a:pt x="1304" y="848"/>
                  <a:pt x="1348" y="1016"/>
                  <a:pt x="1392" y="1184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0722" name="Rectangle 18" descr="50%"/>
          <p:cNvSpPr>
            <a:spLocks noChangeArrowheads="1"/>
          </p:cNvSpPr>
          <p:nvPr/>
        </p:nvSpPr>
        <p:spPr bwMode="auto">
          <a:xfrm>
            <a:off x="4114800" y="5105400"/>
            <a:ext cx="5334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Expiratory Reserve Volume (ERV)</a:t>
            </a:r>
          </a:p>
        </p:txBody>
      </p:sp>
      <p:sp>
        <p:nvSpPr>
          <p:cNvPr id="201739" name="Rectangle 11"/>
          <p:cNvSpPr>
            <a:spLocks noGrp="1" noChangeArrowheads="1"/>
          </p:cNvSpPr>
          <p:nvPr>
            <p:ph sz="quarter" idx="1"/>
          </p:nvPr>
        </p:nvSpPr>
        <p:spPr>
          <a:xfrm>
            <a:off x="5638800" y="1676400"/>
            <a:ext cx="3124200" cy="4800600"/>
          </a:xfrm>
        </p:spPr>
        <p:txBody>
          <a:bodyPr>
            <a:normAutofit/>
          </a:bodyPr>
          <a:lstStyle/>
          <a:p>
            <a:r>
              <a:rPr lang="en-US" sz="2800" dirty="0"/>
              <a:t>Maximum amount of air that can be exhaled from the resting expiratory level</a:t>
            </a:r>
          </a:p>
        </p:txBody>
      </p:sp>
      <p:sp>
        <p:nvSpPr>
          <p:cNvPr id="201731" name="Rectangle 3"/>
          <p:cNvSpPr>
            <a:spLocks noChangeArrowheads="1"/>
          </p:cNvSpPr>
          <p:nvPr/>
        </p:nvSpPr>
        <p:spPr bwMode="auto">
          <a:xfrm>
            <a:off x="228600" y="1676400"/>
            <a:ext cx="5181600" cy="46482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2" name="Line 4"/>
          <p:cNvSpPr>
            <a:spLocks noChangeShapeType="1"/>
          </p:cNvSpPr>
          <p:nvPr/>
        </p:nvSpPr>
        <p:spPr bwMode="auto">
          <a:xfrm>
            <a:off x="457200" y="43434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3" name="Line 5"/>
          <p:cNvSpPr>
            <a:spLocks noChangeShapeType="1"/>
          </p:cNvSpPr>
          <p:nvPr/>
        </p:nvSpPr>
        <p:spPr bwMode="auto">
          <a:xfrm>
            <a:off x="457200" y="38100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4" name="Line 6"/>
          <p:cNvSpPr>
            <a:spLocks noChangeShapeType="1"/>
          </p:cNvSpPr>
          <p:nvPr/>
        </p:nvSpPr>
        <p:spPr bwMode="auto">
          <a:xfrm>
            <a:off x="457200" y="2590800"/>
            <a:ext cx="31242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5" name="Line 7"/>
          <p:cNvSpPr>
            <a:spLocks noChangeShapeType="1"/>
          </p:cNvSpPr>
          <p:nvPr/>
        </p:nvSpPr>
        <p:spPr bwMode="auto">
          <a:xfrm>
            <a:off x="381000" y="5105400"/>
            <a:ext cx="3124200" cy="0"/>
          </a:xfrm>
          <a:prstGeom prst="line">
            <a:avLst/>
          </a:prstGeom>
          <a:noFill/>
          <a:ln w="12700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6" name="Rectangle 8"/>
          <p:cNvSpPr>
            <a:spLocks noChangeArrowheads="1"/>
          </p:cNvSpPr>
          <p:nvPr/>
        </p:nvSpPr>
        <p:spPr bwMode="auto">
          <a:xfrm>
            <a:off x="2895600" y="2590800"/>
            <a:ext cx="609600" cy="1219200"/>
          </a:xfrm>
          <a:prstGeom prst="rect">
            <a:avLst/>
          </a:prstGeom>
          <a:solidFill>
            <a:srgbClr val="FF7C8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1737" name="Rectangle 9" descr="5%"/>
          <p:cNvSpPr>
            <a:spLocks noChangeArrowheads="1"/>
          </p:cNvSpPr>
          <p:nvPr/>
        </p:nvSpPr>
        <p:spPr bwMode="auto">
          <a:xfrm>
            <a:off x="2895600" y="3810000"/>
            <a:ext cx="609600" cy="533400"/>
          </a:xfrm>
          <a:prstGeom prst="rect">
            <a:avLst/>
          </a:prstGeom>
          <a:pattFill prst="pct5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1738" name="Rectangle 10" descr="Divot"/>
          <p:cNvSpPr>
            <a:spLocks noChangeArrowheads="1"/>
          </p:cNvSpPr>
          <p:nvPr/>
        </p:nvSpPr>
        <p:spPr bwMode="auto">
          <a:xfrm>
            <a:off x="2895600" y="4343400"/>
            <a:ext cx="609600" cy="762000"/>
          </a:xfrm>
          <a:prstGeom prst="rect">
            <a:avLst/>
          </a:prstGeom>
          <a:pattFill prst="divot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ERV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1740" name="Rectangle 12" descr="50%"/>
          <p:cNvSpPr>
            <a:spLocks noChangeArrowheads="1"/>
          </p:cNvSpPr>
          <p:nvPr/>
        </p:nvSpPr>
        <p:spPr bwMode="auto">
          <a:xfrm>
            <a:off x="2895600" y="5105400"/>
            <a:ext cx="6096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1741" name="Rectangle 13" descr="Solid diamond"/>
          <p:cNvSpPr>
            <a:spLocks noChangeArrowheads="1"/>
          </p:cNvSpPr>
          <p:nvPr/>
        </p:nvSpPr>
        <p:spPr bwMode="auto">
          <a:xfrm>
            <a:off x="3505200" y="2590800"/>
            <a:ext cx="609600" cy="1752600"/>
          </a:xfrm>
          <a:prstGeom prst="rect">
            <a:avLst/>
          </a:prstGeom>
          <a:pattFill prst="solidDmn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1742" name="Rectangle 14" descr="Large grid"/>
          <p:cNvSpPr>
            <a:spLocks noChangeArrowheads="1"/>
          </p:cNvSpPr>
          <p:nvPr/>
        </p:nvSpPr>
        <p:spPr bwMode="auto">
          <a:xfrm>
            <a:off x="3505200" y="4343400"/>
            <a:ext cx="609600" cy="1524000"/>
          </a:xfrm>
          <a:prstGeom prst="rect">
            <a:avLst/>
          </a:prstGeom>
          <a:pattFill prst="lgGri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FRC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1743" name="Rectangle 15" descr="Dark downward diagonal"/>
          <p:cNvSpPr>
            <a:spLocks noChangeArrowheads="1"/>
          </p:cNvSpPr>
          <p:nvPr/>
        </p:nvSpPr>
        <p:spPr bwMode="auto">
          <a:xfrm>
            <a:off x="4114800" y="2590800"/>
            <a:ext cx="533400" cy="2514600"/>
          </a:xfrm>
          <a:prstGeom prst="rect">
            <a:avLst/>
          </a:prstGeom>
          <a:pattFill prst="dkDnDiag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VC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1744" name="Rectangle 16"/>
          <p:cNvSpPr>
            <a:spLocks noChangeArrowheads="1"/>
          </p:cNvSpPr>
          <p:nvPr/>
        </p:nvSpPr>
        <p:spPr bwMode="auto">
          <a:xfrm>
            <a:off x="4648200" y="2590800"/>
            <a:ext cx="609600" cy="3276600"/>
          </a:xfrm>
          <a:prstGeom prst="rect">
            <a:avLst/>
          </a:prstGeom>
          <a:solidFill>
            <a:srgbClr val="FFFF0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TLC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1745" name="Freeform 17"/>
          <p:cNvSpPr>
            <a:spLocks/>
          </p:cNvSpPr>
          <p:nvPr/>
        </p:nvSpPr>
        <p:spPr bwMode="auto">
          <a:xfrm>
            <a:off x="533400" y="2438400"/>
            <a:ext cx="2286000" cy="2844800"/>
          </a:xfrm>
          <a:custGeom>
            <a:avLst/>
            <a:gdLst/>
            <a:ahLst/>
            <a:cxnLst>
              <a:cxn ang="0">
                <a:pos x="0" y="1184"/>
              </a:cxn>
              <a:cxn ang="0">
                <a:pos x="48" y="848"/>
              </a:cxn>
              <a:cxn ang="0">
                <a:pos x="192" y="1184"/>
              </a:cxn>
              <a:cxn ang="0">
                <a:pos x="336" y="848"/>
              </a:cxn>
              <a:cxn ang="0">
                <a:pos x="480" y="1184"/>
              </a:cxn>
              <a:cxn ang="0">
                <a:pos x="624" y="80"/>
              </a:cxn>
              <a:cxn ang="0">
                <a:pos x="768" y="1664"/>
              </a:cxn>
              <a:cxn ang="0">
                <a:pos x="912" y="848"/>
              </a:cxn>
              <a:cxn ang="0">
                <a:pos x="1056" y="1184"/>
              </a:cxn>
              <a:cxn ang="0">
                <a:pos x="1248" y="848"/>
              </a:cxn>
              <a:cxn ang="0">
                <a:pos x="1392" y="1184"/>
              </a:cxn>
            </a:cxnLst>
            <a:rect l="0" t="0" r="r" b="b"/>
            <a:pathLst>
              <a:path w="1392" h="1792">
                <a:moveTo>
                  <a:pt x="0" y="1184"/>
                </a:moveTo>
                <a:cubicBezTo>
                  <a:pt x="8" y="1016"/>
                  <a:pt x="16" y="848"/>
                  <a:pt x="48" y="848"/>
                </a:cubicBezTo>
                <a:cubicBezTo>
                  <a:pt x="80" y="848"/>
                  <a:pt x="144" y="1184"/>
                  <a:pt x="192" y="1184"/>
                </a:cubicBezTo>
                <a:cubicBezTo>
                  <a:pt x="240" y="1184"/>
                  <a:pt x="288" y="848"/>
                  <a:pt x="336" y="848"/>
                </a:cubicBezTo>
                <a:cubicBezTo>
                  <a:pt x="384" y="848"/>
                  <a:pt x="432" y="1312"/>
                  <a:pt x="480" y="1184"/>
                </a:cubicBezTo>
                <a:cubicBezTo>
                  <a:pt x="528" y="1056"/>
                  <a:pt x="576" y="0"/>
                  <a:pt x="624" y="80"/>
                </a:cubicBezTo>
                <a:cubicBezTo>
                  <a:pt x="672" y="160"/>
                  <a:pt x="720" y="1536"/>
                  <a:pt x="768" y="1664"/>
                </a:cubicBezTo>
                <a:cubicBezTo>
                  <a:pt x="816" y="1792"/>
                  <a:pt x="864" y="928"/>
                  <a:pt x="912" y="848"/>
                </a:cubicBezTo>
                <a:cubicBezTo>
                  <a:pt x="960" y="768"/>
                  <a:pt x="1000" y="1184"/>
                  <a:pt x="1056" y="1184"/>
                </a:cubicBezTo>
                <a:cubicBezTo>
                  <a:pt x="1112" y="1184"/>
                  <a:pt x="1192" y="848"/>
                  <a:pt x="1248" y="848"/>
                </a:cubicBezTo>
                <a:cubicBezTo>
                  <a:pt x="1304" y="848"/>
                  <a:pt x="1348" y="1016"/>
                  <a:pt x="1392" y="1184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46" name="Rectangle 18" descr="50%"/>
          <p:cNvSpPr>
            <a:spLocks noChangeArrowheads="1"/>
          </p:cNvSpPr>
          <p:nvPr/>
        </p:nvSpPr>
        <p:spPr bwMode="auto">
          <a:xfrm>
            <a:off x="4114800" y="5105400"/>
            <a:ext cx="5334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Residual Volume (RV)</a:t>
            </a:r>
          </a:p>
        </p:txBody>
      </p:sp>
      <p:sp>
        <p:nvSpPr>
          <p:cNvPr id="202763" name="Rectangle 11"/>
          <p:cNvSpPr>
            <a:spLocks noGrp="1" noChangeArrowheads="1"/>
          </p:cNvSpPr>
          <p:nvPr>
            <p:ph sz="quarter" idx="1"/>
          </p:nvPr>
        </p:nvSpPr>
        <p:spPr>
          <a:xfrm>
            <a:off x="5638800" y="1676400"/>
            <a:ext cx="3124200" cy="4800600"/>
          </a:xfrm>
        </p:spPr>
        <p:txBody>
          <a:bodyPr>
            <a:normAutofit/>
          </a:bodyPr>
          <a:lstStyle/>
          <a:p>
            <a:r>
              <a:rPr lang="en-US" sz="2800" dirty="0"/>
              <a:t>Volume of air remaining in the lungs at the end of maximum expiration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202755" name="Rectangle 3"/>
          <p:cNvSpPr>
            <a:spLocks noChangeArrowheads="1"/>
          </p:cNvSpPr>
          <p:nvPr/>
        </p:nvSpPr>
        <p:spPr bwMode="auto">
          <a:xfrm>
            <a:off x="228600" y="1676400"/>
            <a:ext cx="5181600" cy="46482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56" name="Line 4"/>
          <p:cNvSpPr>
            <a:spLocks noChangeShapeType="1"/>
          </p:cNvSpPr>
          <p:nvPr/>
        </p:nvSpPr>
        <p:spPr bwMode="auto">
          <a:xfrm>
            <a:off x="457200" y="43434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57" name="Line 5"/>
          <p:cNvSpPr>
            <a:spLocks noChangeShapeType="1"/>
          </p:cNvSpPr>
          <p:nvPr/>
        </p:nvSpPr>
        <p:spPr bwMode="auto">
          <a:xfrm>
            <a:off x="457200" y="38100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58" name="Line 6"/>
          <p:cNvSpPr>
            <a:spLocks noChangeShapeType="1"/>
          </p:cNvSpPr>
          <p:nvPr/>
        </p:nvSpPr>
        <p:spPr bwMode="auto">
          <a:xfrm>
            <a:off x="457200" y="2590800"/>
            <a:ext cx="31242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59" name="Line 7"/>
          <p:cNvSpPr>
            <a:spLocks noChangeShapeType="1"/>
          </p:cNvSpPr>
          <p:nvPr/>
        </p:nvSpPr>
        <p:spPr bwMode="auto">
          <a:xfrm>
            <a:off x="381000" y="5105400"/>
            <a:ext cx="3124200" cy="0"/>
          </a:xfrm>
          <a:prstGeom prst="line">
            <a:avLst/>
          </a:prstGeom>
          <a:noFill/>
          <a:ln w="12700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60" name="Rectangle 8"/>
          <p:cNvSpPr>
            <a:spLocks noChangeArrowheads="1"/>
          </p:cNvSpPr>
          <p:nvPr/>
        </p:nvSpPr>
        <p:spPr bwMode="auto">
          <a:xfrm>
            <a:off x="2895600" y="2590800"/>
            <a:ext cx="609600" cy="1219200"/>
          </a:xfrm>
          <a:prstGeom prst="rect">
            <a:avLst/>
          </a:prstGeom>
          <a:solidFill>
            <a:srgbClr val="FF7C8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2761" name="Rectangle 9" descr="5%"/>
          <p:cNvSpPr>
            <a:spLocks noChangeArrowheads="1"/>
          </p:cNvSpPr>
          <p:nvPr/>
        </p:nvSpPr>
        <p:spPr bwMode="auto">
          <a:xfrm>
            <a:off x="2895600" y="3810000"/>
            <a:ext cx="609600" cy="533400"/>
          </a:xfrm>
          <a:prstGeom prst="rect">
            <a:avLst/>
          </a:prstGeom>
          <a:pattFill prst="pct5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2762" name="Rectangle 10" descr="Divot"/>
          <p:cNvSpPr>
            <a:spLocks noChangeArrowheads="1"/>
          </p:cNvSpPr>
          <p:nvPr/>
        </p:nvSpPr>
        <p:spPr bwMode="auto">
          <a:xfrm>
            <a:off x="2895600" y="4343400"/>
            <a:ext cx="609600" cy="762000"/>
          </a:xfrm>
          <a:prstGeom prst="rect">
            <a:avLst/>
          </a:prstGeom>
          <a:pattFill prst="divot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ERV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2764" name="Rectangle 12" descr="50%"/>
          <p:cNvSpPr>
            <a:spLocks noChangeArrowheads="1"/>
          </p:cNvSpPr>
          <p:nvPr/>
        </p:nvSpPr>
        <p:spPr bwMode="auto">
          <a:xfrm>
            <a:off x="2895600" y="5105400"/>
            <a:ext cx="6096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2765" name="Rectangle 13" descr="Solid diamond"/>
          <p:cNvSpPr>
            <a:spLocks noChangeArrowheads="1"/>
          </p:cNvSpPr>
          <p:nvPr/>
        </p:nvSpPr>
        <p:spPr bwMode="auto">
          <a:xfrm>
            <a:off x="3505200" y="2590800"/>
            <a:ext cx="609600" cy="1752600"/>
          </a:xfrm>
          <a:prstGeom prst="rect">
            <a:avLst/>
          </a:prstGeom>
          <a:pattFill prst="solidDmn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2766" name="Rectangle 14" descr="Large grid"/>
          <p:cNvSpPr>
            <a:spLocks noChangeArrowheads="1"/>
          </p:cNvSpPr>
          <p:nvPr/>
        </p:nvSpPr>
        <p:spPr bwMode="auto">
          <a:xfrm>
            <a:off x="3505200" y="4343400"/>
            <a:ext cx="609600" cy="1524000"/>
          </a:xfrm>
          <a:prstGeom prst="rect">
            <a:avLst/>
          </a:prstGeom>
          <a:pattFill prst="lgGri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FRC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2767" name="Rectangle 15" descr="Dark downward diagonal"/>
          <p:cNvSpPr>
            <a:spLocks noChangeArrowheads="1"/>
          </p:cNvSpPr>
          <p:nvPr/>
        </p:nvSpPr>
        <p:spPr bwMode="auto">
          <a:xfrm>
            <a:off x="4114800" y="2590800"/>
            <a:ext cx="533400" cy="2514600"/>
          </a:xfrm>
          <a:prstGeom prst="rect">
            <a:avLst/>
          </a:prstGeom>
          <a:pattFill prst="dkDnDiag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VC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2768" name="Rectangle 16"/>
          <p:cNvSpPr>
            <a:spLocks noChangeArrowheads="1"/>
          </p:cNvSpPr>
          <p:nvPr/>
        </p:nvSpPr>
        <p:spPr bwMode="auto">
          <a:xfrm>
            <a:off x="4648200" y="2590800"/>
            <a:ext cx="609600" cy="3276600"/>
          </a:xfrm>
          <a:prstGeom prst="rect">
            <a:avLst/>
          </a:prstGeom>
          <a:solidFill>
            <a:srgbClr val="FFFF0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TLC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2769" name="Freeform 17"/>
          <p:cNvSpPr>
            <a:spLocks/>
          </p:cNvSpPr>
          <p:nvPr/>
        </p:nvSpPr>
        <p:spPr bwMode="auto">
          <a:xfrm>
            <a:off x="533400" y="2438400"/>
            <a:ext cx="2286000" cy="2844800"/>
          </a:xfrm>
          <a:custGeom>
            <a:avLst/>
            <a:gdLst/>
            <a:ahLst/>
            <a:cxnLst>
              <a:cxn ang="0">
                <a:pos x="0" y="1184"/>
              </a:cxn>
              <a:cxn ang="0">
                <a:pos x="48" y="848"/>
              </a:cxn>
              <a:cxn ang="0">
                <a:pos x="192" y="1184"/>
              </a:cxn>
              <a:cxn ang="0">
                <a:pos x="336" y="848"/>
              </a:cxn>
              <a:cxn ang="0">
                <a:pos x="480" y="1184"/>
              </a:cxn>
              <a:cxn ang="0">
                <a:pos x="624" y="80"/>
              </a:cxn>
              <a:cxn ang="0">
                <a:pos x="768" y="1664"/>
              </a:cxn>
              <a:cxn ang="0">
                <a:pos x="912" y="848"/>
              </a:cxn>
              <a:cxn ang="0">
                <a:pos x="1056" y="1184"/>
              </a:cxn>
              <a:cxn ang="0">
                <a:pos x="1248" y="848"/>
              </a:cxn>
              <a:cxn ang="0">
                <a:pos x="1392" y="1184"/>
              </a:cxn>
            </a:cxnLst>
            <a:rect l="0" t="0" r="r" b="b"/>
            <a:pathLst>
              <a:path w="1392" h="1792">
                <a:moveTo>
                  <a:pt x="0" y="1184"/>
                </a:moveTo>
                <a:cubicBezTo>
                  <a:pt x="8" y="1016"/>
                  <a:pt x="16" y="848"/>
                  <a:pt x="48" y="848"/>
                </a:cubicBezTo>
                <a:cubicBezTo>
                  <a:pt x="80" y="848"/>
                  <a:pt x="144" y="1184"/>
                  <a:pt x="192" y="1184"/>
                </a:cubicBezTo>
                <a:cubicBezTo>
                  <a:pt x="240" y="1184"/>
                  <a:pt x="288" y="848"/>
                  <a:pt x="336" y="848"/>
                </a:cubicBezTo>
                <a:cubicBezTo>
                  <a:pt x="384" y="848"/>
                  <a:pt x="432" y="1312"/>
                  <a:pt x="480" y="1184"/>
                </a:cubicBezTo>
                <a:cubicBezTo>
                  <a:pt x="528" y="1056"/>
                  <a:pt x="576" y="0"/>
                  <a:pt x="624" y="80"/>
                </a:cubicBezTo>
                <a:cubicBezTo>
                  <a:pt x="672" y="160"/>
                  <a:pt x="720" y="1536"/>
                  <a:pt x="768" y="1664"/>
                </a:cubicBezTo>
                <a:cubicBezTo>
                  <a:pt x="816" y="1792"/>
                  <a:pt x="864" y="928"/>
                  <a:pt x="912" y="848"/>
                </a:cubicBezTo>
                <a:cubicBezTo>
                  <a:pt x="960" y="768"/>
                  <a:pt x="1000" y="1184"/>
                  <a:pt x="1056" y="1184"/>
                </a:cubicBezTo>
                <a:cubicBezTo>
                  <a:pt x="1112" y="1184"/>
                  <a:pt x="1192" y="848"/>
                  <a:pt x="1248" y="848"/>
                </a:cubicBezTo>
                <a:cubicBezTo>
                  <a:pt x="1304" y="848"/>
                  <a:pt x="1348" y="1016"/>
                  <a:pt x="1392" y="1184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70" name="Rectangle 18" descr="50%"/>
          <p:cNvSpPr>
            <a:spLocks noChangeArrowheads="1"/>
          </p:cNvSpPr>
          <p:nvPr/>
        </p:nvSpPr>
        <p:spPr bwMode="auto">
          <a:xfrm>
            <a:off x="4114800" y="5105400"/>
            <a:ext cx="5334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027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2027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64" grpId="0" animBg="1"/>
      <p:bldP spid="20277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Vital Capacity (VC)</a:t>
            </a:r>
          </a:p>
        </p:txBody>
      </p:sp>
      <p:sp>
        <p:nvSpPr>
          <p:cNvPr id="203787" name="Rectangle 11"/>
          <p:cNvSpPr>
            <a:spLocks noGrp="1" noChangeArrowheads="1"/>
          </p:cNvSpPr>
          <p:nvPr>
            <p:ph sz="quarter" idx="1"/>
          </p:nvPr>
        </p:nvSpPr>
        <p:spPr>
          <a:xfrm>
            <a:off x="5486400" y="1752600"/>
            <a:ext cx="3429000" cy="4724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Volume of air that can be exhaled from the lungs after a maximum inspiration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FVC: when VC exhaled forcefully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VC = IRV + TV + ERV</a:t>
            </a:r>
          </a:p>
        </p:txBody>
      </p:sp>
      <p:sp>
        <p:nvSpPr>
          <p:cNvPr id="203779" name="Rectangle 3"/>
          <p:cNvSpPr>
            <a:spLocks noChangeArrowheads="1"/>
          </p:cNvSpPr>
          <p:nvPr/>
        </p:nvSpPr>
        <p:spPr bwMode="auto">
          <a:xfrm>
            <a:off x="228600" y="1676400"/>
            <a:ext cx="5181600" cy="46482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780" name="Line 4"/>
          <p:cNvSpPr>
            <a:spLocks noChangeShapeType="1"/>
          </p:cNvSpPr>
          <p:nvPr/>
        </p:nvSpPr>
        <p:spPr bwMode="auto">
          <a:xfrm>
            <a:off x="457200" y="43434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781" name="Line 5"/>
          <p:cNvSpPr>
            <a:spLocks noChangeShapeType="1"/>
          </p:cNvSpPr>
          <p:nvPr/>
        </p:nvSpPr>
        <p:spPr bwMode="auto">
          <a:xfrm>
            <a:off x="457200" y="38100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782" name="Line 6"/>
          <p:cNvSpPr>
            <a:spLocks noChangeShapeType="1"/>
          </p:cNvSpPr>
          <p:nvPr/>
        </p:nvSpPr>
        <p:spPr bwMode="auto">
          <a:xfrm>
            <a:off x="457200" y="2590800"/>
            <a:ext cx="31242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783" name="Line 7"/>
          <p:cNvSpPr>
            <a:spLocks noChangeShapeType="1"/>
          </p:cNvSpPr>
          <p:nvPr/>
        </p:nvSpPr>
        <p:spPr bwMode="auto">
          <a:xfrm>
            <a:off x="381000" y="5105400"/>
            <a:ext cx="3124200" cy="0"/>
          </a:xfrm>
          <a:prstGeom prst="line">
            <a:avLst/>
          </a:prstGeom>
          <a:noFill/>
          <a:ln w="12700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784" name="Rectangle 8"/>
          <p:cNvSpPr>
            <a:spLocks noChangeArrowheads="1"/>
          </p:cNvSpPr>
          <p:nvPr/>
        </p:nvSpPr>
        <p:spPr bwMode="auto">
          <a:xfrm>
            <a:off x="2895600" y="2590800"/>
            <a:ext cx="609600" cy="1219200"/>
          </a:xfrm>
          <a:prstGeom prst="rect">
            <a:avLst/>
          </a:prstGeom>
          <a:solidFill>
            <a:srgbClr val="FF7C8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3785" name="Rectangle 9" descr="5%"/>
          <p:cNvSpPr>
            <a:spLocks noChangeArrowheads="1"/>
          </p:cNvSpPr>
          <p:nvPr/>
        </p:nvSpPr>
        <p:spPr bwMode="auto">
          <a:xfrm>
            <a:off x="2895600" y="3810000"/>
            <a:ext cx="609600" cy="533400"/>
          </a:xfrm>
          <a:prstGeom prst="rect">
            <a:avLst/>
          </a:prstGeom>
          <a:pattFill prst="pct5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3786" name="Rectangle 10" descr="Divot"/>
          <p:cNvSpPr>
            <a:spLocks noChangeArrowheads="1"/>
          </p:cNvSpPr>
          <p:nvPr/>
        </p:nvSpPr>
        <p:spPr bwMode="auto">
          <a:xfrm>
            <a:off x="2895600" y="4343400"/>
            <a:ext cx="609600" cy="762000"/>
          </a:xfrm>
          <a:prstGeom prst="rect">
            <a:avLst/>
          </a:prstGeom>
          <a:pattFill prst="divot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ERV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3788" name="Rectangle 12" descr="50%"/>
          <p:cNvSpPr>
            <a:spLocks noChangeArrowheads="1"/>
          </p:cNvSpPr>
          <p:nvPr/>
        </p:nvSpPr>
        <p:spPr bwMode="auto">
          <a:xfrm>
            <a:off x="2895600" y="5105400"/>
            <a:ext cx="6096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3789" name="Rectangle 13" descr="Solid diamond"/>
          <p:cNvSpPr>
            <a:spLocks noChangeArrowheads="1"/>
          </p:cNvSpPr>
          <p:nvPr/>
        </p:nvSpPr>
        <p:spPr bwMode="auto">
          <a:xfrm>
            <a:off x="3505200" y="2590800"/>
            <a:ext cx="609600" cy="1752600"/>
          </a:xfrm>
          <a:prstGeom prst="rect">
            <a:avLst/>
          </a:prstGeom>
          <a:pattFill prst="solidDmn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3790" name="Rectangle 14" descr="Large grid"/>
          <p:cNvSpPr>
            <a:spLocks noChangeArrowheads="1"/>
          </p:cNvSpPr>
          <p:nvPr/>
        </p:nvSpPr>
        <p:spPr bwMode="auto">
          <a:xfrm>
            <a:off x="3505200" y="4343400"/>
            <a:ext cx="609600" cy="1524000"/>
          </a:xfrm>
          <a:prstGeom prst="rect">
            <a:avLst/>
          </a:prstGeom>
          <a:pattFill prst="lgGri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FRC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3791" name="Rectangle 15" descr="Dark downward diagonal"/>
          <p:cNvSpPr>
            <a:spLocks noChangeArrowheads="1"/>
          </p:cNvSpPr>
          <p:nvPr/>
        </p:nvSpPr>
        <p:spPr bwMode="auto">
          <a:xfrm>
            <a:off x="4114800" y="2590800"/>
            <a:ext cx="533400" cy="2514600"/>
          </a:xfrm>
          <a:prstGeom prst="rect">
            <a:avLst/>
          </a:prstGeom>
          <a:pattFill prst="dkDnDiag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VC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3792" name="Rectangle 16"/>
          <p:cNvSpPr>
            <a:spLocks noChangeArrowheads="1"/>
          </p:cNvSpPr>
          <p:nvPr/>
        </p:nvSpPr>
        <p:spPr bwMode="auto">
          <a:xfrm>
            <a:off x="4648200" y="2590800"/>
            <a:ext cx="609600" cy="3276600"/>
          </a:xfrm>
          <a:prstGeom prst="rect">
            <a:avLst/>
          </a:prstGeom>
          <a:solidFill>
            <a:srgbClr val="FFFF0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TLC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3793" name="Freeform 17"/>
          <p:cNvSpPr>
            <a:spLocks/>
          </p:cNvSpPr>
          <p:nvPr/>
        </p:nvSpPr>
        <p:spPr bwMode="auto">
          <a:xfrm>
            <a:off x="533400" y="2438400"/>
            <a:ext cx="2286000" cy="2844800"/>
          </a:xfrm>
          <a:custGeom>
            <a:avLst/>
            <a:gdLst/>
            <a:ahLst/>
            <a:cxnLst>
              <a:cxn ang="0">
                <a:pos x="0" y="1184"/>
              </a:cxn>
              <a:cxn ang="0">
                <a:pos x="48" y="848"/>
              </a:cxn>
              <a:cxn ang="0">
                <a:pos x="192" y="1184"/>
              </a:cxn>
              <a:cxn ang="0">
                <a:pos x="336" y="848"/>
              </a:cxn>
              <a:cxn ang="0">
                <a:pos x="480" y="1184"/>
              </a:cxn>
              <a:cxn ang="0">
                <a:pos x="624" y="80"/>
              </a:cxn>
              <a:cxn ang="0">
                <a:pos x="768" y="1664"/>
              </a:cxn>
              <a:cxn ang="0">
                <a:pos x="912" y="848"/>
              </a:cxn>
              <a:cxn ang="0">
                <a:pos x="1056" y="1184"/>
              </a:cxn>
              <a:cxn ang="0">
                <a:pos x="1248" y="848"/>
              </a:cxn>
              <a:cxn ang="0">
                <a:pos x="1392" y="1184"/>
              </a:cxn>
            </a:cxnLst>
            <a:rect l="0" t="0" r="r" b="b"/>
            <a:pathLst>
              <a:path w="1392" h="1792">
                <a:moveTo>
                  <a:pt x="0" y="1184"/>
                </a:moveTo>
                <a:cubicBezTo>
                  <a:pt x="8" y="1016"/>
                  <a:pt x="16" y="848"/>
                  <a:pt x="48" y="848"/>
                </a:cubicBezTo>
                <a:cubicBezTo>
                  <a:pt x="80" y="848"/>
                  <a:pt x="144" y="1184"/>
                  <a:pt x="192" y="1184"/>
                </a:cubicBezTo>
                <a:cubicBezTo>
                  <a:pt x="240" y="1184"/>
                  <a:pt x="288" y="848"/>
                  <a:pt x="336" y="848"/>
                </a:cubicBezTo>
                <a:cubicBezTo>
                  <a:pt x="384" y="848"/>
                  <a:pt x="432" y="1312"/>
                  <a:pt x="480" y="1184"/>
                </a:cubicBezTo>
                <a:cubicBezTo>
                  <a:pt x="528" y="1056"/>
                  <a:pt x="576" y="0"/>
                  <a:pt x="624" y="80"/>
                </a:cubicBezTo>
                <a:cubicBezTo>
                  <a:pt x="672" y="160"/>
                  <a:pt x="720" y="1536"/>
                  <a:pt x="768" y="1664"/>
                </a:cubicBezTo>
                <a:cubicBezTo>
                  <a:pt x="816" y="1792"/>
                  <a:pt x="864" y="928"/>
                  <a:pt x="912" y="848"/>
                </a:cubicBezTo>
                <a:cubicBezTo>
                  <a:pt x="960" y="768"/>
                  <a:pt x="1000" y="1184"/>
                  <a:pt x="1056" y="1184"/>
                </a:cubicBezTo>
                <a:cubicBezTo>
                  <a:pt x="1112" y="1184"/>
                  <a:pt x="1192" y="848"/>
                  <a:pt x="1248" y="848"/>
                </a:cubicBezTo>
                <a:cubicBezTo>
                  <a:pt x="1304" y="848"/>
                  <a:pt x="1348" y="1016"/>
                  <a:pt x="1392" y="1184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794" name="Rectangle 18" descr="50%"/>
          <p:cNvSpPr>
            <a:spLocks noChangeArrowheads="1"/>
          </p:cNvSpPr>
          <p:nvPr/>
        </p:nvSpPr>
        <p:spPr bwMode="auto">
          <a:xfrm>
            <a:off x="4114800" y="5105400"/>
            <a:ext cx="5334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037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Scale>
                                      <p:cBhvr>
                                        <p:cTn id="10" dur="1000" fill="hold"/>
                                        <p:tgtEl>
                                          <p:spTgt spid="20379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20378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1000" fill="hold"/>
                                        <p:tgtEl>
                                          <p:spTgt spid="20378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00" fill="hold"/>
                                        <p:tgtEl>
                                          <p:spTgt spid="20378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4" grpId="0" animBg="1"/>
      <p:bldP spid="203785" grpId="0" animBg="1"/>
      <p:bldP spid="203786" grpId="0" animBg="1"/>
      <p:bldP spid="203791" grpId="0" animBg="1"/>
      <p:bldP spid="203791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Inspiratory Capacity (IC)</a:t>
            </a:r>
          </a:p>
        </p:txBody>
      </p:sp>
      <p:sp>
        <p:nvSpPr>
          <p:cNvPr id="204811" name="Rectangle 11"/>
          <p:cNvSpPr>
            <a:spLocks noGrp="1" noChangeArrowheads="1"/>
          </p:cNvSpPr>
          <p:nvPr>
            <p:ph sz="quarter" idx="1"/>
          </p:nvPr>
        </p:nvSpPr>
        <p:spPr>
          <a:xfrm>
            <a:off x="5638800" y="1676400"/>
            <a:ext cx="3276600" cy="4800600"/>
          </a:xfrm>
        </p:spPr>
        <p:txBody>
          <a:bodyPr>
            <a:normAutofit/>
          </a:bodyPr>
          <a:lstStyle/>
          <a:p>
            <a:r>
              <a:rPr lang="en-US" sz="2800" dirty="0"/>
              <a:t>Maximum amount of air that can be inhaled from the end of a tidal volume</a:t>
            </a:r>
          </a:p>
          <a:p>
            <a:r>
              <a:rPr lang="en-US" sz="2800" dirty="0"/>
              <a:t>IC = IRV + TV</a:t>
            </a:r>
          </a:p>
        </p:txBody>
      </p:sp>
      <p:sp>
        <p:nvSpPr>
          <p:cNvPr id="204803" name="Rectangle 3"/>
          <p:cNvSpPr>
            <a:spLocks noChangeArrowheads="1"/>
          </p:cNvSpPr>
          <p:nvPr/>
        </p:nvSpPr>
        <p:spPr bwMode="auto">
          <a:xfrm>
            <a:off x="228600" y="1676400"/>
            <a:ext cx="5181600" cy="46482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04" name="Line 4"/>
          <p:cNvSpPr>
            <a:spLocks noChangeShapeType="1"/>
          </p:cNvSpPr>
          <p:nvPr/>
        </p:nvSpPr>
        <p:spPr bwMode="auto">
          <a:xfrm>
            <a:off x="457200" y="43434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05" name="Line 5"/>
          <p:cNvSpPr>
            <a:spLocks noChangeShapeType="1"/>
          </p:cNvSpPr>
          <p:nvPr/>
        </p:nvSpPr>
        <p:spPr bwMode="auto">
          <a:xfrm>
            <a:off x="457200" y="38100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06" name="Line 6"/>
          <p:cNvSpPr>
            <a:spLocks noChangeShapeType="1"/>
          </p:cNvSpPr>
          <p:nvPr/>
        </p:nvSpPr>
        <p:spPr bwMode="auto">
          <a:xfrm>
            <a:off x="457200" y="2590800"/>
            <a:ext cx="31242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07" name="Line 7"/>
          <p:cNvSpPr>
            <a:spLocks noChangeShapeType="1"/>
          </p:cNvSpPr>
          <p:nvPr/>
        </p:nvSpPr>
        <p:spPr bwMode="auto">
          <a:xfrm>
            <a:off x="381000" y="5105400"/>
            <a:ext cx="3124200" cy="0"/>
          </a:xfrm>
          <a:prstGeom prst="line">
            <a:avLst/>
          </a:prstGeom>
          <a:noFill/>
          <a:ln w="12700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08" name="Rectangle 8"/>
          <p:cNvSpPr>
            <a:spLocks noChangeArrowheads="1"/>
          </p:cNvSpPr>
          <p:nvPr/>
        </p:nvSpPr>
        <p:spPr bwMode="auto">
          <a:xfrm>
            <a:off x="2895600" y="2590800"/>
            <a:ext cx="609600" cy="1219200"/>
          </a:xfrm>
          <a:prstGeom prst="rect">
            <a:avLst/>
          </a:prstGeom>
          <a:solidFill>
            <a:srgbClr val="FF7C8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4809" name="Rectangle 9" descr="5%"/>
          <p:cNvSpPr>
            <a:spLocks noChangeArrowheads="1"/>
          </p:cNvSpPr>
          <p:nvPr/>
        </p:nvSpPr>
        <p:spPr bwMode="auto">
          <a:xfrm>
            <a:off x="2895600" y="3810000"/>
            <a:ext cx="609600" cy="533400"/>
          </a:xfrm>
          <a:prstGeom prst="rect">
            <a:avLst/>
          </a:prstGeom>
          <a:pattFill prst="pct5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4810" name="Rectangle 10" descr="Divot"/>
          <p:cNvSpPr>
            <a:spLocks noChangeArrowheads="1"/>
          </p:cNvSpPr>
          <p:nvPr/>
        </p:nvSpPr>
        <p:spPr bwMode="auto">
          <a:xfrm>
            <a:off x="2895600" y="4343400"/>
            <a:ext cx="609600" cy="762000"/>
          </a:xfrm>
          <a:prstGeom prst="rect">
            <a:avLst/>
          </a:prstGeom>
          <a:pattFill prst="divot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ERV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4812" name="Rectangle 12" descr="50%"/>
          <p:cNvSpPr>
            <a:spLocks noChangeArrowheads="1"/>
          </p:cNvSpPr>
          <p:nvPr/>
        </p:nvSpPr>
        <p:spPr bwMode="auto">
          <a:xfrm>
            <a:off x="2895600" y="5105400"/>
            <a:ext cx="6096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4813" name="Rectangle 13" descr="Solid diamond"/>
          <p:cNvSpPr>
            <a:spLocks noChangeArrowheads="1"/>
          </p:cNvSpPr>
          <p:nvPr/>
        </p:nvSpPr>
        <p:spPr bwMode="auto">
          <a:xfrm>
            <a:off x="3505200" y="2590800"/>
            <a:ext cx="609600" cy="1752600"/>
          </a:xfrm>
          <a:prstGeom prst="rect">
            <a:avLst/>
          </a:prstGeom>
          <a:pattFill prst="solidDmn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4814" name="Rectangle 14" descr="Large grid"/>
          <p:cNvSpPr>
            <a:spLocks noChangeArrowheads="1"/>
          </p:cNvSpPr>
          <p:nvPr/>
        </p:nvSpPr>
        <p:spPr bwMode="auto">
          <a:xfrm>
            <a:off x="3505200" y="4343400"/>
            <a:ext cx="609600" cy="1524000"/>
          </a:xfrm>
          <a:prstGeom prst="rect">
            <a:avLst/>
          </a:prstGeom>
          <a:pattFill prst="lgGri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FRC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4815" name="Rectangle 15" descr="Dark downward diagonal"/>
          <p:cNvSpPr>
            <a:spLocks noChangeArrowheads="1"/>
          </p:cNvSpPr>
          <p:nvPr/>
        </p:nvSpPr>
        <p:spPr bwMode="auto">
          <a:xfrm>
            <a:off x="4114800" y="2590800"/>
            <a:ext cx="533400" cy="2514600"/>
          </a:xfrm>
          <a:prstGeom prst="rect">
            <a:avLst/>
          </a:prstGeom>
          <a:pattFill prst="dkDnDiag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VC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4816" name="Rectangle 16"/>
          <p:cNvSpPr>
            <a:spLocks noChangeArrowheads="1"/>
          </p:cNvSpPr>
          <p:nvPr/>
        </p:nvSpPr>
        <p:spPr bwMode="auto">
          <a:xfrm>
            <a:off x="4648200" y="2590800"/>
            <a:ext cx="609600" cy="3276600"/>
          </a:xfrm>
          <a:prstGeom prst="rect">
            <a:avLst/>
          </a:prstGeom>
          <a:solidFill>
            <a:srgbClr val="FFFF0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TLC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4817" name="Freeform 17"/>
          <p:cNvSpPr>
            <a:spLocks/>
          </p:cNvSpPr>
          <p:nvPr/>
        </p:nvSpPr>
        <p:spPr bwMode="auto">
          <a:xfrm>
            <a:off x="533400" y="2438400"/>
            <a:ext cx="2286000" cy="2844800"/>
          </a:xfrm>
          <a:custGeom>
            <a:avLst/>
            <a:gdLst/>
            <a:ahLst/>
            <a:cxnLst>
              <a:cxn ang="0">
                <a:pos x="0" y="1184"/>
              </a:cxn>
              <a:cxn ang="0">
                <a:pos x="48" y="848"/>
              </a:cxn>
              <a:cxn ang="0">
                <a:pos x="192" y="1184"/>
              </a:cxn>
              <a:cxn ang="0">
                <a:pos x="336" y="848"/>
              </a:cxn>
              <a:cxn ang="0">
                <a:pos x="480" y="1184"/>
              </a:cxn>
              <a:cxn ang="0">
                <a:pos x="624" y="80"/>
              </a:cxn>
              <a:cxn ang="0">
                <a:pos x="768" y="1664"/>
              </a:cxn>
              <a:cxn ang="0">
                <a:pos x="912" y="848"/>
              </a:cxn>
              <a:cxn ang="0">
                <a:pos x="1056" y="1184"/>
              </a:cxn>
              <a:cxn ang="0">
                <a:pos x="1248" y="848"/>
              </a:cxn>
              <a:cxn ang="0">
                <a:pos x="1392" y="1184"/>
              </a:cxn>
            </a:cxnLst>
            <a:rect l="0" t="0" r="r" b="b"/>
            <a:pathLst>
              <a:path w="1392" h="1792">
                <a:moveTo>
                  <a:pt x="0" y="1184"/>
                </a:moveTo>
                <a:cubicBezTo>
                  <a:pt x="8" y="1016"/>
                  <a:pt x="16" y="848"/>
                  <a:pt x="48" y="848"/>
                </a:cubicBezTo>
                <a:cubicBezTo>
                  <a:pt x="80" y="848"/>
                  <a:pt x="144" y="1184"/>
                  <a:pt x="192" y="1184"/>
                </a:cubicBezTo>
                <a:cubicBezTo>
                  <a:pt x="240" y="1184"/>
                  <a:pt x="288" y="848"/>
                  <a:pt x="336" y="848"/>
                </a:cubicBezTo>
                <a:cubicBezTo>
                  <a:pt x="384" y="848"/>
                  <a:pt x="432" y="1312"/>
                  <a:pt x="480" y="1184"/>
                </a:cubicBezTo>
                <a:cubicBezTo>
                  <a:pt x="528" y="1056"/>
                  <a:pt x="576" y="0"/>
                  <a:pt x="624" y="80"/>
                </a:cubicBezTo>
                <a:cubicBezTo>
                  <a:pt x="672" y="160"/>
                  <a:pt x="720" y="1536"/>
                  <a:pt x="768" y="1664"/>
                </a:cubicBezTo>
                <a:cubicBezTo>
                  <a:pt x="816" y="1792"/>
                  <a:pt x="864" y="928"/>
                  <a:pt x="912" y="848"/>
                </a:cubicBezTo>
                <a:cubicBezTo>
                  <a:pt x="960" y="768"/>
                  <a:pt x="1000" y="1184"/>
                  <a:pt x="1056" y="1184"/>
                </a:cubicBezTo>
                <a:cubicBezTo>
                  <a:pt x="1112" y="1184"/>
                  <a:pt x="1192" y="848"/>
                  <a:pt x="1248" y="848"/>
                </a:cubicBezTo>
                <a:cubicBezTo>
                  <a:pt x="1304" y="848"/>
                  <a:pt x="1348" y="1016"/>
                  <a:pt x="1392" y="1184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18" name="Rectangle 18" descr="50%"/>
          <p:cNvSpPr>
            <a:spLocks noChangeArrowheads="1"/>
          </p:cNvSpPr>
          <p:nvPr/>
        </p:nvSpPr>
        <p:spPr bwMode="auto">
          <a:xfrm>
            <a:off x="4114800" y="5105400"/>
            <a:ext cx="5334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048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1000" fill="hold"/>
                                        <p:tgtEl>
                                          <p:spTgt spid="2048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20480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1000" fill="hold"/>
                                        <p:tgtEl>
                                          <p:spTgt spid="20480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8" grpId="0" animBg="1"/>
      <p:bldP spid="204809" grpId="0" animBg="1"/>
      <p:bldP spid="204813" grpId="0" animBg="1"/>
      <p:bldP spid="20481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Functional Residual Capacity (FRC)</a:t>
            </a:r>
          </a:p>
        </p:txBody>
      </p:sp>
      <p:sp>
        <p:nvSpPr>
          <p:cNvPr id="205835" name="Rectangle 11"/>
          <p:cNvSpPr>
            <a:spLocks noGrp="1" noChangeArrowheads="1"/>
          </p:cNvSpPr>
          <p:nvPr>
            <p:ph sz="quarter" idx="1"/>
          </p:nvPr>
        </p:nvSpPr>
        <p:spPr>
          <a:xfrm>
            <a:off x="5486400" y="1676400"/>
            <a:ext cx="3657600" cy="4800600"/>
          </a:xfrm>
        </p:spPr>
        <p:txBody>
          <a:bodyPr>
            <a:normAutofit/>
          </a:bodyPr>
          <a:lstStyle/>
          <a:p>
            <a:r>
              <a:rPr lang="en-US" sz="2800" dirty="0"/>
              <a:t>Volume of air remaining in the lungs at the end of a TV expiration </a:t>
            </a:r>
          </a:p>
          <a:p>
            <a:endParaRPr lang="en-US" sz="2800" dirty="0"/>
          </a:p>
          <a:p>
            <a:r>
              <a:rPr lang="en-US" sz="2800" dirty="0"/>
              <a:t>FRC = ERV + RV</a:t>
            </a:r>
          </a:p>
        </p:txBody>
      </p:sp>
      <p:sp>
        <p:nvSpPr>
          <p:cNvPr id="205827" name="Rectangle 3"/>
          <p:cNvSpPr>
            <a:spLocks noChangeArrowheads="1"/>
          </p:cNvSpPr>
          <p:nvPr/>
        </p:nvSpPr>
        <p:spPr bwMode="auto">
          <a:xfrm>
            <a:off x="228600" y="1676400"/>
            <a:ext cx="5181600" cy="46482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828" name="Line 4"/>
          <p:cNvSpPr>
            <a:spLocks noChangeShapeType="1"/>
          </p:cNvSpPr>
          <p:nvPr/>
        </p:nvSpPr>
        <p:spPr bwMode="auto">
          <a:xfrm>
            <a:off x="457200" y="43434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829" name="Line 5"/>
          <p:cNvSpPr>
            <a:spLocks noChangeShapeType="1"/>
          </p:cNvSpPr>
          <p:nvPr/>
        </p:nvSpPr>
        <p:spPr bwMode="auto">
          <a:xfrm>
            <a:off x="457200" y="3810000"/>
            <a:ext cx="30480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830" name="Line 6"/>
          <p:cNvSpPr>
            <a:spLocks noChangeShapeType="1"/>
          </p:cNvSpPr>
          <p:nvPr/>
        </p:nvSpPr>
        <p:spPr bwMode="auto">
          <a:xfrm>
            <a:off x="457200" y="2590800"/>
            <a:ext cx="3124200" cy="0"/>
          </a:xfrm>
          <a:prstGeom prst="line">
            <a:avLst/>
          </a:prstGeom>
          <a:noFill/>
          <a:ln w="9525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831" name="Line 7"/>
          <p:cNvSpPr>
            <a:spLocks noChangeShapeType="1"/>
          </p:cNvSpPr>
          <p:nvPr/>
        </p:nvSpPr>
        <p:spPr bwMode="auto">
          <a:xfrm>
            <a:off x="381000" y="5105400"/>
            <a:ext cx="3124200" cy="0"/>
          </a:xfrm>
          <a:prstGeom prst="line">
            <a:avLst/>
          </a:prstGeom>
          <a:noFill/>
          <a:ln w="12700">
            <a:solidFill>
              <a:srgbClr val="33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832" name="Rectangle 8"/>
          <p:cNvSpPr>
            <a:spLocks noChangeArrowheads="1"/>
          </p:cNvSpPr>
          <p:nvPr/>
        </p:nvSpPr>
        <p:spPr bwMode="auto">
          <a:xfrm>
            <a:off x="2895600" y="2590800"/>
            <a:ext cx="609600" cy="1219200"/>
          </a:xfrm>
          <a:prstGeom prst="rect">
            <a:avLst/>
          </a:prstGeom>
          <a:solidFill>
            <a:srgbClr val="FF7C8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5833" name="Rectangle 9" descr="5%"/>
          <p:cNvSpPr>
            <a:spLocks noChangeArrowheads="1"/>
          </p:cNvSpPr>
          <p:nvPr/>
        </p:nvSpPr>
        <p:spPr bwMode="auto">
          <a:xfrm>
            <a:off x="2895600" y="3810000"/>
            <a:ext cx="609600" cy="533400"/>
          </a:xfrm>
          <a:prstGeom prst="rect">
            <a:avLst/>
          </a:prstGeom>
          <a:pattFill prst="pct5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5834" name="Rectangle 10" descr="Divot"/>
          <p:cNvSpPr>
            <a:spLocks noChangeArrowheads="1"/>
          </p:cNvSpPr>
          <p:nvPr/>
        </p:nvSpPr>
        <p:spPr bwMode="auto">
          <a:xfrm>
            <a:off x="2895600" y="4343400"/>
            <a:ext cx="609600" cy="762000"/>
          </a:xfrm>
          <a:prstGeom prst="rect">
            <a:avLst/>
          </a:prstGeom>
          <a:pattFill prst="divot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ERV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5836" name="Rectangle 12" descr="50%"/>
          <p:cNvSpPr>
            <a:spLocks noChangeArrowheads="1"/>
          </p:cNvSpPr>
          <p:nvPr/>
        </p:nvSpPr>
        <p:spPr bwMode="auto">
          <a:xfrm>
            <a:off x="2895600" y="5105400"/>
            <a:ext cx="6096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5837" name="Rectangle 13" descr="Solid diamond"/>
          <p:cNvSpPr>
            <a:spLocks noChangeArrowheads="1"/>
          </p:cNvSpPr>
          <p:nvPr/>
        </p:nvSpPr>
        <p:spPr bwMode="auto">
          <a:xfrm>
            <a:off x="3505200" y="2590800"/>
            <a:ext cx="609600" cy="1752600"/>
          </a:xfrm>
          <a:prstGeom prst="rect">
            <a:avLst/>
          </a:prstGeom>
          <a:pattFill prst="solidDmn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IC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5838" name="Rectangle 14" descr="Large grid"/>
          <p:cNvSpPr>
            <a:spLocks noChangeArrowheads="1"/>
          </p:cNvSpPr>
          <p:nvPr/>
        </p:nvSpPr>
        <p:spPr bwMode="auto">
          <a:xfrm>
            <a:off x="3505200" y="4343400"/>
            <a:ext cx="609600" cy="1524000"/>
          </a:xfrm>
          <a:prstGeom prst="rect">
            <a:avLst/>
          </a:prstGeom>
          <a:pattFill prst="lgGrid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FRC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5839" name="Rectangle 15" descr="Dark downward diagonal"/>
          <p:cNvSpPr>
            <a:spLocks noChangeArrowheads="1"/>
          </p:cNvSpPr>
          <p:nvPr/>
        </p:nvSpPr>
        <p:spPr bwMode="auto">
          <a:xfrm>
            <a:off x="4114800" y="2590800"/>
            <a:ext cx="533400" cy="2514600"/>
          </a:xfrm>
          <a:prstGeom prst="rect">
            <a:avLst/>
          </a:prstGeom>
          <a:pattFill prst="dkDnDiag">
            <a:fgClr>
              <a:srgbClr val="FFFF0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VC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5840" name="Rectangle 16"/>
          <p:cNvSpPr>
            <a:spLocks noChangeArrowheads="1"/>
          </p:cNvSpPr>
          <p:nvPr/>
        </p:nvSpPr>
        <p:spPr bwMode="auto">
          <a:xfrm>
            <a:off x="4648200" y="2590800"/>
            <a:ext cx="609600" cy="3276600"/>
          </a:xfrm>
          <a:prstGeom prst="rect">
            <a:avLst/>
          </a:prstGeom>
          <a:solidFill>
            <a:srgbClr val="FFFF00"/>
          </a:solid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TLC</a:t>
            </a:r>
            <a:endParaRPr lang="en-US" sz="2400">
              <a:latin typeface="Arial Black" pitchFamily="34" charset="0"/>
            </a:endParaRPr>
          </a:p>
        </p:txBody>
      </p:sp>
      <p:sp>
        <p:nvSpPr>
          <p:cNvPr id="205841" name="Freeform 17"/>
          <p:cNvSpPr>
            <a:spLocks/>
          </p:cNvSpPr>
          <p:nvPr/>
        </p:nvSpPr>
        <p:spPr bwMode="auto">
          <a:xfrm>
            <a:off x="533400" y="2438400"/>
            <a:ext cx="2286000" cy="2844800"/>
          </a:xfrm>
          <a:custGeom>
            <a:avLst/>
            <a:gdLst/>
            <a:ahLst/>
            <a:cxnLst>
              <a:cxn ang="0">
                <a:pos x="0" y="1184"/>
              </a:cxn>
              <a:cxn ang="0">
                <a:pos x="48" y="848"/>
              </a:cxn>
              <a:cxn ang="0">
                <a:pos x="192" y="1184"/>
              </a:cxn>
              <a:cxn ang="0">
                <a:pos x="336" y="848"/>
              </a:cxn>
              <a:cxn ang="0">
                <a:pos x="480" y="1184"/>
              </a:cxn>
              <a:cxn ang="0">
                <a:pos x="624" y="80"/>
              </a:cxn>
              <a:cxn ang="0">
                <a:pos x="768" y="1664"/>
              </a:cxn>
              <a:cxn ang="0">
                <a:pos x="912" y="848"/>
              </a:cxn>
              <a:cxn ang="0">
                <a:pos x="1056" y="1184"/>
              </a:cxn>
              <a:cxn ang="0">
                <a:pos x="1248" y="848"/>
              </a:cxn>
              <a:cxn ang="0">
                <a:pos x="1392" y="1184"/>
              </a:cxn>
            </a:cxnLst>
            <a:rect l="0" t="0" r="r" b="b"/>
            <a:pathLst>
              <a:path w="1392" h="1792">
                <a:moveTo>
                  <a:pt x="0" y="1184"/>
                </a:moveTo>
                <a:cubicBezTo>
                  <a:pt x="8" y="1016"/>
                  <a:pt x="16" y="848"/>
                  <a:pt x="48" y="848"/>
                </a:cubicBezTo>
                <a:cubicBezTo>
                  <a:pt x="80" y="848"/>
                  <a:pt x="144" y="1184"/>
                  <a:pt x="192" y="1184"/>
                </a:cubicBezTo>
                <a:cubicBezTo>
                  <a:pt x="240" y="1184"/>
                  <a:pt x="288" y="848"/>
                  <a:pt x="336" y="848"/>
                </a:cubicBezTo>
                <a:cubicBezTo>
                  <a:pt x="384" y="848"/>
                  <a:pt x="432" y="1312"/>
                  <a:pt x="480" y="1184"/>
                </a:cubicBezTo>
                <a:cubicBezTo>
                  <a:pt x="528" y="1056"/>
                  <a:pt x="576" y="0"/>
                  <a:pt x="624" y="80"/>
                </a:cubicBezTo>
                <a:cubicBezTo>
                  <a:pt x="672" y="160"/>
                  <a:pt x="720" y="1536"/>
                  <a:pt x="768" y="1664"/>
                </a:cubicBezTo>
                <a:cubicBezTo>
                  <a:pt x="816" y="1792"/>
                  <a:pt x="864" y="928"/>
                  <a:pt x="912" y="848"/>
                </a:cubicBezTo>
                <a:cubicBezTo>
                  <a:pt x="960" y="768"/>
                  <a:pt x="1000" y="1184"/>
                  <a:pt x="1056" y="1184"/>
                </a:cubicBezTo>
                <a:cubicBezTo>
                  <a:pt x="1112" y="1184"/>
                  <a:pt x="1192" y="848"/>
                  <a:pt x="1248" y="848"/>
                </a:cubicBezTo>
                <a:cubicBezTo>
                  <a:pt x="1304" y="848"/>
                  <a:pt x="1348" y="1016"/>
                  <a:pt x="1392" y="1184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842" name="Rectangle 18" descr="50%"/>
          <p:cNvSpPr>
            <a:spLocks noChangeArrowheads="1"/>
          </p:cNvSpPr>
          <p:nvPr/>
        </p:nvSpPr>
        <p:spPr bwMode="auto">
          <a:xfrm>
            <a:off x="4114800" y="5105400"/>
            <a:ext cx="533400" cy="762000"/>
          </a:xfrm>
          <a:prstGeom prst="rect">
            <a:avLst/>
          </a:prstGeom>
          <a:pattFill prst="pct50">
            <a:fgClr>
              <a:srgbClr val="FF7C80"/>
            </a:fgClr>
            <a:bgClr>
              <a:srgbClr val="FFFFFF"/>
            </a:bgClr>
          </a:pattFill>
          <a:ln w="9525">
            <a:solidFill>
              <a:srgbClr val="33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  <a:latin typeface="Arial Black" pitchFamily="34" charset="0"/>
              </a:rPr>
              <a:t>RV</a:t>
            </a:r>
            <a:endParaRPr lang="en-US" sz="2400">
              <a:latin typeface="Arial Black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058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1000" fill="hold"/>
                                        <p:tgtEl>
                                          <p:spTgt spid="20583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20583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1000" fill="hold"/>
                                        <p:tgtEl>
                                          <p:spTgt spid="20583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34" grpId="0" animBg="1"/>
      <p:bldP spid="205836" grpId="0" animBg="1"/>
      <p:bldP spid="205838" grpId="0" animBg="1"/>
      <p:bldP spid="205838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026">
            <a:extLst>
              <a:ext uri="{FF2B5EF4-FFF2-40B4-BE49-F238E27FC236}">
                <a16:creationId xmlns:a16="http://schemas.microsoft.com/office/drawing/2014/main" id="{45AB21DE-8727-4778-EA5B-7B74A920E4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3982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Forced Spirometry 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( FEV1 , FEV1/FVC )</a:t>
            </a:r>
          </a:p>
        </p:txBody>
      </p:sp>
      <p:pic>
        <p:nvPicPr>
          <p:cNvPr id="14339" name="Picture 1029">
            <a:extLst>
              <a:ext uri="{FF2B5EF4-FFF2-40B4-BE49-F238E27FC236}">
                <a16:creationId xmlns:a16="http://schemas.microsoft.com/office/drawing/2014/main" id="{40A7FEED-3424-11B1-EB5A-84BCB71AC74C}"/>
              </a:ext>
            </a:extLst>
          </p:cNvPr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50"/>
          <a:stretch>
            <a:fillRect/>
          </a:stretch>
        </p:blipFill>
        <p:spPr>
          <a:xfrm>
            <a:off x="457200" y="1703388"/>
            <a:ext cx="3757613" cy="4221162"/>
          </a:xfrm>
        </p:spPr>
      </p:pic>
      <p:sp>
        <p:nvSpPr>
          <p:cNvPr id="112643" name="Rectangle 1027">
            <a:extLst>
              <a:ext uri="{FF2B5EF4-FFF2-40B4-BE49-F238E27FC236}">
                <a16:creationId xmlns:a16="http://schemas.microsoft.com/office/drawing/2014/main" id="{70DE2F3E-5472-37F3-EB12-41C60EAE849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267200" y="1447800"/>
            <a:ext cx="4648200" cy="51054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800" b="1"/>
              <a:t>Forced vital capacity (FVC):</a:t>
            </a:r>
          </a:p>
          <a:p>
            <a:pPr lvl="1">
              <a:defRPr/>
            </a:pPr>
            <a:r>
              <a:rPr lang="en-US"/>
              <a:t>Total volume of air that can be exhaled forcefully after a forceful inspiration</a:t>
            </a:r>
          </a:p>
          <a:p>
            <a:pPr lvl="1">
              <a:defRPr/>
            </a:pPr>
            <a:r>
              <a:rPr lang="en-US"/>
              <a:t>can be exhaled in &lt;3 seconds in normal people, but prolonged in obstructive diseases	</a:t>
            </a:r>
          </a:p>
          <a:p>
            <a:pPr lvl="1">
              <a:defRPr/>
            </a:pPr>
            <a:r>
              <a:rPr lang="en-US"/>
              <a:t>Measured in liters (L)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96674F53-C795-2970-C0D2-87BF35441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89038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/>
            </a:br>
            <a:br>
              <a:rPr lang="en-US"/>
            </a:br>
            <a:endParaRPr lang="en-US" sz="3600"/>
          </a:p>
        </p:txBody>
      </p:sp>
      <p:pic>
        <p:nvPicPr>
          <p:cNvPr id="15363" name="Picture 5">
            <a:extLst>
              <a:ext uri="{FF2B5EF4-FFF2-40B4-BE49-F238E27FC236}">
                <a16:creationId xmlns:a16="http://schemas.microsoft.com/office/drawing/2014/main" id="{7BC6C3CF-B7D0-282B-5CD5-869353687A88}"/>
              </a:ext>
            </a:extLst>
          </p:cNvPr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22"/>
          <a:stretch>
            <a:fillRect/>
          </a:stretch>
        </p:blipFill>
        <p:spPr>
          <a:xfrm>
            <a:off x="457200" y="1620838"/>
            <a:ext cx="3603625" cy="4043362"/>
          </a:xfrm>
        </p:spPr>
      </p:pic>
      <p:sp>
        <p:nvSpPr>
          <p:cNvPr id="113667" name="Rectangle 3">
            <a:extLst>
              <a:ext uri="{FF2B5EF4-FFF2-40B4-BE49-F238E27FC236}">
                <a16:creationId xmlns:a16="http://schemas.microsoft.com/office/drawing/2014/main" id="{9D6D7A2C-6DA0-E3EA-1DB5-1D9855D2E75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137025" y="1600200"/>
            <a:ext cx="5006975" cy="5105400"/>
          </a:xfrm>
        </p:spPr>
        <p:txBody>
          <a:bodyPr>
            <a:normAutofit lnSpcReduction="10000"/>
          </a:bodyPr>
          <a:lstStyle/>
          <a:p>
            <a:pPr lvl="1">
              <a:lnSpc>
                <a:spcPct val="90000"/>
              </a:lnSpc>
              <a:defRPr/>
            </a:pPr>
            <a:endParaRPr lang="en-US" sz="2400"/>
          </a:p>
          <a:p>
            <a:pPr lvl="1">
              <a:lnSpc>
                <a:spcPct val="90000"/>
              </a:lnSpc>
              <a:defRPr/>
            </a:pPr>
            <a:r>
              <a:rPr lang="en-US"/>
              <a:t>Volume of air forcefully expired from full inflation (TLC) in the first second</a:t>
            </a:r>
          </a:p>
          <a:p>
            <a:pPr lvl="1">
              <a:lnSpc>
                <a:spcPct val="90000"/>
              </a:lnSpc>
              <a:defRPr/>
            </a:pPr>
            <a:endParaRPr lang="en-US"/>
          </a:p>
          <a:p>
            <a:pPr lvl="1">
              <a:lnSpc>
                <a:spcPct val="90000"/>
              </a:lnSpc>
              <a:defRPr/>
            </a:pPr>
            <a:r>
              <a:rPr lang="en-US"/>
              <a:t>Measured in liters (L)</a:t>
            </a:r>
          </a:p>
          <a:p>
            <a:pPr lvl="1">
              <a:lnSpc>
                <a:spcPct val="90000"/>
              </a:lnSpc>
              <a:defRPr/>
            </a:pPr>
            <a:endParaRPr lang="en-US"/>
          </a:p>
          <a:p>
            <a:pPr lvl="1">
              <a:lnSpc>
                <a:spcPct val="90000"/>
              </a:lnSpc>
              <a:defRPr/>
            </a:pPr>
            <a:r>
              <a:rPr lang="en-US"/>
              <a:t>more than 75-80% of FVC in the first second;</a:t>
            </a:r>
          </a:p>
          <a:p>
            <a:pPr lvl="1">
              <a:lnSpc>
                <a:spcPct val="90000"/>
              </a:lnSpc>
              <a:defRPr/>
            </a:pPr>
            <a:endParaRPr lang="en-US"/>
          </a:p>
          <a:p>
            <a:pPr lvl="1">
              <a:lnSpc>
                <a:spcPct val="90000"/>
              </a:lnSpc>
              <a:defRPr/>
            </a:pPr>
            <a:r>
              <a:rPr lang="en-US"/>
              <a:t>the FEV1/FVC utilized to characterize lung disease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6603B6-D970-ED88-59D1-33A9EC7693A7}"/>
              </a:ext>
            </a:extLst>
          </p:cNvPr>
          <p:cNvSpPr/>
          <p:nvPr/>
        </p:nvSpPr>
        <p:spPr>
          <a:xfrm>
            <a:off x="0" y="200025"/>
            <a:ext cx="8991600" cy="13239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Rockwell"/>
              </a:rPr>
              <a:t>Forced expiratory volume in 1 second: (FEV</a:t>
            </a:r>
            <a:r>
              <a:rPr lang="en-US" sz="4000" b="1" baseline="-25000" dirty="0">
                <a:latin typeface="Rockwell"/>
              </a:rPr>
              <a:t>1</a:t>
            </a:r>
            <a:r>
              <a:rPr lang="en-US" sz="4000" b="1" dirty="0">
                <a:latin typeface="Rockwell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176" name="Rectangle 92175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7" name="Rectangle 92176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8" y="0"/>
            <a:ext cx="3486126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C71382B0-BC72-9504-2DE8-2D701C707BE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82601" y="643466"/>
            <a:ext cx="2764734" cy="5528734"/>
          </a:xfrm>
        </p:spPr>
        <p:txBody>
          <a:bodyPr>
            <a:normAutofit/>
          </a:bodyPr>
          <a:lstStyle/>
          <a:p>
            <a:pPr algn="r">
              <a:defRPr/>
            </a:pPr>
            <a:r>
              <a:rPr lang="en-US">
                <a:solidFill>
                  <a:srgbClr val="FFFFFF"/>
                </a:solidFill>
                <a:latin typeface="Rockwell Condensed"/>
                <a:cs typeface="Times New Roman"/>
              </a:rPr>
              <a:t>Total  And  Alveolar Ventilation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61B10034-BC58-A658-061C-19F83DCDC30A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3489253" y="465952"/>
            <a:ext cx="5871692" cy="59961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  <a:defRPr/>
            </a:pPr>
            <a:r>
              <a:rPr lang="en-US" sz="1800" b="1" dirty="0">
                <a:latin typeface="Rockwell"/>
                <a:cs typeface="Times New Roman"/>
              </a:rPr>
              <a:t>TOTAL VENTILATION/ MINUTE VOLUME</a:t>
            </a:r>
            <a:endParaRPr lang="en-US" sz="1800"/>
          </a:p>
          <a:p>
            <a:pPr>
              <a:defRPr/>
            </a:pPr>
            <a:endParaRPr lang="en-US" sz="1800" b="1" dirty="0">
              <a:latin typeface="Rockwell"/>
              <a:cs typeface="Times New Roman" pitchFamily="18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800" dirty="0">
                <a:latin typeface="Rockwell"/>
                <a:cs typeface="Times New Roman"/>
              </a:rPr>
              <a:t> Volume of air entering or leaving lungs each minute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>
                <a:latin typeface="Rockwell"/>
                <a:cs typeface="Times New Roman"/>
              </a:rPr>
              <a:t>        V = Respiration rate  x  Tidal volume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>
                <a:latin typeface="Rockwell"/>
                <a:cs typeface="Times New Roman"/>
              </a:rPr>
              <a:t>                       12   x  500ml   =  6 L / min</a:t>
            </a:r>
          </a:p>
          <a:p>
            <a:pPr>
              <a:buFont typeface="Wingdings" pitchFamily="2" charset="2"/>
              <a:buNone/>
              <a:defRPr/>
            </a:pPr>
            <a:endParaRPr lang="en-US" sz="1800" dirty="0">
              <a:latin typeface="Rockwell"/>
              <a:cs typeface="Times New Roman" pitchFamily="18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800" dirty="0">
                <a:latin typeface="Rockwell"/>
                <a:cs typeface="Times New Roman"/>
              </a:rPr>
              <a:t> </a:t>
            </a:r>
            <a:r>
              <a:rPr lang="en-US" sz="1800" b="1" dirty="0">
                <a:latin typeface="Rockwell"/>
                <a:cs typeface="Times New Roman"/>
              </a:rPr>
              <a:t>ALVEOLAR  VENTILATION</a:t>
            </a:r>
          </a:p>
          <a:p>
            <a:pPr>
              <a:buFont typeface="Wingdings" pitchFamily="2" charset="2"/>
              <a:buNone/>
              <a:defRPr/>
            </a:pPr>
            <a:endParaRPr lang="en-US" sz="1800" b="1" dirty="0">
              <a:latin typeface="Rockwell"/>
              <a:cs typeface="Times New Roman" pitchFamily="18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800" dirty="0">
                <a:latin typeface="Rockwell"/>
                <a:cs typeface="Times New Roman"/>
              </a:rPr>
              <a:t> Volume of fresh air entering each minute into the respiratory zone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>
                <a:latin typeface="Rockwell"/>
                <a:cs typeface="Times New Roman"/>
              </a:rPr>
              <a:t>        V A =  Respiratory rate  x   ( V T – V D 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>
                <a:latin typeface="Rockwell"/>
                <a:cs typeface="Times New Roman"/>
              </a:rPr>
              <a:t>                    V T  = tidal volume  = 500ml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>
                <a:latin typeface="Rockwell"/>
                <a:cs typeface="Times New Roman"/>
              </a:rPr>
              <a:t>                    V D  = dead space volume = 150 ml </a:t>
            </a:r>
          </a:p>
          <a:p>
            <a:pPr>
              <a:buFont typeface="Wingdings" pitchFamily="2" charset="2"/>
              <a:buNone/>
              <a:defRPr/>
            </a:pPr>
            <a:endParaRPr lang="en-US" sz="1800" dirty="0">
              <a:latin typeface="Rockwell"/>
              <a:cs typeface="Times New Roman" pitchFamily="18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800" dirty="0">
                <a:latin typeface="Rockwell"/>
                <a:cs typeface="Times New Roman"/>
              </a:rPr>
              <a:t>        V A =  12  x   ( 500 – 150 ) </a:t>
            </a:r>
          </a:p>
          <a:p>
            <a:pPr>
              <a:buFont typeface="Wingdings" pitchFamily="2" charset="2"/>
              <a:buNone/>
              <a:defRPr/>
            </a:pPr>
            <a:endParaRPr lang="en-US" sz="1800" dirty="0">
              <a:latin typeface="Rockwell"/>
              <a:cs typeface="Times New Roman" pitchFamily="18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800" dirty="0">
                <a:latin typeface="Rockwell"/>
                <a:cs typeface="Times New Roman"/>
              </a:rPr>
              <a:t>                = 4.2 L min </a:t>
            </a:r>
          </a:p>
        </p:txBody>
      </p:sp>
      <p:sp>
        <p:nvSpPr>
          <p:cNvPr id="92178" name="Oval 92177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92179" name="Oval 92178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418E3CF0-20EF-246B-0E9F-93373621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3346" y="6272784"/>
            <a:ext cx="48006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fld id="{D8764F32-5317-4FCE-BE75-77912C937A0F}" type="slidenum">
              <a:rPr lang="en-US" altLang="en-US"/>
              <a:pPr eaLnBrk="1" hangingPunct="1">
                <a:spcAft>
                  <a:spcPts val="600"/>
                </a:spcAft>
              </a:pPr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192" name="Rectangle 93191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194" name="Rectangle 93193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8" y="0"/>
            <a:ext cx="3486126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2CF0D0B2-B056-BC87-D1F2-551387C7C75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82601" y="643466"/>
            <a:ext cx="2764734" cy="5528734"/>
          </a:xfrm>
        </p:spPr>
        <p:txBody>
          <a:bodyPr>
            <a:normAutofit/>
          </a:bodyPr>
          <a:lstStyle/>
          <a:p>
            <a:pPr algn="r">
              <a:defRPr/>
            </a:pPr>
            <a:r>
              <a:rPr lang="en-US" sz="3600" b="1">
                <a:solidFill>
                  <a:srgbClr val="FFFFFF"/>
                </a:solidFill>
              </a:rPr>
              <a:t>ALVEOLAR VENTILATION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A6F158F4-51BD-C48B-2F12-4F3E9CBF9D2A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3790335" y="599768"/>
            <a:ext cx="4555850" cy="5572432"/>
          </a:xfrm>
        </p:spPr>
        <p:txBody>
          <a:bodyPr anchor="ctr"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Determines O</a:t>
            </a:r>
            <a:r>
              <a:rPr lang="en-US" baseline="-25000"/>
              <a:t>2</a:t>
            </a:r>
            <a:r>
              <a:rPr lang="en-US"/>
              <a:t> and CO</a:t>
            </a:r>
            <a:r>
              <a:rPr lang="en-US" baseline="-25000"/>
              <a:t>2</a:t>
            </a:r>
            <a:r>
              <a:rPr lang="en-US"/>
              <a:t> concentration in alveoli (PO</a:t>
            </a:r>
            <a:r>
              <a:rPr lang="en-US" baseline="-25000"/>
              <a:t>2</a:t>
            </a:r>
            <a:r>
              <a:rPr lang="en-US"/>
              <a:t> , PCO</a:t>
            </a:r>
            <a:r>
              <a:rPr lang="en-US" baseline="-25000"/>
              <a:t>2</a:t>
            </a:r>
            <a:r>
              <a:rPr lang="en-US"/>
              <a:t>) </a:t>
            </a:r>
          </a:p>
          <a:p>
            <a:pPr>
              <a:defRPr/>
            </a:pPr>
            <a:r>
              <a:rPr lang="en-US"/>
              <a:t>Slow rate of renewal of alveolar air 50% in 17 seconds</a:t>
            </a:r>
          </a:p>
          <a:p>
            <a:pPr>
              <a:defRPr/>
            </a:pPr>
            <a:r>
              <a:rPr lang="en-US"/>
              <a:t>Influenced by rate and depth of breathing </a:t>
            </a:r>
          </a:p>
          <a:p>
            <a:pPr>
              <a:defRPr/>
            </a:pPr>
            <a:r>
              <a:rPr lang="en-US"/>
              <a:t>Also influenced by dead space volume </a:t>
            </a:r>
          </a:p>
          <a:p>
            <a:pPr>
              <a:defRPr/>
            </a:pPr>
            <a:r>
              <a:rPr lang="en-US"/>
              <a:t>Hypoventilation -decreasedO</a:t>
            </a:r>
            <a:r>
              <a:rPr lang="en-US" baseline="-25000"/>
              <a:t>2</a:t>
            </a:r>
            <a:r>
              <a:rPr lang="en-US"/>
              <a:t>, increased CO</a:t>
            </a:r>
            <a:r>
              <a:rPr lang="en-US" baseline="-25000"/>
              <a:t>2</a:t>
            </a:r>
            <a:endParaRPr lang="en-US"/>
          </a:p>
          <a:p>
            <a:pPr>
              <a:defRPr/>
            </a:pPr>
            <a:r>
              <a:rPr lang="en-US"/>
              <a:t>Hyperventilation-increased O</a:t>
            </a:r>
            <a:r>
              <a:rPr lang="en-US" baseline="-25000"/>
              <a:t>2</a:t>
            </a:r>
            <a:r>
              <a:rPr lang="en-US"/>
              <a:t>, decreased CO</a:t>
            </a:r>
            <a:r>
              <a:rPr lang="en-US" baseline="-25000"/>
              <a:t>2</a:t>
            </a:r>
          </a:p>
        </p:txBody>
      </p:sp>
      <p:sp>
        <p:nvSpPr>
          <p:cNvPr id="93196" name="Oval 93195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93198" name="Oval 93197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B09F12C5-DDED-FAE6-86D7-42E7DDEB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3346" y="6272784"/>
            <a:ext cx="48006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fld id="{AAAA5619-1716-4175-9D13-9E7A3F0EC8CA}" type="slidenum">
              <a:rPr lang="en-US" altLang="en-US"/>
              <a:pPr eaLnBrk="1" hangingPunct="1">
                <a:spcAft>
                  <a:spcPts val="600"/>
                </a:spcAft>
              </a:pPr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59176" name="Rectangle 1159175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9178" name="Rectangle 1159177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8" y="0"/>
            <a:ext cx="3486126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1159170" name="Rectangle 2">
            <a:extLst>
              <a:ext uri="{FF2B5EF4-FFF2-40B4-BE49-F238E27FC236}">
                <a16:creationId xmlns:a16="http://schemas.microsoft.com/office/drawing/2014/main" id="{7EB50B66-0AE5-674C-8FF5-F55E0FB16B7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82601" y="643466"/>
            <a:ext cx="2764734" cy="5528734"/>
          </a:xfrm>
        </p:spPr>
        <p:txBody>
          <a:bodyPr>
            <a:normAutofit/>
          </a:bodyPr>
          <a:lstStyle/>
          <a:p>
            <a:pPr algn="r"/>
            <a:r>
              <a:rPr lang="en-US" altLang="zh-CN">
                <a:solidFill>
                  <a:srgbClr val="FFFFFF"/>
                </a:solidFill>
                <a:ea typeface="宋体" panose="02010600030101010101" pitchFamily="2" charset="-122"/>
              </a:rPr>
              <a:t>Minute and Alveolar Ventilation</a:t>
            </a:r>
          </a:p>
        </p:txBody>
      </p:sp>
      <p:sp>
        <p:nvSpPr>
          <p:cNvPr id="1159171" name="Rectangle 3">
            <a:extLst>
              <a:ext uri="{FF2B5EF4-FFF2-40B4-BE49-F238E27FC236}">
                <a16:creationId xmlns:a16="http://schemas.microsoft.com/office/drawing/2014/main" id="{ABD4311B-6EB7-CC86-C901-B41924F56B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90335" y="599768"/>
            <a:ext cx="4555850" cy="5572432"/>
          </a:xfrm>
        </p:spPr>
        <p:txBody>
          <a:bodyPr anchor="ctr">
            <a:normAutofit/>
          </a:bodyPr>
          <a:lstStyle/>
          <a:p>
            <a:pPr>
              <a:buClr>
                <a:schemeClr val="tx1"/>
              </a:buClr>
            </a:pPr>
            <a:r>
              <a:rPr lang="en-US" altLang="zh-CN" b="1" dirty="0">
                <a:ea typeface="宋体"/>
              </a:rPr>
              <a:t>Minute ventilation</a:t>
            </a:r>
            <a:r>
              <a:rPr lang="en-US" altLang="zh-CN" dirty="0">
                <a:ea typeface="宋体"/>
              </a:rPr>
              <a:t>: Total amount of air moved into and out of respiratory system per minute</a:t>
            </a:r>
          </a:p>
          <a:p>
            <a:pPr>
              <a:buClr>
                <a:schemeClr val="tx1"/>
              </a:buClr>
            </a:pPr>
            <a:r>
              <a:rPr lang="en-US" altLang="zh-CN" b="1" dirty="0">
                <a:ea typeface="宋体"/>
              </a:rPr>
              <a:t>Respiratory rate or frequency:</a:t>
            </a:r>
            <a:r>
              <a:rPr lang="en-US" altLang="zh-CN" u="sng" dirty="0">
                <a:ea typeface="宋体"/>
              </a:rPr>
              <a:t> </a:t>
            </a:r>
            <a:r>
              <a:rPr lang="en-US" altLang="zh-CN" dirty="0">
                <a:ea typeface="宋体"/>
              </a:rPr>
              <a:t>Number of breaths taken per minute</a:t>
            </a:r>
          </a:p>
          <a:p>
            <a:pPr>
              <a:buClr>
                <a:schemeClr val="tx1"/>
              </a:buClr>
            </a:pPr>
            <a:r>
              <a:rPr lang="en-US" altLang="zh-CN" b="1" dirty="0">
                <a:ea typeface="宋体"/>
              </a:rPr>
              <a:t>Alveolar ventilation</a:t>
            </a:r>
            <a:r>
              <a:rPr lang="en-US" altLang="zh-CN" dirty="0">
                <a:ea typeface="宋体"/>
              </a:rPr>
              <a:t>: How much air per minute enters the parts of the respiratory system in which gas </a:t>
            </a:r>
            <a:r>
              <a:rPr lang="en-US" altLang="zh-CN">
                <a:ea typeface="宋体"/>
              </a:rPr>
              <a:t>exchange takes place</a:t>
            </a:r>
          </a:p>
        </p:txBody>
      </p:sp>
      <p:sp>
        <p:nvSpPr>
          <p:cNvPr id="1159180" name="Oval 1159179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159182" name="Oval 1159181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5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59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59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59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9170" grpId="0"/>
      <p:bldP spid="115917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5" descr="28">
            <a:extLst>
              <a:ext uri="{FF2B5EF4-FFF2-40B4-BE49-F238E27FC236}">
                <a16:creationId xmlns:a16="http://schemas.microsoft.com/office/drawing/2014/main" id="{4178A02F-2F2B-FE2F-29C9-3E81557C9E8A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968" y="493776"/>
            <a:ext cx="6608064" cy="5413248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24752DB7-8141-8D1B-68DE-264C1E591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9144000" cy="5343525"/>
          </a:xfrm>
          <a:prstGeom prst="rect">
            <a:avLst/>
          </a:prstGeom>
          <a:solidFill>
            <a:srgbClr val="92D05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Oval 95" descr="20%">
            <a:extLst>
              <a:ext uri="{FF2B5EF4-FFF2-40B4-BE49-F238E27FC236}">
                <a16:creationId xmlns:a16="http://schemas.microsoft.com/office/drawing/2014/main" id="{E3FA667D-66B9-4A91-7967-0E28114F6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6513" y="3400425"/>
            <a:ext cx="2473325" cy="2563813"/>
          </a:xfrm>
          <a:prstGeom prst="ellipse">
            <a:avLst/>
          </a:prstGeom>
          <a:pattFill prst="pct20">
            <a:fgClr>
              <a:srgbClr val="FF0000"/>
            </a:fgClr>
            <a:bgClr>
              <a:srgbClr val="FFFFFF"/>
            </a:bgClr>
          </a:patt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07" name="Line 96">
            <a:extLst>
              <a:ext uri="{FF2B5EF4-FFF2-40B4-BE49-F238E27FC236}">
                <a16:creationId xmlns:a16="http://schemas.microsoft.com/office/drawing/2014/main" id="{8A1BA61F-D714-C511-C239-628DBB4CE3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83150" y="1030288"/>
            <a:ext cx="0" cy="24050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8" name="Line 97">
            <a:extLst>
              <a:ext uri="{FF2B5EF4-FFF2-40B4-BE49-F238E27FC236}">
                <a16:creationId xmlns:a16="http://schemas.microsoft.com/office/drawing/2014/main" id="{33C72E0B-7674-862F-3A1C-A66A368968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24475" y="996950"/>
            <a:ext cx="0" cy="2427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Freeform 98">
            <a:extLst>
              <a:ext uri="{FF2B5EF4-FFF2-40B4-BE49-F238E27FC236}">
                <a16:creationId xmlns:a16="http://schemas.microsoft.com/office/drawing/2014/main" id="{9D35A8B4-F15C-D5A5-07A4-EFF1BE906FE1}"/>
              </a:ext>
            </a:extLst>
          </p:cNvPr>
          <p:cNvSpPr>
            <a:spLocks/>
          </p:cNvSpPr>
          <p:nvPr/>
        </p:nvSpPr>
        <p:spPr bwMode="auto">
          <a:xfrm>
            <a:off x="1219200" y="1039813"/>
            <a:ext cx="427038" cy="779462"/>
          </a:xfrm>
          <a:custGeom>
            <a:avLst/>
            <a:gdLst>
              <a:gd name="T0" fmla="*/ 425629 w 303"/>
              <a:gd name="T1" fmla="*/ 0 h 491"/>
              <a:gd name="T2" fmla="*/ 425629 w 303"/>
              <a:gd name="T3" fmla="*/ 539750 h 491"/>
              <a:gd name="T4" fmla="*/ 0 w 303"/>
              <a:gd name="T5" fmla="*/ 777875 h 491"/>
              <a:gd name="T6" fmla="*/ 425629 w 303"/>
              <a:gd name="T7" fmla="*/ 0 h 491"/>
              <a:gd name="T8" fmla="*/ 0 60000 65536"/>
              <a:gd name="T9" fmla="*/ 0 60000 65536"/>
              <a:gd name="T10" fmla="*/ 0 60000 65536"/>
              <a:gd name="T11" fmla="*/ 0 60000 65536"/>
              <a:gd name="T12" fmla="*/ 0 w 303"/>
              <a:gd name="T13" fmla="*/ 0 h 491"/>
              <a:gd name="T14" fmla="*/ 303 w 303"/>
              <a:gd name="T15" fmla="*/ 491 h 4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3" h="491">
                <a:moveTo>
                  <a:pt x="302" y="0"/>
                </a:moveTo>
                <a:lnTo>
                  <a:pt x="302" y="340"/>
                </a:lnTo>
                <a:lnTo>
                  <a:pt x="0" y="490"/>
                </a:lnTo>
                <a:lnTo>
                  <a:pt x="30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10" name="Freeform 99">
            <a:extLst>
              <a:ext uri="{FF2B5EF4-FFF2-40B4-BE49-F238E27FC236}">
                <a16:creationId xmlns:a16="http://schemas.microsoft.com/office/drawing/2014/main" id="{11F2BF7B-6A0B-86CB-8723-048478A6F26C}"/>
              </a:ext>
            </a:extLst>
          </p:cNvPr>
          <p:cNvSpPr>
            <a:spLocks/>
          </p:cNvSpPr>
          <p:nvPr/>
        </p:nvSpPr>
        <p:spPr bwMode="auto">
          <a:xfrm>
            <a:off x="1219200" y="1039813"/>
            <a:ext cx="442913" cy="795337"/>
          </a:xfrm>
          <a:custGeom>
            <a:avLst/>
            <a:gdLst>
              <a:gd name="T0" fmla="*/ 441498 w 313"/>
              <a:gd name="T1" fmla="*/ 0 h 501"/>
              <a:gd name="T2" fmla="*/ 441498 w 313"/>
              <a:gd name="T3" fmla="*/ 550862 h 501"/>
              <a:gd name="T4" fmla="*/ 0 w 313"/>
              <a:gd name="T5" fmla="*/ 793750 h 501"/>
              <a:gd name="T6" fmla="*/ 0 60000 65536"/>
              <a:gd name="T7" fmla="*/ 0 60000 65536"/>
              <a:gd name="T8" fmla="*/ 0 60000 65536"/>
              <a:gd name="T9" fmla="*/ 0 w 313"/>
              <a:gd name="T10" fmla="*/ 0 h 501"/>
              <a:gd name="T11" fmla="*/ 313 w 313"/>
              <a:gd name="T12" fmla="*/ 501 h 50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3" h="501">
                <a:moveTo>
                  <a:pt x="312" y="0"/>
                </a:moveTo>
                <a:lnTo>
                  <a:pt x="312" y="347"/>
                </a:lnTo>
                <a:lnTo>
                  <a:pt x="0" y="50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11" name="Freeform 100">
            <a:extLst>
              <a:ext uri="{FF2B5EF4-FFF2-40B4-BE49-F238E27FC236}">
                <a16:creationId xmlns:a16="http://schemas.microsoft.com/office/drawing/2014/main" id="{617D139B-5001-9505-6751-0E0FCC8AB04D}"/>
              </a:ext>
            </a:extLst>
          </p:cNvPr>
          <p:cNvSpPr>
            <a:spLocks/>
          </p:cNvSpPr>
          <p:nvPr/>
        </p:nvSpPr>
        <p:spPr bwMode="auto">
          <a:xfrm>
            <a:off x="1987550" y="1031875"/>
            <a:ext cx="428625" cy="776288"/>
          </a:xfrm>
          <a:custGeom>
            <a:avLst/>
            <a:gdLst>
              <a:gd name="T0" fmla="*/ 0 w 303"/>
              <a:gd name="T1" fmla="*/ 0 h 489"/>
              <a:gd name="T2" fmla="*/ 0 w 303"/>
              <a:gd name="T3" fmla="*/ 539750 h 489"/>
              <a:gd name="T4" fmla="*/ 427210 w 303"/>
              <a:gd name="T5" fmla="*/ 774700 h 489"/>
              <a:gd name="T6" fmla="*/ 0 w 303"/>
              <a:gd name="T7" fmla="*/ 0 h 489"/>
              <a:gd name="T8" fmla="*/ 0 60000 65536"/>
              <a:gd name="T9" fmla="*/ 0 60000 65536"/>
              <a:gd name="T10" fmla="*/ 0 60000 65536"/>
              <a:gd name="T11" fmla="*/ 0 60000 65536"/>
              <a:gd name="T12" fmla="*/ 0 w 303"/>
              <a:gd name="T13" fmla="*/ 0 h 489"/>
              <a:gd name="T14" fmla="*/ 303 w 303"/>
              <a:gd name="T15" fmla="*/ 489 h 4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3" h="489">
                <a:moveTo>
                  <a:pt x="0" y="0"/>
                </a:moveTo>
                <a:lnTo>
                  <a:pt x="0" y="340"/>
                </a:lnTo>
                <a:lnTo>
                  <a:pt x="302" y="4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12" name="Freeform 101">
            <a:extLst>
              <a:ext uri="{FF2B5EF4-FFF2-40B4-BE49-F238E27FC236}">
                <a16:creationId xmlns:a16="http://schemas.microsoft.com/office/drawing/2014/main" id="{E32E0E16-AEE9-F080-BEB4-A104EA011F48}"/>
              </a:ext>
            </a:extLst>
          </p:cNvPr>
          <p:cNvSpPr>
            <a:spLocks/>
          </p:cNvSpPr>
          <p:nvPr/>
        </p:nvSpPr>
        <p:spPr bwMode="auto">
          <a:xfrm>
            <a:off x="1987550" y="1031875"/>
            <a:ext cx="442913" cy="792163"/>
          </a:xfrm>
          <a:custGeom>
            <a:avLst/>
            <a:gdLst>
              <a:gd name="T0" fmla="*/ 0 w 313"/>
              <a:gd name="T1" fmla="*/ 0 h 499"/>
              <a:gd name="T2" fmla="*/ 0 w 313"/>
              <a:gd name="T3" fmla="*/ 550863 h 499"/>
              <a:gd name="T4" fmla="*/ 441498 w 313"/>
              <a:gd name="T5" fmla="*/ 790575 h 499"/>
              <a:gd name="T6" fmla="*/ 0 60000 65536"/>
              <a:gd name="T7" fmla="*/ 0 60000 65536"/>
              <a:gd name="T8" fmla="*/ 0 60000 65536"/>
              <a:gd name="T9" fmla="*/ 0 w 313"/>
              <a:gd name="T10" fmla="*/ 0 h 499"/>
              <a:gd name="T11" fmla="*/ 313 w 313"/>
              <a:gd name="T12" fmla="*/ 499 h 4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3" h="499">
                <a:moveTo>
                  <a:pt x="0" y="0"/>
                </a:moveTo>
                <a:lnTo>
                  <a:pt x="0" y="347"/>
                </a:lnTo>
                <a:lnTo>
                  <a:pt x="312" y="498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13" name="Line 102">
            <a:extLst>
              <a:ext uri="{FF2B5EF4-FFF2-40B4-BE49-F238E27FC236}">
                <a16:creationId xmlns:a16="http://schemas.microsoft.com/office/drawing/2014/main" id="{E0BC67A9-1253-D37F-4633-23B859A506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3350" y="1681163"/>
            <a:ext cx="444500" cy="214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Line 103">
            <a:extLst>
              <a:ext uri="{FF2B5EF4-FFF2-40B4-BE49-F238E27FC236}">
                <a16:creationId xmlns:a16="http://schemas.microsoft.com/office/drawing/2014/main" id="{B6B5C21C-2E29-BD5F-6EA1-DC3BD96F72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2613" y="1681163"/>
            <a:ext cx="398462" cy="214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Freeform 104">
            <a:extLst>
              <a:ext uri="{FF2B5EF4-FFF2-40B4-BE49-F238E27FC236}">
                <a16:creationId xmlns:a16="http://schemas.microsoft.com/office/drawing/2014/main" id="{2E3415FD-AF8E-5FC5-FD71-741343CC492B}"/>
              </a:ext>
            </a:extLst>
          </p:cNvPr>
          <p:cNvSpPr>
            <a:spLocks/>
          </p:cNvSpPr>
          <p:nvPr/>
        </p:nvSpPr>
        <p:spPr bwMode="auto">
          <a:xfrm>
            <a:off x="2208213" y="1916113"/>
            <a:ext cx="101600" cy="398462"/>
          </a:xfrm>
          <a:custGeom>
            <a:avLst/>
            <a:gdLst>
              <a:gd name="T0" fmla="*/ 47223 w 71"/>
              <a:gd name="T1" fmla="*/ 0 h 251"/>
              <a:gd name="T2" fmla="*/ 100169 w 71"/>
              <a:gd name="T3" fmla="*/ 241300 h 251"/>
              <a:gd name="T4" fmla="*/ 0 w 71"/>
              <a:gd name="T5" fmla="*/ 396875 h 251"/>
              <a:gd name="T6" fmla="*/ 47223 w 71"/>
              <a:gd name="T7" fmla="*/ 0 h 251"/>
              <a:gd name="T8" fmla="*/ 0 60000 65536"/>
              <a:gd name="T9" fmla="*/ 0 60000 65536"/>
              <a:gd name="T10" fmla="*/ 0 60000 65536"/>
              <a:gd name="T11" fmla="*/ 0 60000 65536"/>
              <a:gd name="T12" fmla="*/ 0 w 71"/>
              <a:gd name="T13" fmla="*/ 0 h 251"/>
              <a:gd name="T14" fmla="*/ 71 w 71"/>
              <a:gd name="T15" fmla="*/ 251 h 25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1" h="251">
                <a:moveTo>
                  <a:pt x="33" y="0"/>
                </a:moveTo>
                <a:lnTo>
                  <a:pt x="70" y="152"/>
                </a:lnTo>
                <a:lnTo>
                  <a:pt x="0" y="250"/>
                </a:lnTo>
                <a:lnTo>
                  <a:pt x="3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16" name="Freeform 105">
            <a:extLst>
              <a:ext uri="{FF2B5EF4-FFF2-40B4-BE49-F238E27FC236}">
                <a16:creationId xmlns:a16="http://schemas.microsoft.com/office/drawing/2014/main" id="{EF9E465B-68BC-1A5C-A917-8090D90EE7D4}"/>
              </a:ext>
            </a:extLst>
          </p:cNvPr>
          <p:cNvSpPr>
            <a:spLocks/>
          </p:cNvSpPr>
          <p:nvPr/>
        </p:nvSpPr>
        <p:spPr bwMode="auto">
          <a:xfrm>
            <a:off x="2208213" y="1916113"/>
            <a:ext cx="114300" cy="414337"/>
          </a:xfrm>
          <a:custGeom>
            <a:avLst/>
            <a:gdLst>
              <a:gd name="T0" fmla="*/ 53622 w 81"/>
              <a:gd name="T1" fmla="*/ 0 h 261"/>
              <a:gd name="T2" fmla="*/ 112889 w 81"/>
              <a:gd name="T3" fmla="*/ 250825 h 261"/>
              <a:gd name="T4" fmla="*/ 0 w 81"/>
              <a:gd name="T5" fmla="*/ 412750 h 261"/>
              <a:gd name="T6" fmla="*/ 0 60000 65536"/>
              <a:gd name="T7" fmla="*/ 0 60000 65536"/>
              <a:gd name="T8" fmla="*/ 0 60000 65536"/>
              <a:gd name="T9" fmla="*/ 0 w 81"/>
              <a:gd name="T10" fmla="*/ 0 h 261"/>
              <a:gd name="T11" fmla="*/ 81 w 81"/>
              <a:gd name="T12" fmla="*/ 261 h 2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" h="261">
                <a:moveTo>
                  <a:pt x="38" y="0"/>
                </a:moveTo>
                <a:lnTo>
                  <a:pt x="80" y="158"/>
                </a:lnTo>
                <a:lnTo>
                  <a:pt x="0" y="26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17" name="Line 106">
            <a:extLst>
              <a:ext uri="{FF2B5EF4-FFF2-40B4-BE49-F238E27FC236}">
                <a16:creationId xmlns:a16="http://schemas.microsoft.com/office/drawing/2014/main" id="{32C419C5-6064-E8CE-0BE7-663EB21860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0463" y="1831975"/>
            <a:ext cx="209550" cy="33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Freeform 107">
            <a:extLst>
              <a:ext uri="{FF2B5EF4-FFF2-40B4-BE49-F238E27FC236}">
                <a16:creationId xmlns:a16="http://schemas.microsoft.com/office/drawing/2014/main" id="{D4A2131A-0B7A-8965-7DE7-757323AD89C3}"/>
              </a:ext>
            </a:extLst>
          </p:cNvPr>
          <p:cNvSpPr>
            <a:spLocks/>
          </p:cNvSpPr>
          <p:nvPr/>
        </p:nvSpPr>
        <p:spPr bwMode="auto">
          <a:xfrm>
            <a:off x="2393950" y="1920875"/>
            <a:ext cx="217488" cy="349250"/>
          </a:xfrm>
          <a:custGeom>
            <a:avLst/>
            <a:gdLst>
              <a:gd name="T0" fmla="*/ 193480 w 154"/>
              <a:gd name="T1" fmla="*/ 82550 h 220"/>
              <a:gd name="T2" fmla="*/ 0 w 154"/>
              <a:gd name="T3" fmla="*/ 0 h 220"/>
              <a:gd name="T4" fmla="*/ 55078 w 154"/>
              <a:gd name="T5" fmla="*/ 190500 h 220"/>
              <a:gd name="T6" fmla="*/ 216076 w 154"/>
              <a:gd name="T7" fmla="*/ 347663 h 220"/>
              <a:gd name="T8" fmla="*/ 193480 w 154"/>
              <a:gd name="T9" fmla="*/ 82550 h 2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4"/>
              <a:gd name="T16" fmla="*/ 0 h 220"/>
              <a:gd name="T17" fmla="*/ 154 w 154"/>
              <a:gd name="T18" fmla="*/ 220 h 2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4" h="220">
                <a:moveTo>
                  <a:pt x="137" y="52"/>
                </a:moveTo>
                <a:lnTo>
                  <a:pt x="0" y="0"/>
                </a:lnTo>
                <a:lnTo>
                  <a:pt x="39" y="120"/>
                </a:lnTo>
                <a:lnTo>
                  <a:pt x="153" y="219"/>
                </a:lnTo>
                <a:lnTo>
                  <a:pt x="137" y="5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19" name="Freeform 108">
            <a:extLst>
              <a:ext uri="{FF2B5EF4-FFF2-40B4-BE49-F238E27FC236}">
                <a16:creationId xmlns:a16="http://schemas.microsoft.com/office/drawing/2014/main" id="{9D9909BF-86C9-E46B-5555-27896BBB80B8}"/>
              </a:ext>
            </a:extLst>
          </p:cNvPr>
          <p:cNvSpPr>
            <a:spLocks/>
          </p:cNvSpPr>
          <p:nvPr/>
        </p:nvSpPr>
        <p:spPr bwMode="auto">
          <a:xfrm>
            <a:off x="2393950" y="1920875"/>
            <a:ext cx="233363" cy="365125"/>
          </a:xfrm>
          <a:custGeom>
            <a:avLst/>
            <a:gdLst>
              <a:gd name="T0" fmla="*/ 207750 w 164"/>
              <a:gd name="T1" fmla="*/ 85725 h 230"/>
              <a:gd name="T2" fmla="*/ 0 w 164"/>
              <a:gd name="T3" fmla="*/ 0 h 230"/>
              <a:gd name="T4" fmla="*/ 59764 w 164"/>
              <a:gd name="T5" fmla="*/ 198437 h 230"/>
              <a:gd name="T6" fmla="*/ 231940 w 164"/>
              <a:gd name="T7" fmla="*/ 363538 h 230"/>
              <a:gd name="T8" fmla="*/ 0 60000 65536"/>
              <a:gd name="T9" fmla="*/ 0 60000 65536"/>
              <a:gd name="T10" fmla="*/ 0 60000 65536"/>
              <a:gd name="T11" fmla="*/ 0 60000 65536"/>
              <a:gd name="T12" fmla="*/ 0 w 164"/>
              <a:gd name="T13" fmla="*/ 0 h 230"/>
              <a:gd name="T14" fmla="*/ 164 w 164"/>
              <a:gd name="T15" fmla="*/ 230 h 23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4" h="230">
                <a:moveTo>
                  <a:pt x="146" y="54"/>
                </a:moveTo>
                <a:lnTo>
                  <a:pt x="0" y="0"/>
                </a:lnTo>
                <a:lnTo>
                  <a:pt x="42" y="125"/>
                </a:lnTo>
                <a:lnTo>
                  <a:pt x="163" y="229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0" name="Line 109">
            <a:extLst>
              <a:ext uri="{FF2B5EF4-FFF2-40B4-BE49-F238E27FC236}">
                <a16:creationId xmlns:a16="http://schemas.microsoft.com/office/drawing/2014/main" id="{499E91BA-626F-1318-8353-D67727F696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27275" y="2225675"/>
            <a:ext cx="92075" cy="1381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Line 110">
            <a:extLst>
              <a:ext uri="{FF2B5EF4-FFF2-40B4-BE49-F238E27FC236}">
                <a16:creationId xmlns:a16="http://schemas.microsoft.com/office/drawing/2014/main" id="{B6E6EB7B-DE86-6DA5-783F-F34128183C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9350" y="2225675"/>
            <a:ext cx="93663" cy="1127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22" name="Group 289">
            <a:extLst>
              <a:ext uri="{FF2B5EF4-FFF2-40B4-BE49-F238E27FC236}">
                <a16:creationId xmlns:a16="http://schemas.microsoft.com/office/drawing/2014/main" id="{C18E9126-5CD6-82CF-56D8-03900C1AD96B}"/>
              </a:ext>
            </a:extLst>
          </p:cNvPr>
          <p:cNvGrpSpPr>
            <a:grpSpLocks/>
          </p:cNvGrpSpPr>
          <p:nvPr/>
        </p:nvGrpSpPr>
        <p:grpSpPr bwMode="auto">
          <a:xfrm>
            <a:off x="3656013" y="1006475"/>
            <a:ext cx="1654175" cy="7938"/>
            <a:chOff x="1965" y="643"/>
            <a:chExt cx="1042" cy="5"/>
          </a:xfrm>
        </p:grpSpPr>
        <p:sp>
          <p:nvSpPr>
            <p:cNvPr id="21693" name="Freeform 111">
              <a:extLst>
                <a:ext uri="{FF2B5EF4-FFF2-40B4-BE49-F238E27FC236}">
                  <a16:creationId xmlns:a16="http://schemas.microsoft.com/office/drawing/2014/main" id="{14E51AD5-4F2F-D81F-9EC9-DD9E84DF6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643"/>
              <a:ext cx="53" cy="5"/>
            </a:xfrm>
            <a:custGeom>
              <a:avLst/>
              <a:gdLst>
                <a:gd name="T0" fmla="*/ 52 w 60"/>
                <a:gd name="T1" fmla="*/ 4 h 5"/>
                <a:gd name="T2" fmla="*/ 0 w 60"/>
                <a:gd name="T3" fmla="*/ 4 h 5"/>
                <a:gd name="T4" fmla="*/ 0 w 60"/>
                <a:gd name="T5" fmla="*/ 0 h 5"/>
                <a:gd name="T6" fmla="*/ 52 w 60"/>
                <a:gd name="T7" fmla="*/ 0 h 5"/>
                <a:gd name="T8" fmla="*/ 52 w 60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"/>
                <a:gd name="T16" fmla="*/ 0 h 5"/>
                <a:gd name="T17" fmla="*/ 60 w 60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" h="5">
                  <a:moveTo>
                    <a:pt x="59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4"/>
                  </a:lnTo>
                </a:path>
              </a:pathLst>
            </a:custGeom>
            <a:solidFill>
              <a:srgbClr val="FAFD00"/>
            </a:solidFill>
            <a:ln w="28575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94" name="Freeform 112">
              <a:extLst>
                <a:ext uri="{FF2B5EF4-FFF2-40B4-BE49-F238E27FC236}">
                  <a16:creationId xmlns:a16="http://schemas.microsoft.com/office/drawing/2014/main" id="{C09D071A-CC41-E5ED-01DD-C7753127E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643"/>
              <a:ext cx="54" cy="5"/>
            </a:xfrm>
            <a:custGeom>
              <a:avLst/>
              <a:gdLst>
                <a:gd name="T0" fmla="*/ 53 w 60"/>
                <a:gd name="T1" fmla="*/ 4 h 5"/>
                <a:gd name="T2" fmla="*/ 0 w 60"/>
                <a:gd name="T3" fmla="*/ 4 h 5"/>
                <a:gd name="T4" fmla="*/ 0 w 60"/>
                <a:gd name="T5" fmla="*/ 0 h 5"/>
                <a:gd name="T6" fmla="*/ 53 w 60"/>
                <a:gd name="T7" fmla="*/ 0 h 5"/>
                <a:gd name="T8" fmla="*/ 53 w 60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"/>
                <a:gd name="T16" fmla="*/ 0 h 5"/>
                <a:gd name="T17" fmla="*/ 60 w 60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" h="5">
                  <a:moveTo>
                    <a:pt x="59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4"/>
                  </a:lnTo>
                </a:path>
              </a:pathLst>
            </a:custGeom>
            <a:solidFill>
              <a:srgbClr val="FAFD00"/>
            </a:solidFill>
            <a:ln w="28575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95" name="Freeform 113">
              <a:extLst>
                <a:ext uri="{FF2B5EF4-FFF2-40B4-BE49-F238E27FC236}">
                  <a16:creationId xmlns:a16="http://schemas.microsoft.com/office/drawing/2014/main" id="{51F6AA81-1321-85B9-3F53-99DAEAFFD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643"/>
              <a:ext cx="53" cy="5"/>
            </a:xfrm>
            <a:custGeom>
              <a:avLst/>
              <a:gdLst>
                <a:gd name="T0" fmla="*/ 52 w 60"/>
                <a:gd name="T1" fmla="*/ 4 h 5"/>
                <a:gd name="T2" fmla="*/ 0 w 60"/>
                <a:gd name="T3" fmla="*/ 4 h 5"/>
                <a:gd name="T4" fmla="*/ 0 w 60"/>
                <a:gd name="T5" fmla="*/ 0 h 5"/>
                <a:gd name="T6" fmla="*/ 52 w 60"/>
                <a:gd name="T7" fmla="*/ 0 h 5"/>
                <a:gd name="T8" fmla="*/ 52 w 60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"/>
                <a:gd name="T16" fmla="*/ 0 h 5"/>
                <a:gd name="T17" fmla="*/ 60 w 60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" h="5">
                  <a:moveTo>
                    <a:pt x="59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4"/>
                  </a:lnTo>
                </a:path>
              </a:pathLst>
            </a:custGeom>
            <a:solidFill>
              <a:srgbClr val="FAFD00"/>
            </a:solidFill>
            <a:ln w="28575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96" name="Freeform 114">
              <a:extLst>
                <a:ext uri="{FF2B5EF4-FFF2-40B4-BE49-F238E27FC236}">
                  <a16:creationId xmlns:a16="http://schemas.microsoft.com/office/drawing/2014/main" id="{1A4BD5CF-5633-FECF-69F5-7D110EC6A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3" y="643"/>
              <a:ext cx="53" cy="5"/>
            </a:xfrm>
            <a:custGeom>
              <a:avLst/>
              <a:gdLst>
                <a:gd name="T0" fmla="*/ 52 w 61"/>
                <a:gd name="T1" fmla="*/ 4 h 5"/>
                <a:gd name="T2" fmla="*/ 0 w 61"/>
                <a:gd name="T3" fmla="*/ 4 h 5"/>
                <a:gd name="T4" fmla="*/ 0 w 61"/>
                <a:gd name="T5" fmla="*/ 0 h 5"/>
                <a:gd name="T6" fmla="*/ 52 w 61"/>
                <a:gd name="T7" fmla="*/ 0 h 5"/>
                <a:gd name="T8" fmla="*/ 52 w 61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5"/>
                <a:gd name="T17" fmla="*/ 61 w 61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5">
                  <a:moveTo>
                    <a:pt x="6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60" y="0"/>
                  </a:lnTo>
                  <a:lnTo>
                    <a:pt x="60" y="4"/>
                  </a:lnTo>
                </a:path>
              </a:pathLst>
            </a:custGeom>
            <a:solidFill>
              <a:srgbClr val="FAFD00"/>
            </a:solidFill>
            <a:ln w="28575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97" name="Freeform 115">
              <a:extLst>
                <a:ext uri="{FF2B5EF4-FFF2-40B4-BE49-F238E27FC236}">
                  <a16:creationId xmlns:a16="http://schemas.microsoft.com/office/drawing/2014/main" id="{7346C857-ADCD-CD84-1D86-00D421144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" y="643"/>
              <a:ext cx="55" cy="5"/>
            </a:xfrm>
            <a:custGeom>
              <a:avLst/>
              <a:gdLst>
                <a:gd name="T0" fmla="*/ 54 w 61"/>
                <a:gd name="T1" fmla="*/ 4 h 5"/>
                <a:gd name="T2" fmla="*/ 0 w 61"/>
                <a:gd name="T3" fmla="*/ 4 h 5"/>
                <a:gd name="T4" fmla="*/ 0 w 61"/>
                <a:gd name="T5" fmla="*/ 0 h 5"/>
                <a:gd name="T6" fmla="*/ 54 w 61"/>
                <a:gd name="T7" fmla="*/ 0 h 5"/>
                <a:gd name="T8" fmla="*/ 54 w 61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5"/>
                <a:gd name="T17" fmla="*/ 61 w 61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5">
                  <a:moveTo>
                    <a:pt x="6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60" y="0"/>
                  </a:lnTo>
                  <a:lnTo>
                    <a:pt x="60" y="4"/>
                  </a:lnTo>
                </a:path>
              </a:pathLst>
            </a:custGeom>
            <a:solidFill>
              <a:srgbClr val="FAFD00"/>
            </a:solidFill>
            <a:ln w="28575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98" name="Freeform 116">
              <a:extLst>
                <a:ext uri="{FF2B5EF4-FFF2-40B4-BE49-F238E27FC236}">
                  <a16:creationId xmlns:a16="http://schemas.microsoft.com/office/drawing/2014/main" id="{66F328D7-0213-7149-55D8-B10B57D89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5" y="643"/>
              <a:ext cx="54" cy="5"/>
            </a:xfrm>
            <a:custGeom>
              <a:avLst/>
              <a:gdLst>
                <a:gd name="T0" fmla="*/ 53 w 61"/>
                <a:gd name="T1" fmla="*/ 4 h 5"/>
                <a:gd name="T2" fmla="*/ 0 w 61"/>
                <a:gd name="T3" fmla="*/ 4 h 5"/>
                <a:gd name="T4" fmla="*/ 0 w 61"/>
                <a:gd name="T5" fmla="*/ 0 h 5"/>
                <a:gd name="T6" fmla="*/ 53 w 61"/>
                <a:gd name="T7" fmla="*/ 0 h 5"/>
                <a:gd name="T8" fmla="*/ 53 w 61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5"/>
                <a:gd name="T17" fmla="*/ 61 w 61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5">
                  <a:moveTo>
                    <a:pt x="6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60" y="0"/>
                  </a:lnTo>
                  <a:lnTo>
                    <a:pt x="60" y="4"/>
                  </a:lnTo>
                </a:path>
              </a:pathLst>
            </a:custGeom>
            <a:solidFill>
              <a:srgbClr val="FAFD00"/>
            </a:solidFill>
            <a:ln w="28575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99" name="Freeform 117">
              <a:extLst>
                <a:ext uri="{FF2B5EF4-FFF2-40B4-BE49-F238E27FC236}">
                  <a16:creationId xmlns:a16="http://schemas.microsoft.com/office/drawing/2014/main" id="{905E8C2B-F589-A3A8-78E8-9FA5C9A02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2" y="643"/>
              <a:ext cx="54" cy="5"/>
            </a:xfrm>
            <a:custGeom>
              <a:avLst/>
              <a:gdLst>
                <a:gd name="T0" fmla="*/ 53 w 60"/>
                <a:gd name="T1" fmla="*/ 4 h 5"/>
                <a:gd name="T2" fmla="*/ 0 w 60"/>
                <a:gd name="T3" fmla="*/ 4 h 5"/>
                <a:gd name="T4" fmla="*/ 0 w 60"/>
                <a:gd name="T5" fmla="*/ 0 h 5"/>
                <a:gd name="T6" fmla="*/ 53 w 60"/>
                <a:gd name="T7" fmla="*/ 0 h 5"/>
                <a:gd name="T8" fmla="*/ 53 w 60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"/>
                <a:gd name="T16" fmla="*/ 0 h 5"/>
                <a:gd name="T17" fmla="*/ 60 w 60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" h="5">
                  <a:moveTo>
                    <a:pt x="59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4"/>
                  </a:lnTo>
                </a:path>
              </a:pathLst>
            </a:custGeom>
            <a:solidFill>
              <a:srgbClr val="FAFD00"/>
            </a:solidFill>
            <a:ln w="28575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700" name="Freeform 118">
              <a:extLst>
                <a:ext uri="{FF2B5EF4-FFF2-40B4-BE49-F238E27FC236}">
                  <a16:creationId xmlns:a16="http://schemas.microsoft.com/office/drawing/2014/main" id="{6AACC904-6DD6-5158-1DBF-2C6FC143F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" y="643"/>
              <a:ext cx="53" cy="5"/>
            </a:xfrm>
            <a:custGeom>
              <a:avLst/>
              <a:gdLst>
                <a:gd name="T0" fmla="*/ 52 w 60"/>
                <a:gd name="T1" fmla="*/ 4 h 5"/>
                <a:gd name="T2" fmla="*/ 0 w 60"/>
                <a:gd name="T3" fmla="*/ 4 h 5"/>
                <a:gd name="T4" fmla="*/ 0 w 60"/>
                <a:gd name="T5" fmla="*/ 0 h 5"/>
                <a:gd name="T6" fmla="*/ 52 w 60"/>
                <a:gd name="T7" fmla="*/ 0 h 5"/>
                <a:gd name="T8" fmla="*/ 52 w 60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"/>
                <a:gd name="T16" fmla="*/ 0 h 5"/>
                <a:gd name="T17" fmla="*/ 60 w 60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" h="5">
                  <a:moveTo>
                    <a:pt x="59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4"/>
                  </a:lnTo>
                </a:path>
              </a:pathLst>
            </a:custGeom>
            <a:solidFill>
              <a:srgbClr val="FAFD00"/>
            </a:solidFill>
            <a:ln w="28575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701" name="Freeform 119">
              <a:extLst>
                <a:ext uri="{FF2B5EF4-FFF2-40B4-BE49-F238E27FC236}">
                  <a16:creationId xmlns:a16="http://schemas.microsoft.com/office/drawing/2014/main" id="{265FF1BA-56C8-85D8-4674-12C191070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" y="643"/>
              <a:ext cx="54" cy="5"/>
            </a:xfrm>
            <a:custGeom>
              <a:avLst/>
              <a:gdLst>
                <a:gd name="T0" fmla="*/ 53 w 60"/>
                <a:gd name="T1" fmla="*/ 4 h 5"/>
                <a:gd name="T2" fmla="*/ 0 w 60"/>
                <a:gd name="T3" fmla="*/ 4 h 5"/>
                <a:gd name="T4" fmla="*/ 0 w 60"/>
                <a:gd name="T5" fmla="*/ 0 h 5"/>
                <a:gd name="T6" fmla="*/ 53 w 60"/>
                <a:gd name="T7" fmla="*/ 0 h 5"/>
                <a:gd name="T8" fmla="*/ 53 w 60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"/>
                <a:gd name="T16" fmla="*/ 0 h 5"/>
                <a:gd name="T17" fmla="*/ 60 w 60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" h="5">
                  <a:moveTo>
                    <a:pt x="59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4"/>
                  </a:lnTo>
                </a:path>
              </a:pathLst>
            </a:custGeom>
            <a:solidFill>
              <a:srgbClr val="FAFD00"/>
            </a:solidFill>
            <a:ln w="28575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1523" name="Freeform 120">
            <a:extLst>
              <a:ext uri="{FF2B5EF4-FFF2-40B4-BE49-F238E27FC236}">
                <a16:creationId xmlns:a16="http://schemas.microsoft.com/office/drawing/2014/main" id="{659E5921-4598-D2C7-E3CC-3E17F785A1DC}"/>
              </a:ext>
            </a:extLst>
          </p:cNvPr>
          <p:cNvSpPr>
            <a:spLocks/>
          </p:cNvSpPr>
          <p:nvPr/>
        </p:nvSpPr>
        <p:spPr bwMode="auto">
          <a:xfrm>
            <a:off x="2728913" y="1020763"/>
            <a:ext cx="84137" cy="7937"/>
          </a:xfrm>
          <a:custGeom>
            <a:avLst/>
            <a:gdLst>
              <a:gd name="T0" fmla="*/ 82758 w 61"/>
              <a:gd name="T1" fmla="*/ 6350 h 5"/>
              <a:gd name="T2" fmla="*/ 0 w 61"/>
              <a:gd name="T3" fmla="*/ 6350 h 5"/>
              <a:gd name="T4" fmla="*/ 0 w 61"/>
              <a:gd name="T5" fmla="*/ 0 h 5"/>
              <a:gd name="T6" fmla="*/ 82758 w 61"/>
              <a:gd name="T7" fmla="*/ 0 h 5"/>
              <a:gd name="T8" fmla="*/ 82758 w 61"/>
              <a:gd name="T9" fmla="*/ 6350 h 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1"/>
              <a:gd name="T16" fmla="*/ 0 h 5"/>
              <a:gd name="T17" fmla="*/ 61 w 61"/>
              <a:gd name="T18" fmla="*/ 5 h 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1" h="5">
                <a:moveTo>
                  <a:pt x="60" y="4"/>
                </a:moveTo>
                <a:lnTo>
                  <a:pt x="0" y="4"/>
                </a:lnTo>
                <a:lnTo>
                  <a:pt x="0" y="0"/>
                </a:lnTo>
                <a:lnTo>
                  <a:pt x="60" y="0"/>
                </a:lnTo>
                <a:lnTo>
                  <a:pt x="60" y="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4" name="Freeform 121">
            <a:extLst>
              <a:ext uri="{FF2B5EF4-FFF2-40B4-BE49-F238E27FC236}">
                <a16:creationId xmlns:a16="http://schemas.microsoft.com/office/drawing/2014/main" id="{08DC605A-E817-1381-E749-9E7EF5783F0C}"/>
              </a:ext>
            </a:extLst>
          </p:cNvPr>
          <p:cNvSpPr>
            <a:spLocks/>
          </p:cNvSpPr>
          <p:nvPr/>
        </p:nvSpPr>
        <p:spPr bwMode="auto">
          <a:xfrm>
            <a:off x="2532063" y="1020763"/>
            <a:ext cx="87312" cy="7937"/>
          </a:xfrm>
          <a:custGeom>
            <a:avLst/>
            <a:gdLst>
              <a:gd name="T0" fmla="*/ 85881 w 61"/>
              <a:gd name="T1" fmla="*/ 6350 h 5"/>
              <a:gd name="T2" fmla="*/ 0 w 61"/>
              <a:gd name="T3" fmla="*/ 6350 h 5"/>
              <a:gd name="T4" fmla="*/ 0 w 61"/>
              <a:gd name="T5" fmla="*/ 0 h 5"/>
              <a:gd name="T6" fmla="*/ 85881 w 61"/>
              <a:gd name="T7" fmla="*/ 0 h 5"/>
              <a:gd name="T8" fmla="*/ 85881 w 61"/>
              <a:gd name="T9" fmla="*/ 6350 h 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1"/>
              <a:gd name="T16" fmla="*/ 0 h 5"/>
              <a:gd name="T17" fmla="*/ 61 w 61"/>
              <a:gd name="T18" fmla="*/ 5 h 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1" h="5">
                <a:moveTo>
                  <a:pt x="60" y="4"/>
                </a:moveTo>
                <a:lnTo>
                  <a:pt x="0" y="4"/>
                </a:lnTo>
                <a:lnTo>
                  <a:pt x="0" y="0"/>
                </a:lnTo>
                <a:lnTo>
                  <a:pt x="60" y="0"/>
                </a:lnTo>
                <a:lnTo>
                  <a:pt x="60" y="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5" name="Freeform 122">
            <a:extLst>
              <a:ext uri="{FF2B5EF4-FFF2-40B4-BE49-F238E27FC236}">
                <a16:creationId xmlns:a16="http://schemas.microsoft.com/office/drawing/2014/main" id="{42CFDC80-C261-0410-232E-B97B76375AB3}"/>
              </a:ext>
            </a:extLst>
          </p:cNvPr>
          <p:cNvSpPr>
            <a:spLocks/>
          </p:cNvSpPr>
          <p:nvPr/>
        </p:nvSpPr>
        <p:spPr bwMode="auto">
          <a:xfrm>
            <a:off x="2335213" y="1020763"/>
            <a:ext cx="85725" cy="7937"/>
          </a:xfrm>
          <a:custGeom>
            <a:avLst/>
            <a:gdLst>
              <a:gd name="T0" fmla="*/ 84320 w 61"/>
              <a:gd name="T1" fmla="*/ 6350 h 5"/>
              <a:gd name="T2" fmla="*/ 0 w 61"/>
              <a:gd name="T3" fmla="*/ 6350 h 5"/>
              <a:gd name="T4" fmla="*/ 0 w 61"/>
              <a:gd name="T5" fmla="*/ 0 h 5"/>
              <a:gd name="T6" fmla="*/ 84320 w 61"/>
              <a:gd name="T7" fmla="*/ 0 h 5"/>
              <a:gd name="T8" fmla="*/ 84320 w 61"/>
              <a:gd name="T9" fmla="*/ 6350 h 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1"/>
              <a:gd name="T16" fmla="*/ 0 h 5"/>
              <a:gd name="T17" fmla="*/ 61 w 61"/>
              <a:gd name="T18" fmla="*/ 5 h 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1" h="5">
                <a:moveTo>
                  <a:pt x="60" y="4"/>
                </a:moveTo>
                <a:lnTo>
                  <a:pt x="0" y="4"/>
                </a:lnTo>
                <a:lnTo>
                  <a:pt x="0" y="0"/>
                </a:lnTo>
                <a:lnTo>
                  <a:pt x="60" y="0"/>
                </a:lnTo>
                <a:lnTo>
                  <a:pt x="60" y="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6" name="Freeform 123">
            <a:extLst>
              <a:ext uri="{FF2B5EF4-FFF2-40B4-BE49-F238E27FC236}">
                <a16:creationId xmlns:a16="http://schemas.microsoft.com/office/drawing/2014/main" id="{7417BE4A-842F-71ED-BC48-95BF57C4D62D}"/>
              </a:ext>
            </a:extLst>
          </p:cNvPr>
          <p:cNvSpPr>
            <a:spLocks/>
          </p:cNvSpPr>
          <p:nvPr/>
        </p:nvSpPr>
        <p:spPr bwMode="auto">
          <a:xfrm>
            <a:off x="2139950" y="1020763"/>
            <a:ext cx="85725" cy="7937"/>
          </a:xfrm>
          <a:custGeom>
            <a:avLst/>
            <a:gdLst>
              <a:gd name="T0" fmla="*/ 84296 w 60"/>
              <a:gd name="T1" fmla="*/ 6350 h 5"/>
              <a:gd name="T2" fmla="*/ 0 w 60"/>
              <a:gd name="T3" fmla="*/ 6350 h 5"/>
              <a:gd name="T4" fmla="*/ 0 w 60"/>
              <a:gd name="T5" fmla="*/ 0 h 5"/>
              <a:gd name="T6" fmla="*/ 84296 w 60"/>
              <a:gd name="T7" fmla="*/ 0 h 5"/>
              <a:gd name="T8" fmla="*/ 84296 w 60"/>
              <a:gd name="T9" fmla="*/ 6350 h 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5"/>
              <a:gd name="T17" fmla="*/ 60 w 60"/>
              <a:gd name="T18" fmla="*/ 5 h 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5">
                <a:moveTo>
                  <a:pt x="59" y="4"/>
                </a:moveTo>
                <a:lnTo>
                  <a:pt x="0" y="4"/>
                </a:lnTo>
                <a:lnTo>
                  <a:pt x="0" y="0"/>
                </a:lnTo>
                <a:lnTo>
                  <a:pt x="59" y="0"/>
                </a:lnTo>
                <a:lnTo>
                  <a:pt x="59" y="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7" name="Freeform 124">
            <a:extLst>
              <a:ext uri="{FF2B5EF4-FFF2-40B4-BE49-F238E27FC236}">
                <a16:creationId xmlns:a16="http://schemas.microsoft.com/office/drawing/2014/main" id="{E61EF6BA-4707-0F0A-7CB8-DA0A7E138F50}"/>
              </a:ext>
            </a:extLst>
          </p:cNvPr>
          <p:cNvSpPr>
            <a:spLocks/>
          </p:cNvSpPr>
          <p:nvPr/>
        </p:nvSpPr>
        <p:spPr bwMode="auto">
          <a:xfrm>
            <a:off x="3021013" y="3400425"/>
            <a:ext cx="85725" cy="7938"/>
          </a:xfrm>
          <a:custGeom>
            <a:avLst/>
            <a:gdLst>
              <a:gd name="T0" fmla="*/ 84320 w 61"/>
              <a:gd name="T1" fmla="*/ 6350 h 5"/>
              <a:gd name="T2" fmla="*/ 0 w 61"/>
              <a:gd name="T3" fmla="*/ 6350 h 5"/>
              <a:gd name="T4" fmla="*/ 0 w 61"/>
              <a:gd name="T5" fmla="*/ 0 h 5"/>
              <a:gd name="T6" fmla="*/ 84320 w 61"/>
              <a:gd name="T7" fmla="*/ 0 h 5"/>
              <a:gd name="T8" fmla="*/ 84320 w 61"/>
              <a:gd name="T9" fmla="*/ 6350 h 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1"/>
              <a:gd name="T16" fmla="*/ 0 h 5"/>
              <a:gd name="T17" fmla="*/ 61 w 61"/>
              <a:gd name="T18" fmla="*/ 5 h 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1" h="5">
                <a:moveTo>
                  <a:pt x="60" y="4"/>
                </a:moveTo>
                <a:lnTo>
                  <a:pt x="0" y="4"/>
                </a:lnTo>
                <a:lnTo>
                  <a:pt x="0" y="0"/>
                </a:lnTo>
                <a:lnTo>
                  <a:pt x="60" y="0"/>
                </a:lnTo>
                <a:lnTo>
                  <a:pt x="60" y="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8" name="Freeform 125">
            <a:extLst>
              <a:ext uri="{FF2B5EF4-FFF2-40B4-BE49-F238E27FC236}">
                <a16:creationId xmlns:a16="http://schemas.microsoft.com/office/drawing/2014/main" id="{4CDCC0FD-074A-A6E8-90DD-530123BD9346}"/>
              </a:ext>
            </a:extLst>
          </p:cNvPr>
          <p:cNvSpPr>
            <a:spLocks/>
          </p:cNvSpPr>
          <p:nvPr/>
        </p:nvSpPr>
        <p:spPr bwMode="auto">
          <a:xfrm>
            <a:off x="2825750" y="3400425"/>
            <a:ext cx="85725" cy="7938"/>
          </a:xfrm>
          <a:custGeom>
            <a:avLst/>
            <a:gdLst>
              <a:gd name="T0" fmla="*/ 84296 w 60"/>
              <a:gd name="T1" fmla="*/ 6350 h 5"/>
              <a:gd name="T2" fmla="*/ 0 w 60"/>
              <a:gd name="T3" fmla="*/ 6350 h 5"/>
              <a:gd name="T4" fmla="*/ 0 w 60"/>
              <a:gd name="T5" fmla="*/ 0 h 5"/>
              <a:gd name="T6" fmla="*/ 84296 w 60"/>
              <a:gd name="T7" fmla="*/ 0 h 5"/>
              <a:gd name="T8" fmla="*/ 84296 w 60"/>
              <a:gd name="T9" fmla="*/ 6350 h 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5"/>
              <a:gd name="T17" fmla="*/ 60 w 60"/>
              <a:gd name="T18" fmla="*/ 5 h 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5">
                <a:moveTo>
                  <a:pt x="59" y="4"/>
                </a:moveTo>
                <a:lnTo>
                  <a:pt x="0" y="4"/>
                </a:lnTo>
                <a:lnTo>
                  <a:pt x="0" y="0"/>
                </a:lnTo>
                <a:lnTo>
                  <a:pt x="59" y="0"/>
                </a:lnTo>
                <a:lnTo>
                  <a:pt x="59" y="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9" name="Freeform 126">
            <a:extLst>
              <a:ext uri="{FF2B5EF4-FFF2-40B4-BE49-F238E27FC236}">
                <a16:creationId xmlns:a16="http://schemas.microsoft.com/office/drawing/2014/main" id="{8F0D55D0-045D-6587-C2D2-C72FF7AC4D88}"/>
              </a:ext>
            </a:extLst>
          </p:cNvPr>
          <p:cNvSpPr>
            <a:spLocks/>
          </p:cNvSpPr>
          <p:nvPr/>
        </p:nvSpPr>
        <p:spPr bwMode="auto">
          <a:xfrm>
            <a:off x="1249363" y="3354388"/>
            <a:ext cx="277812" cy="657225"/>
          </a:xfrm>
          <a:custGeom>
            <a:avLst/>
            <a:gdLst>
              <a:gd name="T0" fmla="*/ 276402 w 197"/>
              <a:gd name="T1" fmla="*/ 0 h 414"/>
              <a:gd name="T2" fmla="*/ 276402 w 197"/>
              <a:gd name="T3" fmla="*/ 457200 h 414"/>
              <a:gd name="T4" fmla="*/ 0 w 197"/>
              <a:gd name="T5" fmla="*/ 655638 h 414"/>
              <a:gd name="T6" fmla="*/ 276402 w 197"/>
              <a:gd name="T7" fmla="*/ 0 h 414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414"/>
              <a:gd name="T14" fmla="*/ 197 w 197"/>
              <a:gd name="T15" fmla="*/ 414 h 41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414">
                <a:moveTo>
                  <a:pt x="196" y="0"/>
                </a:moveTo>
                <a:lnTo>
                  <a:pt x="196" y="288"/>
                </a:lnTo>
                <a:lnTo>
                  <a:pt x="0" y="413"/>
                </a:lnTo>
                <a:lnTo>
                  <a:pt x="19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30" name="Freeform 127">
            <a:extLst>
              <a:ext uri="{FF2B5EF4-FFF2-40B4-BE49-F238E27FC236}">
                <a16:creationId xmlns:a16="http://schemas.microsoft.com/office/drawing/2014/main" id="{E75BFA9E-A66E-86BB-30E2-785715E0BFCF}"/>
              </a:ext>
            </a:extLst>
          </p:cNvPr>
          <p:cNvSpPr>
            <a:spLocks/>
          </p:cNvSpPr>
          <p:nvPr/>
        </p:nvSpPr>
        <p:spPr bwMode="auto">
          <a:xfrm>
            <a:off x="1249363" y="3354388"/>
            <a:ext cx="292100" cy="673100"/>
          </a:xfrm>
          <a:custGeom>
            <a:avLst/>
            <a:gdLst>
              <a:gd name="T0" fmla="*/ 290689 w 207"/>
              <a:gd name="T1" fmla="*/ 0 h 424"/>
              <a:gd name="T2" fmla="*/ 290689 w 207"/>
              <a:gd name="T3" fmla="*/ 468313 h 424"/>
              <a:gd name="T4" fmla="*/ 0 w 207"/>
              <a:gd name="T5" fmla="*/ 671513 h 424"/>
              <a:gd name="T6" fmla="*/ 0 60000 65536"/>
              <a:gd name="T7" fmla="*/ 0 60000 65536"/>
              <a:gd name="T8" fmla="*/ 0 60000 65536"/>
              <a:gd name="T9" fmla="*/ 0 w 207"/>
              <a:gd name="T10" fmla="*/ 0 h 424"/>
              <a:gd name="T11" fmla="*/ 207 w 207"/>
              <a:gd name="T12" fmla="*/ 424 h 4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7" h="424">
                <a:moveTo>
                  <a:pt x="206" y="0"/>
                </a:moveTo>
                <a:lnTo>
                  <a:pt x="206" y="295"/>
                </a:lnTo>
                <a:lnTo>
                  <a:pt x="0" y="42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31" name="Freeform 128">
            <a:extLst>
              <a:ext uri="{FF2B5EF4-FFF2-40B4-BE49-F238E27FC236}">
                <a16:creationId xmlns:a16="http://schemas.microsoft.com/office/drawing/2014/main" id="{BD444F2B-F874-A595-D862-968559BB3131}"/>
              </a:ext>
            </a:extLst>
          </p:cNvPr>
          <p:cNvSpPr>
            <a:spLocks/>
          </p:cNvSpPr>
          <p:nvPr/>
        </p:nvSpPr>
        <p:spPr bwMode="auto">
          <a:xfrm>
            <a:off x="1758950" y="3346450"/>
            <a:ext cx="279400" cy="657225"/>
          </a:xfrm>
          <a:custGeom>
            <a:avLst/>
            <a:gdLst>
              <a:gd name="T0" fmla="*/ 0 w 199"/>
              <a:gd name="T1" fmla="*/ 0 h 414"/>
              <a:gd name="T2" fmla="*/ 0 w 199"/>
              <a:gd name="T3" fmla="*/ 457200 h 414"/>
              <a:gd name="T4" fmla="*/ 277996 w 199"/>
              <a:gd name="T5" fmla="*/ 655638 h 414"/>
              <a:gd name="T6" fmla="*/ 0 w 199"/>
              <a:gd name="T7" fmla="*/ 0 h 414"/>
              <a:gd name="T8" fmla="*/ 0 60000 65536"/>
              <a:gd name="T9" fmla="*/ 0 60000 65536"/>
              <a:gd name="T10" fmla="*/ 0 60000 65536"/>
              <a:gd name="T11" fmla="*/ 0 60000 65536"/>
              <a:gd name="T12" fmla="*/ 0 w 199"/>
              <a:gd name="T13" fmla="*/ 0 h 414"/>
              <a:gd name="T14" fmla="*/ 199 w 199"/>
              <a:gd name="T15" fmla="*/ 414 h 41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9" h="414">
                <a:moveTo>
                  <a:pt x="0" y="0"/>
                </a:moveTo>
                <a:lnTo>
                  <a:pt x="0" y="288"/>
                </a:lnTo>
                <a:lnTo>
                  <a:pt x="198" y="41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32" name="Freeform 129">
            <a:extLst>
              <a:ext uri="{FF2B5EF4-FFF2-40B4-BE49-F238E27FC236}">
                <a16:creationId xmlns:a16="http://schemas.microsoft.com/office/drawing/2014/main" id="{E510E6EA-6A36-EE8A-3132-CDB4326591C5}"/>
              </a:ext>
            </a:extLst>
          </p:cNvPr>
          <p:cNvSpPr>
            <a:spLocks/>
          </p:cNvSpPr>
          <p:nvPr/>
        </p:nvSpPr>
        <p:spPr bwMode="auto">
          <a:xfrm>
            <a:off x="1758950" y="3346450"/>
            <a:ext cx="293688" cy="673100"/>
          </a:xfrm>
          <a:custGeom>
            <a:avLst/>
            <a:gdLst>
              <a:gd name="T0" fmla="*/ 0 w 209"/>
              <a:gd name="T1" fmla="*/ 0 h 424"/>
              <a:gd name="T2" fmla="*/ 0 w 209"/>
              <a:gd name="T3" fmla="*/ 468313 h 424"/>
              <a:gd name="T4" fmla="*/ 292283 w 209"/>
              <a:gd name="T5" fmla="*/ 671513 h 424"/>
              <a:gd name="T6" fmla="*/ 0 60000 65536"/>
              <a:gd name="T7" fmla="*/ 0 60000 65536"/>
              <a:gd name="T8" fmla="*/ 0 60000 65536"/>
              <a:gd name="T9" fmla="*/ 0 w 209"/>
              <a:gd name="T10" fmla="*/ 0 h 424"/>
              <a:gd name="T11" fmla="*/ 209 w 209"/>
              <a:gd name="T12" fmla="*/ 424 h 4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" h="424">
                <a:moveTo>
                  <a:pt x="0" y="0"/>
                </a:moveTo>
                <a:lnTo>
                  <a:pt x="0" y="295"/>
                </a:lnTo>
                <a:lnTo>
                  <a:pt x="208" y="42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33" name="Line 130">
            <a:extLst>
              <a:ext uri="{FF2B5EF4-FFF2-40B4-BE49-F238E27FC236}">
                <a16:creationId xmlns:a16="http://schemas.microsoft.com/office/drawing/2014/main" id="{1AEB4DB5-A4A9-2801-13B3-03ADB879E3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6838" y="3898900"/>
            <a:ext cx="303212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4" name="Line 131">
            <a:extLst>
              <a:ext uri="{FF2B5EF4-FFF2-40B4-BE49-F238E27FC236}">
                <a16:creationId xmlns:a16="http://schemas.microsoft.com/office/drawing/2014/main" id="{458C2630-4E8B-C155-1819-32347ABCD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4813" y="3898900"/>
            <a:ext cx="255587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5" name="Freeform 132">
            <a:extLst>
              <a:ext uri="{FF2B5EF4-FFF2-40B4-BE49-F238E27FC236}">
                <a16:creationId xmlns:a16="http://schemas.microsoft.com/office/drawing/2014/main" id="{A87DD27E-8E03-4B61-E6E7-79EF667FA78F}"/>
              </a:ext>
            </a:extLst>
          </p:cNvPr>
          <p:cNvSpPr>
            <a:spLocks/>
          </p:cNvSpPr>
          <p:nvPr/>
        </p:nvSpPr>
        <p:spPr bwMode="auto">
          <a:xfrm>
            <a:off x="1339850" y="3897313"/>
            <a:ext cx="98425" cy="87312"/>
          </a:xfrm>
          <a:custGeom>
            <a:avLst/>
            <a:gdLst>
              <a:gd name="T0" fmla="*/ 12838 w 69"/>
              <a:gd name="T1" fmla="*/ 85725 h 55"/>
              <a:gd name="T2" fmla="*/ 5706 w 69"/>
              <a:gd name="T3" fmla="*/ 73025 h 55"/>
              <a:gd name="T4" fmla="*/ 2853 w 69"/>
              <a:gd name="T5" fmla="*/ 65087 h 55"/>
              <a:gd name="T6" fmla="*/ 0 w 69"/>
              <a:gd name="T7" fmla="*/ 55562 h 55"/>
              <a:gd name="T8" fmla="*/ 0 w 69"/>
              <a:gd name="T9" fmla="*/ 44450 h 55"/>
              <a:gd name="T10" fmla="*/ 2853 w 69"/>
              <a:gd name="T11" fmla="*/ 25400 h 55"/>
              <a:gd name="T12" fmla="*/ 12838 w 69"/>
              <a:gd name="T13" fmla="*/ 11112 h 55"/>
              <a:gd name="T14" fmla="*/ 19970 w 69"/>
              <a:gd name="T15" fmla="*/ 6350 h 55"/>
              <a:gd name="T16" fmla="*/ 25676 w 69"/>
              <a:gd name="T17" fmla="*/ 1587 h 55"/>
              <a:gd name="T18" fmla="*/ 35661 w 69"/>
              <a:gd name="T19" fmla="*/ 0 h 55"/>
              <a:gd name="T20" fmla="*/ 44220 w 69"/>
              <a:gd name="T21" fmla="*/ 0 h 55"/>
              <a:gd name="T22" fmla="*/ 58484 w 69"/>
              <a:gd name="T23" fmla="*/ 0 h 55"/>
              <a:gd name="T24" fmla="*/ 68470 w 69"/>
              <a:gd name="T25" fmla="*/ 4762 h 55"/>
              <a:gd name="T26" fmla="*/ 82734 w 69"/>
              <a:gd name="T27" fmla="*/ 9525 h 55"/>
              <a:gd name="T28" fmla="*/ 96999 w 69"/>
              <a:gd name="T29" fmla="*/ 17462 h 55"/>
              <a:gd name="T30" fmla="*/ 12838 w 69"/>
              <a:gd name="T31" fmla="*/ 85725 h 5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69"/>
              <a:gd name="T49" fmla="*/ 0 h 55"/>
              <a:gd name="T50" fmla="*/ 69 w 69"/>
              <a:gd name="T51" fmla="*/ 55 h 5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69" h="55">
                <a:moveTo>
                  <a:pt x="9" y="54"/>
                </a:moveTo>
                <a:lnTo>
                  <a:pt x="4" y="46"/>
                </a:lnTo>
                <a:lnTo>
                  <a:pt x="2" y="41"/>
                </a:lnTo>
                <a:lnTo>
                  <a:pt x="0" y="35"/>
                </a:lnTo>
                <a:lnTo>
                  <a:pt x="0" y="28"/>
                </a:lnTo>
                <a:lnTo>
                  <a:pt x="2" y="16"/>
                </a:lnTo>
                <a:lnTo>
                  <a:pt x="9" y="7"/>
                </a:lnTo>
                <a:lnTo>
                  <a:pt x="14" y="4"/>
                </a:lnTo>
                <a:lnTo>
                  <a:pt x="18" y="1"/>
                </a:lnTo>
                <a:lnTo>
                  <a:pt x="25" y="0"/>
                </a:lnTo>
                <a:lnTo>
                  <a:pt x="31" y="0"/>
                </a:lnTo>
                <a:lnTo>
                  <a:pt x="41" y="0"/>
                </a:lnTo>
                <a:lnTo>
                  <a:pt x="48" y="3"/>
                </a:lnTo>
                <a:lnTo>
                  <a:pt x="58" y="6"/>
                </a:lnTo>
                <a:lnTo>
                  <a:pt x="68" y="11"/>
                </a:lnTo>
                <a:lnTo>
                  <a:pt x="9" y="5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36" name="Freeform 133">
            <a:extLst>
              <a:ext uri="{FF2B5EF4-FFF2-40B4-BE49-F238E27FC236}">
                <a16:creationId xmlns:a16="http://schemas.microsoft.com/office/drawing/2014/main" id="{F047AF91-ACCD-0071-662E-9674C3D2DE38}"/>
              </a:ext>
            </a:extLst>
          </p:cNvPr>
          <p:cNvSpPr>
            <a:spLocks/>
          </p:cNvSpPr>
          <p:nvPr/>
        </p:nvSpPr>
        <p:spPr bwMode="auto">
          <a:xfrm>
            <a:off x="1339850" y="3897313"/>
            <a:ext cx="111125" cy="103187"/>
          </a:xfrm>
          <a:custGeom>
            <a:avLst/>
            <a:gdLst>
              <a:gd name="T0" fmla="*/ 14066 w 79"/>
              <a:gd name="T1" fmla="*/ 101600 h 65"/>
              <a:gd name="T2" fmla="*/ 7033 w 79"/>
              <a:gd name="T3" fmla="*/ 87312 h 65"/>
              <a:gd name="T4" fmla="*/ 2813 w 79"/>
              <a:gd name="T5" fmla="*/ 76200 h 65"/>
              <a:gd name="T6" fmla="*/ 0 w 79"/>
              <a:gd name="T7" fmla="*/ 65087 h 65"/>
              <a:gd name="T8" fmla="*/ 0 w 79"/>
              <a:gd name="T9" fmla="*/ 52387 h 65"/>
              <a:gd name="T10" fmla="*/ 2813 w 79"/>
              <a:gd name="T11" fmla="*/ 30162 h 65"/>
              <a:gd name="T12" fmla="*/ 14066 w 79"/>
              <a:gd name="T13" fmla="*/ 12700 h 65"/>
              <a:gd name="T14" fmla="*/ 22506 w 79"/>
              <a:gd name="T15" fmla="*/ 7937 h 65"/>
              <a:gd name="T16" fmla="*/ 29540 w 79"/>
              <a:gd name="T17" fmla="*/ 1587 h 65"/>
              <a:gd name="T18" fmla="*/ 40793 w 79"/>
              <a:gd name="T19" fmla="*/ 0 h 65"/>
              <a:gd name="T20" fmla="*/ 50639 w 79"/>
              <a:gd name="T21" fmla="*/ 0 h 65"/>
              <a:gd name="T22" fmla="*/ 66112 w 79"/>
              <a:gd name="T23" fmla="*/ 0 h 65"/>
              <a:gd name="T24" fmla="*/ 77365 w 79"/>
              <a:gd name="T25" fmla="*/ 4762 h 65"/>
              <a:gd name="T26" fmla="*/ 92839 w 79"/>
              <a:gd name="T27" fmla="*/ 11112 h 65"/>
              <a:gd name="T28" fmla="*/ 109718 w 79"/>
              <a:gd name="T29" fmla="*/ 20637 h 6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79"/>
              <a:gd name="T46" fmla="*/ 0 h 65"/>
              <a:gd name="T47" fmla="*/ 79 w 79"/>
              <a:gd name="T48" fmla="*/ 65 h 6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79" h="65">
                <a:moveTo>
                  <a:pt x="10" y="64"/>
                </a:moveTo>
                <a:lnTo>
                  <a:pt x="5" y="55"/>
                </a:lnTo>
                <a:lnTo>
                  <a:pt x="2" y="48"/>
                </a:lnTo>
                <a:lnTo>
                  <a:pt x="0" y="41"/>
                </a:lnTo>
                <a:lnTo>
                  <a:pt x="0" y="33"/>
                </a:lnTo>
                <a:lnTo>
                  <a:pt x="2" y="19"/>
                </a:lnTo>
                <a:lnTo>
                  <a:pt x="10" y="8"/>
                </a:lnTo>
                <a:lnTo>
                  <a:pt x="16" y="5"/>
                </a:lnTo>
                <a:lnTo>
                  <a:pt x="21" y="1"/>
                </a:lnTo>
                <a:lnTo>
                  <a:pt x="29" y="0"/>
                </a:lnTo>
                <a:lnTo>
                  <a:pt x="36" y="0"/>
                </a:lnTo>
                <a:lnTo>
                  <a:pt x="47" y="0"/>
                </a:lnTo>
                <a:lnTo>
                  <a:pt x="55" y="3"/>
                </a:lnTo>
                <a:lnTo>
                  <a:pt x="66" y="7"/>
                </a:lnTo>
                <a:lnTo>
                  <a:pt x="78" y="1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37" name="Freeform 134">
            <a:extLst>
              <a:ext uri="{FF2B5EF4-FFF2-40B4-BE49-F238E27FC236}">
                <a16:creationId xmlns:a16="http://schemas.microsoft.com/office/drawing/2014/main" id="{AB6FE790-7E7A-F9EB-C12B-EF5858227DB9}"/>
              </a:ext>
            </a:extLst>
          </p:cNvPr>
          <p:cNvSpPr>
            <a:spLocks/>
          </p:cNvSpPr>
          <p:nvPr/>
        </p:nvSpPr>
        <p:spPr bwMode="auto">
          <a:xfrm>
            <a:off x="1858963" y="3879850"/>
            <a:ext cx="96837" cy="90488"/>
          </a:xfrm>
          <a:custGeom>
            <a:avLst/>
            <a:gdLst>
              <a:gd name="T0" fmla="*/ 81399 w 69"/>
              <a:gd name="T1" fmla="*/ 88900 h 57"/>
              <a:gd name="T2" fmla="*/ 87013 w 69"/>
              <a:gd name="T3" fmla="*/ 76200 h 57"/>
              <a:gd name="T4" fmla="*/ 91223 w 69"/>
              <a:gd name="T5" fmla="*/ 66675 h 57"/>
              <a:gd name="T6" fmla="*/ 92627 w 69"/>
              <a:gd name="T7" fmla="*/ 57150 h 57"/>
              <a:gd name="T8" fmla="*/ 95434 w 69"/>
              <a:gd name="T9" fmla="*/ 47625 h 57"/>
              <a:gd name="T10" fmla="*/ 92627 w 69"/>
              <a:gd name="T11" fmla="*/ 38100 h 57"/>
              <a:gd name="T12" fmla="*/ 91223 w 69"/>
              <a:gd name="T13" fmla="*/ 28575 h 57"/>
              <a:gd name="T14" fmla="*/ 89820 w 69"/>
              <a:gd name="T15" fmla="*/ 19050 h 57"/>
              <a:gd name="T16" fmla="*/ 82803 w 69"/>
              <a:gd name="T17" fmla="*/ 12700 h 57"/>
              <a:gd name="T18" fmla="*/ 75785 w 69"/>
              <a:gd name="T19" fmla="*/ 6350 h 57"/>
              <a:gd name="T20" fmla="*/ 70172 w 69"/>
              <a:gd name="T21" fmla="*/ 3175 h 57"/>
              <a:gd name="T22" fmla="*/ 60348 w 69"/>
              <a:gd name="T23" fmla="*/ 0 h 57"/>
              <a:gd name="T24" fmla="*/ 51927 w 69"/>
              <a:gd name="T25" fmla="*/ 0 h 57"/>
              <a:gd name="T26" fmla="*/ 37893 w 69"/>
              <a:gd name="T27" fmla="*/ 0 h 57"/>
              <a:gd name="T28" fmla="*/ 26665 w 69"/>
              <a:gd name="T29" fmla="*/ 4763 h 57"/>
              <a:gd name="T30" fmla="*/ 14034 w 69"/>
              <a:gd name="T31" fmla="*/ 9525 h 57"/>
              <a:gd name="T32" fmla="*/ 0 w 69"/>
              <a:gd name="T33" fmla="*/ 19050 h 57"/>
              <a:gd name="T34" fmla="*/ 81399 w 69"/>
              <a:gd name="T35" fmla="*/ 88900 h 57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69"/>
              <a:gd name="T55" fmla="*/ 0 h 57"/>
              <a:gd name="T56" fmla="*/ 69 w 69"/>
              <a:gd name="T57" fmla="*/ 57 h 57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69" h="57">
                <a:moveTo>
                  <a:pt x="58" y="56"/>
                </a:moveTo>
                <a:lnTo>
                  <a:pt x="62" y="48"/>
                </a:lnTo>
                <a:lnTo>
                  <a:pt x="65" y="42"/>
                </a:lnTo>
                <a:lnTo>
                  <a:pt x="66" y="36"/>
                </a:lnTo>
                <a:lnTo>
                  <a:pt x="68" y="30"/>
                </a:lnTo>
                <a:lnTo>
                  <a:pt x="66" y="24"/>
                </a:lnTo>
                <a:lnTo>
                  <a:pt x="65" y="18"/>
                </a:lnTo>
                <a:lnTo>
                  <a:pt x="64" y="12"/>
                </a:lnTo>
                <a:lnTo>
                  <a:pt x="59" y="8"/>
                </a:lnTo>
                <a:lnTo>
                  <a:pt x="54" y="4"/>
                </a:lnTo>
                <a:lnTo>
                  <a:pt x="50" y="2"/>
                </a:lnTo>
                <a:lnTo>
                  <a:pt x="43" y="0"/>
                </a:lnTo>
                <a:lnTo>
                  <a:pt x="37" y="0"/>
                </a:lnTo>
                <a:lnTo>
                  <a:pt x="27" y="0"/>
                </a:lnTo>
                <a:lnTo>
                  <a:pt x="19" y="3"/>
                </a:lnTo>
                <a:lnTo>
                  <a:pt x="10" y="6"/>
                </a:lnTo>
                <a:lnTo>
                  <a:pt x="0" y="12"/>
                </a:lnTo>
                <a:lnTo>
                  <a:pt x="58" y="56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38" name="Freeform 135">
            <a:extLst>
              <a:ext uri="{FF2B5EF4-FFF2-40B4-BE49-F238E27FC236}">
                <a16:creationId xmlns:a16="http://schemas.microsoft.com/office/drawing/2014/main" id="{936487ED-0AF1-077F-385F-456F183E24A2}"/>
              </a:ext>
            </a:extLst>
          </p:cNvPr>
          <p:cNvSpPr>
            <a:spLocks/>
          </p:cNvSpPr>
          <p:nvPr/>
        </p:nvSpPr>
        <p:spPr bwMode="auto">
          <a:xfrm>
            <a:off x="1858963" y="3879850"/>
            <a:ext cx="112712" cy="106363"/>
          </a:xfrm>
          <a:custGeom>
            <a:avLst/>
            <a:gdLst>
              <a:gd name="T0" fmla="*/ 94164 w 79"/>
              <a:gd name="T1" fmla="*/ 104775 h 67"/>
              <a:gd name="T2" fmla="*/ 101298 w 79"/>
              <a:gd name="T3" fmla="*/ 90488 h 67"/>
              <a:gd name="T4" fmla="*/ 107005 w 79"/>
              <a:gd name="T5" fmla="*/ 79375 h 67"/>
              <a:gd name="T6" fmla="*/ 108432 w 79"/>
              <a:gd name="T7" fmla="*/ 66675 h 67"/>
              <a:gd name="T8" fmla="*/ 111285 w 79"/>
              <a:gd name="T9" fmla="*/ 55563 h 67"/>
              <a:gd name="T10" fmla="*/ 108432 w 79"/>
              <a:gd name="T11" fmla="*/ 44450 h 67"/>
              <a:gd name="T12" fmla="*/ 107005 w 79"/>
              <a:gd name="T13" fmla="*/ 33338 h 67"/>
              <a:gd name="T14" fmla="*/ 104152 w 79"/>
              <a:gd name="T15" fmla="*/ 22225 h 67"/>
              <a:gd name="T16" fmla="*/ 97018 w 79"/>
              <a:gd name="T17" fmla="*/ 14288 h 67"/>
              <a:gd name="T18" fmla="*/ 88458 w 79"/>
              <a:gd name="T19" fmla="*/ 7938 h 67"/>
              <a:gd name="T20" fmla="*/ 81324 w 79"/>
              <a:gd name="T21" fmla="*/ 3175 h 67"/>
              <a:gd name="T22" fmla="*/ 69910 w 79"/>
              <a:gd name="T23" fmla="*/ 0 h 67"/>
              <a:gd name="T24" fmla="*/ 59923 w 79"/>
              <a:gd name="T25" fmla="*/ 0 h 67"/>
              <a:gd name="T26" fmla="*/ 44229 w 79"/>
              <a:gd name="T27" fmla="*/ 0 h 67"/>
              <a:gd name="T28" fmla="*/ 31388 w 79"/>
              <a:gd name="T29" fmla="*/ 6350 h 67"/>
              <a:gd name="T30" fmla="*/ 17121 w 79"/>
              <a:gd name="T31" fmla="*/ 11113 h 67"/>
              <a:gd name="T32" fmla="*/ 0 w 79"/>
              <a:gd name="T33" fmla="*/ 22225 h 6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79"/>
              <a:gd name="T52" fmla="*/ 0 h 67"/>
              <a:gd name="T53" fmla="*/ 79 w 79"/>
              <a:gd name="T54" fmla="*/ 67 h 67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79" h="67">
                <a:moveTo>
                  <a:pt x="66" y="66"/>
                </a:moveTo>
                <a:lnTo>
                  <a:pt x="71" y="57"/>
                </a:lnTo>
                <a:lnTo>
                  <a:pt x="75" y="50"/>
                </a:lnTo>
                <a:lnTo>
                  <a:pt x="76" y="42"/>
                </a:lnTo>
                <a:lnTo>
                  <a:pt x="78" y="35"/>
                </a:lnTo>
                <a:lnTo>
                  <a:pt x="76" y="28"/>
                </a:lnTo>
                <a:lnTo>
                  <a:pt x="75" y="21"/>
                </a:lnTo>
                <a:lnTo>
                  <a:pt x="73" y="14"/>
                </a:lnTo>
                <a:lnTo>
                  <a:pt x="68" y="9"/>
                </a:lnTo>
                <a:lnTo>
                  <a:pt x="62" y="5"/>
                </a:lnTo>
                <a:lnTo>
                  <a:pt x="57" y="2"/>
                </a:lnTo>
                <a:lnTo>
                  <a:pt x="49" y="0"/>
                </a:lnTo>
                <a:lnTo>
                  <a:pt x="42" y="0"/>
                </a:lnTo>
                <a:lnTo>
                  <a:pt x="31" y="0"/>
                </a:lnTo>
                <a:lnTo>
                  <a:pt x="22" y="4"/>
                </a:lnTo>
                <a:lnTo>
                  <a:pt x="12" y="7"/>
                </a:lnTo>
                <a:lnTo>
                  <a:pt x="0" y="14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39" name="Line 136">
            <a:extLst>
              <a:ext uri="{FF2B5EF4-FFF2-40B4-BE49-F238E27FC236}">
                <a16:creationId xmlns:a16="http://schemas.microsoft.com/office/drawing/2014/main" id="{C081E282-0B8F-F95E-A2E9-531DFC27AC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3750" y="4017963"/>
            <a:ext cx="228600" cy="142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0" name="Freeform 137">
            <a:extLst>
              <a:ext uri="{FF2B5EF4-FFF2-40B4-BE49-F238E27FC236}">
                <a16:creationId xmlns:a16="http://schemas.microsoft.com/office/drawing/2014/main" id="{9290191D-A398-8A89-44B4-034E4BCAFCF6}"/>
              </a:ext>
            </a:extLst>
          </p:cNvPr>
          <p:cNvSpPr>
            <a:spLocks/>
          </p:cNvSpPr>
          <p:nvPr/>
        </p:nvSpPr>
        <p:spPr bwMode="auto">
          <a:xfrm>
            <a:off x="1592263" y="4092575"/>
            <a:ext cx="374650" cy="568325"/>
          </a:xfrm>
          <a:custGeom>
            <a:avLst/>
            <a:gdLst>
              <a:gd name="T0" fmla="*/ 343664 w 266"/>
              <a:gd name="T1" fmla="*/ 0 h 358"/>
              <a:gd name="T2" fmla="*/ 373242 w 266"/>
              <a:gd name="T3" fmla="*/ 277813 h 358"/>
              <a:gd name="T4" fmla="*/ 233804 w 266"/>
              <a:gd name="T5" fmla="*/ 465138 h 358"/>
              <a:gd name="T6" fmla="*/ 0 w 266"/>
              <a:gd name="T7" fmla="*/ 566738 h 358"/>
              <a:gd name="T8" fmla="*/ 0 60000 65536"/>
              <a:gd name="T9" fmla="*/ 0 60000 65536"/>
              <a:gd name="T10" fmla="*/ 0 60000 65536"/>
              <a:gd name="T11" fmla="*/ 0 60000 65536"/>
              <a:gd name="T12" fmla="*/ 0 w 266"/>
              <a:gd name="T13" fmla="*/ 0 h 358"/>
              <a:gd name="T14" fmla="*/ 266 w 266"/>
              <a:gd name="T15" fmla="*/ 358 h 3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" h="358">
                <a:moveTo>
                  <a:pt x="244" y="0"/>
                </a:moveTo>
                <a:lnTo>
                  <a:pt x="265" y="175"/>
                </a:lnTo>
                <a:lnTo>
                  <a:pt x="166" y="293"/>
                </a:lnTo>
                <a:lnTo>
                  <a:pt x="0" y="357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41" name="Freeform 138">
            <a:extLst>
              <a:ext uri="{FF2B5EF4-FFF2-40B4-BE49-F238E27FC236}">
                <a16:creationId xmlns:a16="http://schemas.microsoft.com/office/drawing/2014/main" id="{F6CF6454-E1EE-1833-5D6B-AA12900BFA51}"/>
              </a:ext>
            </a:extLst>
          </p:cNvPr>
          <p:cNvSpPr>
            <a:spLocks/>
          </p:cNvSpPr>
          <p:nvPr/>
        </p:nvSpPr>
        <p:spPr bwMode="auto">
          <a:xfrm>
            <a:off x="1892300" y="4138613"/>
            <a:ext cx="66675" cy="52387"/>
          </a:xfrm>
          <a:custGeom>
            <a:avLst/>
            <a:gdLst>
              <a:gd name="T0" fmla="*/ 65256 w 47"/>
              <a:gd name="T1" fmla="*/ 50800 h 33"/>
              <a:gd name="T2" fmla="*/ 41140 w 47"/>
              <a:gd name="T3" fmla="*/ 44450 h 33"/>
              <a:gd name="T4" fmla="*/ 21279 w 47"/>
              <a:gd name="T5" fmla="*/ 38100 h 33"/>
              <a:gd name="T6" fmla="*/ 14186 w 47"/>
              <a:gd name="T7" fmla="*/ 33337 h 33"/>
              <a:gd name="T8" fmla="*/ 8512 w 47"/>
              <a:gd name="T9" fmla="*/ 30162 h 33"/>
              <a:gd name="T10" fmla="*/ 4256 w 47"/>
              <a:gd name="T11" fmla="*/ 25400 h 33"/>
              <a:gd name="T12" fmla="*/ 2837 w 47"/>
              <a:gd name="T13" fmla="*/ 22225 h 33"/>
              <a:gd name="T14" fmla="*/ 0 w 47"/>
              <a:gd name="T15" fmla="*/ 17462 h 33"/>
              <a:gd name="T16" fmla="*/ 2837 w 47"/>
              <a:gd name="T17" fmla="*/ 12700 h 33"/>
              <a:gd name="T18" fmla="*/ 5674 w 47"/>
              <a:gd name="T19" fmla="*/ 11112 h 33"/>
              <a:gd name="T20" fmla="*/ 12768 w 47"/>
              <a:gd name="T21" fmla="*/ 6350 h 33"/>
              <a:gd name="T22" fmla="*/ 21279 w 47"/>
              <a:gd name="T23" fmla="*/ 4762 h 33"/>
              <a:gd name="T24" fmla="*/ 29791 w 47"/>
              <a:gd name="T25" fmla="*/ 3175 h 33"/>
              <a:gd name="T26" fmla="*/ 42559 w 47"/>
              <a:gd name="T27" fmla="*/ 0 h 33"/>
              <a:gd name="T28" fmla="*/ 59582 w 47"/>
              <a:gd name="T29" fmla="*/ 0 h 33"/>
              <a:gd name="T30" fmla="*/ 65256 w 47"/>
              <a:gd name="T31" fmla="*/ 50800 h 3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7"/>
              <a:gd name="T49" fmla="*/ 0 h 33"/>
              <a:gd name="T50" fmla="*/ 47 w 47"/>
              <a:gd name="T51" fmla="*/ 33 h 3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7" h="33">
                <a:moveTo>
                  <a:pt x="46" y="32"/>
                </a:moveTo>
                <a:lnTo>
                  <a:pt x="29" y="28"/>
                </a:lnTo>
                <a:lnTo>
                  <a:pt x="15" y="24"/>
                </a:lnTo>
                <a:lnTo>
                  <a:pt x="10" y="21"/>
                </a:lnTo>
                <a:lnTo>
                  <a:pt x="6" y="19"/>
                </a:lnTo>
                <a:lnTo>
                  <a:pt x="3" y="16"/>
                </a:lnTo>
                <a:lnTo>
                  <a:pt x="2" y="14"/>
                </a:lnTo>
                <a:lnTo>
                  <a:pt x="0" y="11"/>
                </a:lnTo>
                <a:lnTo>
                  <a:pt x="2" y="8"/>
                </a:lnTo>
                <a:lnTo>
                  <a:pt x="4" y="7"/>
                </a:lnTo>
                <a:lnTo>
                  <a:pt x="9" y="4"/>
                </a:lnTo>
                <a:lnTo>
                  <a:pt x="15" y="3"/>
                </a:lnTo>
                <a:lnTo>
                  <a:pt x="21" y="2"/>
                </a:lnTo>
                <a:lnTo>
                  <a:pt x="30" y="0"/>
                </a:lnTo>
                <a:lnTo>
                  <a:pt x="42" y="0"/>
                </a:lnTo>
                <a:lnTo>
                  <a:pt x="46" y="32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42" name="Freeform 139">
            <a:extLst>
              <a:ext uri="{FF2B5EF4-FFF2-40B4-BE49-F238E27FC236}">
                <a16:creationId xmlns:a16="http://schemas.microsoft.com/office/drawing/2014/main" id="{390F8D38-DE46-C438-8D6C-E47F7B7F5A90}"/>
              </a:ext>
            </a:extLst>
          </p:cNvPr>
          <p:cNvSpPr>
            <a:spLocks/>
          </p:cNvSpPr>
          <p:nvPr/>
        </p:nvSpPr>
        <p:spPr bwMode="auto">
          <a:xfrm>
            <a:off x="1892300" y="4138613"/>
            <a:ext cx="80963" cy="68262"/>
          </a:xfrm>
          <a:custGeom>
            <a:avLst/>
            <a:gdLst>
              <a:gd name="T0" fmla="*/ 79543 w 57"/>
              <a:gd name="T1" fmla="*/ 66675 h 43"/>
              <a:gd name="T2" fmla="*/ 49714 w 57"/>
              <a:gd name="T3" fmla="*/ 58737 h 43"/>
              <a:gd name="T4" fmla="*/ 25567 w 57"/>
              <a:gd name="T5" fmla="*/ 49212 h 43"/>
              <a:gd name="T6" fmla="*/ 17045 w 57"/>
              <a:gd name="T7" fmla="*/ 44450 h 43"/>
              <a:gd name="T8" fmla="*/ 9943 w 57"/>
              <a:gd name="T9" fmla="*/ 39687 h 43"/>
              <a:gd name="T10" fmla="*/ 5682 w 57"/>
              <a:gd name="T11" fmla="*/ 33337 h 43"/>
              <a:gd name="T12" fmla="*/ 2841 w 57"/>
              <a:gd name="T13" fmla="*/ 28575 h 43"/>
              <a:gd name="T14" fmla="*/ 0 w 57"/>
              <a:gd name="T15" fmla="*/ 22225 h 43"/>
              <a:gd name="T16" fmla="*/ 2841 w 57"/>
              <a:gd name="T17" fmla="*/ 17462 h 43"/>
              <a:gd name="T18" fmla="*/ 7102 w 57"/>
              <a:gd name="T19" fmla="*/ 14287 h 43"/>
              <a:gd name="T20" fmla="*/ 15624 w 57"/>
              <a:gd name="T21" fmla="*/ 7937 h 43"/>
              <a:gd name="T22" fmla="*/ 25567 w 57"/>
              <a:gd name="T23" fmla="*/ 6350 h 43"/>
              <a:gd name="T24" fmla="*/ 36930 w 57"/>
              <a:gd name="T25" fmla="*/ 3175 h 43"/>
              <a:gd name="T26" fmla="*/ 52555 w 57"/>
              <a:gd name="T27" fmla="*/ 0 h 43"/>
              <a:gd name="T28" fmla="*/ 72441 w 57"/>
              <a:gd name="T29" fmla="*/ 0 h 4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7"/>
              <a:gd name="T46" fmla="*/ 0 h 43"/>
              <a:gd name="T47" fmla="*/ 57 w 57"/>
              <a:gd name="T48" fmla="*/ 43 h 43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7" h="43">
                <a:moveTo>
                  <a:pt x="56" y="42"/>
                </a:moveTo>
                <a:lnTo>
                  <a:pt x="35" y="37"/>
                </a:lnTo>
                <a:lnTo>
                  <a:pt x="18" y="31"/>
                </a:lnTo>
                <a:lnTo>
                  <a:pt x="12" y="28"/>
                </a:lnTo>
                <a:lnTo>
                  <a:pt x="7" y="25"/>
                </a:lnTo>
                <a:lnTo>
                  <a:pt x="4" y="21"/>
                </a:lnTo>
                <a:lnTo>
                  <a:pt x="2" y="18"/>
                </a:lnTo>
                <a:lnTo>
                  <a:pt x="0" y="14"/>
                </a:lnTo>
                <a:lnTo>
                  <a:pt x="2" y="11"/>
                </a:lnTo>
                <a:lnTo>
                  <a:pt x="5" y="9"/>
                </a:lnTo>
                <a:lnTo>
                  <a:pt x="11" y="5"/>
                </a:lnTo>
                <a:lnTo>
                  <a:pt x="18" y="4"/>
                </a:lnTo>
                <a:lnTo>
                  <a:pt x="26" y="2"/>
                </a:lnTo>
                <a:lnTo>
                  <a:pt x="37" y="0"/>
                </a:lnTo>
                <a:lnTo>
                  <a:pt x="51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43" name="Freeform 140">
            <a:extLst>
              <a:ext uri="{FF2B5EF4-FFF2-40B4-BE49-F238E27FC236}">
                <a16:creationId xmlns:a16="http://schemas.microsoft.com/office/drawing/2014/main" id="{2928E7EE-8F35-5BEA-840A-A5C2938D5935}"/>
              </a:ext>
            </a:extLst>
          </p:cNvPr>
          <p:cNvSpPr>
            <a:spLocks/>
          </p:cNvSpPr>
          <p:nvPr/>
        </p:nvSpPr>
        <p:spPr bwMode="auto">
          <a:xfrm>
            <a:off x="1905000" y="4216400"/>
            <a:ext cx="66675" cy="49213"/>
          </a:xfrm>
          <a:custGeom>
            <a:avLst/>
            <a:gdLst>
              <a:gd name="T0" fmla="*/ 65226 w 46"/>
              <a:gd name="T1" fmla="*/ 47625 h 31"/>
              <a:gd name="T2" fmla="*/ 42034 w 46"/>
              <a:gd name="T3" fmla="*/ 42863 h 31"/>
              <a:gd name="T4" fmla="*/ 20292 w 46"/>
              <a:gd name="T5" fmla="*/ 34925 h 31"/>
              <a:gd name="T6" fmla="*/ 14495 w 46"/>
              <a:gd name="T7" fmla="*/ 31750 h 31"/>
              <a:gd name="T8" fmla="*/ 8697 w 46"/>
              <a:gd name="T9" fmla="*/ 28575 h 31"/>
              <a:gd name="T10" fmla="*/ 2899 w 46"/>
              <a:gd name="T11" fmla="*/ 25400 h 31"/>
              <a:gd name="T12" fmla="*/ 2899 w 46"/>
              <a:gd name="T13" fmla="*/ 20638 h 31"/>
              <a:gd name="T14" fmla="*/ 0 w 46"/>
              <a:gd name="T15" fmla="*/ 17463 h 31"/>
              <a:gd name="T16" fmla="*/ 2899 w 46"/>
              <a:gd name="T17" fmla="*/ 12700 h 31"/>
              <a:gd name="T18" fmla="*/ 5798 w 46"/>
              <a:gd name="T19" fmla="*/ 7938 h 31"/>
              <a:gd name="T20" fmla="*/ 11596 w 46"/>
              <a:gd name="T21" fmla="*/ 6350 h 31"/>
              <a:gd name="T22" fmla="*/ 20292 w 46"/>
              <a:gd name="T23" fmla="*/ 3175 h 31"/>
              <a:gd name="T24" fmla="*/ 30439 w 46"/>
              <a:gd name="T25" fmla="*/ 3175 h 31"/>
              <a:gd name="T26" fmla="*/ 42034 w 46"/>
              <a:gd name="T27" fmla="*/ 0 h 31"/>
              <a:gd name="T28" fmla="*/ 59428 w 46"/>
              <a:gd name="T29" fmla="*/ 0 h 31"/>
              <a:gd name="T30" fmla="*/ 65226 w 46"/>
              <a:gd name="T31" fmla="*/ 47625 h 3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6"/>
              <a:gd name="T49" fmla="*/ 0 h 31"/>
              <a:gd name="T50" fmla="*/ 46 w 46"/>
              <a:gd name="T51" fmla="*/ 31 h 3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6" h="31">
                <a:moveTo>
                  <a:pt x="45" y="30"/>
                </a:moveTo>
                <a:lnTo>
                  <a:pt x="29" y="27"/>
                </a:lnTo>
                <a:lnTo>
                  <a:pt x="14" y="22"/>
                </a:lnTo>
                <a:lnTo>
                  <a:pt x="10" y="20"/>
                </a:lnTo>
                <a:lnTo>
                  <a:pt x="6" y="18"/>
                </a:lnTo>
                <a:lnTo>
                  <a:pt x="2" y="16"/>
                </a:lnTo>
                <a:lnTo>
                  <a:pt x="2" y="13"/>
                </a:lnTo>
                <a:lnTo>
                  <a:pt x="0" y="11"/>
                </a:lnTo>
                <a:lnTo>
                  <a:pt x="2" y="8"/>
                </a:lnTo>
                <a:lnTo>
                  <a:pt x="4" y="5"/>
                </a:lnTo>
                <a:lnTo>
                  <a:pt x="8" y="4"/>
                </a:lnTo>
                <a:lnTo>
                  <a:pt x="14" y="2"/>
                </a:lnTo>
                <a:lnTo>
                  <a:pt x="21" y="2"/>
                </a:lnTo>
                <a:lnTo>
                  <a:pt x="29" y="0"/>
                </a:lnTo>
                <a:lnTo>
                  <a:pt x="41" y="0"/>
                </a:lnTo>
                <a:lnTo>
                  <a:pt x="45" y="3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44" name="Freeform 141">
            <a:extLst>
              <a:ext uri="{FF2B5EF4-FFF2-40B4-BE49-F238E27FC236}">
                <a16:creationId xmlns:a16="http://schemas.microsoft.com/office/drawing/2014/main" id="{8783A0D7-C373-5684-4466-C9526B7F2649}"/>
              </a:ext>
            </a:extLst>
          </p:cNvPr>
          <p:cNvSpPr>
            <a:spLocks/>
          </p:cNvSpPr>
          <p:nvPr/>
        </p:nvSpPr>
        <p:spPr bwMode="auto">
          <a:xfrm>
            <a:off x="1905000" y="4216400"/>
            <a:ext cx="79375" cy="65088"/>
          </a:xfrm>
          <a:custGeom>
            <a:avLst/>
            <a:gdLst>
              <a:gd name="T0" fmla="*/ 77958 w 56"/>
              <a:gd name="T1" fmla="*/ 63500 h 41"/>
              <a:gd name="T2" fmla="*/ 49609 w 56"/>
              <a:gd name="T3" fmla="*/ 57150 h 41"/>
              <a:gd name="T4" fmla="*/ 24096 w 56"/>
              <a:gd name="T5" fmla="*/ 46038 h 41"/>
              <a:gd name="T6" fmla="*/ 17009 w 56"/>
              <a:gd name="T7" fmla="*/ 41275 h 41"/>
              <a:gd name="T8" fmla="*/ 9922 w 56"/>
              <a:gd name="T9" fmla="*/ 38100 h 41"/>
              <a:gd name="T10" fmla="*/ 4252 w 56"/>
              <a:gd name="T11" fmla="*/ 33338 h 41"/>
              <a:gd name="T12" fmla="*/ 2835 w 56"/>
              <a:gd name="T13" fmla="*/ 26988 h 41"/>
              <a:gd name="T14" fmla="*/ 0 w 56"/>
              <a:gd name="T15" fmla="*/ 22225 h 41"/>
              <a:gd name="T16" fmla="*/ 2835 w 56"/>
              <a:gd name="T17" fmla="*/ 15875 h 41"/>
              <a:gd name="T18" fmla="*/ 7087 w 56"/>
              <a:gd name="T19" fmla="*/ 11113 h 41"/>
              <a:gd name="T20" fmla="*/ 14174 w 56"/>
              <a:gd name="T21" fmla="*/ 7938 h 41"/>
              <a:gd name="T22" fmla="*/ 24096 w 56"/>
              <a:gd name="T23" fmla="*/ 4763 h 41"/>
              <a:gd name="T24" fmla="*/ 36853 w 56"/>
              <a:gd name="T25" fmla="*/ 3175 h 41"/>
              <a:gd name="T26" fmla="*/ 51027 w 56"/>
              <a:gd name="T27" fmla="*/ 0 h 41"/>
              <a:gd name="T28" fmla="*/ 70871 w 56"/>
              <a:gd name="T29" fmla="*/ 0 h 4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6"/>
              <a:gd name="T46" fmla="*/ 0 h 41"/>
              <a:gd name="T47" fmla="*/ 56 w 56"/>
              <a:gd name="T48" fmla="*/ 41 h 4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6" h="41">
                <a:moveTo>
                  <a:pt x="55" y="40"/>
                </a:moveTo>
                <a:lnTo>
                  <a:pt x="35" y="36"/>
                </a:lnTo>
                <a:lnTo>
                  <a:pt x="17" y="29"/>
                </a:lnTo>
                <a:lnTo>
                  <a:pt x="12" y="26"/>
                </a:lnTo>
                <a:lnTo>
                  <a:pt x="7" y="24"/>
                </a:lnTo>
                <a:lnTo>
                  <a:pt x="3" y="21"/>
                </a:lnTo>
                <a:lnTo>
                  <a:pt x="2" y="17"/>
                </a:lnTo>
                <a:lnTo>
                  <a:pt x="0" y="14"/>
                </a:lnTo>
                <a:lnTo>
                  <a:pt x="2" y="10"/>
                </a:lnTo>
                <a:lnTo>
                  <a:pt x="5" y="7"/>
                </a:lnTo>
                <a:lnTo>
                  <a:pt x="10" y="5"/>
                </a:lnTo>
                <a:lnTo>
                  <a:pt x="17" y="3"/>
                </a:lnTo>
                <a:lnTo>
                  <a:pt x="26" y="2"/>
                </a:lnTo>
                <a:lnTo>
                  <a:pt x="36" y="0"/>
                </a:lnTo>
                <a:lnTo>
                  <a:pt x="50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45" name="Freeform 142">
            <a:extLst>
              <a:ext uri="{FF2B5EF4-FFF2-40B4-BE49-F238E27FC236}">
                <a16:creationId xmlns:a16="http://schemas.microsoft.com/office/drawing/2014/main" id="{C20D5F29-E042-5B85-2E56-B2EF4DB2D4D5}"/>
              </a:ext>
            </a:extLst>
          </p:cNvPr>
          <p:cNvSpPr>
            <a:spLocks/>
          </p:cNvSpPr>
          <p:nvPr/>
        </p:nvSpPr>
        <p:spPr bwMode="auto">
          <a:xfrm>
            <a:off x="1871663" y="4414838"/>
            <a:ext cx="57150" cy="73025"/>
          </a:xfrm>
          <a:custGeom>
            <a:avLst/>
            <a:gdLst>
              <a:gd name="T0" fmla="*/ 25090 w 41"/>
              <a:gd name="T1" fmla="*/ 71438 h 46"/>
              <a:gd name="T2" fmla="*/ 11151 w 41"/>
              <a:gd name="T3" fmla="*/ 49212 h 46"/>
              <a:gd name="T4" fmla="*/ 2788 w 41"/>
              <a:gd name="T5" fmla="*/ 31750 h 46"/>
              <a:gd name="T6" fmla="*/ 0 w 41"/>
              <a:gd name="T7" fmla="*/ 15875 h 46"/>
              <a:gd name="T8" fmla="*/ 1394 w 41"/>
              <a:gd name="T9" fmla="*/ 3175 h 46"/>
              <a:gd name="T10" fmla="*/ 2788 w 41"/>
              <a:gd name="T11" fmla="*/ 0 h 46"/>
              <a:gd name="T12" fmla="*/ 8363 w 41"/>
              <a:gd name="T13" fmla="*/ 0 h 46"/>
              <a:gd name="T14" fmla="*/ 11151 w 41"/>
              <a:gd name="T15" fmla="*/ 0 h 46"/>
              <a:gd name="T16" fmla="*/ 19515 w 41"/>
              <a:gd name="T17" fmla="*/ 0 h 46"/>
              <a:gd name="T18" fmla="*/ 25090 w 41"/>
              <a:gd name="T19" fmla="*/ 3175 h 46"/>
              <a:gd name="T20" fmla="*/ 34848 w 41"/>
              <a:gd name="T21" fmla="*/ 11112 h 46"/>
              <a:gd name="T22" fmla="*/ 44605 w 41"/>
              <a:gd name="T23" fmla="*/ 17463 h 46"/>
              <a:gd name="T24" fmla="*/ 55756 w 41"/>
              <a:gd name="T25" fmla="*/ 28575 h 46"/>
              <a:gd name="T26" fmla="*/ 25090 w 41"/>
              <a:gd name="T27" fmla="*/ 71438 h 4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1"/>
              <a:gd name="T43" fmla="*/ 0 h 46"/>
              <a:gd name="T44" fmla="*/ 41 w 41"/>
              <a:gd name="T45" fmla="*/ 46 h 4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1" h="46">
                <a:moveTo>
                  <a:pt x="18" y="45"/>
                </a:moveTo>
                <a:lnTo>
                  <a:pt x="8" y="31"/>
                </a:lnTo>
                <a:lnTo>
                  <a:pt x="2" y="20"/>
                </a:lnTo>
                <a:lnTo>
                  <a:pt x="0" y="10"/>
                </a:lnTo>
                <a:lnTo>
                  <a:pt x="1" y="2"/>
                </a:lnTo>
                <a:lnTo>
                  <a:pt x="2" y="0"/>
                </a:lnTo>
                <a:lnTo>
                  <a:pt x="6" y="0"/>
                </a:lnTo>
                <a:lnTo>
                  <a:pt x="8" y="0"/>
                </a:lnTo>
                <a:lnTo>
                  <a:pt x="14" y="0"/>
                </a:lnTo>
                <a:lnTo>
                  <a:pt x="18" y="2"/>
                </a:lnTo>
                <a:lnTo>
                  <a:pt x="25" y="7"/>
                </a:lnTo>
                <a:lnTo>
                  <a:pt x="32" y="11"/>
                </a:lnTo>
                <a:lnTo>
                  <a:pt x="40" y="18"/>
                </a:lnTo>
                <a:lnTo>
                  <a:pt x="18" y="45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46" name="Freeform 143">
            <a:extLst>
              <a:ext uri="{FF2B5EF4-FFF2-40B4-BE49-F238E27FC236}">
                <a16:creationId xmlns:a16="http://schemas.microsoft.com/office/drawing/2014/main" id="{2888E5D2-7663-E0C8-724E-472C15A92DD0}"/>
              </a:ext>
            </a:extLst>
          </p:cNvPr>
          <p:cNvSpPr>
            <a:spLocks/>
          </p:cNvSpPr>
          <p:nvPr/>
        </p:nvSpPr>
        <p:spPr bwMode="auto">
          <a:xfrm>
            <a:off x="1871663" y="4414838"/>
            <a:ext cx="71437" cy="88900"/>
          </a:xfrm>
          <a:custGeom>
            <a:avLst/>
            <a:gdLst>
              <a:gd name="T0" fmla="*/ 30816 w 51"/>
              <a:gd name="T1" fmla="*/ 87313 h 56"/>
              <a:gd name="T2" fmla="*/ 14007 w 51"/>
              <a:gd name="T3" fmla="*/ 60325 h 56"/>
              <a:gd name="T4" fmla="*/ 4202 w 51"/>
              <a:gd name="T5" fmla="*/ 38100 h 56"/>
              <a:gd name="T6" fmla="*/ 0 w 51"/>
              <a:gd name="T7" fmla="*/ 19050 h 56"/>
              <a:gd name="T8" fmla="*/ 1401 w 51"/>
              <a:gd name="T9" fmla="*/ 4763 h 56"/>
              <a:gd name="T10" fmla="*/ 4202 w 51"/>
              <a:gd name="T11" fmla="*/ 0 h 56"/>
              <a:gd name="T12" fmla="*/ 9805 w 51"/>
              <a:gd name="T13" fmla="*/ 0 h 56"/>
              <a:gd name="T14" fmla="*/ 14007 w 51"/>
              <a:gd name="T15" fmla="*/ 0 h 56"/>
              <a:gd name="T16" fmla="*/ 23812 w 51"/>
              <a:gd name="T17" fmla="*/ 0 h 56"/>
              <a:gd name="T18" fmla="*/ 30816 w 51"/>
              <a:gd name="T19" fmla="*/ 4763 h 56"/>
              <a:gd name="T20" fmla="*/ 43422 w 51"/>
              <a:gd name="T21" fmla="*/ 12700 h 56"/>
              <a:gd name="T22" fmla="*/ 56029 w 51"/>
              <a:gd name="T23" fmla="*/ 22225 h 56"/>
              <a:gd name="T24" fmla="*/ 70036 w 51"/>
              <a:gd name="T25" fmla="*/ 34925 h 5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1"/>
              <a:gd name="T40" fmla="*/ 0 h 56"/>
              <a:gd name="T41" fmla="*/ 51 w 51"/>
              <a:gd name="T42" fmla="*/ 56 h 5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1" h="56">
                <a:moveTo>
                  <a:pt x="22" y="55"/>
                </a:moveTo>
                <a:lnTo>
                  <a:pt x="10" y="38"/>
                </a:lnTo>
                <a:lnTo>
                  <a:pt x="3" y="24"/>
                </a:lnTo>
                <a:lnTo>
                  <a:pt x="0" y="12"/>
                </a:lnTo>
                <a:lnTo>
                  <a:pt x="1" y="3"/>
                </a:lnTo>
                <a:lnTo>
                  <a:pt x="3" y="0"/>
                </a:lnTo>
                <a:lnTo>
                  <a:pt x="7" y="0"/>
                </a:lnTo>
                <a:lnTo>
                  <a:pt x="10" y="0"/>
                </a:lnTo>
                <a:lnTo>
                  <a:pt x="17" y="0"/>
                </a:lnTo>
                <a:lnTo>
                  <a:pt x="22" y="3"/>
                </a:lnTo>
                <a:lnTo>
                  <a:pt x="31" y="8"/>
                </a:lnTo>
                <a:lnTo>
                  <a:pt x="40" y="14"/>
                </a:lnTo>
                <a:lnTo>
                  <a:pt x="50" y="22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47" name="Freeform 144">
            <a:extLst>
              <a:ext uri="{FF2B5EF4-FFF2-40B4-BE49-F238E27FC236}">
                <a16:creationId xmlns:a16="http://schemas.microsoft.com/office/drawing/2014/main" id="{89335DAE-13E9-5EA7-B66B-7ABBF2E3AF57}"/>
              </a:ext>
            </a:extLst>
          </p:cNvPr>
          <p:cNvSpPr>
            <a:spLocks/>
          </p:cNvSpPr>
          <p:nvPr/>
        </p:nvSpPr>
        <p:spPr bwMode="auto">
          <a:xfrm>
            <a:off x="1831975" y="4467225"/>
            <a:ext cx="58738" cy="76200"/>
          </a:xfrm>
          <a:custGeom>
            <a:avLst/>
            <a:gdLst>
              <a:gd name="T0" fmla="*/ 25787 w 41"/>
              <a:gd name="T1" fmla="*/ 74613 h 48"/>
              <a:gd name="T2" fmla="*/ 11461 w 41"/>
              <a:gd name="T3" fmla="*/ 52388 h 48"/>
              <a:gd name="T4" fmla="*/ 2865 w 41"/>
              <a:gd name="T5" fmla="*/ 33338 h 48"/>
              <a:gd name="T6" fmla="*/ 0 w 41"/>
              <a:gd name="T7" fmla="*/ 15875 h 48"/>
              <a:gd name="T8" fmla="*/ 2865 w 41"/>
              <a:gd name="T9" fmla="*/ 6350 h 48"/>
              <a:gd name="T10" fmla="*/ 2865 w 41"/>
              <a:gd name="T11" fmla="*/ 1588 h 48"/>
              <a:gd name="T12" fmla="*/ 8596 w 41"/>
              <a:gd name="T13" fmla="*/ 0 h 48"/>
              <a:gd name="T14" fmla="*/ 14326 w 41"/>
              <a:gd name="T15" fmla="*/ 0 h 48"/>
              <a:gd name="T16" fmla="*/ 20057 w 41"/>
              <a:gd name="T17" fmla="*/ 1588 h 48"/>
              <a:gd name="T18" fmla="*/ 27220 w 41"/>
              <a:gd name="T19" fmla="*/ 6350 h 48"/>
              <a:gd name="T20" fmla="*/ 35816 w 41"/>
              <a:gd name="T21" fmla="*/ 11112 h 48"/>
              <a:gd name="T22" fmla="*/ 45844 w 41"/>
              <a:gd name="T23" fmla="*/ 19050 h 48"/>
              <a:gd name="T24" fmla="*/ 57305 w 41"/>
              <a:gd name="T25" fmla="*/ 31750 h 48"/>
              <a:gd name="T26" fmla="*/ 25787 w 41"/>
              <a:gd name="T27" fmla="*/ 74613 h 4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1"/>
              <a:gd name="T43" fmla="*/ 0 h 48"/>
              <a:gd name="T44" fmla="*/ 41 w 41"/>
              <a:gd name="T45" fmla="*/ 48 h 48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1" h="48">
                <a:moveTo>
                  <a:pt x="18" y="47"/>
                </a:moveTo>
                <a:lnTo>
                  <a:pt x="8" y="33"/>
                </a:lnTo>
                <a:lnTo>
                  <a:pt x="2" y="21"/>
                </a:lnTo>
                <a:lnTo>
                  <a:pt x="0" y="10"/>
                </a:lnTo>
                <a:lnTo>
                  <a:pt x="2" y="4"/>
                </a:lnTo>
                <a:lnTo>
                  <a:pt x="2" y="1"/>
                </a:lnTo>
                <a:lnTo>
                  <a:pt x="6" y="0"/>
                </a:lnTo>
                <a:lnTo>
                  <a:pt x="10" y="0"/>
                </a:lnTo>
                <a:lnTo>
                  <a:pt x="14" y="1"/>
                </a:lnTo>
                <a:lnTo>
                  <a:pt x="19" y="4"/>
                </a:lnTo>
                <a:lnTo>
                  <a:pt x="25" y="7"/>
                </a:lnTo>
                <a:lnTo>
                  <a:pt x="32" y="12"/>
                </a:lnTo>
                <a:lnTo>
                  <a:pt x="40" y="20"/>
                </a:lnTo>
                <a:lnTo>
                  <a:pt x="18" y="47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48" name="Freeform 145">
            <a:extLst>
              <a:ext uri="{FF2B5EF4-FFF2-40B4-BE49-F238E27FC236}">
                <a16:creationId xmlns:a16="http://schemas.microsoft.com/office/drawing/2014/main" id="{0349EE74-FA4D-DFBC-329E-849C423CF651}"/>
              </a:ext>
            </a:extLst>
          </p:cNvPr>
          <p:cNvSpPr>
            <a:spLocks/>
          </p:cNvSpPr>
          <p:nvPr/>
        </p:nvSpPr>
        <p:spPr bwMode="auto">
          <a:xfrm>
            <a:off x="1831975" y="4467225"/>
            <a:ext cx="71438" cy="92075"/>
          </a:xfrm>
          <a:custGeom>
            <a:avLst/>
            <a:gdLst>
              <a:gd name="T0" fmla="*/ 30816 w 51"/>
              <a:gd name="T1" fmla="*/ 90488 h 58"/>
              <a:gd name="T2" fmla="*/ 14007 w 51"/>
              <a:gd name="T3" fmla="*/ 63500 h 58"/>
              <a:gd name="T4" fmla="*/ 4202 w 51"/>
              <a:gd name="T5" fmla="*/ 41275 h 58"/>
              <a:gd name="T6" fmla="*/ 0 w 51"/>
              <a:gd name="T7" fmla="*/ 19050 h 58"/>
              <a:gd name="T8" fmla="*/ 2801 w 51"/>
              <a:gd name="T9" fmla="*/ 7938 h 58"/>
              <a:gd name="T10" fmla="*/ 4202 w 51"/>
              <a:gd name="T11" fmla="*/ 1588 h 58"/>
              <a:gd name="T12" fmla="*/ 9805 w 51"/>
              <a:gd name="T13" fmla="*/ 0 h 58"/>
              <a:gd name="T14" fmla="*/ 16809 w 51"/>
              <a:gd name="T15" fmla="*/ 0 h 58"/>
              <a:gd name="T16" fmla="*/ 23813 w 51"/>
              <a:gd name="T17" fmla="*/ 1588 h 58"/>
              <a:gd name="T18" fmla="*/ 33618 w 51"/>
              <a:gd name="T19" fmla="*/ 7938 h 58"/>
              <a:gd name="T20" fmla="*/ 43423 w 51"/>
              <a:gd name="T21" fmla="*/ 12700 h 58"/>
              <a:gd name="T22" fmla="*/ 56030 w 51"/>
              <a:gd name="T23" fmla="*/ 23812 h 58"/>
              <a:gd name="T24" fmla="*/ 70037 w 51"/>
              <a:gd name="T25" fmla="*/ 38100 h 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1"/>
              <a:gd name="T40" fmla="*/ 0 h 58"/>
              <a:gd name="T41" fmla="*/ 51 w 51"/>
              <a:gd name="T42" fmla="*/ 58 h 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1" h="58">
                <a:moveTo>
                  <a:pt x="22" y="57"/>
                </a:moveTo>
                <a:lnTo>
                  <a:pt x="10" y="40"/>
                </a:lnTo>
                <a:lnTo>
                  <a:pt x="3" y="26"/>
                </a:lnTo>
                <a:lnTo>
                  <a:pt x="0" y="12"/>
                </a:lnTo>
                <a:lnTo>
                  <a:pt x="2" y="5"/>
                </a:lnTo>
                <a:lnTo>
                  <a:pt x="3" y="1"/>
                </a:lnTo>
                <a:lnTo>
                  <a:pt x="7" y="0"/>
                </a:lnTo>
                <a:lnTo>
                  <a:pt x="12" y="0"/>
                </a:lnTo>
                <a:lnTo>
                  <a:pt x="17" y="1"/>
                </a:lnTo>
                <a:lnTo>
                  <a:pt x="24" y="5"/>
                </a:lnTo>
                <a:lnTo>
                  <a:pt x="31" y="8"/>
                </a:lnTo>
                <a:lnTo>
                  <a:pt x="40" y="15"/>
                </a:lnTo>
                <a:lnTo>
                  <a:pt x="50" y="24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49" name="Freeform 146">
            <a:extLst>
              <a:ext uri="{FF2B5EF4-FFF2-40B4-BE49-F238E27FC236}">
                <a16:creationId xmlns:a16="http://schemas.microsoft.com/office/drawing/2014/main" id="{E710FABA-8216-CC32-4FA2-2FE454273BC6}"/>
              </a:ext>
            </a:extLst>
          </p:cNvPr>
          <p:cNvSpPr>
            <a:spLocks/>
          </p:cNvSpPr>
          <p:nvPr/>
        </p:nvSpPr>
        <p:spPr bwMode="auto">
          <a:xfrm>
            <a:off x="1911350" y="4359275"/>
            <a:ext cx="61913" cy="74613"/>
          </a:xfrm>
          <a:custGeom>
            <a:avLst/>
            <a:gdLst>
              <a:gd name="T0" fmla="*/ 27357 w 43"/>
              <a:gd name="T1" fmla="*/ 73025 h 47"/>
              <a:gd name="T2" fmla="*/ 12959 w 43"/>
              <a:gd name="T3" fmla="*/ 52388 h 47"/>
              <a:gd name="T4" fmla="*/ 4320 w 43"/>
              <a:gd name="T5" fmla="*/ 31750 h 47"/>
              <a:gd name="T6" fmla="*/ 0 w 43"/>
              <a:gd name="T7" fmla="*/ 15875 h 47"/>
              <a:gd name="T8" fmla="*/ 2880 w 43"/>
              <a:gd name="T9" fmla="*/ 4763 h 47"/>
              <a:gd name="T10" fmla="*/ 5759 w 43"/>
              <a:gd name="T11" fmla="*/ 3175 h 47"/>
              <a:gd name="T12" fmla="*/ 10079 w 43"/>
              <a:gd name="T13" fmla="*/ 0 h 47"/>
              <a:gd name="T14" fmla="*/ 14398 w 43"/>
              <a:gd name="T15" fmla="*/ 0 h 47"/>
              <a:gd name="T16" fmla="*/ 20158 w 43"/>
              <a:gd name="T17" fmla="*/ 3175 h 47"/>
              <a:gd name="T18" fmla="*/ 27357 w 43"/>
              <a:gd name="T19" fmla="*/ 6350 h 47"/>
              <a:gd name="T20" fmla="*/ 38876 w 43"/>
              <a:gd name="T21" fmla="*/ 11113 h 47"/>
              <a:gd name="T22" fmla="*/ 48954 w 43"/>
              <a:gd name="T23" fmla="*/ 20638 h 47"/>
              <a:gd name="T24" fmla="*/ 60473 w 43"/>
              <a:gd name="T25" fmla="*/ 31750 h 47"/>
              <a:gd name="T26" fmla="*/ 27357 w 43"/>
              <a:gd name="T27" fmla="*/ 73025 h 4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3"/>
              <a:gd name="T43" fmla="*/ 0 h 47"/>
              <a:gd name="T44" fmla="*/ 43 w 43"/>
              <a:gd name="T45" fmla="*/ 47 h 47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3" h="47">
                <a:moveTo>
                  <a:pt x="19" y="46"/>
                </a:moveTo>
                <a:lnTo>
                  <a:pt x="9" y="33"/>
                </a:lnTo>
                <a:lnTo>
                  <a:pt x="3" y="20"/>
                </a:lnTo>
                <a:lnTo>
                  <a:pt x="0" y="10"/>
                </a:lnTo>
                <a:lnTo>
                  <a:pt x="2" y="3"/>
                </a:lnTo>
                <a:lnTo>
                  <a:pt x="4" y="2"/>
                </a:lnTo>
                <a:lnTo>
                  <a:pt x="7" y="0"/>
                </a:lnTo>
                <a:lnTo>
                  <a:pt x="10" y="0"/>
                </a:lnTo>
                <a:lnTo>
                  <a:pt x="14" y="2"/>
                </a:lnTo>
                <a:lnTo>
                  <a:pt x="19" y="4"/>
                </a:lnTo>
                <a:lnTo>
                  <a:pt x="27" y="7"/>
                </a:lnTo>
                <a:lnTo>
                  <a:pt x="34" y="13"/>
                </a:lnTo>
                <a:lnTo>
                  <a:pt x="42" y="20"/>
                </a:lnTo>
                <a:lnTo>
                  <a:pt x="19" y="46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50" name="Freeform 147">
            <a:extLst>
              <a:ext uri="{FF2B5EF4-FFF2-40B4-BE49-F238E27FC236}">
                <a16:creationId xmlns:a16="http://schemas.microsoft.com/office/drawing/2014/main" id="{2A400251-DAED-BFA9-91CA-3144CF748C69}"/>
              </a:ext>
            </a:extLst>
          </p:cNvPr>
          <p:cNvSpPr>
            <a:spLocks/>
          </p:cNvSpPr>
          <p:nvPr/>
        </p:nvSpPr>
        <p:spPr bwMode="auto">
          <a:xfrm>
            <a:off x="1911350" y="4359275"/>
            <a:ext cx="76200" cy="90488"/>
          </a:xfrm>
          <a:custGeom>
            <a:avLst/>
            <a:gdLst>
              <a:gd name="T0" fmla="*/ 33068 w 53"/>
              <a:gd name="T1" fmla="*/ 88900 h 57"/>
              <a:gd name="T2" fmla="*/ 15815 w 53"/>
              <a:gd name="T3" fmla="*/ 63500 h 57"/>
              <a:gd name="T4" fmla="*/ 5751 w 53"/>
              <a:gd name="T5" fmla="*/ 38100 h 57"/>
              <a:gd name="T6" fmla="*/ 0 w 53"/>
              <a:gd name="T7" fmla="*/ 19050 h 57"/>
              <a:gd name="T8" fmla="*/ 2875 w 53"/>
              <a:gd name="T9" fmla="*/ 6350 h 57"/>
              <a:gd name="T10" fmla="*/ 7189 w 53"/>
              <a:gd name="T11" fmla="*/ 3175 h 57"/>
              <a:gd name="T12" fmla="*/ 12940 w 53"/>
              <a:gd name="T13" fmla="*/ 0 h 57"/>
              <a:gd name="T14" fmla="*/ 17253 w 53"/>
              <a:gd name="T15" fmla="*/ 0 h 57"/>
              <a:gd name="T16" fmla="*/ 24442 w 53"/>
              <a:gd name="T17" fmla="*/ 3175 h 57"/>
              <a:gd name="T18" fmla="*/ 34506 w 53"/>
              <a:gd name="T19" fmla="*/ 7938 h 57"/>
              <a:gd name="T20" fmla="*/ 47445 w 53"/>
              <a:gd name="T21" fmla="*/ 14288 h 57"/>
              <a:gd name="T22" fmla="*/ 60385 w 53"/>
              <a:gd name="T23" fmla="*/ 25400 h 57"/>
              <a:gd name="T24" fmla="*/ 74762 w 53"/>
              <a:gd name="T25" fmla="*/ 38100 h 5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3"/>
              <a:gd name="T40" fmla="*/ 0 h 57"/>
              <a:gd name="T41" fmla="*/ 53 w 53"/>
              <a:gd name="T42" fmla="*/ 57 h 57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3" h="57">
                <a:moveTo>
                  <a:pt x="23" y="56"/>
                </a:moveTo>
                <a:lnTo>
                  <a:pt x="11" y="40"/>
                </a:lnTo>
                <a:lnTo>
                  <a:pt x="4" y="24"/>
                </a:lnTo>
                <a:lnTo>
                  <a:pt x="0" y="12"/>
                </a:lnTo>
                <a:lnTo>
                  <a:pt x="2" y="4"/>
                </a:lnTo>
                <a:lnTo>
                  <a:pt x="5" y="2"/>
                </a:lnTo>
                <a:lnTo>
                  <a:pt x="9" y="0"/>
                </a:lnTo>
                <a:lnTo>
                  <a:pt x="12" y="0"/>
                </a:lnTo>
                <a:lnTo>
                  <a:pt x="17" y="2"/>
                </a:lnTo>
                <a:lnTo>
                  <a:pt x="24" y="5"/>
                </a:lnTo>
                <a:lnTo>
                  <a:pt x="33" y="9"/>
                </a:lnTo>
                <a:lnTo>
                  <a:pt x="42" y="16"/>
                </a:lnTo>
                <a:lnTo>
                  <a:pt x="52" y="24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51" name="Freeform 148">
            <a:extLst>
              <a:ext uri="{FF2B5EF4-FFF2-40B4-BE49-F238E27FC236}">
                <a16:creationId xmlns:a16="http://schemas.microsoft.com/office/drawing/2014/main" id="{065E1B62-08D8-B625-E19D-A2277E514021}"/>
              </a:ext>
            </a:extLst>
          </p:cNvPr>
          <p:cNvSpPr>
            <a:spLocks/>
          </p:cNvSpPr>
          <p:nvPr/>
        </p:nvSpPr>
        <p:spPr bwMode="auto">
          <a:xfrm>
            <a:off x="1671638" y="4568825"/>
            <a:ext cx="49212" cy="73025"/>
          </a:xfrm>
          <a:custGeom>
            <a:avLst/>
            <a:gdLst>
              <a:gd name="T0" fmla="*/ 0 w 34"/>
              <a:gd name="T1" fmla="*/ 71438 h 46"/>
              <a:gd name="T2" fmla="*/ 0 w 34"/>
              <a:gd name="T3" fmla="*/ 46037 h 46"/>
              <a:gd name="T4" fmla="*/ 2895 w 34"/>
              <a:gd name="T5" fmla="*/ 26988 h 46"/>
              <a:gd name="T6" fmla="*/ 2895 w 34"/>
              <a:gd name="T7" fmla="*/ 17463 h 46"/>
              <a:gd name="T8" fmla="*/ 5790 w 34"/>
              <a:gd name="T9" fmla="*/ 11112 h 46"/>
              <a:gd name="T10" fmla="*/ 10132 w 34"/>
              <a:gd name="T11" fmla="*/ 3175 h 46"/>
              <a:gd name="T12" fmla="*/ 13027 w 34"/>
              <a:gd name="T13" fmla="*/ 3175 h 46"/>
              <a:gd name="T14" fmla="*/ 15922 w 34"/>
              <a:gd name="T15" fmla="*/ 0 h 46"/>
              <a:gd name="T16" fmla="*/ 21711 w 34"/>
              <a:gd name="T17" fmla="*/ 0 h 46"/>
              <a:gd name="T18" fmla="*/ 26053 w 34"/>
              <a:gd name="T19" fmla="*/ 3175 h 46"/>
              <a:gd name="T20" fmla="*/ 28948 w 34"/>
              <a:gd name="T21" fmla="*/ 6350 h 46"/>
              <a:gd name="T22" fmla="*/ 34738 w 34"/>
              <a:gd name="T23" fmla="*/ 15875 h 46"/>
              <a:gd name="T24" fmla="*/ 39080 w 34"/>
              <a:gd name="T25" fmla="*/ 25400 h 46"/>
              <a:gd name="T26" fmla="*/ 44870 w 34"/>
              <a:gd name="T27" fmla="*/ 36513 h 46"/>
              <a:gd name="T28" fmla="*/ 47765 w 34"/>
              <a:gd name="T29" fmla="*/ 52388 h 46"/>
              <a:gd name="T30" fmla="*/ 0 w 34"/>
              <a:gd name="T31" fmla="*/ 71438 h 4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4"/>
              <a:gd name="T49" fmla="*/ 0 h 46"/>
              <a:gd name="T50" fmla="*/ 34 w 34"/>
              <a:gd name="T51" fmla="*/ 46 h 4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4" h="46">
                <a:moveTo>
                  <a:pt x="0" y="45"/>
                </a:moveTo>
                <a:lnTo>
                  <a:pt x="0" y="29"/>
                </a:lnTo>
                <a:lnTo>
                  <a:pt x="2" y="17"/>
                </a:lnTo>
                <a:lnTo>
                  <a:pt x="2" y="11"/>
                </a:lnTo>
                <a:lnTo>
                  <a:pt x="4" y="7"/>
                </a:lnTo>
                <a:lnTo>
                  <a:pt x="7" y="2"/>
                </a:lnTo>
                <a:lnTo>
                  <a:pt x="9" y="2"/>
                </a:lnTo>
                <a:lnTo>
                  <a:pt x="11" y="0"/>
                </a:lnTo>
                <a:lnTo>
                  <a:pt x="15" y="0"/>
                </a:lnTo>
                <a:lnTo>
                  <a:pt x="18" y="2"/>
                </a:lnTo>
                <a:lnTo>
                  <a:pt x="20" y="4"/>
                </a:lnTo>
                <a:lnTo>
                  <a:pt x="24" y="10"/>
                </a:lnTo>
                <a:lnTo>
                  <a:pt x="27" y="16"/>
                </a:lnTo>
                <a:lnTo>
                  <a:pt x="31" y="23"/>
                </a:lnTo>
                <a:lnTo>
                  <a:pt x="33" y="33"/>
                </a:lnTo>
                <a:lnTo>
                  <a:pt x="0" y="45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52" name="Freeform 149">
            <a:extLst>
              <a:ext uri="{FF2B5EF4-FFF2-40B4-BE49-F238E27FC236}">
                <a16:creationId xmlns:a16="http://schemas.microsoft.com/office/drawing/2014/main" id="{7BFBB0C7-900E-A9EF-D6A7-923D47435C8F}"/>
              </a:ext>
            </a:extLst>
          </p:cNvPr>
          <p:cNvSpPr>
            <a:spLocks/>
          </p:cNvSpPr>
          <p:nvPr/>
        </p:nvSpPr>
        <p:spPr bwMode="auto">
          <a:xfrm>
            <a:off x="1671638" y="4568825"/>
            <a:ext cx="61912" cy="88900"/>
          </a:xfrm>
          <a:custGeom>
            <a:avLst/>
            <a:gdLst>
              <a:gd name="T0" fmla="*/ 0 w 44"/>
              <a:gd name="T1" fmla="*/ 87313 h 56"/>
              <a:gd name="T2" fmla="*/ 0 w 44"/>
              <a:gd name="T3" fmla="*/ 57150 h 56"/>
              <a:gd name="T4" fmla="*/ 2814 w 44"/>
              <a:gd name="T5" fmla="*/ 33338 h 56"/>
              <a:gd name="T6" fmla="*/ 4221 w 44"/>
              <a:gd name="T7" fmla="*/ 22225 h 56"/>
              <a:gd name="T8" fmla="*/ 7035 w 44"/>
              <a:gd name="T9" fmla="*/ 14288 h 56"/>
              <a:gd name="T10" fmla="*/ 12664 w 44"/>
              <a:gd name="T11" fmla="*/ 4763 h 56"/>
              <a:gd name="T12" fmla="*/ 16885 w 44"/>
              <a:gd name="T13" fmla="*/ 3175 h 56"/>
              <a:gd name="T14" fmla="*/ 19699 w 44"/>
              <a:gd name="T15" fmla="*/ 0 h 56"/>
              <a:gd name="T16" fmla="*/ 26735 w 44"/>
              <a:gd name="T17" fmla="*/ 0 h 56"/>
              <a:gd name="T18" fmla="*/ 32363 w 44"/>
              <a:gd name="T19" fmla="*/ 3175 h 56"/>
              <a:gd name="T20" fmla="*/ 36584 w 44"/>
              <a:gd name="T21" fmla="*/ 7938 h 56"/>
              <a:gd name="T22" fmla="*/ 43620 w 44"/>
              <a:gd name="T23" fmla="*/ 19050 h 56"/>
              <a:gd name="T24" fmla="*/ 49248 w 44"/>
              <a:gd name="T25" fmla="*/ 30163 h 56"/>
              <a:gd name="T26" fmla="*/ 56284 w 44"/>
              <a:gd name="T27" fmla="*/ 44450 h 56"/>
              <a:gd name="T28" fmla="*/ 60505 w 44"/>
              <a:gd name="T29" fmla="*/ 63500 h 5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44"/>
              <a:gd name="T46" fmla="*/ 0 h 56"/>
              <a:gd name="T47" fmla="*/ 44 w 44"/>
              <a:gd name="T48" fmla="*/ 56 h 5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44" h="56">
                <a:moveTo>
                  <a:pt x="0" y="55"/>
                </a:moveTo>
                <a:lnTo>
                  <a:pt x="0" y="36"/>
                </a:lnTo>
                <a:lnTo>
                  <a:pt x="2" y="21"/>
                </a:lnTo>
                <a:lnTo>
                  <a:pt x="3" y="14"/>
                </a:lnTo>
                <a:lnTo>
                  <a:pt x="5" y="9"/>
                </a:lnTo>
                <a:lnTo>
                  <a:pt x="9" y="3"/>
                </a:lnTo>
                <a:lnTo>
                  <a:pt x="12" y="2"/>
                </a:lnTo>
                <a:lnTo>
                  <a:pt x="14" y="0"/>
                </a:lnTo>
                <a:lnTo>
                  <a:pt x="19" y="0"/>
                </a:lnTo>
                <a:lnTo>
                  <a:pt x="23" y="2"/>
                </a:lnTo>
                <a:lnTo>
                  <a:pt x="26" y="5"/>
                </a:lnTo>
                <a:lnTo>
                  <a:pt x="31" y="12"/>
                </a:lnTo>
                <a:lnTo>
                  <a:pt x="35" y="19"/>
                </a:lnTo>
                <a:lnTo>
                  <a:pt x="40" y="28"/>
                </a:lnTo>
                <a:lnTo>
                  <a:pt x="43" y="4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53" name="Freeform 150">
            <a:extLst>
              <a:ext uri="{FF2B5EF4-FFF2-40B4-BE49-F238E27FC236}">
                <a16:creationId xmlns:a16="http://schemas.microsoft.com/office/drawing/2014/main" id="{1F2919F1-1F6F-9A45-25E6-7F141CA965FD}"/>
              </a:ext>
            </a:extLst>
          </p:cNvPr>
          <p:cNvSpPr>
            <a:spLocks/>
          </p:cNvSpPr>
          <p:nvPr/>
        </p:nvSpPr>
        <p:spPr bwMode="auto">
          <a:xfrm>
            <a:off x="1619250" y="4584700"/>
            <a:ext cx="47625" cy="74613"/>
          </a:xfrm>
          <a:custGeom>
            <a:avLst/>
            <a:gdLst>
              <a:gd name="T0" fmla="*/ 0 w 34"/>
              <a:gd name="T1" fmla="*/ 73025 h 47"/>
              <a:gd name="T2" fmla="*/ 0 w 34"/>
              <a:gd name="T3" fmla="*/ 47625 h 47"/>
              <a:gd name="T4" fmla="*/ 2801 w 34"/>
              <a:gd name="T5" fmla="*/ 26988 h 47"/>
              <a:gd name="T6" fmla="*/ 2801 w 34"/>
              <a:gd name="T7" fmla="*/ 19050 h 47"/>
              <a:gd name="T8" fmla="*/ 5603 w 34"/>
              <a:gd name="T9" fmla="*/ 11113 h 47"/>
              <a:gd name="T10" fmla="*/ 8404 w 34"/>
              <a:gd name="T11" fmla="*/ 4763 h 47"/>
              <a:gd name="T12" fmla="*/ 12607 w 34"/>
              <a:gd name="T13" fmla="*/ 3175 h 47"/>
              <a:gd name="T14" fmla="*/ 15408 w 34"/>
              <a:gd name="T15" fmla="*/ 0 h 47"/>
              <a:gd name="T16" fmla="*/ 21011 w 34"/>
              <a:gd name="T17" fmla="*/ 0 h 47"/>
              <a:gd name="T18" fmla="*/ 23813 w 34"/>
              <a:gd name="T19" fmla="*/ 3175 h 47"/>
              <a:gd name="T20" fmla="*/ 28015 w 34"/>
              <a:gd name="T21" fmla="*/ 7938 h 47"/>
              <a:gd name="T22" fmla="*/ 33618 w 34"/>
              <a:gd name="T23" fmla="*/ 17463 h 47"/>
              <a:gd name="T24" fmla="*/ 37820 w 34"/>
              <a:gd name="T25" fmla="*/ 25400 h 47"/>
              <a:gd name="T26" fmla="*/ 43423 w 34"/>
              <a:gd name="T27" fmla="*/ 36513 h 47"/>
              <a:gd name="T28" fmla="*/ 46224 w 34"/>
              <a:gd name="T29" fmla="*/ 52388 h 47"/>
              <a:gd name="T30" fmla="*/ 0 w 34"/>
              <a:gd name="T31" fmla="*/ 73025 h 4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4"/>
              <a:gd name="T49" fmla="*/ 0 h 47"/>
              <a:gd name="T50" fmla="*/ 34 w 34"/>
              <a:gd name="T51" fmla="*/ 47 h 4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4" h="47">
                <a:moveTo>
                  <a:pt x="0" y="46"/>
                </a:moveTo>
                <a:lnTo>
                  <a:pt x="0" y="30"/>
                </a:lnTo>
                <a:lnTo>
                  <a:pt x="2" y="17"/>
                </a:lnTo>
                <a:lnTo>
                  <a:pt x="2" y="12"/>
                </a:lnTo>
                <a:lnTo>
                  <a:pt x="4" y="7"/>
                </a:lnTo>
                <a:lnTo>
                  <a:pt x="6" y="3"/>
                </a:lnTo>
                <a:lnTo>
                  <a:pt x="9" y="2"/>
                </a:lnTo>
                <a:lnTo>
                  <a:pt x="11" y="0"/>
                </a:lnTo>
                <a:lnTo>
                  <a:pt x="15" y="0"/>
                </a:lnTo>
                <a:lnTo>
                  <a:pt x="17" y="2"/>
                </a:lnTo>
                <a:lnTo>
                  <a:pt x="20" y="5"/>
                </a:lnTo>
                <a:lnTo>
                  <a:pt x="24" y="11"/>
                </a:lnTo>
                <a:lnTo>
                  <a:pt x="27" y="16"/>
                </a:lnTo>
                <a:lnTo>
                  <a:pt x="31" y="23"/>
                </a:lnTo>
                <a:lnTo>
                  <a:pt x="33" y="33"/>
                </a:lnTo>
                <a:lnTo>
                  <a:pt x="0" y="46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54" name="Freeform 151">
            <a:extLst>
              <a:ext uri="{FF2B5EF4-FFF2-40B4-BE49-F238E27FC236}">
                <a16:creationId xmlns:a16="http://schemas.microsoft.com/office/drawing/2014/main" id="{7877AC9D-C41A-6FE5-DD51-C8AA95902729}"/>
              </a:ext>
            </a:extLst>
          </p:cNvPr>
          <p:cNvSpPr>
            <a:spLocks/>
          </p:cNvSpPr>
          <p:nvPr/>
        </p:nvSpPr>
        <p:spPr bwMode="auto">
          <a:xfrm>
            <a:off x="1619250" y="4584700"/>
            <a:ext cx="61913" cy="90488"/>
          </a:xfrm>
          <a:custGeom>
            <a:avLst/>
            <a:gdLst>
              <a:gd name="T0" fmla="*/ 0 w 44"/>
              <a:gd name="T1" fmla="*/ 88900 h 57"/>
              <a:gd name="T2" fmla="*/ 0 w 44"/>
              <a:gd name="T3" fmla="*/ 58738 h 57"/>
              <a:gd name="T4" fmla="*/ 2814 w 44"/>
              <a:gd name="T5" fmla="*/ 33338 h 57"/>
              <a:gd name="T6" fmla="*/ 4221 w 44"/>
              <a:gd name="T7" fmla="*/ 22225 h 57"/>
              <a:gd name="T8" fmla="*/ 7036 w 44"/>
              <a:gd name="T9" fmla="*/ 14288 h 57"/>
              <a:gd name="T10" fmla="*/ 11257 w 44"/>
              <a:gd name="T11" fmla="*/ 6350 h 57"/>
              <a:gd name="T12" fmla="*/ 16885 w 44"/>
              <a:gd name="T13" fmla="*/ 3175 h 57"/>
              <a:gd name="T14" fmla="*/ 19700 w 44"/>
              <a:gd name="T15" fmla="*/ 0 h 57"/>
              <a:gd name="T16" fmla="*/ 26735 w 44"/>
              <a:gd name="T17" fmla="*/ 0 h 57"/>
              <a:gd name="T18" fmla="*/ 30957 w 44"/>
              <a:gd name="T19" fmla="*/ 3175 h 57"/>
              <a:gd name="T20" fmla="*/ 36585 w 44"/>
              <a:gd name="T21" fmla="*/ 9525 h 57"/>
              <a:gd name="T22" fmla="*/ 43621 w 44"/>
              <a:gd name="T23" fmla="*/ 20638 h 57"/>
              <a:gd name="T24" fmla="*/ 49249 w 44"/>
              <a:gd name="T25" fmla="*/ 30163 h 57"/>
              <a:gd name="T26" fmla="*/ 56285 w 44"/>
              <a:gd name="T27" fmla="*/ 44450 h 57"/>
              <a:gd name="T28" fmla="*/ 60506 w 44"/>
              <a:gd name="T29" fmla="*/ 63500 h 5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44"/>
              <a:gd name="T46" fmla="*/ 0 h 57"/>
              <a:gd name="T47" fmla="*/ 44 w 44"/>
              <a:gd name="T48" fmla="*/ 57 h 57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44" h="57">
                <a:moveTo>
                  <a:pt x="0" y="56"/>
                </a:moveTo>
                <a:lnTo>
                  <a:pt x="0" y="37"/>
                </a:lnTo>
                <a:lnTo>
                  <a:pt x="2" y="21"/>
                </a:lnTo>
                <a:lnTo>
                  <a:pt x="3" y="14"/>
                </a:lnTo>
                <a:lnTo>
                  <a:pt x="5" y="9"/>
                </a:lnTo>
                <a:lnTo>
                  <a:pt x="8" y="4"/>
                </a:lnTo>
                <a:lnTo>
                  <a:pt x="12" y="2"/>
                </a:lnTo>
                <a:lnTo>
                  <a:pt x="14" y="0"/>
                </a:lnTo>
                <a:lnTo>
                  <a:pt x="19" y="0"/>
                </a:lnTo>
                <a:lnTo>
                  <a:pt x="22" y="2"/>
                </a:lnTo>
                <a:lnTo>
                  <a:pt x="26" y="6"/>
                </a:lnTo>
                <a:lnTo>
                  <a:pt x="31" y="13"/>
                </a:lnTo>
                <a:lnTo>
                  <a:pt x="35" y="19"/>
                </a:lnTo>
                <a:lnTo>
                  <a:pt x="40" y="28"/>
                </a:lnTo>
                <a:lnTo>
                  <a:pt x="43" y="4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55" name="Freeform 152">
            <a:extLst>
              <a:ext uri="{FF2B5EF4-FFF2-40B4-BE49-F238E27FC236}">
                <a16:creationId xmlns:a16="http://schemas.microsoft.com/office/drawing/2014/main" id="{C1066AD9-39C6-C83B-AD84-EDC547DBDAE8}"/>
              </a:ext>
            </a:extLst>
          </p:cNvPr>
          <p:cNvSpPr>
            <a:spLocks/>
          </p:cNvSpPr>
          <p:nvPr/>
        </p:nvSpPr>
        <p:spPr bwMode="auto">
          <a:xfrm>
            <a:off x="1730375" y="4538663"/>
            <a:ext cx="46038" cy="76200"/>
          </a:xfrm>
          <a:custGeom>
            <a:avLst/>
            <a:gdLst>
              <a:gd name="T0" fmla="*/ 2708 w 34"/>
              <a:gd name="T1" fmla="*/ 74613 h 48"/>
              <a:gd name="T2" fmla="*/ 0 w 34"/>
              <a:gd name="T3" fmla="*/ 47625 h 48"/>
              <a:gd name="T4" fmla="*/ 2708 w 34"/>
              <a:gd name="T5" fmla="*/ 26988 h 48"/>
              <a:gd name="T6" fmla="*/ 2708 w 34"/>
              <a:gd name="T7" fmla="*/ 19050 h 48"/>
              <a:gd name="T8" fmla="*/ 6770 w 34"/>
              <a:gd name="T9" fmla="*/ 11112 h 48"/>
              <a:gd name="T10" fmla="*/ 9478 w 34"/>
              <a:gd name="T11" fmla="*/ 6350 h 48"/>
              <a:gd name="T12" fmla="*/ 12187 w 34"/>
              <a:gd name="T13" fmla="*/ 3175 h 48"/>
              <a:gd name="T14" fmla="*/ 16249 w 34"/>
              <a:gd name="T15" fmla="*/ 0 h 48"/>
              <a:gd name="T16" fmla="*/ 20311 w 34"/>
              <a:gd name="T17" fmla="*/ 3175 h 48"/>
              <a:gd name="T18" fmla="*/ 23019 w 34"/>
              <a:gd name="T19" fmla="*/ 3175 h 48"/>
              <a:gd name="T20" fmla="*/ 28435 w 34"/>
              <a:gd name="T21" fmla="*/ 9525 h 48"/>
              <a:gd name="T22" fmla="*/ 32497 w 34"/>
              <a:gd name="T23" fmla="*/ 15875 h 48"/>
              <a:gd name="T24" fmla="*/ 36560 w 34"/>
              <a:gd name="T25" fmla="*/ 26988 h 48"/>
              <a:gd name="T26" fmla="*/ 41976 w 34"/>
              <a:gd name="T27" fmla="*/ 38100 h 48"/>
              <a:gd name="T28" fmla="*/ 44684 w 34"/>
              <a:gd name="T29" fmla="*/ 55563 h 48"/>
              <a:gd name="T30" fmla="*/ 2708 w 34"/>
              <a:gd name="T31" fmla="*/ 74613 h 4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4"/>
              <a:gd name="T49" fmla="*/ 0 h 48"/>
              <a:gd name="T50" fmla="*/ 34 w 34"/>
              <a:gd name="T51" fmla="*/ 48 h 4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4" h="48">
                <a:moveTo>
                  <a:pt x="2" y="47"/>
                </a:moveTo>
                <a:lnTo>
                  <a:pt x="0" y="30"/>
                </a:lnTo>
                <a:lnTo>
                  <a:pt x="2" y="17"/>
                </a:lnTo>
                <a:lnTo>
                  <a:pt x="2" y="12"/>
                </a:lnTo>
                <a:lnTo>
                  <a:pt x="5" y="7"/>
                </a:lnTo>
                <a:lnTo>
                  <a:pt x="7" y="4"/>
                </a:lnTo>
                <a:lnTo>
                  <a:pt x="9" y="2"/>
                </a:lnTo>
                <a:lnTo>
                  <a:pt x="12" y="0"/>
                </a:lnTo>
                <a:lnTo>
                  <a:pt x="15" y="2"/>
                </a:lnTo>
                <a:lnTo>
                  <a:pt x="17" y="2"/>
                </a:lnTo>
                <a:lnTo>
                  <a:pt x="21" y="6"/>
                </a:lnTo>
                <a:lnTo>
                  <a:pt x="24" y="10"/>
                </a:lnTo>
                <a:lnTo>
                  <a:pt x="27" y="17"/>
                </a:lnTo>
                <a:lnTo>
                  <a:pt x="31" y="24"/>
                </a:lnTo>
                <a:lnTo>
                  <a:pt x="33" y="35"/>
                </a:lnTo>
                <a:lnTo>
                  <a:pt x="2" y="47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56" name="Freeform 153">
            <a:extLst>
              <a:ext uri="{FF2B5EF4-FFF2-40B4-BE49-F238E27FC236}">
                <a16:creationId xmlns:a16="http://schemas.microsoft.com/office/drawing/2014/main" id="{C1C90CEF-8E2D-1B19-B040-95126E8AE23C}"/>
              </a:ext>
            </a:extLst>
          </p:cNvPr>
          <p:cNvSpPr>
            <a:spLocks/>
          </p:cNvSpPr>
          <p:nvPr/>
        </p:nvSpPr>
        <p:spPr bwMode="auto">
          <a:xfrm>
            <a:off x="1730375" y="4538663"/>
            <a:ext cx="60325" cy="92075"/>
          </a:xfrm>
          <a:custGeom>
            <a:avLst/>
            <a:gdLst>
              <a:gd name="T0" fmla="*/ 2742 w 44"/>
              <a:gd name="T1" fmla="*/ 90488 h 58"/>
              <a:gd name="T2" fmla="*/ 0 w 44"/>
              <a:gd name="T3" fmla="*/ 57150 h 58"/>
              <a:gd name="T4" fmla="*/ 2742 w 44"/>
              <a:gd name="T5" fmla="*/ 33338 h 58"/>
              <a:gd name="T6" fmla="*/ 4113 w 44"/>
              <a:gd name="T7" fmla="*/ 22225 h 58"/>
              <a:gd name="T8" fmla="*/ 9597 w 44"/>
              <a:gd name="T9" fmla="*/ 14288 h 58"/>
              <a:gd name="T10" fmla="*/ 12339 w 44"/>
              <a:gd name="T11" fmla="*/ 7938 h 58"/>
              <a:gd name="T12" fmla="*/ 16452 w 44"/>
              <a:gd name="T13" fmla="*/ 3175 h 58"/>
              <a:gd name="T14" fmla="*/ 21936 w 44"/>
              <a:gd name="T15" fmla="*/ 0 h 58"/>
              <a:gd name="T16" fmla="*/ 26049 w 44"/>
              <a:gd name="T17" fmla="*/ 3175 h 58"/>
              <a:gd name="T18" fmla="*/ 30162 w 44"/>
              <a:gd name="T19" fmla="*/ 4763 h 58"/>
              <a:gd name="T20" fmla="*/ 38389 w 44"/>
              <a:gd name="T21" fmla="*/ 11113 h 58"/>
              <a:gd name="T22" fmla="*/ 42502 w 44"/>
              <a:gd name="T23" fmla="*/ 19050 h 58"/>
              <a:gd name="T24" fmla="*/ 47986 w 44"/>
              <a:gd name="T25" fmla="*/ 33338 h 58"/>
              <a:gd name="T26" fmla="*/ 54841 w 44"/>
              <a:gd name="T27" fmla="*/ 46038 h 58"/>
              <a:gd name="T28" fmla="*/ 58954 w 44"/>
              <a:gd name="T29" fmla="*/ 66675 h 5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44"/>
              <a:gd name="T46" fmla="*/ 0 h 58"/>
              <a:gd name="T47" fmla="*/ 44 w 44"/>
              <a:gd name="T48" fmla="*/ 58 h 58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44" h="58">
                <a:moveTo>
                  <a:pt x="2" y="57"/>
                </a:moveTo>
                <a:lnTo>
                  <a:pt x="0" y="36"/>
                </a:lnTo>
                <a:lnTo>
                  <a:pt x="2" y="21"/>
                </a:lnTo>
                <a:lnTo>
                  <a:pt x="3" y="14"/>
                </a:lnTo>
                <a:lnTo>
                  <a:pt x="7" y="9"/>
                </a:lnTo>
                <a:lnTo>
                  <a:pt x="9" y="5"/>
                </a:lnTo>
                <a:lnTo>
                  <a:pt x="12" y="2"/>
                </a:lnTo>
                <a:lnTo>
                  <a:pt x="16" y="0"/>
                </a:lnTo>
                <a:lnTo>
                  <a:pt x="19" y="2"/>
                </a:lnTo>
                <a:lnTo>
                  <a:pt x="22" y="3"/>
                </a:lnTo>
                <a:lnTo>
                  <a:pt x="28" y="7"/>
                </a:lnTo>
                <a:lnTo>
                  <a:pt x="31" y="12"/>
                </a:lnTo>
                <a:lnTo>
                  <a:pt x="35" y="21"/>
                </a:lnTo>
                <a:lnTo>
                  <a:pt x="40" y="29"/>
                </a:lnTo>
                <a:lnTo>
                  <a:pt x="43" y="42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57" name="Freeform 154">
            <a:extLst>
              <a:ext uri="{FF2B5EF4-FFF2-40B4-BE49-F238E27FC236}">
                <a16:creationId xmlns:a16="http://schemas.microsoft.com/office/drawing/2014/main" id="{7055276D-A54A-DD85-5E20-3CDE74E0F8C2}"/>
              </a:ext>
            </a:extLst>
          </p:cNvPr>
          <p:cNvSpPr>
            <a:spLocks/>
          </p:cNvSpPr>
          <p:nvPr/>
        </p:nvSpPr>
        <p:spPr bwMode="auto">
          <a:xfrm>
            <a:off x="2073275" y="4119563"/>
            <a:ext cx="225425" cy="344487"/>
          </a:xfrm>
          <a:custGeom>
            <a:avLst/>
            <a:gdLst>
              <a:gd name="T0" fmla="*/ 214224 w 161"/>
              <a:gd name="T1" fmla="*/ 11112 h 217"/>
              <a:gd name="T2" fmla="*/ 0 w 161"/>
              <a:gd name="T3" fmla="*/ 0 h 217"/>
              <a:gd name="T4" fmla="*/ 32204 w 161"/>
              <a:gd name="T5" fmla="*/ 222250 h 217"/>
              <a:gd name="T6" fmla="*/ 224025 w 161"/>
              <a:gd name="T7" fmla="*/ 342900 h 217"/>
              <a:gd name="T8" fmla="*/ 214224 w 161"/>
              <a:gd name="T9" fmla="*/ 11112 h 2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1"/>
              <a:gd name="T16" fmla="*/ 0 h 217"/>
              <a:gd name="T17" fmla="*/ 161 w 161"/>
              <a:gd name="T18" fmla="*/ 217 h 21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1" h="217">
                <a:moveTo>
                  <a:pt x="153" y="7"/>
                </a:moveTo>
                <a:lnTo>
                  <a:pt x="0" y="0"/>
                </a:lnTo>
                <a:lnTo>
                  <a:pt x="23" y="140"/>
                </a:lnTo>
                <a:lnTo>
                  <a:pt x="160" y="216"/>
                </a:lnTo>
                <a:lnTo>
                  <a:pt x="153" y="7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58" name="Freeform 155">
            <a:extLst>
              <a:ext uri="{FF2B5EF4-FFF2-40B4-BE49-F238E27FC236}">
                <a16:creationId xmlns:a16="http://schemas.microsoft.com/office/drawing/2014/main" id="{D7360096-4316-160D-74B8-A5A2DF078510}"/>
              </a:ext>
            </a:extLst>
          </p:cNvPr>
          <p:cNvSpPr>
            <a:spLocks/>
          </p:cNvSpPr>
          <p:nvPr/>
        </p:nvSpPr>
        <p:spPr bwMode="auto">
          <a:xfrm>
            <a:off x="2073275" y="4119563"/>
            <a:ext cx="241300" cy="360362"/>
          </a:xfrm>
          <a:custGeom>
            <a:avLst/>
            <a:gdLst>
              <a:gd name="T0" fmla="*/ 230011 w 171"/>
              <a:gd name="T1" fmla="*/ 11112 h 227"/>
              <a:gd name="T2" fmla="*/ 0 w 171"/>
              <a:gd name="T3" fmla="*/ 0 h 227"/>
              <a:gd name="T4" fmla="*/ 33867 w 171"/>
              <a:gd name="T5" fmla="*/ 231775 h 227"/>
              <a:gd name="T6" fmla="*/ 239889 w 171"/>
              <a:gd name="T7" fmla="*/ 358775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171"/>
              <a:gd name="T13" fmla="*/ 0 h 227"/>
              <a:gd name="T14" fmla="*/ 171 w 171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1" h="227">
                <a:moveTo>
                  <a:pt x="163" y="7"/>
                </a:moveTo>
                <a:lnTo>
                  <a:pt x="0" y="0"/>
                </a:lnTo>
                <a:lnTo>
                  <a:pt x="24" y="146"/>
                </a:lnTo>
                <a:lnTo>
                  <a:pt x="170" y="226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59" name="Line 156">
            <a:extLst>
              <a:ext uri="{FF2B5EF4-FFF2-40B4-BE49-F238E27FC236}">
                <a16:creationId xmlns:a16="http://schemas.microsoft.com/office/drawing/2014/main" id="{FFA0A670-9525-0054-4F21-48B3ADD17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1213" y="4471988"/>
            <a:ext cx="1651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60" name="Line 157">
            <a:extLst>
              <a:ext uri="{FF2B5EF4-FFF2-40B4-BE49-F238E27FC236}">
                <a16:creationId xmlns:a16="http://schemas.microsoft.com/office/drawing/2014/main" id="{E3347C76-045A-A9C0-48B4-9471410BEB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66913" y="4462463"/>
            <a:ext cx="106362" cy="1381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61" name="Freeform 158">
            <a:extLst>
              <a:ext uri="{FF2B5EF4-FFF2-40B4-BE49-F238E27FC236}">
                <a16:creationId xmlns:a16="http://schemas.microsoft.com/office/drawing/2014/main" id="{4D48337F-87B1-E58B-BFA5-F6AFF2CF4FEF}"/>
              </a:ext>
            </a:extLst>
          </p:cNvPr>
          <p:cNvSpPr>
            <a:spLocks/>
          </p:cNvSpPr>
          <p:nvPr/>
        </p:nvSpPr>
        <p:spPr bwMode="auto">
          <a:xfrm>
            <a:off x="2078038" y="4872038"/>
            <a:ext cx="58737" cy="76200"/>
          </a:xfrm>
          <a:custGeom>
            <a:avLst/>
            <a:gdLst>
              <a:gd name="T0" fmla="*/ 34383 w 41"/>
              <a:gd name="T1" fmla="*/ 74613 h 48"/>
              <a:gd name="T2" fmla="*/ 45844 w 41"/>
              <a:gd name="T3" fmla="*/ 52388 h 48"/>
              <a:gd name="T4" fmla="*/ 54439 w 41"/>
              <a:gd name="T5" fmla="*/ 33338 h 48"/>
              <a:gd name="T6" fmla="*/ 57304 w 41"/>
              <a:gd name="T7" fmla="*/ 15875 h 48"/>
              <a:gd name="T8" fmla="*/ 55872 w 41"/>
              <a:gd name="T9" fmla="*/ 6350 h 48"/>
              <a:gd name="T10" fmla="*/ 54439 w 41"/>
              <a:gd name="T11" fmla="*/ 3175 h 48"/>
              <a:gd name="T12" fmla="*/ 50141 w 41"/>
              <a:gd name="T13" fmla="*/ 0 h 48"/>
              <a:gd name="T14" fmla="*/ 45844 w 41"/>
              <a:gd name="T15" fmla="*/ 0 h 48"/>
              <a:gd name="T16" fmla="*/ 37248 w 41"/>
              <a:gd name="T17" fmla="*/ 3175 h 48"/>
              <a:gd name="T18" fmla="*/ 31517 w 41"/>
              <a:gd name="T19" fmla="*/ 6350 h 48"/>
              <a:gd name="T20" fmla="*/ 21489 w 41"/>
              <a:gd name="T21" fmla="*/ 11112 h 48"/>
              <a:gd name="T22" fmla="*/ 12893 w 41"/>
              <a:gd name="T23" fmla="*/ 19050 h 48"/>
              <a:gd name="T24" fmla="*/ 0 w 41"/>
              <a:gd name="T25" fmla="*/ 31750 h 48"/>
              <a:gd name="T26" fmla="*/ 34383 w 41"/>
              <a:gd name="T27" fmla="*/ 74613 h 4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1"/>
              <a:gd name="T43" fmla="*/ 0 h 48"/>
              <a:gd name="T44" fmla="*/ 41 w 41"/>
              <a:gd name="T45" fmla="*/ 48 h 48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1" h="48">
                <a:moveTo>
                  <a:pt x="24" y="47"/>
                </a:moveTo>
                <a:lnTo>
                  <a:pt x="32" y="33"/>
                </a:lnTo>
                <a:lnTo>
                  <a:pt x="38" y="21"/>
                </a:lnTo>
                <a:lnTo>
                  <a:pt x="40" y="10"/>
                </a:lnTo>
                <a:lnTo>
                  <a:pt x="39" y="4"/>
                </a:lnTo>
                <a:lnTo>
                  <a:pt x="38" y="2"/>
                </a:lnTo>
                <a:lnTo>
                  <a:pt x="35" y="0"/>
                </a:lnTo>
                <a:lnTo>
                  <a:pt x="32" y="0"/>
                </a:lnTo>
                <a:lnTo>
                  <a:pt x="26" y="2"/>
                </a:lnTo>
                <a:lnTo>
                  <a:pt x="22" y="4"/>
                </a:lnTo>
                <a:lnTo>
                  <a:pt x="15" y="7"/>
                </a:lnTo>
                <a:lnTo>
                  <a:pt x="9" y="12"/>
                </a:lnTo>
                <a:lnTo>
                  <a:pt x="0" y="20"/>
                </a:lnTo>
                <a:lnTo>
                  <a:pt x="24" y="47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62" name="Freeform 159">
            <a:extLst>
              <a:ext uri="{FF2B5EF4-FFF2-40B4-BE49-F238E27FC236}">
                <a16:creationId xmlns:a16="http://schemas.microsoft.com/office/drawing/2014/main" id="{2E02B4FB-C57E-76A1-086B-61A1C8341632}"/>
              </a:ext>
            </a:extLst>
          </p:cNvPr>
          <p:cNvSpPr>
            <a:spLocks/>
          </p:cNvSpPr>
          <p:nvPr/>
        </p:nvSpPr>
        <p:spPr bwMode="auto">
          <a:xfrm>
            <a:off x="2078038" y="4872038"/>
            <a:ext cx="73025" cy="92075"/>
          </a:xfrm>
          <a:custGeom>
            <a:avLst/>
            <a:gdLst>
              <a:gd name="T0" fmla="*/ 42956 w 51"/>
              <a:gd name="T1" fmla="*/ 90488 h 58"/>
              <a:gd name="T2" fmla="*/ 57275 w 51"/>
              <a:gd name="T3" fmla="*/ 63500 h 58"/>
              <a:gd name="T4" fmla="*/ 67298 w 51"/>
              <a:gd name="T5" fmla="*/ 41275 h 58"/>
              <a:gd name="T6" fmla="*/ 71593 w 51"/>
              <a:gd name="T7" fmla="*/ 19050 h 58"/>
              <a:gd name="T8" fmla="*/ 70161 w 51"/>
              <a:gd name="T9" fmla="*/ 7938 h 58"/>
              <a:gd name="T10" fmla="*/ 67298 w 51"/>
              <a:gd name="T11" fmla="*/ 3175 h 58"/>
              <a:gd name="T12" fmla="*/ 63002 w 51"/>
              <a:gd name="T13" fmla="*/ 0 h 58"/>
              <a:gd name="T14" fmla="*/ 57275 w 51"/>
              <a:gd name="T15" fmla="*/ 0 h 58"/>
              <a:gd name="T16" fmla="*/ 47251 w 51"/>
              <a:gd name="T17" fmla="*/ 3175 h 58"/>
              <a:gd name="T18" fmla="*/ 40092 w 51"/>
              <a:gd name="T19" fmla="*/ 7938 h 58"/>
              <a:gd name="T20" fmla="*/ 27205 w 51"/>
              <a:gd name="T21" fmla="*/ 14288 h 58"/>
              <a:gd name="T22" fmla="*/ 15750 w 51"/>
              <a:gd name="T23" fmla="*/ 23812 h 58"/>
              <a:gd name="T24" fmla="*/ 0 w 51"/>
              <a:gd name="T25" fmla="*/ 38100 h 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1"/>
              <a:gd name="T40" fmla="*/ 0 h 58"/>
              <a:gd name="T41" fmla="*/ 51 w 51"/>
              <a:gd name="T42" fmla="*/ 58 h 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1" h="58">
                <a:moveTo>
                  <a:pt x="30" y="57"/>
                </a:moveTo>
                <a:lnTo>
                  <a:pt x="40" y="40"/>
                </a:lnTo>
                <a:lnTo>
                  <a:pt x="47" y="26"/>
                </a:lnTo>
                <a:lnTo>
                  <a:pt x="50" y="12"/>
                </a:lnTo>
                <a:lnTo>
                  <a:pt x="49" y="5"/>
                </a:lnTo>
                <a:lnTo>
                  <a:pt x="47" y="2"/>
                </a:lnTo>
                <a:lnTo>
                  <a:pt x="44" y="0"/>
                </a:lnTo>
                <a:lnTo>
                  <a:pt x="40" y="0"/>
                </a:lnTo>
                <a:lnTo>
                  <a:pt x="33" y="2"/>
                </a:lnTo>
                <a:lnTo>
                  <a:pt x="28" y="5"/>
                </a:lnTo>
                <a:lnTo>
                  <a:pt x="19" y="9"/>
                </a:lnTo>
                <a:lnTo>
                  <a:pt x="11" y="15"/>
                </a:lnTo>
                <a:lnTo>
                  <a:pt x="0" y="24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63" name="Freeform 160">
            <a:extLst>
              <a:ext uri="{FF2B5EF4-FFF2-40B4-BE49-F238E27FC236}">
                <a16:creationId xmlns:a16="http://schemas.microsoft.com/office/drawing/2014/main" id="{663DD1F2-CFF0-9088-A594-5639A0E0DEFF}"/>
              </a:ext>
            </a:extLst>
          </p:cNvPr>
          <p:cNvSpPr>
            <a:spLocks/>
          </p:cNvSpPr>
          <p:nvPr/>
        </p:nvSpPr>
        <p:spPr bwMode="auto">
          <a:xfrm>
            <a:off x="2119313" y="4929188"/>
            <a:ext cx="57150" cy="74612"/>
          </a:xfrm>
          <a:custGeom>
            <a:avLst/>
            <a:gdLst>
              <a:gd name="T0" fmla="*/ 30666 w 41"/>
              <a:gd name="T1" fmla="*/ 73025 h 47"/>
              <a:gd name="T2" fmla="*/ 44605 w 41"/>
              <a:gd name="T3" fmla="*/ 52387 h 47"/>
              <a:gd name="T4" fmla="*/ 52968 w 41"/>
              <a:gd name="T5" fmla="*/ 33337 h 47"/>
              <a:gd name="T6" fmla="*/ 55756 w 41"/>
              <a:gd name="T7" fmla="*/ 15875 h 47"/>
              <a:gd name="T8" fmla="*/ 54362 w 41"/>
              <a:gd name="T9" fmla="*/ 4762 h 47"/>
              <a:gd name="T10" fmla="*/ 52968 w 41"/>
              <a:gd name="T11" fmla="*/ 3175 h 47"/>
              <a:gd name="T12" fmla="*/ 47393 w 41"/>
              <a:gd name="T13" fmla="*/ 0 h 47"/>
              <a:gd name="T14" fmla="*/ 44605 w 41"/>
              <a:gd name="T15" fmla="*/ 0 h 47"/>
              <a:gd name="T16" fmla="*/ 36241 w 41"/>
              <a:gd name="T17" fmla="*/ 3175 h 47"/>
              <a:gd name="T18" fmla="*/ 30666 w 41"/>
              <a:gd name="T19" fmla="*/ 6350 h 47"/>
              <a:gd name="T20" fmla="*/ 20909 w 41"/>
              <a:gd name="T21" fmla="*/ 11112 h 47"/>
              <a:gd name="T22" fmla="*/ 11151 w 41"/>
              <a:gd name="T23" fmla="*/ 20637 h 47"/>
              <a:gd name="T24" fmla="*/ 0 w 41"/>
              <a:gd name="T25" fmla="*/ 33337 h 47"/>
              <a:gd name="T26" fmla="*/ 30666 w 41"/>
              <a:gd name="T27" fmla="*/ 73025 h 4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1"/>
              <a:gd name="T43" fmla="*/ 0 h 47"/>
              <a:gd name="T44" fmla="*/ 41 w 41"/>
              <a:gd name="T45" fmla="*/ 47 h 47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1" h="47">
                <a:moveTo>
                  <a:pt x="22" y="46"/>
                </a:moveTo>
                <a:lnTo>
                  <a:pt x="32" y="33"/>
                </a:lnTo>
                <a:lnTo>
                  <a:pt x="38" y="21"/>
                </a:lnTo>
                <a:lnTo>
                  <a:pt x="40" y="10"/>
                </a:lnTo>
                <a:lnTo>
                  <a:pt x="39" y="3"/>
                </a:lnTo>
                <a:lnTo>
                  <a:pt x="38" y="2"/>
                </a:lnTo>
                <a:lnTo>
                  <a:pt x="34" y="0"/>
                </a:lnTo>
                <a:lnTo>
                  <a:pt x="32" y="0"/>
                </a:lnTo>
                <a:lnTo>
                  <a:pt x="26" y="2"/>
                </a:lnTo>
                <a:lnTo>
                  <a:pt x="22" y="4"/>
                </a:lnTo>
                <a:lnTo>
                  <a:pt x="15" y="7"/>
                </a:lnTo>
                <a:lnTo>
                  <a:pt x="8" y="13"/>
                </a:lnTo>
                <a:lnTo>
                  <a:pt x="0" y="21"/>
                </a:lnTo>
                <a:lnTo>
                  <a:pt x="22" y="46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64" name="Freeform 161">
            <a:extLst>
              <a:ext uri="{FF2B5EF4-FFF2-40B4-BE49-F238E27FC236}">
                <a16:creationId xmlns:a16="http://schemas.microsoft.com/office/drawing/2014/main" id="{988C6389-A7B7-F179-AF83-D55438C18014}"/>
              </a:ext>
            </a:extLst>
          </p:cNvPr>
          <p:cNvSpPr>
            <a:spLocks/>
          </p:cNvSpPr>
          <p:nvPr/>
        </p:nvSpPr>
        <p:spPr bwMode="auto">
          <a:xfrm>
            <a:off x="2119313" y="4929188"/>
            <a:ext cx="71437" cy="90487"/>
          </a:xfrm>
          <a:custGeom>
            <a:avLst/>
            <a:gdLst>
              <a:gd name="T0" fmla="*/ 39220 w 51"/>
              <a:gd name="T1" fmla="*/ 88900 h 57"/>
              <a:gd name="T2" fmla="*/ 56029 w 51"/>
              <a:gd name="T3" fmla="*/ 63500 h 57"/>
              <a:gd name="T4" fmla="*/ 65834 w 51"/>
              <a:gd name="T5" fmla="*/ 39687 h 57"/>
              <a:gd name="T6" fmla="*/ 70036 w 51"/>
              <a:gd name="T7" fmla="*/ 19050 h 57"/>
              <a:gd name="T8" fmla="*/ 68636 w 51"/>
              <a:gd name="T9" fmla="*/ 6350 h 57"/>
              <a:gd name="T10" fmla="*/ 65834 w 51"/>
              <a:gd name="T11" fmla="*/ 3175 h 57"/>
              <a:gd name="T12" fmla="*/ 60231 w 51"/>
              <a:gd name="T13" fmla="*/ 0 h 57"/>
              <a:gd name="T14" fmla="*/ 56029 w 51"/>
              <a:gd name="T15" fmla="*/ 0 h 57"/>
              <a:gd name="T16" fmla="*/ 46224 w 51"/>
              <a:gd name="T17" fmla="*/ 3175 h 57"/>
              <a:gd name="T18" fmla="*/ 39220 w 51"/>
              <a:gd name="T19" fmla="*/ 7937 h 57"/>
              <a:gd name="T20" fmla="*/ 26614 w 51"/>
              <a:gd name="T21" fmla="*/ 14287 h 57"/>
              <a:gd name="T22" fmla="*/ 14007 w 51"/>
              <a:gd name="T23" fmla="*/ 25400 h 57"/>
              <a:gd name="T24" fmla="*/ 0 w 51"/>
              <a:gd name="T25" fmla="*/ 39687 h 5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1"/>
              <a:gd name="T40" fmla="*/ 0 h 57"/>
              <a:gd name="T41" fmla="*/ 51 w 51"/>
              <a:gd name="T42" fmla="*/ 57 h 57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1" h="57">
                <a:moveTo>
                  <a:pt x="28" y="56"/>
                </a:moveTo>
                <a:lnTo>
                  <a:pt x="40" y="40"/>
                </a:lnTo>
                <a:lnTo>
                  <a:pt x="47" y="25"/>
                </a:lnTo>
                <a:lnTo>
                  <a:pt x="50" y="12"/>
                </a:lnTo>
                <a:lnTo>
                  <a:pt x="49" y="4"/>
                </a:lnTo>
                <a:lnTo>
                  <a:pt x="47" y="2"/>
                </a:lnTo>
                <a:lnTo>
                  <a:pt x="43" y="0"/>
                </a:lnTo>
                <a:lnTo>
                  <a:pt x="40" y="0"/>
                </a:lnTo>
                <a:lnTo>
                  <a:pt x="33" y="2"/>
                </a:lnTo>
                <a:lnTo>
                  <a:pt x="28" y="5"/>
                </a:lnTo>
                <a:lnTo>
                  <a:pt x="19" y="9"/>
                </a:lnTo>
                <a:lnTo>
                  <a:pt x="10" y="16"/>
                </a:lnTo>
                <a:lnTo>
                  <a:pt x="0" y="25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65" name="Freeform 162">
            <a:extLst>
              <a:ext uri="{FF2B5EF4-FFF2-40B4-BE49-F238E27FC236}">
                <a16:creationId xmlns:a16="http://schemas.microsoft.com/office/drawing/2014/main" id="{635B5332-4505-4D9D-E597-B415941AC344}"/>
              </a:ext>
            </a:extLst>
          </p:cNvPr>
          <p:cNvSpPr>
            <a:spLocks/>
          </p:cNvSpPr>
          <p:nvPr/>
        </p:nvSpPr>
        <p:spPr bwMode="auto">
          <a:xfrm>
            <a:off x="2038350" y="4822825"/>
            <a:ext cx="60325" cy="73025"/>
          </a:xfrm>
          <a:custGeom>
            <a:avLst/>
            <a:gdLst>
              <a:gd name="T0" fmla="*/ 33035 w 42"/>
              <a:gd name="T1" fmla="*/ 71438 h 46"/>
              <a:gd name="T2" fmla="*/ 45962 w 42"/>
              <a:gd name="T3" fmla="*/ 49212 h 46"/>
              <a:gd name="T4" fmla="*/ 54580 w 42"/>
              <a:gd name="T5" fmla="*/ 31750 h 46"/>
              <a:gd name="T6" fmla="*/ 58889 w 42"/>
              <a:gd name="T7" fmla="*/ 15875 h 46"/>
              <a:gd name="T8" fmla="*/ 56016 w 42"/>
              <a:gd name="T9" fmla="*/ 3175 h 46"/>
              <a:gd name="T10" fmla="*/ 54580 w 42"/>
              <a:gd name="T11" fmla="*/ 0 h 46"/>
              <a:gd name="T12" fmla="*/ 50271 w 42"/>
              <a:gd name="T13" fmla="*/ 0 h 46"/>
              <a:gd name="T14" fmla="*/ 44526 w 42"/>
              <a:gd name="T15" fmla="*/ 0 h 46"/>
              <a:gd name="T16" fmla="*/ 38780 w 42"/>
              <a:gd name="T17" fmla="*/ 0 h 46"/>
              <a:gd name="T18" fmla="*/ 30162 w 42"/>
              <a:gd name="T19" fmla="*/ 3175 h 46"/>
              <a:gd name="T20" fmla="*/ 21545 w 42"/>
              <a:gd name="T21" fmla="*/ 11112 h 46"/>
              <a:gd name="T22" fmla="*/ 12927 w 42"/>
              <a:gd name="T23" fmla="*/ 17463 h 46"/>
              <a:gd name="T24" fmla="*/ 0 w 42"/>
              <a:gd name="T25" fmla="*/ 28575 h 46"/>
              <a:gd name="T26" fmla="*/ 33035 w 42"/>
              <a:gd name="T27" fmla="*/ 71438 h 4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2"/>
              <a:gd name="T43" fmla="*/ 0 h 46"/>
              <a:gd name="T44" fmla="*/ 42 w 42"/>
              <a:gd name="T45" fmla="*/ 46 h 4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2" h="46">
                <a:moveTo>
                  <a:pt x="23" y="45"/>
                </a:moveTo>
                <a:lnTo>
                  <a:pt x="32" y="31"/>
                </a:lnTo>
                <a:lnTo>
                  <a:pt x="38" y="20"/>
                </a:lnTo>
                <a:lnTo>
                  <a:pt x="41" y="10"/>
                </a:lnTo>
                <a:lnTo>
                  <a:pt x="39" y="2"/>
                </a:lnTo>
                <a:lnTo>
                  <a:pt x="38" y="0"/>
                </a:lnTo>
                <a:lnTo>
                  <a:pt x="35" y="0"/>
                </a:lnTo>
                <a:lnTo>
                  <a:pt x="31" y="0"/>
                </a:lnTo>
                <a:lnTo>
                  <a:pt x="27" y="0"/>
                </a:lnTo>
                <a:lnTo>
                  <a:pt x="21" y="2"/>
                </a:lnTo>
                <a:lnTo>
                  <a:pt x="15" y="7"/>
                </a:lnTo>
                <a:lnTo>
                  <a:pt x="9" y="11"/>
                </a:lnTo>
                <a:lnTo>
                  <a:pt x="0" y="18"/>
                </a:lnTo>
                <a:lnTo>
                  <a:pt x="23" y="45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66" name="Freeform 163">
            <a:extLst>
              <a:ext uri="{FF2B5EF4-FFF2-40B4-BE49-F238E27FC236}">
                <a16:creationId xmlns:a16="http://schemas.microsoft.com/office/drawing/2014/main" id="{F8B1F964-F0E9-1891-36F8-51F8186FFED1}"/>
              </a:ext>
            </a:extLst>
          </p:cNvPr>
          <p:cNvSpPr>
            <a:spLocks/>
          </p:cNvSpPr>
          <p:nvPr/>
        </p:nvSpPr>
        <p:spPr bwMode="auto">
          <a:xfrm>
            <a:off x="2038350" y="4822825"/>
            <a:ext cx="74613" cy="88900"/>
          </a:xfrm>
          <a:custGeom>
            <a:avLst/>
            <a:gdLst>
              <a:gd name="T0" fmla="*/ 40176 w 52"/>
              <a:gd name="T1" fmla="*/ 87313 h 56"/>
              <a:gd name="T2" fmla="*/ 57395 w 52"/>
              <a:gd name="T3" fmla="*/ 60325 h 56"/>
              <a:gd name="T4" fmla="*/ 67439 w 52"/>
              <a:gd name="T5" fmla="*/ 38100 h 56"/>
              <a:gd name="T6" fmla="*/ 73178 w 52"/>
              <a:gd name="T7" fmla="*/ 19050 h 56"/>
              <a:gd name="T8" fmla="*/ 70308 w 52"/>
              <a:gd name="T9" fmla="*/ 4763 h 56"/>
              <a:gd name="T10" fmla="*/ 67439 w 52"/>
              <a:gd name="T11" fmla="*/ 0 h 56"/>
              <a:gd name="T12" fmla="*/ 63134 w 52"/>
              <a:gd name="T13" fmla="*/ 0 h 56"/>
              <a:gd name="T14" fmla="*/ 55960 w 52"/>
              <a:gd name="T15" fmla="*/ 0 h 56"/>
              <a:gd name="T16" fmla="*/ 47351 w 52"/>
              <a:gd name="T17" fmla="*/ 0 h 56"/>
              <a:gd name="T18" fmla="*/ 37307 w 52"/>
              <a:gd name="T19" fmla="*/ 4763 h 56"/>
              <a:gd name="T20" fmla="*/ 27262 w 52"/>
              <a:gd name="T21" fmla="*/ 12700 h 56"/>
              <a:gd name="T22" fmla="*/ 15784 w 52"/>
              <a:gd name="T23" fmla="*/ 20638 h 56"/>
              <a:gd name="T24" fmla="*/ 0 w 52"/>
              <a:gd name="T25" fmla="*/ 34925 h 5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2"/>
              <a:gd name="T40" fmla="*/ 0 h 56"/>
              <a:gd name="T41" fmla="*/ 52 w 52"/>
              <a:gd name="T42" fmla="*/ 56 h 5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2" h="56">
                <a:moveTo>
                  <a:pt x="28" y="55"/>
                </a:moveTo>
                <a:lnTo>
                  <a:pt x="40" y="38"/>
                </a:lnTo>
                <a:lnTo>
                  <a:pt x="47" y="24"/>
                </a:lnTo>
                <a:lnTo>
                  <a:pt x="51" y="12"/>
                </a:lnTo>
                <a:lnTo>
                  <a:pt x="49" y="3"/>
                </a:lnTo>
                <a:lnTo>
                  <a:pt x="47" y="0"/>
                </a:lnTo>
                <a:lnTo>
                  <a:pt x="44" y="0"/>
                </a:lnTo>
                <a:lnTo>
                  <a:pt x="39" y="0"/>
                </a:lnTo>
                <a:lnTo>
                  <a:pt x="33" y="0"/>
                </a:lnTo>
                <a:lnTo>
                  <a:pt x="26" y="3"/>
                </a:lnTo>
                <a:lnTo>
                  <a:pt x="19" y="8"/>
                </a:lnTo>
                <a:lnTo>
                  <a:pt x="11" y="13"/>
                </a:lnTo>
                <a:lnTo>
                  <a:pt x="0" y="22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67" name="Freeform 164">
            <a:extLst>
              <a:ext uri="{FF2B5EF4-FFF2-40B4-BE49-F238E27FC236}">
                <a16:creationId xmlns:a16="http://schemas.microsoft.com/office/drawing/2014/main" id="{52795F2A-C1AA-855A-6B49-05D4F5B06596}"/>
              </a:ext>
            </a:extLst>
          </p:cNvPr>
          <p:cNvSpPr>
            <a:spLocks/>
          </p:cNvSpPr>
          <p:nvPr/>
        </p:nvSpPr>
        <p:spPr bwMode="auto">
          <a:xfrm>
            <a:off x="1852613" y="4999038"/>
            <a:ext cx="58737" cy="73025"/>
          </a:xfrm>
          <a:custGeom>
            <a:avLst/>
            <a:gdLst>
              <a:gd name="T0" fmla="*/ 32165 w 42"/>
              <a:gd name="T1" fmla="*/ 0 h 46"/>
              <a:gd name="T2" fmla="*/ 44752 w 42"/>
              <a:gd name="T3" fmla="*/ 22225 h 46"/>
              <a:gd name="T4" fmla="*/ 53143 w 42"/>
              <a:gd name="T5" fmla="*/ 39687 h 46"/>
              <a:gd name="T6" fmla="*/ 57339 w 42"/>
              <a:gd name="T7" fmla="*/ 55563 h 46"/>
              <a:gd name="T8" fmla="*/ 54542 w 42"/>
              <a:gd name="T9" fmla="*/ 68263 h 46"/>
              <a:gd name="T10" fmla="*/ 53143 w 42"/>
              <a:gd name="T11" fmla="*/ 71438 h 46"/>
              <a:gd name="T12" fmla="*/ 48948 w 42"/>
              <a:gd name="T13" fmla="*/ 71438 h 46"/>
              <a:gd name="T14" fmla="*/ 44752 w 42"/>
              <a:gd name="T15" fmla="*/ 71438 h 46"/>
              <a:gd name="T16" fmla="*/ 37759 w 42"/>
              <a:gd name="T17" fmla="*/ 71438 h 46"/>
              <a:gd name="T18" fmla="*/ 32165 w 42"/>
              <a:gd name="T19" fmla="*/ 68263 h 46"/>
              <a:gd name="T20" fmla="*/ 22376 w 42"/>
              <a:gd name="T21" fmla="*/ 60325 h 46"/>
              <a:gd name="T22" fmla="*/ 12587 w 42"/>
              <a:gd name="T23" fmla="*/ 53975 h 46"/>
              <a:gd name="T24" fmla="*/ 0 w 42"/>
              <a:gd name="T25" fmla="*/ 42862 h 46"/>
              <a:gd name="T26" fmla="*/ 32165 w 42"/>
              <a:gd name="T27" fmla="*/ 0 h 4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2"/>
              <a:gd name="T43" fmla="*/ 0 h 46"/>
              <a:gd name="T44" fmla="*/ 42 w 42"/>
              <a:gd name="T45" fmla="*/ 46 h 4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2" h="46">
                <a:moveTo>
                  <a:pt x="23" y="0"/>
                </a:moveTo>
                <a:lnTo>
                  <a:pt x="32" y="14"/>
                </a:lnTo>
                <a:lnTo>
                  <a:pt x="38" y="25"/>
                </a:lnTo>
                <a:lnTo>
                  <a:pt x="41" y="35"/>
                </a:lnTo>
                <a:lnTo>
                  <a:pt x="39" y="43"/>
                </a:lnTo>
                <a:lnTo>
                  <a:pt x="38" y="45"/>
                </a:lnTo>
                <a:lnTo>
                  <a:pt x="35" y="45"/>
                </a:lnTo>
                <a:lnTo>
                  <a:pt x="32" y="45"/>
                </a:lnTo>
                <a:lnTo>
                  <a:pt x="27" y="45"/>
                </a:lnTo>
                <a:lnTo>
                  <a:pt x="23" y="43"/>
                </a:lnTo>
                <a:lnTo>
                  <a:pt x="16" y="38"/>
                </a:lnTo>
                <a:lnTo>
                  <a:pt x="9" y="34"/>
                </a:lnTo>
                <a:lnTo>
                  <a:pt x="0" y="27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68" name="Freeform 165">
            <a:extLst>
              <a:ext uri="{FF2B5EF4-FFF2-40B4-BE49-F238E27FC236}">
                <a16:creationId xmlns:a16="http://schemas.microsoft.com/office/drawing/2014/main" id="{01C6325F-6147-2AD3-2E58-FA0B420E3B29}"/>
              </a:ext>
            </a:extLst>
          </p:cNvPr>
          <p:cNvSpPr>
            <a:spLocks/>
          </p:cNvSpPr>
          <p:nvPr/>
        </p:nvSpPr>
        <p:spPr bwMode="auto">
          <a:xfrm>
            <a:off x="1852613" y="4999038"/>
            <a:ext cx="73025" cy="88900"/>
          </a:xfrm>
          <a:custGeom>
            <a:avLst/>
            <a:gdLst>
              <a:gd name="T0" fmla="*/ 39321 w 52"/>
              <a:gd name="T1" fmla="*/ 0 h 56"/>
              <a:gd name="T2" fmla="*/ 56173 w 52"/>
              <a:gd name="T3" fmla="*/ 26988 h 56"/>
              <a:gd name="T4" fmla="*/ 66003 w 52"/>
              <a:gd name="T5" fmla="*/ 49212 h 56"/>
              <a:gd name="T6" fmla="*/ 71621 w 52"/>
              <a:gd name="T7" fmla="*/ 68263 h 56"/>
              <a:gd name="T8" fmla="*/ 68812 w 52"/>
              <a:gd name="T9" fmla="*/ 82550 h 56"/>
              <a:gd name="T10" fmla="*/ 66003 w 52"/>
              <a:gd name="T11" fmla="*/ 87313 h 56"/>
              <a:gd name="T12" fmla="*/ 61790 w 52"/>
              <a:gd name="T13" fmla="*/ 87313 h 56"/>
              <a:gd name="T14" fmla="*/ 56173 w 52"/>
              <a:gd name="T15" fmla="*/ 87313 h 56"/>
              <a:gd name="T16" fmla="*/ 46343 w 52"/>
              <a:gd name="T17" fmla="*/ 87313 h 56"/>
              <a:gd name="T18" fmla="*/ 39321 w 52"/>
              <a:gd name="T19" fmla="*/ 82550 h 56"/>
              <a:gd name="T20" fmla="*/ 28087 w 52"/>
              <a:gd name="T21" fmla="*/ 73025 h 56"/>
              <a:gd name="T22" fmla="*/ 15448 w 52"/>
              <a:gd name="T23" fmla="*/ 65088 h 56"/>
              <a:gd name="T24" fmla="*/ 0 w 52"/>
              <a:gd name="T25" fmla="*/ 52388 h 5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2"/>
              <a:gd name="T40" fmla="*/ 0 h 56"/>
              <a:gd name="T41" fmla="*/ 52 w 52"/>
              <a:gd name="T42" fmla="*/ 56 h 5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2" h="56">
                <a:moveTo>
                  <a:pt x="28" y="0"/>
                </a:moveTo>
                <a:lnTo>
                  <a:pt x="40" y="17"/>
                </a:lnTo>
                <a:lnTo>
                  <a:pt x="47" y="31"/>
                </a:lnTo>
                <a:lnTo>
                  <a:pt x="51" y="43"/>
                </a:lnTo>
                <a:lnTo>
                  <a:pt x="49" y="52"/>
                </a:lnTo>
                <a:lnTo>
                  <a:pt x="47" y="55"/>
                </a:lnTo>
                <a:lnTo>
                  <a:pt x="44" y="55"/>
                </a:lnTo>
                <a:lnTo>
                  <a:pt x="40" y="55"/>
                </a:lnTo>
                <a:lnTo>
                  <a:pt x="33" y="55"/>
                </a:lnTo>
                <a:lnTo>
                  <a:pt x="28" y="52"/>
                </a:lnTo>
                <a:lnTo>
                  <a:pt x="20" y="46"/>
                </a:lnTo>
                <a:lnTo>
                  <a:pt x="11" y="41"/>
                </a:lnTo>
                <a:lnTo>
                  <a:pt x="0" y="3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69" name="Freeform 166">
            <a:extLst>
              <a:ext uri="{FF2B5EF4-FFF2-40B4-BE49-F238E27FC236}">
                <a16:creationId xmlns:a16="http://schemas.microsoft.com/office/drawing/2014/main" id="{C291C699-C1B6-37A0-3AEE-024AF20A7EE3}"/>
              </a:ext>
            </a:extLst>
          </p:cNvPr>
          <p:cNvSpPr>
            <a:spLocks/>
          </p:cNvSpPr>
          <p:nvPr/>
        </p:nvSpPr>
        <p:spPr bwMode="auto">
          <a:xfrm>
            <a:off x="1892300" y="4940300"/>
            <a:ext cx="58738" cy="76200"/>
          </a:xfrm>
          <a:custGeom>
            <a:avLst/>
            <a:gdLst>
              <a:gd name="T0" fmla="*/ 32166 w 42"/>
              <a:gd name="T1" fmla="*/ 0 h 48"/>
              <a:gd name="T2" fmla="*/ 44753 w 42"/>
              <a:gd name="T3" fmla="*/ 23812 h 48"/>
              <a:gd name="T4" fmla="*/ 53144 w 42"/>
              <a:gd name="T5" fmla="*/ 41275 h 48"/>
              <a:gd name="T6" fmla="*/ 57339 w 42"/>
              <a:gd name="T7" fmla="*/ 58738 h 48"/>
              <a:gd name="T8" fmla="*/ 54542 w 42"/>
              <a:gd name="T9" fmla="*/ 71438 h 48"/>
              <a:gd name="T10" fmla="*/ 53144 w 42"/>
              <a:gd name="T11" fmla="*/ 73025 h 48"/>
              <a:gd name="T12" fmla="*/ 48948 w 42"/>
              <a:gd name="T13" fmla="*/ 74613 h 48"/>
              <a:gd name="T14" fmla="*/ 43354 w 42"/>
              <a:gd name="T15" fmla="*/ 74613 h 48"/>
              <a:gd name="T16" fmla="*/ 37760 w 42"/>
              <a:gd name="T17" fmla="*/ 73025 h 48"/>
              <a:gd name="T18" fmla="*/ 29369 w 42"/>
              <a:gd name="T19" fmla="*/ 68263 h 48"/>
              <a:gd name="T20" fmla="*/ 20978 w 42"/>
              <a:gd name="T21" fmla="*/ 63500 h 48"/>
              <a:gd name="T22" fmla="*/ 12587 w 42"/>
              <a:gd name="T23" fmla="*/ 55563 h 48"/>
              <a:gd name="T24" fmla="*/ 0 w 42"/>
              <a:gd name="T25" fmla="*/ 42862 h 48"/>
              <a:gd name="T26" fmla="*/ 32166 w 42"/>
              <a:gd name="T27" fmla="*/ 0 h 4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2"/>
              <a:gd name="T43" fmla="*/ 0 h 48"/>
              <a:gd name="T44" fmla="*/ 42 w 42"/>
              <a:gd name="T45" fmla="*/ 48 h 48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2" h="48">
                <a:moveTo>
                  <a:pt x="23" y="0"/>
                </a:moveTo>
                <a:lnTo>
                  <a:pt x="32" y="15"/>
                </a:lnTo>
                <a:lnTo>
                  <a:pt x="38" y="26"/>
                </a:lnTo>
                <a:lnTo>
                  <a:pt x="41" y="37"/>
                </a:lnTo>
                <a:lnTo>
                  <a:pt x="39" y="45"/>
                </a:lnTo>
                <a:lnTo>
                  <a:pt x="38" y="46"/>
                </a:lnTo>
                <a:lnTo>
                  <a:pt x="35" y="47"/>
                </a:lnTo>
                <a:lnTo>
                  <a:pt x="31" y="47"/>
                </a:lnTo>
                <a:lnTo>
                  <a:pt x="27" y="46"/>
                </a:lnTo>
                <a:lnTo>
                  <a:pt x="21" y="43"/>
                </a:lnTo>
                <a:lnTo>
                  <a:pt x="15" y="40"/>
                </a:lnTo>
                <a:lnTo>
                  <a:pt x="9" y="35"/>
                </a:lnTo>
                <a:lnTo>
                  <a:pt x="0" y="27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70" name="Freeform 167">
            <a:extLst>
              <a:ext uri="{FF2B5EF4-FFF2-40B4-BE49-F238E27FC236}">
                <a16:creationId xmlns:a16="http://schemas.microsoft.com/office/drawing/2014/main" id="{6C42B9EB-B520-3AA2-37E7-68841F729EB8}"/>
              </a:ext>
            </a:extLst>
          </p:cNvPr>
          <p:cNvSpPr>
            <a:spLocks/>
          </p:cNvSpPr>
          <p:nvPr/>
        </p:nvSpPr>
        <p:spPr bwMode="auto">
          <a:xfrm>
            <a:off x="1892300" y="4940300"/>
            <a:ext cx="74613" cy="92075"/>
          </a:xfrm>
          <a:custGeom>
            <a:avLst/>
            <a:gdLst>
              <a:gd name="T0" fmla="*/ 40176 w 52"/>
              <a:gd name="T1" fmla="*/ 0 h 58"/>
              <a:gd name="T2" fmla="*/ 57395 w 52"/>
              <a:gd name="T3" fmla="*/ 28575 h 58"/>
              <a:gd name="T4" fmla="*/ 67439 w 52"/>
              <a:gd name="T5" fmla="*/ 49212 h 58"/>
              <a:gd name="T6" fmla="*/ 73178 w 52"/>
              <a:gd name="T7" fmla="*/ 71438 h 58"/>
              <a:gd name="T8" fmla="*/ 70308 w 52"/>
              <a:gd name="T9" fmla="*/ 85725 h 58"/>
              <a:gd name="T10" fmla="*/ 67439 w 52"/>
              <a:gd name="T11" fmla="*/ 88900 h 58"/>
              <a:gd name="T12" fmla="*/ 63134 w 52"/>
              <a:gd name="T13" fmla="*/ 90488 h 58"/>
              <a:gd name="T14" fmla="*/ 54525 w 52"/>
              <a:gd name="T15" fmla="*/ 90488 h 58"/>
              <a:gd name="T16" fmla="*/ 47351 w 52"/>
              <a:gd name="T17" fmla="*/ 88900 h 58"/>
              <a:gd name="T18" fmla="*/ 37307 w 52"/>
              <a:gd name="T19" fmla="*/ 82550 h 58"/>
              <a:gd name="T20" fmla="*/ 27262 w 52"/>
              <a:gd name="T21" fmla="*/ 77788 h 58"/>
              <a:gd name="T22" fmla="*/ 15784 w 52"/>
              <a:gd name="T23" fmla="*/ 66675 h 58"/>
              <a:gd name="T24" fmla="*/ 0 w 52"/>
              <a:gd name="T25" fmla="*/ 52388 h 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2"/>
              <a:gd name="T40" fmla="*/ 0 h 58"/>
              <a:gd name="T41" fmla="*/ 52 w 52"/>
              <a:gd name="T42" fmla="*/ 58 h 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2" h="58">
                <a:moveTo>
                  <a:pt x="28" y="0"/>
                </a:moveTo>
                <a:lnTo>
                  <a:pt x="40" y="18"/>
                </a:lnTo>
                <a:lnTo>
                  <a:pt x="47" y="31"/>
                </a:lnTo>
                <a:lnTo>
                  <a:pt x="51" y="45"/>
                </a:lnTo>
                <a:lnTo>
                  <a:pt x="49" y="54"/>
                </a:lnTo>
                <a:lnTo>
                  <a:pt x="47" y="56"/>
                </a:lnTo>
                <a:lnTo>
                  <a:pt x="44" y="57"/>
                </a:lnTo>
                <a:lnTo>
                  <a:pt x="38" y="57"/>
                </a:lnTo>
                <a:lnTo>
                  <a:pt x="33" y="56"/>
                </a:lnTo>
                <a:lnTo>
                  <a:pt x="26" y="52"/>
                </a:lnTo>
                <a:lnTo>
                  <a:pt x="19" y="49"/>
                </a:lnTo>
                <a:lnTo>
                  <a:pt x="11" y="42"/>
                </a:lnTo>
                <a:lnTo>
                  <a:pt x="0" y="3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71" name="Freeform 168">
            <a:extLst>
              <a:ext uri="{FF2B5EF4-FFF2-40B4-BE49-F238E27FC236}">
                <a16:creationId xmlns:a16="http://schemas.microsoft.com/office/drawing/2014/main" id="{B2CD7AD6-9454-5DB9-72DE-EE828B82C543}"/>
              </a:ext>
            </a:extLst>
          </p:cNvPr>
          <p:cNvSpPr>
            <a:spLocks/>
          </p:cNvSpPr>
          <p:nvPr/>
        </p:nvSpPr>
        <p:spPr bwMode="auto">
          <a:xfrm>
            <a:off x="1811338" y="5051425"/>
            <a:ext cx="61912" cy="73025"/>
          </a:xfrm>
          <a:custGeom>
            <a:avLst/>
            <a:gdLst>
              <a:gd name="T0" fmla="*/ 33116 w 43"/>
              <a:gd name="T1" fmla="*/ 0 h 46"/>
              <a:gd name="T2" fmla="*/ 48954 w 43"/>
              <a:gd name="T3" fmla="*/ 19050 h 46"/>
              <a:gd name="T4" fmla="*/ 57593 w 43"/>
              <a:gd name="T5" fmla="*/ 39687 h 46"/>
              <a:gd name="T6" fmla="*/ 60472 w 43"/>
              <a:gd name="T7" fmla="*/ 55563 h 46"/>
              <a:gd name="T8" fmla="*/ 57593 w 43"/>
              <a:gd name="T9" fmla="*/ 68263 h 46"/>
              <a:gd name="T10" fmla="*/ 54713 w 43"/>
              <a:gd name="T11" fmla="*/ 68263 h 46"/>
              <a:gd name="T12" fmla="*/ 50393 w 43"/>
              <a:gd name="T13" fmla="*/ 71438 h 46"/>
              <a:gd name="T14" fmla="*/ 46074 w 43"/>
              <a:gd name="T15" fmla="*/ 71438 h 46"/>
              <a:gd name="T16" fmla="*/ 40315 w 43"/>
              <a:gd name="T17" fmla="*/ 68263 h 46"/>
              <a:gd name="T18" fmla="*/ 33116 w 43"/>
              <a:gd name="T19" fmla="*/ 65088 h 46"/>
              <a:gd name="T20" fmla="*/ 21597 w 43"/>
              <a:gd name="T21" fmla="*/ 60325 h 46"/>
              <a:gd name="T22" fmla="*/ 11519 w 43"/>
              <a:gd name="T23" fmla="*/ 52388 h 46"/>
              <a:gd name="T24" fmla="*/ 0 w 43"/>
              <a:gd name="T25" fmla="*/ 39687 h 46"/>
              <a:gd name="T26" fmla="*/ 33116 w 43"/>
              <a:gd name="T27" fmla="*/ 0 h 4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3"/>
              <a:gd name="T43" fmla="*/ 0 h 46"/>
              <a:gd name="T44" fmla="*/ 43 w 43"/>
              <a:gd name="T45" fmla="*/ 46 h 4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3" h="46">
                <a:moveTo>
                  <a:pt x="23" y="0"/>
                </a:moveTo>
                <a:lnTo>
                  <a:pt x="34" y="12"/>
                </a:lnTo>
                <a:lnTo>
                  <a:pt x="40" y="25"/>
                </a:lnTo>
                <a:lnTo>
                  <a:pt x="42" y="35"/>
                </a:lnTo>
                <a:lnTo>
                  <a:pt x="40" y="43"/>
                </a:lnTo>
                <a:lnTo>
                  <a:pt x="38" y="43"/>
                </a:lnTo>
                <a:lnTo>
                  <a:pt x="35" y="45"/>
                </a:lnTo>
                <a:lnTo>
                  <a:pt x="32" y="45"/>
                </a:lnTo>
                <a:lnTo>
                  <a:pt x="28" y="43"/>
                </a:lnTo>
                <a:lnTo>
                  <a:pt x="23" y="41"/>
                </a:lnTo>
                <a:lnTo>
                  <a:pt x="15" y="38"/>
                </a:lnTo>
                <a:lnTo>
                  <a:pt x="8" y="33"/>
                </a:lnTo>
                <a:lnTo>
                  <a:pt x="0" y="25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72" name="Freeform 169">
            <a:extLst>
              <a:ext uri="{FF2B5EF4-FFF2-40B4-BE49-F238E27FC236}">
                <a16:creationId xmlns:a16="http://schemas.microsoft.com/office/drawing/2014/main" id="{9F66AD4D-7D31-1895-CCA7-69D0049E59C3}"/>
              </a:ext>
            </a:extLst>
          </p:cNvPr>
          <p:cNvSpPr>
            <a:spLocks/>
          </p:cNvSpPr>
          <p:nvPr/>
        </p:nvSpPr>
        <p:spPr bwMode="auto">
          <a:xfrm>
            <a:off x="1811338" y="5051425"/>
            <a:ext cx="74612" cy="88900"/>
          </a:xfrm>
          <a:custGeom>
            <a:avLst/>
            <a:gdLst>
              <a:gd name="T0" fmla="*/ 40825 w 53"/>
              <a:gd name="T1" fmla="*/ 0 h 56"/>
              <a:gd name="T2" fmla="*/ 59126 w 53"/>
              <a:gd name="T3" fmla="*/ 23812 h 56"/>
              <a:gd name="T4" fmla="*/ 68981 w 53"/>
              <a:gd name="T5" fmla="*/ 49212 h 56"/>
              <a:gd name="T6" fmla="*/ 73204 w 53"/>
              <a:gd name="T7" fmla="*/ 68263 h 56"/>
              <a:gd name="T8" fmla="*/ 70389 w 53"/>
              <a:gd name="T9" fmla="*/ 82550 h 56"/>
              <a:gd name="T10" fmla="*/ 66165 w 53"/>
              <a:gd name="T11" fmla="*/ 84138 h 56"/>
              <a:gd name="T12" fmla="*/ 60534 w 53"/>
              <a:gd name="T13" fmla="*/ 87313 h 56"/>
              <a:gd name="T14" fmla="*/ 56311 w 53"/>
              <a:gd name="T15" fmla="*/ 87313 h 56"/>
              <a:gd name="T16" fmla="*/ 49272 w 53"/>
              <a:gd name="T17" fmla="*/ 84138 h 56"/>
              <a:gd name="T18" fmla="*/ 39418 w 53"/>
              <a:gd name="T19" fmla="*/ 79375 h 56"/>
              <a:gd name="T20" fmla="*/ 26748 w 53"/>
              <a:gd name="T21" fmla="*/ 73025 h 56"/>
              <a:gd name="T22" fmla="*/ 14078 w 53"/>
              <a:gd name="T23" fmla="*/ 63500 h 56"/>
              <a:gd name="T24" fmla="*/ 0 w 53"/>
              <a:gd name="T25" fmla="*/ 49212 h 5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3"/>
              <a:gd name="T40" fmla="*/ 0 h 56"/>
              <a:gd name="T41" fmla="*/ 53 w 53"/>
              <a:gd name="T42" fmla="*/ 56 h 5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3" h="56">
                <a:moveTo>
                  <a:pt x="29" y="0"/>
                </a:moveTo>
                <a:lnTo>
                  <a:pt x="42" y="15"/>
                </a:lnTo>
                <a:lnTo>
                  <a:pt x="49" y="31"/>
                </a:lnTo>
                <a:lnTo>
                  <a:pt x="52" y="43"/>
                </a:lnTo>
                <a:lnTo>
                  <a:pt x="50" y="52"/>
                </a:lnTo>
                <a:lnTo>
                  <a:pt x="47" y="53"/>
                </a:lnTo>
                <a:lnTo>
                  <a:pt x="43" y="55"/>
                </a:lnTo>
                <a:lnTo>
                  <a:pt x="40" y="55"/>
                </a:lnTo>
                <a:lnTo>
                  <a:pt x="35" y="53"/>
                </a:lnTo>
                <a:lnTo>
                  <a:pt x="28" y="50"/>
                </a:lnTo>
                <a:lnTo>
                  <a:pt x="19" y="46"/>
                </a:lnTo>
                <a:lnTo>
                  <a:pt x="10" y="40"/>
                </a:lnTo>
                <a:lnTo>
                  <a:pt x="0" y="31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73" name="Freeform 170">
            <a:extLst>
              <a:ext uri="{FF2B5EF4-FFF2-40B4-BE49-F238E27FC236}">
                <a16:creationId xmlns:a16="http://schemas.microsoft.com/office/drawing/2014/main" id="{DF494704-8E4E-8E0E-3438-164A30BA5EEF}"/>
              </a:ext>
            </a:extLst>
          </p:cNvPr>
          <p:cNvSpPr>
            <a:spLocks/>
          </p:cNvSpPr>
          <p:nvPr/>
        </p:nvSpPr>
        <p:spPr bwMode="auto">
          <a:xfrm>
            <a:off x="1752600" y="4906963"/>
            <a:ext cx="69850" cy="82550"/>
          </a:xfrm>
          <a:custGeom>
            <a:avLst/>
            <a:gdLst>
              <a:gd name="T0" fmla="*/ 30734 w 50"/>
              <a:gd name="T1" fmla="*/ 80963 h 52"/>
              <a:gd name="T2" fmla="*/ 13970 w 50"/>
              <a:gd name="T3" fmla="*/ 58738 h 52"/>
              <a:gd name="T4" fmla="*/ 4191 w 50"/>
              <a:gd name="T5" fmla="*/ 34925 h 52"/>
              <a:gd name="T6" fmla="*/ 0 w 50"/>
              <a:gd name="T7" fmla="*/ 19050 h 52"/>
              <a:gd name="T8" fmla="*/ 2794 w 50"/>
              <a:gd name="T9" fmla="*/ 7938 h 52"/>
              <a:gd name="T10" fmla="*/ 4191 w 50"/>
              <a:gd name="T11" fmla="*/ 3175 h 52"/>
              <a:gd name="T12" fmla="*/ 9779 w 50"/>
              <a:gd name="T13" fmla="*/ 0 h 52"/>
              <a:gd name="T14" fmla="*/ 16764 w 50"/>
              <a:gd name="T15" fmla="*/ 0 h 52"/>
              <a:gd name="T16" fmla="*/ 22352 w 50"/>
              <a:gd name="T17" fmla="*/ 3175 h 52"/>
              <a:gd name="T18" fmla="*/ 32131 w 50"/>
              <a:gd name="T19" fmla="*/ 7938 h 52"/>
              <a:gd name="T20" fmla="*/ 43307 w 50"/>
              <a:gd name="T21" fmla="*/ 14288 h 52"/>
              <a:gd name="T22" fmla="*/ 54483 w 50"/>
              <a:gd name="T23" fmla="*/ 23812 h 52"/>
              <a:gd name="T24" fmla="*/ 68453 w 50"/>
              <a:gd name="T25" fmla="*/ 34925 h 52"/>
              <a:gd name="T26" fmla="*/ 30734 w 50"/>
              <a:gd name="T27" fmla="*/ 80963 h 5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0"/>
              <a:gd name="T43" fmla="*/ 0 h 52"/>
              <a:gd name="T44" fmla="*/ 50 w 50"/>
              <a:gd name="T45" fmla="*/ 52 h 5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0" h="52">
                <a:moveTo>
                  <a:pt x="22" y="51"/>
                </a:moveTo>
                <a:lnTo>
                  <a:pt x="10" y="37"/>
                </a:lnTo>
                <a:lnTo>
                  <a:pt x="3" y="22"/>
                </a:lnTo>
                <a:lnTo>
                  <a:pt x="0" y="12"/>
                </a:lnTo>
                <a:lnTo>
                  <a:pt x="2" y="5"/>
                </a:lnTo>
                <a:lnTo>
                  <a:pt x="3" y="2"/>
                </a:lnTo>
                <a:lnTo>
                  <a:pt x="7" y="0"/>
                </a:lnTo>
                <a:lnTo>
                  <a:pt x="12" y="0"/>
                </a:lnTo>
                <a:lnTo>
                  <a:pt x="16" y="2"/>
                </a:lnTo>
                <a:lnTo>
                  <a:pt x="23" y="5"/>
                </a:lnTo>
                <a:lnTo>
                  <a:pt x="31" y="9"/>
                </a:lnTo>
                <a:lnTo>
                  <a:pt x="39" y="15"/>
                </a:lnTo>
                <a:lnTo>
                  <a:pt x="49" y="22"/>
                </a:lnTo>
                <a:lnTo>
                  <a:pt x="22" y="51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74" name="Freeform 171">
            <a:extLst>
              <a:ext uri="{FF2B5EF4-FFF2-40B4-BE49-F238E27FC236}">
                <a16:creationId xmlns:a16="http://schemas.microsoft.com/office/drawing/2014/main" id="{7D3E913E-D0A7-2822-3927-9E98625B3BAE}"/>
              </a:ext>
            </a:extLst>
          </p:cNvPr>
          <p:cNvSpPr>
            <a:spLocks/>
          </p:cNvSpPr>
          <p:nvPr/>
        </p:nvSpPr>
        <p:spPr bwMode="auto">
          <a:xfrm>
            <a:off x="1752600" y="4906963"/>
            <a:ext cx="84138" cy="98425"/>
          </a:xfrm>
          <a:custGeom>
            <a:avLst/>
            <a:gdLst>
              <a:gd name="T0" fmla="*/ 36460 w 60"/>
              <a:gd name="T1" fmla="*/ 96838 h 62"/>
              <a:gd name="T2" fmla="*/ 16828 w 60"/>
              <a:gd name="T3" fmla="*/ 69850 h 62"/>
              <a:gd name="T4" fmla="*/ 5609 w 60"/>
              <a:gd name="T5" fmla="*/ 41275 h 62"/>
              <a:gd name="T6" fmla="*/ 0 w 60"/>
              <a:gd name="T7" fmla="*/ 22225 h 62"/>
              <a:gd name="T8" fmla="*/ 2805 w 60"/>
              <a:gd name="T9" fmla="*/ 9525 h 62"/>
              <a:gd name="T10" fmla="*/ 5609 w 60"/>
              <a:gd name="T11" fmla="*/ 3175 h 62"/>
              <a:gd name="T12" fmla="*/ 12621 w 60"/>
              <a:gd name="T13" fmla="*/ 0 h 62"/>
              <a:gd name="T14" fmla="*/ 19632 w 60"/>
              <a:gd name="T15" fmla="*/ 0 h 62"/>
              <a:gd name="T16" fmla="*/ 26644 w 60"/>
              <a:gd name="T17" fmla="*/ 3175 h 62"/>
              <a:gd name="T18" fmla="*/ 39264 w 60"/>
              <a:gd name="T19" fmla="*/ 9525 h 62"/>
              <a:gd name="T20" fmla="*/ 51885 w 60"/>
              <a:gd name="T21" fmla="*/ 17463 h 62"/>
              <a:gd name="T22" fmla="*/ 65908 w 60"/>
              <a:gd name="T23" fmla="*/ 28575 h 62"/>
              <a:gd name="T24" fmla="*/ 82736 w 60"/>
              <a:gd name="T25" fmla="*/ 41275 h 6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60"/>
              <a:gd name="T40" fmla="*/ 0 h 62"/>
              <a:gd name="T41" fmla="*/ 60 w 60"/>
              <a:gd name="T42" fmla="*/ 62 h 6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60" h="62">
                <a:moveTo>
                  <a:pt x="26" y="61"/>
                </a:moveTo>
                <a:lnTo>
                  <a:pt x="12" y="44"/>
                </a:lnTo>
                <a:lnTo>
                  <a:pt x="4" y="26"/>
                </a:lnTo>
                <a:lnTo>
                  <a:pt x="0" y="14"/>
                </a:lnTo>
                <a:lnTo>
                  <a:pt x="2" y="6"/>
                </a:lnTo>
                <a:lnTo>
                  <a:pt x="4" y="2"/>
                </a:lnTo>
                <a:lnTo>
                  <a:pt x="9" y="0"/>
                </a:lnTo>
                <a:lnTo>
                  <a:pt x="14" y="0"/>
                </a:lnTo>
                <a:lnTo>
                  <a:pt x="19" y="2"/>
                </a:lnTo>
                <a:lnTo>
                  <a:pt x="28" y="6"/>
                </a:lnTo>
                <a:lnTo>
                  <a:pt x="37" y="11"/>
                </a:lnTo>
                <a:lnTo>
                  <a:pt x="47" y="18"/>
                </a:lnTo>
                <a:lnTo>
                  <a:pt x="59" y="26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75" name="Freeform 172">
            <a:extLst>
              <a:ext uri="{FF2B5EF4-FFF2-40B4-BE49-F238E27FC236}">
                <a16:creationId xmlns:a16="http://schemas.microsoft.com/office/drawing/2014/main" id="{5715B131-93C2-0E5D-56BC-68D54716CB61}"/>
              </a:ext>
            </a:extLst>
          </p:cNvPr>
          <p:cNvSpPr>
            <a:spLocks/>
          </p:cNvSpPr>
          <p:nvPr/>
        </p:nvSpPr>
        <p:spPr bwMode="auto">
          <a:xfrm>
            <a:off x="1706563" y="4968875"/>
            <a:ext cx="74612" cy="80963"/>
          </a:xfrm>
          <a:custGeom>
            <a:avLst/>
            <a:gdLst>
              <a:gd name="T0" fmla="*/ 31567 w 52"/>
              <a:gd name="T1" fmla="*/ 79375 h 51"/>
              <a:gd name="T2" fmla="*/ 14348 w 52"/>
              <a:gd name="T3" fmla="*/ 57150 h 51"/>
              <a:gd name="T4" fmla="*/ 7174 w 52"/>
              <a:gd name="T5" fmla="*/ 34925 h 51"/>
              <a:gd name="T6" fmla="*/ 0 w 52"/>
              <a:gd name="T7" fmla="*/ 17463 h 51"/>
              <a:gd name="T8" fmla="*/ 2870 w 52"/>
              <a:gd name="T9" fmla="*/ 6350 h 51"/>
              <a:gd name="T10" fmla="*/ 7174 w 52"/>
              <a:gd name="T11" fmla="*/ 1588 h 51"/>
              <a:gd name="T12" fmla="*/ 11479 w 52"/>
              <a:gd name="T13" fmla="*/ 0 h 51"/>
              <a:gd name="T14" fmla="*/ 17218 w 52"/>
              <a:gd name="T15" fmla="*/ 0 h 51"/>
              <a:gd name="T16" fmla="*/ 25827 w 52"/>
              <a:gd name="T17" fmla="*/ 1588 h 51"/>
              <a:gd name="T18" fmla="*/ 35871 w 52"/>
              <a:gd name="T19" fmla="*/ 6350 h 51"/>
              <a:gd name="T20" fmla="*/ 45915 w 52"/>
              <a:gd name="T21" fmla="*/ 12700 h 51"/>
              <a:gd name="T22" fmla="*/ 58829 w 52"/>
              <a:gd name="T23" fmla="*/ 22225 h 51"/>
              <a:gd name="T24" fmla="*/ 73177 w 52"/>
              <a:gd name="T25" fmla="*/ 34925 h 51"/>
              <a:gd name="T26" fmla="*/ 31567 w 52"/>
              <a:gd name="T27" fmla="*/ 79375 h 5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2"/>
              <a:gd name="T43" fmla="*/ 0 h 51"/>
              <a:gd name="T44" fmla="*/ 52 w 52"/>
              <a:gd name="T45" fmla="*/ 51 h 5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2" h="51">
                <a:moveTo>
                  <a:pt x="22" y="50"/>
                </a:moveTo>
                <a:lnTo>
                  <a:pt x="10" y="36"/>
                </a:lnTo>
                <a:lnTo>
                  <a:pt x="5" y="22"/>
                </a:lnTo>
                <a:lnTo>
                  <a:pt x="0" y="11"/>
                </a:lnTo>
                <a:lnTo>
                  <a:pt x="2" y="4"/>
                </a:lnTo>
                <a:lnTo>
                  <a:pt x="5" y="1"/>
                </a:lnTo>
                <a:lnTo>
                  <a:pt x="8" y="0"/>
                </a:lnTo>
                <a:lnTo>
                  <a:pt x="12" y="0"/>
                </a:lnTo>
                <a:lnTo>
                  <a:pt x="18" y="1"/>
                </a:lnTo>
                <a:lnTo>
                  <a:pt x="25" y="4"/>
                </a:lnTo>
                <a:lnTo>
                  <a:pt x="32" y="8"/>
                </a:lnTo>
                <a:lnTo>
                  <a:pt x="41" y="14"/>
                </a:lnTo>
                <a:lnTo>
                  <a:pt x="51" y="22"/>
                </a:lnTo>
                <a:lnTo>
                  <a:pt x="22" y="5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76" name="Freeform 173">
            <a:extLst>
              <a:ext uri="{FF2B5EF4-FFF2-40B4-BE49-F238E27FC236}">
                <a16:creationId xmlns:a16="http://schemas.microsoft.com/office/drawing/2014/main" id="{1ED6A82F-DE8B-A83F-CD13-A84B19260004}"/>
              </a:ext>
            </a:extLst>
          </p:cNvPr>
          <p:cNvSpPr>
            <a:spLocks/>
          </p:cNvSpPr>
          <p:nvPr/>
        </p:nvSpPr>
        <p:spPr bwMode="auto">
          <a:xfrm>
            <a:off x="1706563" y="4968875"/>
            <a:ext cx="87312" cy="96838"/>
          </a:xfrm>
          <a:custGeom>
            <a:avLst/>
            <a:gdLst>
              <a:gd name="T0" fmla="*/ 36615 w 62"/>
              <a:gd name="T1" fmla="*/ 95250 h 61"/>
              <a:gd name="T2" fmla="*/ 16899 w 62"/>
              <a:gd name="T3" fmla="*/ 68263 h 61"/>
              <a:gd name="T4" fmla="*/ 8450 w 62"/>
              <a:gd name="T5" fmla="*/ 41275 h 61"/>
              <a:gd name="T6" fmla="*/ 0 w 62"/>
              <a:gd name="T7" fmla="*/ 20638 h 61"/>
              <a:gd name="T8" fmla="*/ 2817 w 62"/>
              <a:gd name="T9" fmla="*/ 7938 h 61"/>
              <a:gd name="T10" fmla="*/ 8450 w 62"/>
              <a:gd name="T11" fmla="*/ 1588 h 61"/>
              <a:gd name="T12" fmla="*/ 12674 w 62"/>
              <a:gd name="T13" fmla="*/ 0 h 61"/>
              <a:gd name="T14" fmla="*/ 19716 w 62"/>
              <a:gd name="T15" fmla="*/ 0 h 61"/>
              <a:gd name="T16" fmla="*/ 29573 w 62"/>
              <a:gd name="T17" fmla="*/ 1588 h 61"/>
              <a:gd name="T18" fmla="*/ 42248 w 62"/>
              <a:gd name="T19" fmla="*/ 7938 h 61"/>
              <a:gd name="T20" fmla="*/ 53514 w 62"/>
              <a:gd name="T21" fmla="*/ 15875 h 61"/>
              <a:gd name="T22" fmla="*/ 69005 w 62"/>
              <a:gd name="T23" fmla="*/ 26988 h 61"/>
              <a:gd name="T24" fmla="*/ 85904 w 62"/>
              <a:gd name="T25" fmla="*/ 41275 h 6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62"/>
              <a:gd name="T40" fmla="*/ 0 h 61"/>
              <a:gd name="T41" fmla="*/ 62 w 62"/>
              <a:gd name="T42" fmla="*/ 61 h 6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62" h="61">
                <a:moveTo>
                  <a:pt x="26" y="60"/>
                </a:moveTo>
                <a:lnTo>
                  <a:pt x="12" y="43"/>
                </a:lnTo>
                <a:lnTo>
                  <a:pt x="6" y="26"/>
                </a:lnTo>
                <a:lnTo>
                  <a:pt x="0" y="13"/>
                </a:lnTo>
                <a:lnTo>
                  <a:pt x="2" y="5"/>
                </a:lnTo>
                <a:lnTo>
                  <a:pt x="6" y="1"/>
                </a:lnTo>
                <a:lnTo>
                  <a:pt x="9" y="0"/>
                </a:lnTo>
                <a:lnTo>
                  <a:pt x="14" y="0"/>
                </a:lnTo>
                <a:lnTo>
                  <a:pt x="21" y="1"/>
                </a:lnTo>
                <a:lnTo>
                  <a:pt x="30" y="5"/>
                </a:lnTo>
                <a:lnTo>
                  <a:pt x="38" y="10"/>
                </a:lnTo>
                <a:lnTo>
                  <a:pt x="49" y="17"/>
                </a:lnTo>
                <a:lnTo>
                  <a:pt x="61" y="26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77" name="Freeform 174">
            <a:extLst>
              <a:ext uri="{FF2B5EF4-FFF2-40B4-BE49-F238E27FC236}">
                <a16:creationId xmlns:a16="http://schemas.microsoft.com/office/drawing/2014/main" id="{6FCA3842-75CA-EA73-E90B-9080B95B5FA3}"/>
              </a:ext>
            </a:extLst>
          </p:cNvPr>
          <p:cNvSpPr>
            <a:spLocks/>
          </p:cNvSpPr>
          <p:nvPr/>
        </p:nvSpPr>
        <p:spPr bwMode="auto">
          <a:xfrm>
            <a:off x="1798638" y="4854575"/>
            <a:ext cx="71437" cy="79375"/>
          </a:xfrm>
          <a:custGeom>
            <a:avLst/>
            <a:gdLst>
              <a:gd name="T0" fmla="*/ 31432 w 50"/>
              <a:gd name="T1" fmla="*/ 77788 h 50"/>
              <a:gd name="T2" fmla="*/ 14287 w 50"/>
              <a:gd name="T3" fmla="*/ 55563 h 50"/>
              <a:gd name="T4" fmla="*/ 5715 w 50"/>
              <a:gd name="T5" fmla="*/ 34925 h 50"/>
              <a:gd name="T6" fmla="*/ 0 w 50"/>
              <a:gd name="T7" fmla="*/ 17463 h 50"/>
              <a:gd name="T8" fmla="*/ 2857 w 50"/>
              <a:gd name="T9" fmla="*/ 4763 h 50"/>
              <a:gd name="T10" fmla="*/ 5715 w 50"/>
              <a:gd name="T11" fmla="*/ 3175 h 50"/>
              <a:gd name="T12" fmla="*/ 10001 w 50"/>
              <a:gd name="T13" fmla="*/ 0 h 50"/>
              <a:gd name="T14" fmla="*/ 17145 w 50"/>
              <a:gd name="T15" fmla="*/ 0 h 50"/>
              <a:gd name="T16" fmla="*/ 24289 w 50"/>
              <a:gd name="T17" fmla="*/ 3175 h 50"/>
              <a:gd name="T18" fmla="*/ 32861 w 50"/>
              <a:gd name="T19" fmla="*/ 4763 h 50"/>
              <a:gd name="T20" fmla="*/ 44291 w 50"/>
              <a:gd name="T21" fmla="*/ 11112 h 50"/>
              <a:gd name="T22" fmla="*/ 55721 w 50"/>
              <a:gd name="T23" fmla="*/ 20637 h 50"/>
              <a:gd name="T24" fmla="*/ 70008 w 50"/>
              <a:gd name="T25" fmla="*/ 33338 h 50"/>
              <a:gd name="T26" fmla="*/ 31432 w 50"/>
              <a:gd name="T27" fmla="*/ 77788 h 5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0"/>
              <a:gd name="T43" fmla="*/ 0 h 50"/>
              <a:gd name="T44" fmla="*/ 50 w 50"/>
              <a:gd name="T45" fmla="*/ 50 h 5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0" h="50">
                <a:moveTo>
                  <a:pt x="22" y="49"/>
                </a:moveTo>
                <a:lnTo>
                  <a:pt x="10" y="35"/>
                </a:lnTo>
                <a:lnTo>
                  <a:pt x="4" y="22"/>
                </a:lnTo>
                <a:lnTo>
                  <a:pt x="0" y="11"/>
                </a:lnTo>
                <a:lnTo>
                  <a:pt x="2" y="3"/>
                </a:lnTo>
                <a:lnTo>
                  <a:pt x="4" y="2"/>
                </a:lnTo>
                <a:lnTo>
                  <a:pt x="7" y="0"/>
                </a:lnTo>
                <a:lnTo>
                  <a:pt x="12" y="0"/>
                </a:lnTo>
                <a:lnTo>
                  <a:pt x="17" y="2"/>
                </a:lnTo>
                <a:lnTo>
                  <a:pt x="23" y="3"/>
                </a:lnTo>
                <a:lnTo>
                  <a:pt x="31" y="7"/>
                </a:lnTo>
                <a:lnTo>
                  <a:pt x="39" y="13"/>
                </a:lnTo>
                <a:lnTo>
                  <a:pt x="49" y="21"/>
                </a:lnTo>
                <a:lnTo>
                  <a:pt x="22" y="49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78" name="Freeform 175">
            <a:extLst>
              <a:ext uri="{FF2B5EF4-FFF2-40B4-BE49-F238E27FC236}">
                <a16:creationId xmlns:a16="http://schemas.microsoft.com/office/drawing/2014/main" id="{7C5EA932-BFC0-D1D3-856F-D322C934AFDF}"/>
              </a:ext>
            </a:extLst>
          </p:cNvPr>
          <p:cNvSpPr>
            <a:spLocks/>
          </p:cNvSpPr>
          <p:nvPr/>
        </p:nvSpPr>
        <p:spPr bwMode="auto">
          <a:xfrm>
            <a:off x="1798638" y="4854575"/>
            <a:ext cx="85725" cy="95250"/>
          </a:xfrm>
          <a:custGeom>
            <a:avLst/>
            <a:gdLst>
              <a:gd name="T0" fmla="*/ 37148 w 60"/>
              <a:gd name="T1" fmla="*/ 93663 h 60"/>
              <a:gd name="T2" fmla="*/ 17145 w 60"/>
              <a:gd name="T3" fmla="*/ 66675 h 60"/>
              <a:gd name="T4" fmla="*/ 7144 w 60"/>
              <a:gd name="T5" fmla="*/ 41275 h 60"/>
              <a:gd name="T6" fmla="*/ 0 w 60"/>
              <a:gd name="T7" fmla="*/ 20638 h 60"/>
              <a:gd name="T8" fmla="*/ 2858 w 60"/>
              <a:gd name="T9" fmla="*/ 6350 h 60"/>
              <a:gd name="T10" fmla="*/ 7144 w 60"/>
              <a:gd name="T11" fmla="*/ 3175 h 60"/>
              <a:gd name="T12" fmla="*/ 12859 w 60"/>
              <a:gd name="T13" fmla="*/ 0 h 60"/>
              <a:gd name="T14" fmla="*/ 20003 w 60"/>
              <a:gd name="T15" fmla="*/ 0 h 60"/>
              <a:gd name="T16" fmla="*/ 30004 w 60"/>
              <a:gd name="T17" fmla="*/ 3175 h 60"/>
              <a:gd name="T18" fmla="*/ 40005 w 60"/>
              <a:gd name="T19" fmla="*/ 6350 h 60"/>
              <a:gd name="T20" fmla="*/ 52864 w 60"/>
              <a:gd name="T21" fmla="*/ 14288 h 60"/>
              <a:gd name="T22" fmla="*/ 67151 w 60"/>
              <a:gd name="T23" fmla="*/ 25400 h 60"/>
              <a:gd name="T24" fmla="*/ 84296 w 60"/>
              <a:gd name="T25" fmla="*/ 39688 h 6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60"/>
              <a:gd name="T40" fmla="*/ 0 h 60"/>
              <a:gd name="T41" fmla="*/ 60 w 60"/>
              <a:gd name="T42" fmla="*/ 60 h 6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60" h="60">
                <a:moveTo>
                  <a:pt x="26" y="59"/>
                </a:moveTo>
                <a:lnTo>
                  <a:pt x="12" y="42"/>
                </a:lnTo>
                <a:lnTo>
                  <a:pt x="5" y="26"/>
                </a:lnTo>
                <a:lnTo>
                  <a:pt x="0" y="13"/>
                </a:lnTo>
                <a:lnTo>
                  <a:pt x="2" y="4"/>
                </a:lnTo>
                <a:lnTo>
                  <a:pt x="5" y="2"/>
                </a:lnTo>
                <a:lnTo>
                  <a:pt x="9" y="0"/>
                </a:lnTo>
                <a:lnTo>
                  <a:pt x="14" y="0"/>
                </a:lnTo>
                <a:lnTo>
                  <a:pt x="21" y="2"/>
                </a:lnTo>
                <a:lnTo>
                  <a:pt x="28" y="4"/>
                </a:lnTo>
                <a:lnTo>
                  <a:pt x="37" y="9"/>
                </a:lnTo>
                <a:lnTo>
                  <a:pt x="47" y="16"/>
                </a:lnTo>
                <a:lnTo>
                  <a:pt x="59" y="25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79" name="Freeform 176">
            <a:extLst>
              <a:ext uri="{FF2B5EF4-FFF2-40B4-BE49-F238E27FC236}">
                <a16:creationId xmlns:a16="http://schemas.microsoft.com/office/drawing/2014/main" id="{A2B390DE-EA12-B97F-D5D4-8E34AF116AEA}"/>
              </a:ext>
            </a:extLst>
          </p:cNvPr>
          <p:cNvSpPr>
            <a:spLocks/>
          </p:cNvSpPr>
          <p:nvPr/>
        </p:nvSpPr>
        <p:spPr bwMode="auto">
          <a:xfrm>
            <a:off x="1816100" y="4700588"/>
            <a:ext cx="66675" cy="52387"/>
          </a:xfrm>
          <a:custGeom>
            <a:avLst/>
            <a:gdLst>
              <a:gd name="T0" fmla="*/ 65256 w 47"/>
              <a:gd name="T1" fmla="*/ 50800 h 33"/>
              <a:gd name="T2" fmla="*/ 41140 w 47"/>
              <a:gd name="T3" fmla="*/ 46037 h 33"/>
              <a:gd name="T4" fmla="*/ 21279 w 47"/>
              <a:gd name="T5" fmla="*/ 38100 h 33"/>
              <a:gd name="T6" fmla="*/ 15605 w 47"/>
              <a:gd name="T7" fmla="*/ 33337 h 33"/>
              <a:gd name="T8" fmla="*/ 8512 w 47"/>
              <a:gd name="T9" fmla="*/ 30162 h 33"/>
              <a:gd name="T10" fmla="*/ 4256 w 47"/>
              <a:gd name="T11" fmla="*/ 25400 h 33"/>
              <a:gd name="T12" fmla="*/ 2837 w 47"/>
              <a:gd name="T13" fmla="*/ 22225 h 33"/>
              <a:gd name="T14" fmla="*/ 0 w 47"/>
              <a:gd name="T15" fmla="*/ 19050 h 33"/>
              <a:gd name="T16" fmla="*/ 2837 w 47"/>
              <a:gd name="T17" fmla="*/ 14287 h 33"/>
              <a:gd name="T18" fmla="*/ 7093 w 47"/>
              <a:gd name="T19" fmla="*/ 11112 h 33"/>
              <a:gd name="T20" fmla="*/ 12768 w 47"/>
              <a:gd name="T21" fmla="*/ 6350 h 33"/>
              <a:gd name="T22" fmla="*/ 21279 w 47"/>
              <a:gd name="T23" fmla="*/ 4762 h 33"/>
              <a:gd name="T24" fmla="*/ 29791 w 47"/>
              <a:gd name="T25" fmla="*/ 3175 h 33"/>
              <a:gd name="T26" fmla="*/ 42559 w 47"/>
              <a:gd name="T27" fmla="*/ 0 h 33"/>
              <a:gd name="T28" fmla="*/ 59582 w 47"/>
              <a:gd name="T29" fmla="*/ 0 h 33"/>
              <a:gd name="T30" fmla="*/ 65256 w 47"/>
              <a:gd name="T31" fmla="*/ 50800 h 3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7"/>
              <a:gd name="T49" fmla="*/ 0 h 33"/>
              <a:gd name="T50" fmla="*/ 47 w 47"/>
              <a:gd name="T51" fmla="*/ 33 h 3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7" h="33">
                <a:moveTo>
                  <a:pt x="46" y="32"/>
                </a:moveTo>
                <a:lnTo>
                  <a:pt x="29" y="29"/>
                </a:lnTo>
                <a:lnTo>
                  <a:pt x="15" y="24"/>
                </a:lnTo>
                <a:lnTo>
                  <a:pt x="11" y="21"/>
                </a:lnTo>
                <a:lnTo>
                  <a:pt x="6" y="19"/>
                </a:lnTo>
                <a:lnTo>
                  <a:pt x="3" y="16"/>
                </a:lnTo>
                <a:lnTo>
                  <a:pt x="2" y="14"/>
                </a:lnTo>
                <a:lnTo>
                  <a:pt x="0" y="12"/>
                </a:lnTo>
                <a:lnTo>
                  <a:pt x="2" y="9"/>
                </a:lnTo>
                <a:lnTo>
                  <a:pt x="5" y="7"/>
                </a:lnTo>
                <a:lnTo>
                  <a:pt x="9" y="4"/>
                </a:lnTo>
                <a:lnTo>
                  <a:pt x="15" y="3"/>
                </a:lnTo>
                <a:lnTo>
                  <a:pt x="21" y="2"/>
                </a:lnTo>
                <a:lnTo>
                  <a:pt x="30" y="0"/>
                </a:lnTo>
                <a:lnTo>
                  <a:pt x="42" y="0"/>
                </a:lnTo>
                <a:lnTo>
                  <a:pt x="46" y="32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80" name="Freeform 177">
            <a:extLst>
              <a:ext uri="{FF2B5EF4-FFF2-40B4-BE49-F238E27FC236}">
                <a16:creationId xmlns:a16="http://schemas.microsoft.com/office/drawing/2014/main" id="{D6281C42-2E98-2F38-2199-FF181B2788DB}"/>
              </a:ext>
            </a:extLst>
          </p:cNvPr>
          <p:cNvSpPr>
            <a:spLocks/>
          </p:cNvSpPr>
          <p:nvPr/>
        </p:nvSpPr>
        <p:spPr bwMode="auto">
          <a:xfrm>
            <a:off x="1816100" y="4700588"/>
            <a:ext cx="80963" cy="68262"/>
          </a:xfrm>
          <a:custGeom>
            <a:avLst/>
            <a:gdLst>
              <a:gd name="T0" fmla="*/ 79543 w 57"/>
              <a:gd name="T1" fmla="*/ 66675 h 43"/>
              <a:gd name="T2" fmla="*/ 49714 w 57"/>
              <a:gd name="T3" fmla="*/ 60325 h 43"/>
              <a:gd name="T4" fmla="*/ 25567 w 57"/>
              <a:gd name="T5" fmla="*/ 49212 h 43"/>
              <a:gd name="T6" fmla="*/ 18465 w 57"/>
              <a:gd name="T7" fmla="*/ 44450 h 43"/>
              <a:gd name="T8" fmla="*/ 9943 w 57"/>
              <a:gd name="T9" fmla="*/ 39687 h 43"/>
              <a:gd name="T10" fmla="*/ 5682 w 57"/>
              <a:gd name="T11" fmla="*/ 33337 h 43"/>
              <a:gd name="T12" fmla="*/ 2841 w 57"/>
              <a:gd name="T13" fmla="*/ 30162 h 43"/>
              <a:gd name="T14" fmla="*/ 0 w 57"/>
              <a:gd name="T15" fmla="*/ 25400 h 43"/>
              <a:gd name="T16" fmla="*/ 2841 w 57"/>
              <a:gd name="T17" fmla="*/ 19050 h 43"/>
              <a:gd name="T18" fmla="*/ 8522 w 57"/>
              <a:gd name="T19" fmla="*/ 14287 h 43"/>
              <a:gd name="T20" fmla="*/ 15624 w 57"/>
              <a:gd name="T21" fmla="*/ 7937 h 43"/>
              <a:gd name="T22" fmla="*/ 25567 w 57"/>
              <a:gd name="T23" fmla="*/ 6350 h 43"/>
              <a:gd name="T24" fmla="*/ 36930 w 57"/>
              <a:gd name="T25" fmla="*/ 3175 h 43"/>
              <a:gd name="T26" fmla="*/ 52555 w 57"/>
              <a:gd name="T27" fmla="*/ 0 h 43"/>
              <a:gd name="T28" fmla="*/ 72441 w 57"/>
              <a:gd name="T29" fmla="*/ 0 h 4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7"/>
              <a:gd name="T46" fmla="*/ 0 h 43"/>
              <a:gd name="T47" fmla="*/ 57 w 57"/>
              <a:gd name="T48" fmla="*/ 43 h 43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7" h="43">
                <a:moveTo>
                  <a:pt x="56" y="42"/>
                </a:moveTo>
                <a:lnTo>
                  <a:pt x="35" y="38"/>
                </a:lnTo>
                <a:lnTo>
                  <a:pt x="18" y="31"/>
                </a:lnTo>
                <a:lnTo>
                  <a:pt x="13" y="28"/>
                </a:lnTo>
                <a:lnTo>
                  <a:pt x="7" y="25"/>
                </a:lnTo>
                <a:lnTo>
                  <a:pt x="4" y="21"/>
                </a:lnTo>
                <a:lnTo>
                  <a:pt x="2" y="19"/>
                </a:lnTo>
                <a:lnTo>
                  <a:pt x="0" y="16"/>
                </a:lnTo>
                <a:lnTo>
                  <a:pt x="2" y="12"/>
                </a:lnTo>
                <a:lnTo>
                  <a:pt x="6" y="9"/>
                </a:lnTo>
                <a:lnTo>
                  <a:pt x="11" y="5"/>
                </a:lnTo>
                <a:lnTo>
                  <a:pt x="18" y="4"/>
                </a:lnTo>
                <a:lnTo>
                  <a:pt x="26" y="2"/>
                </a:lnTo>
                <a:lnTo>
                  <a:pt x="37" y="0"/>
                </a:lnTo>
                <a:lnTo>
                  <a:pt x="51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81" name="Freeform 178">
            <a:extLst>
              <a:ext uri="{FF2B5EF4-FFF2-40B4-BE49-F238E27FC236}">
                <a16:creationId xmlns:a16="http://schemas.microsoft.com/office/drawing/2014/main" id="{C8653089-8DF8-47D9-E84A-47C0E92F9FFD}"/>
              </a:ext>
            </a:extLst>
          </p:cNvPr>
          <p:cNvSpPr>
            <a:spLocks/>
          </p:cNvSpPr>
          <p:nvPr/>
        </p:nvSpPr>
        <p:spPr bwMode="auto">
          <a:xfrm>
            <a:off x="1828800" y="4770438"/>
            <a:ext cx="66675" cy="50800"/>
          </a:xfrm>
          <a:custGeom>
            <a:avLst/>
            <a:gdLst>
              <a:gd name="T0" fmla="*/ 65256 w 47"/>
              <a:gd name="T1" fmla="*/ 49212 h 32"/>
              <a:gd name="T2" fmla="*/ 41140 w 47"/>
              <a:gd name="T3" fmla="*/ 42862 h 32"/>
              <a:gd name="T4" fmla="*/ 19861 w 47"/>
              <a:gd name="T5" fmla="*/ 36512 h 32"/>
              <a:gd name="T6" fmla="*/ 14186 w 47"/>
              <a:gd name="T7" fmla="*/ 31750 h 32"/>
              <a:gd name="T8" fmla="*/ 8512 w 47"/>
              <a:gd name="T9" fmla="*/ 28575 h 32"/>
              <a:gd name="T10" fmla="*/ 4256 w 47"/>
              <a:gd name="T11" fmla="*/ 23812 h 32"/>
              <a:gd name="T12" fmla="*/ 2837 w 47"/>
              <a:gd name="T13" fmla="*/ 20637 h 32"/>
              <a:gd name="T14" fmla="*/ 0 w 47"/>
              <a:gd name="T15" fmla="*/ 17462 h 32"/>
              <a:gd name="T16" fmla="*/ 2837 w 47"/>
              <a:gd name="T17" fmla="*/ 12700 h 32"/>
              <a:gd name="T18" fmla="*/ 5674 w 47"/>
              <a:gd name="T19" fmla="*/ 9525 h 32"/>
              <a:gd name="T20" fmla="*/ 12768 w 47"/>
              <a:gd name="T21" fmla="*/ 6350 h 32"/>
              <a:gd name="T22" fmla="*/ 19861 w 47"/>
              <a:gd name="T23" fmla="*/ 3175 h 32"/>
              <a:gd name="T24" fmla="*/ 29791 w 47"/>
              <a:gd name="T25" fmla="*/ 1588 h 32"/>
              <a:gd name="T26" fmla="*/ 42559 w 47"/>
              <a:gd name="T27" fmla="*/ 0 h 32"/>
              <a:gd name="T28" fmla="*/ 58163 w 47"/>
              <a:gd name="T29" fmla="*/ 0 h 32"/>
              <a:gd name="T30" fmla="*/ 65256 w 47"/>
              <a:gd name="T31" fmla="*/ 49212 h 3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7"/>
              <a:gd name="T49" fmla="*/ 0 h 32"/>
              <a:gd name="T50" fmla="*/ 47 w 47"/>
              <a:gd name="T51" fmla="*/ 32 h 3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7" h="32">
                <a:moveTo>
                  <a:pt x="46" y="31"/>
                </a:moveTo>
                <a:lnTo>
                  <a:pt x="29" y="27"/>
                </a:lnTo>
                <a:lnTo>
                  <a:pt x="14" y="23"/>
                </a:lnTo>
                <a:lnTo>
                  <a:pt x="10" y="20"/>
                </a:lnTo>
                <a:lnTo>
                  <a:pt x="6" y="18"/>
                </a:lnTo>
                <a:lnTo>
                  <a:pt x="3" y="15"/>
                </a:lnTo>
                <a:lnTo>
                  <a:pt x="2" y="13"/>
                </a:lnTo>
                <a:lnTo>
                  <a:pt x="0" y="11"/>
                </a:lnTo>
                <a:lnTo>
                  <a:pt x="2" y="8"/>
                </a:lnTo>
                <a:lnTo>
                  <a:pt x="4" y="6"/>
                </a:lnTo>
                <a:lnTo>
                  <a:pt x="9" y="4"/>
                </a:lnTo>
                <a:lnTo>
                  <a:pt x="14" y="2"/>
                </a:lnTo>
                <a:lnTo>
                  <a:pt x="21" y="1"/>
                </a:lnTo>
                <a:lnTo>
                  <a:pt x="30" y="0"/>
                </a:lnTo>
                <a:lnTo>
                  <a:pt x="41" y="0"/>
                </a:lnTo>
                <a:lnTo>
                  <a:pt x="46" y="31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82" name="Freeform 179">
            <a:extLst>
              <a:ext uri="{FF2B5EF4-FFF2-40B4-BE49-F238E27FC236}">
                <a16:creationId xmlns:a16="http://schemas.microsoft.com/office/drawing/2014/main" id="{9D50474A-E3F4-EC18-F67B-34ACBB2264C3}"/>
              </a:ext>
            </a:extLst>
          </p:cNvPr>
          <p:cNvSpPr>
            <a:spLocks/>
          </p:cNvSpPr>
          <p:nvPr/>
        </p:nvSpPr>
        <p:spPr bwMode="auto">
          <a:xfrm>
            <a:off x="1828800" y="4770438"/>
            <a:ext cx="80963" cy="66675"/>
          </a:xfrm>
          <a:custGeom>
            <a:avLst/>
            <a:gdLst>
              <a:gd name="T0" fmla="*/ 79543 w 57"/>
              <a:gd name="T1" fmla="*/ 65088 h 42"/>
              <a:gd name="T2" fmla="*/ 49714 w 57"/>
              <a:gd name="T3" fmla="*/ 57150 h 42"/>
              <a:gd name="T4" fmla="*/ 24147 w 57"/>
              <a:gd name="T5" fmla="*/ 49212 h 42"/>
              <a:gd name="T6" fmla="*/ 17045 w 57"/>
              <a:gd name="T7" fmla="*/ 42862 h 42"/>
              <a:gd name="T8" fmla="*/ 9943 w 57"/>
              <a:gd name="T9" fmla="*/ 38100 h 42"/>
              <a:gd name="T10" fmla="*/ 5682 w 57"/>
              <a:gd name="T11" fmla="*/ 31750 h 42"/>
              <a:gd name="T12" fmla="*/ 2841 w 57"/>
              <a:gd name="T13" fmla="*/ 26988 h 42"/>
              <a:gd name="T14" fmla="*/ 0 w 57"/>
              <a:gd name="T15" fmla="*/ 22225 h 42"/>
              <a:gd name="T16" fmla="*/ 2841 w 57"/>
              <a:gd name="T17" fmla="*/ 15875 h 42"/>
              <a:gd name="T18" fmla="*/ 7102 w 57"/>
              <a:gd name="T19" fmla="*/ 12700 h 42"/>
              <a:gd name="T20" fmla="*/ 15624 w 57"/>
              <a:gd name="T21" fmla="*/ 7938 h 42"/>
              <a:gd name="T22" fmla="*/ 24147 w 57"/>
              <a:gd name="T23" fmla="*/ 4762 h 42"/>
              <a:gd name="T24" fmla="*/ 36930 w 57"/>
              <a:gd name="T25" fmla="*/ 1588 h 42"/>
              <a:gd name="T26" fmla="*/ 52555 w 57"/>
              <a:gd name="T27" fmla="*/ 0 h 42"/>
              <a:gd name="T28" fmla="*/ 71020 w 57"/>
              <a:gd name="T29" fmla="*/ 0 h 4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7"/>
              <a:gd name="T46" fmla="*/ 0 h 42"/>
              <a:gd name="T47" fmla="*/ 57 w 57"/>
              <a:gd name="T48" fmla="*/ 42 h 4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7" h="42">
                <a:moveTo>
                  <a:pt x="56" y="41"/>
                </a:moveTo>
                <a:lnTo>
                  <a:pt x="35" y="36"/>
                </a:lnTo>
                <a:lnTo>
                  <a:pt x="17" y="31"/>
                </a:lnTo>
                <a:lnTo>
                  <a:pt x="12" y="27"/>
                </a:lnTo>
                <a:lnTo>
                  <a:pt x="7" y="24"/>
                </a:lnTo>
                <a:lnTo>
                  <a:pt x="4" y="20"/>
                </a:lnTo>
                <a:lnTo>
                  <a:pt x="2" y="17"/>
                </a:lnTo>
                <a:lnTo>
                  <a:pt x="0" y="14"/>
                </a:lnTo>
                <a:lnTo>
                  <a:pt x="2" y="10"/>
                </a:lnTo>
                <a:lnTo>
                  <a:pt x="5" y="8"/>
                </a:lnTo>
                <a:lnTo>
                  <a:pt x="11" y="5"/>
                </a:lnTo>
                <a:lnTo>
                  <a:pt x="17" y="3"/>
                </a:lnTo>
                <a:lnTo>
                  <a:pt x="26" y="1"/>
                </a:lnTo>
                <a:lnTo>
                  <a:pt x="37" y="0"/>
                </a:lnTo>
                <a:lnTo>
                  <a:pt x="50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83" name="Freeform 180">
            <a:extLst>
              <a:ext uri="{FF2B5EF4-FFF2-40B4-BE49-F238E27FC236}">
                <a16:creationId xmlns:a16="http://schemas.microsoft.com/office/drawing/2014/main" id="{8626028A-EFBF-C871-2DFE-6A80FD07C047}"/>
              </a:ext>
            </a:extLst>
          </p:cNvPr>
          <p:cNvSpPr>
            <a:spLocks/>
          </p:cNvSpPr>
          <p:nvPr/>
        </p:nvSpPr>
        <p:spPr bwMode="auto">
          <a:xfrm>
            <a:off x="1809750" y="4637088"/>
            <a:ext cx="65088" cy="49212"/>
          </a:xfrm>
          <a:custGeom>
            <a:avLst/>
            <a:gdLst>
              <a:gd name="T0" fmla="*/ 63703 w 47"/>
              <a:gd name="T1" fmla="*/ 47625 h 31"/>
              <a:gd name="T2" fmla="*/ 40161 w 47"/>
              <a:gd name="T3" fmla="*/ 44450 h 31"/>
              <a:gd name="T4" fmla="*/ 20773 w 47"/>
              <a:gd name="T5" fmla="*/ 36512 h 31"/>
              <a:gd name="T6" fmla="*/ 13849 w 47"/>
              <a:gd name="T7" fmla="*/ 31750 h 31"/>
              <a:gd name="T8" fmla="*/ 8309 w 47"/>
              <a:gd name="T9" fmla="*/ 30162 h 31"/>
              <a:gd name="T10" fmla="*/ 4155 w 47"/>
              <a:gd name="T11" fmla="*/ 25400 h 31"/>
              <a:gd name="T12" fmla="*/ 2770 w 47"/>
              <a:gd name="T13" fmla="*/ 22225 h 31"/>
              <a:gd name="T14" fmla="*/ 0 w 47"/>
              <a:gd name="T15" fmla="*/ 17462 h 31"/>
              <a:gd name="T16" fmla="*/ 2770 w 47"/>
              <a:gd name="T17" fmla="*/ 12700 h 31"/>
              <a:gd name="T18" fmla="*/ 5539 w 47"/>
              <a:gd name="T19" fmla="*/ 7937 h 31"/>
              <a:gd name="T20" fmla="*/ 12464 w 47"/>
              <a:gd name="T21" fmla="*/ 7937 h 31"/>
              <a:gd name="T22" fmla="*/ 20773 w 47"/>
              <a:gd name="T23" fmla="*/ 4762 h 31"/>
              <a:gd name="T24" fmla="*/ 29082 w 47"/>
              <a:gd name="T25" fmla="*/ 3175 h 31"/>
              <a:gd name="T26" fmla="*/ 42930 w 47"/>
              <a:gd name="T27" fmla="*/ 0 h 31"/>
              <a:gd name="T28" fmla="*/ 59549 w 47"/>
              <a:gd name="T29" fmla="*/ 0 h 31"/>
              <a:gd name="T30" fmla="*/ 63703 w 47"/>
              <a:gd name="T31" fmla="*/ 47625 h 3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7"/>
              <a:gd name="T49" fmla="*/ 0 h 31"/>
              <a:gd name="T50" fmla="*/ 47 w 47"/>
              <a:gd name="T51" fmla="*/ 31 h 3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7" h="31">
                <a:moveTo>
                  <a:pt x="46" y="30"/>
                </a:moveTo>
                <a:lnTo>
                  <a:pt x="29" y="28"/>
                </a:lnTo>
                <a:lnTo>
                  <a:pt x="15" y="23"/>
                </a:lnTo>
                <a:lnTo>
                  <a:pt x="10" y="20"/>
                </a:lnTo>
                <a:lnTo>
                  <a:pt x="6" y="19"/>
                </a:lnTo>
                <a:lnTo>
                  <a:pt x="3" y="16"/>
                </a:lnTo>
                <a:lnTo>
                  <a:pt x="2" y="14"/>
                </a:lnTo>
                <a:lnTo>
                  <a:pt x="0" y="11"/>
                </a:lnTo>
                <a:lnTo>
                  <a:pt x="2" y="8"/>
                </a:lnTo>
                <a:lnTo>
                  <a:pt x="4" y="5"/>
                </a:lnTo>
                <a:lnTo>
                  <a:pt x="9" y="5"/>
                </a:lnTo>
                <a:lnTo>
                  <a:pt x="15" y="3"/>
                </a:lnTo>
                <a:lnTo>
                  <a:pt x="21" y="2"/>
                </a:lnTo>
                <a:lnTo>
                  <a:pt x="31" y="0"/>
                </a:lnTo>
                <a:lnTo>
                  <a:pt x="43" y="0"/>
                </a:lnTo>
                <a:lnTo>
                  <a:pt x="46" y="3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84" name="Freeform 181">
            <a:extLst>
              <a:ext uri="{FF2B5EF4-FFF2-40B4-BE49-F238E27FC236}">
                <a16:creationId xmlns:a16="http://schemas.microsoft.com/office/drawing/2014/main" id="{71E740B0-E435-E226-E534-D436503F6A76}"/>
              </a:ext>
            </a:extLst>
          </p:cNvPr>
          <p:cNvSpPr>
            <a:spLocks/>
          </p:cNvSpPr>
          <p:nvPr/>
        </p:nvSpPr>
        <p:spPr bwMode="auto">
          <a:xfrm>
            <a:off x="1809750" y="4637088"/>
            <a:ext cx="80963" cy="65087"/>
          </a:xfrm>
          <a:custGeom>
            <a:avLst/>
            <a:gdLst>
              <a:gd name="T0" fmla="*/ 79543 w 57"/>
              <a:gd name="T1" fmla="*/ 63500 h 41"/>
              <a:gd name="T2" fmla="*/ 49714 w 57"/>
              <a:gd name="T3" fmla="*/ 58737 h 41"/>
              <a:gd name="T4" fmla="*/ 25567 w 57"/>
              <a:gd name="T5" fmla="*/ 47625 h 41"/>
              <a:gd name="T6" fmla="*/ 17045 w 57"/>
              <a:gd name="T7" fmla="*/ 41275 h 41"/>
              <a:gd name="T8" fmla="*/ 9943 w 57"/>
              <a:gd name="T9" fmla="*/ 39687 h 41"/>
              <a:gd name="T10" fmla="*/ 5682 w 57"/>
              <a:gd name="T11" fmla="*/ 33337 h 41"/>
              <a:gd name="T12" fmla="*/ 2841 w 57"/>
              <a:gd name="T13" fmla="*/ 28575 h 41"/>
              <a:gd name="T14" fmla="*/ 0 w 57"/>
              <a:gd name="T15" fmla="*/ 22225 h 41"/>
              <a:gd name="T16" fmla="*/ 2841 w 57"/>
              <a:gd name="T17" fmla="*/ 17462 h 41"/>
              <a:gd name="T18" fmla="*/ 7102 w 57"/>
              <a:gd name="T19" fmla="*/ 11112 h 41"/>
              <a:gd name="T20" fmla="*/ 15624 w 57"/>
              <a:gd name="T21" fmla="*/ 9525 h 41"/>
              <a:gd name="T22" fmla="*/ 25567 w 57"/>
              <a:gd name="T23" fmla="*/ 6350 h 41"/>
              <a:gd name="T24" fmla="*/ 36930 w 57"/>
              <a:gd name="T25" fmla="*/ 3175 h 41"/>
              <a:gd name="T26" fmla="*/ 53975 w 57"/>
              <a:gd name="T27" fmla="*/ 0 h 41"/>
              <a:gd name="T28" fmla="*/ 73861 w 57"/>
              <a:gd name="T29" fmla="*/ 0 h 4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7"/>
              <a:gd name="T46" fmla="*/ 0 h 41"/>
              <a:gd name="T47" fmla="*/ 57 w 57"/>
              <a:gd name="T48" fmla="*/ 41 h 4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7" h="41">
                <a:moveTo>
                  <a:pt x="56" y="40"/>
                </a:moveTo>
                <a:lnTo>
                  <a:pt x="35" y="37"/>
                </a:lnTo>
                <a:lnTo>
                  <a:pt x="18" y="30"/>
                </a:lnTo>
                <a:lnTo>
                  <a:pt x="12" y="26"/>
                </a:lnTo>
                <a:lnTo>
                  <a:pt x="7" y="25"/>
                </a:lnTo>
                <a:lnTo>
                  <a:pt x="4" y="21"/>
                </a:lnTo>
                <a:lnTo>
                  <a:pt x="2" y="18"/>
                </a:lnTo>
                <a:lnTo>
                  <a:pt x="0" y="14"/>
                </a:lnTo>
                <a:lnTo>
                  <a:pt x="2" y="11"/>
                </a:lnTo>
                <a:lnTo>
                  <a:pt x="5" y="7"/>
                </a:lnTo>
                <a:lnTo>
                  <a:pt x="11" y="6"/>
                </a:lnTo>
                <a:lnTo>
                  <a:pt x="18" y="4"/>
                </a:lnTo>
                <a:lnTo>
                  <a:pt x="26" y="2"/>
                </a:lnTo>
                <a:lnTo>
                  <a:pt x="38" y="0"/>
                </a:lnTo>
                <a:lnTo>
                  <a:pt x="52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85" name="Freeform 182">
            <a:extLst>
              <a:ext uri="{FF2B5EF4-FFF2-40B4-BE49-F238E27FC236}">
                <a16:creationId xmlns:a16="http://schemas.microsoft.com/office/drawing/2014/main" id="{8366A484-DD85-833A-0F5F-0DE95A3EC4EA}"/>
              </a:ext>
            </a:extLst>
          </p:cNvPr>
          <p:cNvSpPr>
            <a:spLocks/>
          </p:cNvSpPr>
          <p:nvPr/>
        </p:nvSpPr>
        <p:spPr bwMode="auto">
          <a:xfrm>
            <a:off x="1692275" y="4708525"/>
            <a:ext cx="47625" cy="74613"/>
          </a:xfrm>
          <a:custGeom>
            <a:avLst/>
            <a:gdLst>
              <a:gd name="T0" fmla="*/ 44824 w 34"/>
              <a:gd name="T1" fmla="*/ 0 h 47"/>
              <a:gd name="T2" fmla="*/ 46224 w 34"/>
              <a:gd name="T3" fmla="*/ 25400 h 47"/>
              <a:gd name="T4" fmla="*/ 44824 w 34"/>
              <a:gd name="T5" fmla="*/ 46038 h 47"/>
              <a:gd name="T6" fmla="*/ 43423 w 34"/>
              <a:gd name="T7" fmla="*/ 55563 h 47"/>
              <a:gd name="T8" fmla="*/ 40621 w 34"/>
              <a:gd name="T9" fmla="*/ 61913 h 47"/>
              <a:gd name="T10" fmla="*/ 37820 w 34"/>
              <a:gd name="T11" fmla="*/ 69850 h 47"/>
              <a:gd name="T12" fmla="*/ 33618 w 34"/>
              <a:gd name="T13" fmla="*/ 69850 h 47"/>
              <a:gd name="T14" fmla="*/ 29415 w 34"/>
              <a:gd name="T15" fmla="*/ 73025 h 47"/>
              <a:gd name="T16" fmla="*/ 25213 w 34"/>
              <a:gd name="T17" fmla="*/ 73025 h 47"/>
              <a:gd name="T18" fmla="*/ 22412 w 34"/>
              <a:gd name="T19" fmla="*/ 69850 h 47"/>
              <a:gd name="T20" fmla="*/ 18210 w 34"/>
              <a:gd name="T21" fmla="*/ 66675 h 47"/>
              <a:gd name="T22" fmla="*/ 12607 w 34"/>
              <a:gd name="T23" fmla="*/ 57150 h 47"/>
              <a:gd name="T24" fmla="*/ 9805 w 34"/>
              <a:gd name="T25" fmla="*/ 47625 h 47"/>
              <a:gd name="T26" fmla="*/ 2801 w 34"/>
              <a:gd name="T27" fmla="*/ 36513 h 47"/>
              <a:gd name="T28" fmla="*/ 0 w 34"/>
              <a:gd name="T29" fmla="*/ 20638 h 47"/>
              <a:gd name="T30" fmla="*/ 44824 w 34"/>
              <a:gd name="T31" fmla="*/ 0 h 4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4"/>
              <a:gd name="T49" fmla="*/ 0 h 47"/>
              <a:gd name="T50" fmla="*/ 34 w 34"/>
              <a:gd name="T51" fmla="*/ 47 h 4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4" h="47">
                <a:moveTo>
                  <a:pt x="32" y="0"/>
                </a:moveTo>
                <a:lnTo>
                  <a:pt x="33" y="16"/>
                </a:lnTo>
                <a:lnTo>
                  <a:pt x="32" y="29"/>
                </a:lnTo>
                <a:lnTo>
                  <a:pt x="31" y="35"/>
                </a:lnTo>
                <a:lnTo>
                  <a:pt x="29" y="39"/>
                </a:lnTo>
                <a:lnTo>
                  <a:pt x="27" y="44"/>
                </a:lnTo>
                <a:lnTo>
                  <a:pt x="24" y="44"/>
                </a:lnTo>
                <a:lnTo>
                  <a:pt x="21" y="46"/>
                </a:lnTo>
                <a:lnTo>
                  <a:pt x="18" y="46"/>
                </a:lnTo>
                <a:lnTo>
                  <a:pt x="16" y="44"/>
                </a:lnTo>
                <a:lnTo>
                  <a:pt x="13" y="42"/>
                </a:lnTo>
                <a:lnTo>
                  <a:pt x="9" y="36"/>
                </a:lnTo>
                <a:lnTo>
                  <a:pt x="7" y="30"/>
                </a:lnTo>
                <a:lnTo>
                  <a:pt x="2" y="23"/>
                </a:lnTo>
                <a:lnTo>
                  <a:pt x="0" y="13"/>
                </a:lnTo>
                <a:lnTo>
                  <a:pt x="32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86" name="Freeform 183">
            <a:extLst>
              <a:ext uri="{FF2B5EF4-FFF2-40B4-BE49-F238E27FC236}">
                <a16:creationId xmlns:a16="http://schemas.microsoft.com/office/drawing/2014/main" id="{86C520A1-0D1F-DC33-7380-FD2FB1D60688}"/>
              </a:ext>
            </a:extLst>
          </p:cNvPr>
          <p:cNvSpPr>
            <a:spLocks/>
          </p:cNvSpPr>
          <p:nvPr/>
        </p:nvSpPr>
        <p:spPr bwMode="auto">
          <a:xfrm>
            <a:off x="1692275" y="4708525"/>
            <a:ext cx="63500" cy="90488"/>
          </a:xfrm>
          <a:custGeom>
            <a:avLst/>
            <a:gdLst>
              <a:gd name="T0" fmla="*/ 60614 w 44"/>
              <a:gd name="T1" fmla="*/ 0 h 57"/>
              <a:gd name="T2" fmla="*/ 62057 w 44"/>
              <a:gd name="T3" fmla="*/ 31750 h 57"/>
              <a:gd name="T4" fmla="*/ 60614 w 44"/>
              <a:gd name="T5" fmla="*/ 55563 h 57"/>
              <a:gd name="T6" fmla="*/ 57727 w 44"/>
              <a:gd name="T7" fmla="*/ 66675 h 57"/>
              <a:gd name="T8" fmla="*/ 54841 w 44"/>
              <a:gd name="T9" fmla="*/ 74613 h 57"/>
              <a:gd name="T10" fmla="*/ 50511 w 44"/>
              <a:gd name="T11" fmla="*/ 84138 h 57"/>
              <a:gd name="T12" fmla="*/ 44739 w 44"/>
              <a:gd name="T13" fmla="*/ 85725 h 57"/>
              <a:gd name="T14" fmla="*/ 40409 w 44"/>
              <a:gd name="T15" fmla="*/ 88900 h 57"/>
              <a:gd name="T16" fmla="*/ 34636 w 44"/>
              <a:gd name="T17" fmla="*/ 88900 h 57"/>
              <a:gd name="T18" fmla="*/ 30307 w 44"/>
              <a:gd name="T19" fmla="*/ 85725 h 57"/>
              <a:gd name="T20" fmla="*/ 24534 w 44"/>
              <a:gd name="T21" fmla="*/ 80963 h 57"/>
              <a:gd name="T22" fmla="*/ 17318 w 44"/>
              <a:gd name="T23" fmla="*/ 69850 h 57"/>
              <a:gd name="T24" fmla="*/ 12989 w 44"/>
              <a:gd name="T25" fmla="*/ 58738 h 57"/>
              <a:gd name="T26" fmla="*/ 4330 w 44"/>
              <a:gd name="T27" fmla="*/ 44450 h 57"/>
              <a:gd name="T28" fmla="*/ 0 w 44"/>
              <a:gd name="T29" fmla="*/ 25400 h 5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44"/>
              <a:gd name="T46" fmla="*/ 0 h 57"/>
              <a:gd name="T47" fmla="*/ 44 w 44"/>
              <a:gd name="T48" fmla="*/ 57 h 57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44" h="57">
                <a:moveTo>
                  <a:pt x="42" y="0"/>
                </a:moveTo>
                <a:lnTo>
                  <a:pt x="43" y="20"/>
                </a:lnTo>
                <a:lnTo>
                  <a:pt x="42" y="35"/>
                </a:lnTo>
                <a:lnTo>
                  <a:pt x="40" y="42"/>
                </a:lnTo>
                <a:lnTo>
                  <a:pt x="38" y="47"/>
                </a:lnTo>
                <a:lnTo>
                  <a:pt x="35" y="53"/>
                </a:lnTo>
                <a:lnTo>
                  <a:pt x="31" y="54"/>
                </a:lnTo>
                <a:lnTo>
                  <a:pt x="28" y="56"/>
                </a:lnTo>
                <a:lnTo>
                  <a:pt x="24" y="56"/>
                </a:lnTo>
                <a:lnTo>
                  <a:pt x="21" y="54"/>
                </a:lnTo>
                <a:lnTo>
                  <a:pt x="17" y="51"/>
                </a:lnTo>
                <a:lnTo>
                  <a:pt x="12" y="44"/>
                </a:lnTo>
                <a:lnTo>
                  <a:pt x="9" y="37"/>
                </a:lnTo>
                <a:lnTo>
                  <a:pt x="3" y="28"/>
                </a:lnTo>
                <a:lnTo>
                  <a:pt x="0" y="16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87" name="Freeform 184">
            <a:extLst>
              <a:ext uri="{FF2B5EF4-FFF2-40B4-BE49-F238E27FC236}">
                <a16:creationId xmlns:a16="http://schemas.microsoft.com/office/drawing/2014/main" id="{EFB5D7DB-7114-6628-FEDF-D6F9D27C347A}"/>
              </a:ext>
            </a:extLst>
          </p:cNvPr>
          <p:cNvSpPr>
            <a:spLocks/>
          </p:cNvSpPr>
          <p:nvPr/>
        </p:nvSpPr>
        <p:spPr bwMode="auto">
          <a:xfrm>
            <a:off x="1751013" y="4687888"/>
            <a:ext cx="47625" cy="73025"/>
          </a:xfrm>
          <a:custGeom>
            <a:avLst/>
            <a:gdLst>
              <a:gd name="T0" fmla="*/ 43423 w 34"/>
              <a:gd name="T1" fmla="*/ 0 h 46"/>
              <a:gd name="T2" fmla="*/ 46224 w 34"/>
              <a:gd name="T3" fmla="*/ 25400 h 46"/>
              <a:gd name="T4" fmla="*/ 43423 w 34"/>
              <a:gd name="T5" fmla="*/ 44450 h 46"/>
              <a:gd name="T6" fmla="*/ 42022 w 34"/>
              <a:gd name="T7" fmla="*/ 53975 h 46"/>
              <a:gd name="T8" fmla="*/ 40621 w 34"/>
              <a:gd name="T9" fmla="*/ 60325 h 46"/>
              <a:gd name="T10" fmla="*/ 36419 w 34"/>
              <a:gd name="T11" fmla="*/ 68263 h 46"/>
              <a:gd name="T12" fmla="*/ 33618 w 34"/>
              <a:gd name="T13" fmla="*/ 68263 h 46"/>
              <a:gd name="T14" fmla="*/ 29415 w 34"/>
              <a:gd name="T15" fmla="*/ 71438 h 46"/>
              <a:gd name="T16" fmla="*/ 25213 w 34"/>
              <a:gd name="T17" fmla="*/ 71438 h 46"/>
              <a:gd name="T18" fmla="*/ 21011 w 34"/>
              <a:gd name="T19" fmla="*/ 68263 h 46"/>
              <a:gd name="T20" fmla="*/ 18210 w 34"/>
              <a:gd name="T21" fmla="*/ 65088 h 46"/>
              <a:gd name="T22" fmla="*/ 12607 w 34"/>
              <a:gd name="T23" fmla="*/ 55563 h 46"/>
              <a:gd name="T24" fmla="*/ 8404 w 34"/>
              <a:gd name="T25" fmla="*/ 46037 h 46"/>
              <a:gd name="T26" fmla="*/ 2801 w 34"/>
              <a:gd name="T27" fmla="*/ 34925 h 46"/>
              <a:gd name="T28" fmla="*/ 0 w 34"/>
              <a:gd name="T29" fmla="*/ 19050 h 46"/>
              <a:gd name="T30" fmla="*/ 43423 w 34"/>
              <a:gd name="T31" fmla="*/ 0 h 4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4"/>
              <a:gd name="T49" fmla="*/ 0 h 46"/>
              <a:gd name="T50" fmla="*/ 34 w 34"/>
              <a:gd name="T51" fmla="*/ 46 h 4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4" h="46">
                <a:moveTo>
                  <a:pt x="31" y="0"/>
                </a:moveTo>
                <a:lnTo>
                  <a:pt x="33" y="16"/>
                </a:lnTo>
                <a:lnTo>
                  <a:pt x="31" y="28"/>
                </a:lnTo>
                <a:lnTo>
                  <a:pt x="30" y="34"/>
                </a:lnTo>
                <a:lnTo>
                  <a:pt x="29" y="38"/>
                </a:lnTo>
                <a:lnTo>
                  <a:pt x="26" y="43"/>
                </a:lnTo>
                <a:lnTo>
                  <a:pt x="24" y="43"/>
                </a:lnTo>
                <a:lnTo>
                  <a:pt x="21" y="45"/>
                </a:lnTo>
                <a:lnTo>
                  <a:pt x="18" y="45"/>
                </a:lnTo>
                <a:lnTo>
                  <a:pt x="15" y="43"/>
                </a:lnTo>
                <a:lnTo>
                  <a:pt x="13" y="41"/>
                </a:lnTo>
                <a:lnTo>
                  <a:pt x="9" y="35"/>
                </a:lnTo>
                <a:lnTo>
                  <a:pt x="6" y="29"/>
                </a:lnTo>
                <a:lnTo>
                  <a:pt x="2" y="22"/>
                </a:lnTo>
                <a:lnTo>
                  <a:pt x="0" y="12"/>
                </a:lnTo>
                <a:lnTo>
                  <a:pt x="31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88" name="Freeform 185">
            <a:extLst>
              <a:ext uri="{FF2B5EF4-FFF2-40B4-BE49-F238E27FC236}">
                <a16:creationId xmlns:a16="http://schemas.microsoft.com/office/drawing/2014/main" id="{1C38F150-C14D-138C-70A9-57BA2D45CFB5}"/>
              </a:ext>
            </a:extLst>
          </p:cNvPr>
          <p:cNvSpPr>
            <a:spLocks/>
          </p:cNvSpPr>
          <p:nvPr/>
        </p:nvSpPr>
        <p:spPr bwMode="auto">
          <a:xfrm>
            <a:off x="1751013" y="4687888"/>
            <a:ext cx="63500" cy="88900"/>
          </a:xfrm>
          <a:custGeom>
            <a:avLst/>
            <a:gdLst>
              <a:gd name="T0" fmla="*/ 59170 w 44"/>
              <a:gd name="T1" fmla="*/ 0 h 56"/>
              <a:gd name="T2" fmla="*/ 62057 w 44"/>
              <a:gd name="T3" fmla="*/ 30163 h 56"/>
              <a:gd name="T4" fmla="*/ 59170 w 44"/>
              <a:gd name="T5" fmla="*/ 53975 h 56"/>
              <a:gd name="T6" fmla="*/ 56284 w 44"/>
              <a:gd name="T7" fmla="*/ 65088 h 56"/>
              <a:gd name="T8" fmla="*/ 54841 w 44"/>
              <a:gd name="T9" fmla="*/ 73025 h 56"/>
              <a:gd name="T10" fmla="*/ 49068 w 44"/>
              <a:gd name="T11" fmla="*/ 82550 h 56"/>
              <a:gd name="T12" fmla="*/ 44739 w 44"/>
              <a:gd name="T13" fmla="*/ 84138 h 56"/>
              <a:gd name="T14" fmla="*/ 38966 w 44"/>
              <a:gd name="T15" fmla="*/ 87313 h 56"/>
              <a:gd name="T16" fmla="*/ 34636 w 44"/>
              <a:gd name="T17" fmla="*/ 87313 h 56"/>
              <a:gd name="T18" fmla="*/ 28864 w 44"/>
              <a:gd name="T19" fmla="*/ 84138 h 56"/>
              <a:gd name="T20" fmla="*/ 24534 w 44"/>
              <a:gd name="T21" fmla="*/ 79375 h 56"/>
              <a:gd name="T22" fmla="*/ 17318 w 44"/>
              <a:gd name="T23" fmla="*/ 68263 h 56"/>
              <a:gd name="T24" fmla="*/ 11545 w 44"/>
              <a:gd name="T25" fmla="*/ 57150 h 56"/>
              <a:gd name="T26" fmla="*/ 4330 w 44"/>
              <a:gd name="T27" fmla="*/ 42863 h 56"/>
              <a:gd name="T28" fmla="*/ 0 w 44"/>
              <a:gd name="T29" fmla="*/ 23812 h 5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44"/>
              <a:gd name="T46" fmla="*/ 0 h 56"/>
              <a:gd name="T47" fmla="*/ 44 w 44"/>
              <a:gd name="T48" fmla="*/ 56 h 5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44" h="56">
                <a:moveTo>
                  <a:pt x="41" y="0"/>
                </a:moveTo>
                <a:lnTo>
                  <a:pt x="43" y="19"/>
                </a:lnTo>
                <a:lnTo>
                  <a:pt x="41" y="34"/>
                </a:lnTo>
                <a:lnTo>
                  <a:pt x="39" y="41"/>
                </a:lnTo>
                <a:lnTo>
                  <a:pt x="38" y="46"/>
                </a:lnTo>
                <a:lnTo>
                  <a:pt x="34" y="52"/>
                </a:lnTo>
                <a:lnTo>
                  <a:pt x="31" y="53"/>
                </a:lnTo>
                <a:lnTo>
                  <a:pt x="27" y="55"/>
                </a:lnTo>
                <a:lnTo>
                  <a:pt x="24" y="55"/>
                </a:lnTo>
                <a:lnTo>
                  <a:pt x="20" y="53"/>
                </a:lnTo>
                <a:lnTo>
                  <a:pt x="17" y="50"/>
                </a:lnTo>
                <a:lnTo>
                  <a:pt x="12" y="43"/>
                </a:lnTo>
                <a:lnTo>
                  <a:pt x="8" y="36"/>
                </a:lnTo>
                <a:lnTo>
                  <a:pt x="3" y="27"/>
                </a:lnTo>
                <a:lnTo>
                  <a:pt x="0" y="15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89" name="Freeform 186">
            <a:extLst>
              <a:ext uri="{FF2B5EF4-FFF2-40B4-BE49-F238E27FC236}">
                <a16:creationId xmlns:a16="http://schemas.microsoft.com/office/drawing/2014/main" id="{9DE7EA42-E189-3A57-01D4-E4FFE8FD2FF0}"/>
              </a:ext>
            </a:extLst>
          </p:cNvPr>
          <p:cNvSpPr>
            <a:spLocks/>
          </p:cNvSpPr>
          <p:nvPr/>
        </p:nvSpPr>
        <p:spPr bwMode="auto">
          <a:xfrm>
            <a:off x="1630363" y="4730750"/>
            <a:ext cx="49212" cy="77788"/>
          </a:xfrm>
          <a:custGeom>
            <a:avLst/>
            <a:gdLst>
              <a:gd name="T0" fmla="*/ 47806 w 35"/>
              <a:gd name="T1" fmla="*/ 0 h 49"/>
              <a:gd name="T2" fmla="*/ 47806 w 35"/>
              <a:gd name="T3" fmla="*/ 26988 h 49"/>
              <a:gd name="T4" fmla="*/ 44994 w 35"/>
              <a:gd name="T5" fmla="*/ 49213 h 49"/>
              <a:gd name="T6" fmla="*/ 43588 w 35"/>
              <a:gd name="T7" fmla="*/ 57150 h 49"/>
              <a:gd name="T8" fmla="*/ 42182 w 35"/>
              <a:gd name="T9" fmla="*/ 65088 h 49"/>
              <a:gd name="T10" fmla="*/ 37964 w 35"/>
              <a:gd name="T11" fmla="*/ 68263 h 49"/>
              <a:gd name="T12" fmla="*/ 36557 w 35"/>
              <a:gd name="T13" fmla="*/ 73025 h 49"/>
              <a:gd name="T14" fmla="*/ 32339 w 35"/>
              <a:gd name="T15" fmla="*/ 76200 h 49"/>
              <a:gd name="T16" fmla="*/ 26715 w 35"/>
              <a:gd name="T17" fmla="*/ 73025 h 49"/>
              <a:gd name="T18" fmla="*/ 22497 w 35"/>
              <a:gd name="T19" fmla="*/ 71438 h 49"/>
              <a:gd name="T20" fmla="*/ 19685 w 35"/>
              <a:gd name="T21" fmla="*/ 66675 h 49"/>
              <a:gd name="T22" fmla="*/ 14061 w 35"/>
              <a:gd name="T23" fmla="*/ 58738 h 49"/>
              <a:gd name="T24" fmla="*/ 9842 w 35"/>
              <a:gd name="T25" fmla="*/ 49213 h 49"/>
              <a:gd name="T26" fmla="*/ 4218 w 35"/>
              <a:gd name="T27" fmla="*/ 36513 h 49"/>
              <a:gd name="T28" fmla="*/ 0 w 35"/>
              <a:gd name="T29" fmla="*/ 20638 h 49"/>
              <a:gd name="T30" fmla="*/ 47806 w 35"/>
              <a:gd name="T31" fmla="*/ 0 h 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5"/>
              <a:gd name="T49" fmla="*/ 0 h 49"/>
              <a:gd name="T50" fmla="*/ 35 w 35"/>
              <a:gd name="T51" fmla="*/ 49 h 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5" h="49">
                <a:moveTo>
                  <a:pt x="34" y="0"/>
                </a:moveTo>
                <a:lnTo>
                  <a:pt x="34" y="17"/>
                </a:lnTo>
                <a:lnTo>
                  <a:pt x="32" y="31"/>
                </a:lnTo>
                <a:lnTo>
                  <a:pt x="31" y="36"/>
                </a:lnTo>
                <a:lnTo>
                  <a:pt x="30" y="41"/>
                </a:lnTo>
                <a:lnTo>
                  <a:pt x="27" y="43"/>
                </a:lnTo>
                <a:lnTo>
                  <a:pt x="26" y="46"/>
                </a:lnTo>
                <a:lnTo>
                  <a:pt x="23" y="48"/>
                </a:lnTo>
                <a:lnTo>
                  <a:pt x="19" y="46"/>
                </a:lnTo>
                <a:lnTo>
                  <a:pt x="16" y="45"/>
                </a:lnTo>
                <a:lnTo>
                  <a:pt x="14" y="42"/>
                </a:lnTo>
                <a:lnTo>
                  <a:pt x="10" y="37"/>
                </a:lnTo>
                <a:lnTo>
                  <a:pt x="7" y="31"/>
                </a:lnTo>
                <a:lnTo>
                  <a:pt x="3" y="23"/>
                </a:lnTo>
                <a:lnTo>
                  <a:pt x="0" y="13"/>
                </a:lnTo>
                <a:lnTo>
                  <a:pt x="34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90" name="Freeform 187">
            <a:extLst>
              <a:ext uri="{FF2B5EF4-FFF2-40B4-BE49-F238E27FC236}">
                <a16:creationId xmlns:a16="http://schemas.microsoft.com/office/drawing/2014/main" id="{D13746AE-4B93-D48E-D960-EB859DBE7342}"/>
              </a:ext>
            </a:extLst>
          </p:cNvPr>
          <p:cNvSpPr>
            <a:spLocks/>
          </p:cNvSpPr>
          <p:nvPr/>
        </p:nvSpPr>
        <p:spPr bwMode="auto">
          <a:xfrm>
            <a:off x="1630363" y="4730750"/>
            <a:ext cx="63500" cy="93663"/>
          </a:xfrm>
          <a:custGeom>
            <a:avLst/>
            <a:gdLst>
              <a:gd name="T0" fmla="*/ 62089 w 45"/>
              <a:gd name="T1" fmla="*/ 0 h 59"/>
              <a:gd name="T2" fmla="*/ 62089 w 45"/>
              <a:gd name="T3" fmla="*/ 33338 h 59"/>
              <a:gd name="T4" fmla="*/ 59267 w 45"/>
              <a:gd name="T5" fmla="*/ 58738 h 59"/>
              <a:gd name="T6" fmla="*/ 56444 w 45"/>
              <a:gd name="T7" fmla="*/ 69850 h 59"/>
              <a:gd name="T8" fmla="*/ 55033 w 45"/>
              <a:gd name="T9" fmla="*/ 77788 h 59"/>
              <a:gd name="T10" fmla="*/ 49389 w 45"/>
              <a:gd name="T11" fmla="*/ 82550 h 59"/>
              <a:gd name="T12" fmla="*/ 46567 w 45"/>
              <a:gd name="T13" fmla="*/ 88900 h 59"/>
              <a:gd name="T14" fmla="*/ 42333 w 45"/>
              <a:gd name="T15" fmla="*/ 92075 h 59"/>
              <a:gd name="T16" fmla="*/ 35278 w 45"/>
              <a:gd name="T17" fmla="*/ 88900 h 59"/>
              <a:gd name="T18" fmla="*/ 29633 w 45"/>
              <a:gd name="T19" fmla="*/ 85725 h 59"/>
              <a:gd name="T20" fmla="*/ 25400 w 45"/>
              <a:gd name="T21" fmla="*/ 80963 h 59"/>
              <a:gd name="T22" fmla="*/ 18344 w 45"/>
              <a:gd name="T23" fmla="*/ 71438 h 59"/>
              <a:gd name="T24" fmla="*/ 12700 w 45"/>
              <a:gd name="T25" fmla="*/ 58738 h 59"/>
              <a:gd name="T26" fmla="*/ 5644 w 45"/>
              <a:gd name="T27" fmla="*/ 44450 h 59"/>
              <a:gd name="T28" fmla="*/ 0 w 45"/>
              <a:gd name="T29" fmla="*/ 25400 h 5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45"/>
              <a:gd name="T46" fmla="*/ 0 h 59"/>
              <a:gd name="T47" fmla="*/ 45 w 45"/>
              <a:gd name="T48" fmla="*/ 59 h 59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45" h="59">
                <a:moveTo>
                  <a:pt x="44" y="0"/>
                </a:moveTo>
                <a:lnTo>
                  <a:pt x="44" y="21"/>
                </a:lnTo>
                <a:lnTo>
                  <a:pt x="42" y="37"/>
                </a:lnTo>
                <a:lnTo>
                  <a:pt x="40" y="44"/>
                </a:lnTo>
                <a:lnTo>
                  <a:pt x="39" y="49"/>
                </a:lnTo>
                <a:lnTo>
                  <a:pt x="35" y="52"/>
                </a:lnTo>
                <a:lnTo>
                  <a:pt x="33" y="56"/>
                </a:lnTo>
                <a:lnTo>
                  <a:pt x="30" y="58"/>
                </a:lnTo>
                <a:lnTo>
                  <a:pt x="25" y="56"/>
                </a:lnTo>
                <a:lnTo>
                  <a:pt x="21" y="54"/>
                </a:lnTo>
                <a:lnTo>
                  <a:pt x="18" y="51"/>
                </a:lnTo>
                <a:lnTo>
                  <a:pt x="13" y="45"/>
                </a:lnTo>
                <a:lnTo>
                  <a:pt x="9" y="37"/>
                </a:lnTo>
                <a:lnTo>
                  <a:pt x="4" y="28"/>
                </a:lnTo>
                <a:lnTo>
                  <a:pt x="0" y="16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91" name="Freeform 188">
            <a:extLst>
              <a:ext uri="{FF2B5EF4-FFF2-40B4-BE49-F238E27FC236}">
                <a16:creationId xmlns:a16="http://schemas.microsoft.com/office/drawing/2014/main" id="{ECFED819-EE02-6049-9AFA-BDF58B91A948}"/>
              </a:ext>
            </a:extLst>
          </p:cNvPr>
          <p:cNvSpPr>
            <a:spLocks/>
          </p:cNvSpPr>
          <p:nvPr/>
        </p:nvSpPr>
        <p:spPr bwMode="auto">
          <a:xfrm>
            <a:off x="1958975" y="4695825"/>
            <a:ext cx="66675" cy="50800"/>
          </a:xfrm>
          <a:custGeom>
            <a:avLst/>
            <a:gdLst>
              <a:gd name="T0" fmla="*/ 0 w 47"/>
              <a:gd name="T1" fmla="*/ 49212 h 32"/>
              <a:gd name="T2" fmla="*/ 24116 w 47"/>
              <a:gd name="T3" fmla="*/ 42862 h 32"/>
              <a:gd name="T4" fmla="*/ 43977 w 47"/>
              <a:gd name="T5" fmla="*/ 36512 h 32"/>
              <a:gd name="T6" fmla="*/ 49652 w 47"/>
              <a:gd name="T7" fmla="*/ 33337 h 32"/>
              <a:gd name="T8" fmla="*/ 56745 w 47"/>
              <a:gd name="T9" fmla="*/ 28575 h 32"/>
              <a:gd name="T10" fmla="*/ 61001 w 47"/>
              <a:gd name="T11" fmla="*/ 25400 h 32"/>
              <a:gd name="T12" fmla="*/ 65256 w 47"/>
              <a:gd name="T13" fmla="*/ 20637 h 32"/>
              <a:gd name="T14" fmla="*/ 65256 w 47"/>
              <a:gd name="T15" fmla="*/ 17462 h 32"/>
              <a:gd name="T16" fmla="*/ 62419 w 47"/>
              <a:gd name="T17" fmla="*/ 12700 h 32"/>
              <a:gd name="T18" fmla="*/ 58163 w 47"/>
              <a:gd name="T19" fmla="*/ 9525 h 32"/>
              <a:gd name="T20" fmla="*/ 52489 w 47"/>
              <a:gd name="T21" fmla="*/ 6350 h 32"/>
              <a:gd name="T22" fmla="*/ 43977 w 47"/>
              <a:gd name="T23" fmla="*/ 3175 h 32"/>
              <a:gd name="T24" fmla="*/ 35465 w 47"/>
              <a:gd name="T25" fmla="*/ 3175 h 32"/>
              <a:gd name="T26" fmla="*/ 22698 w 47"/>
              <a:gd name="T27" fmla="*/ 0 h 32"/>
              <a:gd name="T28" fmla="*/ 5674 w 47"/>
              <a:gd name="T29" fmla="*/ 0 h 32"/>
              <a:gd name="T30" fmla="*/ 0 w 47"/>
              <a:gd name="T31" fmla="*/ 49212 h 3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7"/>
              <a:gd name="T49" fmla="*/ 0 h 32"/>
              <a:gd name="T50" fmla="*/ 47 w 47"/>
              <a:gd name="T51" fmla="*/ 32 h 3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7" h="32">
                <a:moveTo>
                  <a:pt x="0" y="31"/>
                </a:moveTo>
                <a:lnTo>
                  <a:pt x="17" y="27"/>
                </a:lnTo>
                <a:lnTo>
                  <a:pt x="31" y="23"/>
                </a:lnTo>
                <a:lnTo>
                  <a:pt x="35" y="21"/>
                </a:lnTo>
                <a:lnTo>
                  <a:pt x="40" y="18"/>
                </a:lnTo>
                <a:lnTo>
                  <a:pt x="43" y="16"/>
                </a:lnTo>
                <a:lnTo>
                  <a:pt x="46" y="13"/>
                </a:lnTo>
                <a:lnTo>
                  <a:pt x="46" y="11"/>
                </a:lnTo>
                <a:lnTo>
                  <a:pt x="44" y="8"/>
                </a:lnTo>
                <a:lnTo>
                  <a:pt x="41" y="6"/>
                </a:lnTo>
                <a:lnTo>
                  <a:pt x="37" y="4"/>
                </a:lnTo>
                <a:lnTo>
                  <a:pt x="31" y="2"/>
                </a:lnTo>
                <a:lnTo>
                  <a:pt x="25" y="2"/>
                </a:lnTo>
                <a:lnTo>
                  <a:pt x="16" y="0"/>
                </a:lnTo>
                <a:lnTo>
                  <a:pt x="4" y="0"/>
                </a:lnTo>
                <a:lnTo>
                  <a:pt x="0" y="31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92" name="Freeform 189">
            <a:extLst>
              <a:ext uri="{FF2B5EF4-FFF2-40B4-BE49-F238E27FC236}">
                <a16:creationId xmlns:a16="http://schemas.microsoft.com/office/drawing/2014/main" id="{B475A496-8495-5DCB-9072-9151971B34E4}"/>
              </a:ext>
            </a:extLst>
          </p:cNvPr>
          <p:cNvSpPr>
            <a:spLocks/>
          </p:cNvSpPr>
          <p:nvPr/>
        </p:nvSpPr>
        <p:spPr bwMode="auto">
          <a:xfrm>
            <a:off x="1958975" y="4695825"/>
            <a:ext cx="79375" cy="66675"/>
          </a:xfrm>
          <a:custGeom>
            <a:avLst/>
            <a:gdLst>
              <a:gd name="T0" fmla="*/ 0 w 57"/>
              <a:gd name="T1" fmla="*/ 65088 h 42"/>
              <a:gd name="T2" fmla="*/ 29243 w 57"/>
              <a:gd name="T3" fmla="*/ 57150 h 42"/>
              <a:gd name="T4" fmla="*/ 52917 w 57"/>
              <a:gd name="T5" fmla="*/ 49212 h 42"/>
              <a:gd name="T6" fmla="*/ 59879 w 57"/>
              <a:gd name="T7" fmla="*/ 44450 h 42"/>
              <a:gd name="T8" fmla="*/ 68235 w 57"/>
              <a:gd name="T9" fmla="*/ 38100 h 42"/>
              <a:gd name="T10" fmla="*/ 72412 w 57"/>
              <a:gd name="T11" fmla="*/ 33338 h 42"/>
              <a:gd name="T12" fmla="*/ 77982 w 57"/>
              <a:gd name="T13" fmla="*/ 26988 h 42"/>
              <a:gd name="T14" fmla="*/ 77982 w 57"/>
              <a:gd name="T15" fmla="*/ 22225 h 42"/>
              <a:gd name="T16" fmla="*/ 75197 w 57"/>
              <a:gd name="T17" fmla="*/ 15875 h 42"/>
              <a:gd name="T18" fmla="*/ 69627 w 57"/>
              <a:gd name="T19" fmla="*/ 12700 h 42"/>
              <a:gd name="T20" fmla="*/ 62664 w 57"/>
              <a:gd name="T21" fmla="*/ 7938 h 42"/>
              <a:gd name="T22" fmla="*/ 52917 w 57"/>
              <a:gd name="T23" fmla="*/ 4762 h 42"/>
              <a:gd name="T24" fmla="*/ 41776 w 57"/>
              <a:gd name="T25" fmla="*/ 3175 h 42"/>
              <a:gd name="T26" fmla="*/ 26458 w 57"/>
              <a:gd name="T27" fmla="*/ 0 h 42"/>
              <a:gd name="T28" fmla="*/ 6963 w 57"/>
              <a:gd name="T29" fmla="*/ 0 h 4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7"/>
              <a:gd name="T46" fmla="*/ 0 h 42"/>
              <a:gd name="T47" fmla="*/ 57 w 57"/>
              <a:gd name="T48" fmla="*/ 42 h 4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7" h="42">
                <a:moveTo>
                  <a:pt x="0" y="41"/>
                </a:moveTo>
                <a:lnTo>
                  <a:pt x="21" y="36"/>
                </a:lnTo>
                <a:lnTo>
                  <a:pt x="38" y="31"/>
                </a:lnTo>
                <a:lnTo>
                  <a:pt x="43" y="28"/>
                </a:lnTo>
                <a:lnTo>
                  <a:pt x="49" y="24"/>
                </a:lnTo>
                <a:lnTo>
                  <a:pt x="52" y="21"/>
                </a:lnTo>
                <a:lnTo>
                  <a:pt x="56" y="17"/>
                </a:lnTo>
                <a:lnTo>
                  <a:pt x="56" y="14"/>
                </a:lnTo>
                <a:lnTo>
                  <a:pt x="54" y="10"/>
                </a:lnTo>
                <a:lnTo>
                  <a:pt x="50" y="8"/>
                </a:lnTo>
                <a:lnTo>
                  <a:pt x="45" y="5"/>
                </a:lnTo>
                <a:lnTo>
                  <a:pt x="38" y="3"/>
                </a:lnTo>
                <a:lnTo>
                  <a:pt x="30" y="2"/>
                </a:lnTo>
                <a:lnTo>
                  <a:pt x="19" y="0"/>
                </a:lnTo>
                <a:lnTo>
                  <a:pt x="5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93" name="Freeform 190">
            <a:extLst>
              <a:ext uri="{FF2B5EF4-FFF2-40B4-BE49-F238E27FC236}">
                <a16:creationId xmlns:a16="http://schemas.microsoft.com/office/drawing/2014/main" id="{51326733-DF4B-CC8B-865F-D3B3E7E06819}"/>
              </a:ext>
            </a:extLst>
          </p:cNvPr>
          <p:cNvSpPr>
            <a:spLocks/>
          </p:cNvSpPr>
          <p:nvPr/>
        </p:nvSpPr>
        <p:spPr bwMode="auto">
          <a:xfrm>
            <a:off x="1946275" y="4764088"/>
            <a:ext cx="66675" cy="49212"/>
          </a:xfrm>
          <a:custGeom>
            <a:avLst/>
            <a:gdLst>
              <a:gd name="T0" fmla="*/ 0 w 47"/>
              <a:gd name="T1" fmla="*/ 47625 h 31"/>
              <a:gd name="T2" fmla="*/ 24116 w 47"/>
              <a:gd name="T3" fmla="*/ 44450 h 31"/>
              <a:gd name="T4" fmla="*/ 45396 w 47"/>
              <a:gd name="T5" fmla="*/ 36512 h 31"/>
              <a:gd name="T6" fmla="*/ 51070 w 47"/>
              <a:gd name="T7" fmla="*/ 31750 h 31"/>
              <a:gd name="T8" fmla="*/ 56745 w 47"/>
              <a:gd name="T9" fmla="*/ 28575 h 31"/>
              <a:gd name="T10" fmla="*/ 61001 w 47"/>
              <a:gd name="T11" fmla="*/ 25400 h 31"/>
              <a:gd name="T12" fmla="*/ 62419 w 47"/>
              <a:gd name="T13" fmla="*/ 22225 h 31"/>
              <a:gd name="T14" fmla="*/ 65256 w 47"/>
              <a:gd name="T15" fmla="*/ 17462 h 31"/>
              <a:gd name="T16" fmla="*/ 62419 w 47"/>
              <a:gd name="T17" fmla="*/ 12700 h 31"/>
              <a:gd name="T18" fmla="*/ 59582 w 47"/>
              <a:gd name="T19" fmla="*/ 7937 h 31"/>
              <a:gd name="T20" fmla="*/ 53907 w 47"/>
              <a:gd name="T21" fmla="*/ 6350 h 31"/>
              <a:gd name="T22" fmla="*/ 45396 w 47"/>
              <a:gd name="T23" fmla="*/ 4762 h 31"/>
              <a:gd name="T24" fmla="*/ 35465 w 47"/>
              <a:gd name="T25" fmla="*/ 3175 h 31"/>
              <a:gd name="T26" fmla="*/ 21279 w 47"/>
              <a:gd name="T27" fmla="*/ 0 h 31"/>
              <a:gd name="T28" fmla="*/ 4256 w 47"/>
              <a:gd name="T29" fmla="*/ 0 h 31"/>
              <a:gd name="T30" fmla="*/ 0 w 47"/>
              <a:gd name="T31" fmla="*/ 47625 h 3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7"/>
              <a:gd name="T49" fmla="*/ 0 h 31"/>
              <a:gd name="T50" fmla="*/ 47 w 47"/>
              <a:gd name="T51" fmla="*/ 31 h 3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7" h="31">
                <a:moveTo>
                  <a:pt x="0" y="30"/>
                </a:moveTo>
                <a:lnTo>
                  <a:pt x="17" y="28"/>
                </a:lnTo>
                <a:lnTo>
                  <a:pt x="32" y="23"/>
                </a:lnTo>
                <a:lnTo>
                  <a:pt x="36" y="20"/>
                </a:lnTo>
                <a:lnTo>
                  <a:pt x="40" y="18"/>
                </a:lnTo>
                <a:lnTo>
                  <a:pt x="43" y="16"/>
                </a:lnTo>
                <a:lnTo>
                  <a:pt x="44" y="14"/>
                </a:lnTo>
                <a:lnTo>
                  <a:pt x="46" y="11"/>
                </a:lnTo>
                <a:lnTo>
                  <a:pt x="44" y="8"/>
                </a:lnTo>
                <a:lnTo>
                  <a:pt x="42" y="5"/>
                </a:lnTo>
                <a:lnTo>
                  <a:pt x="38" y="4"/>
                </a:lnTo>
                <a:lnTo>
                  <a:pt x="32" y="3"/>
                </a:lnTo>
                <a:lnTo>
                  <a:pt x="25" y="2"/>
                </a:lnTo>
                <a:lnTo>
                  <a:pt x="15" y="0"/>
                </a:lnTo>
                <a:lnTo>
                  <a:pt x="3" y="0"/>
                </a:lnTo>
                <a:lnTo>
                  <a:pt x="0" y="3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94" name="Freeform 191">
            <a:extLst>
              <a:ext uri="{FF2B5EF4-FFF2-40B4-BE49-F238E27FC236}">
                <a16:creationId xmlns:a16="http://schemas.microsoft.com/office/drawing/2014/main" id="{A436AF45-B0B4-999F-0201-2503144D33CD}"/>
              </a:ext>
            </a:extLst>
          </p:cNvPr>
          <p:cNvSpPr>
            <a:spLocks/>
          </p:cNvSpPr>
          <p:nvPr/>
        </p:nvSpPr>
        <p:spPr bwMode="auto">
          <a:xfrm>
            <a:off x="1946275" y="4764088"/>
            <a:ext cx="79375" cy="65087"/>
          </a:xfrm>
          <a:custGeom>
            <a:avLst/>
            <a:gdLst>
              <a:gd name="T0" fmla="*/ 0 w 57"/>
              <a:gd name="T1" fmla="*/ 63500 h 41"/>
              <a:gd name="T2" fmla="*/ 29243 w 57"/>
              <a:gd name="T3" fmla="*/ 58737 h 41"/>
              <a:gd name="T4" fmla="*/ 54309 w 57"/>
              <a:gd name="T5" fmla="*/ 47625 h 41"/>
              <a:gd name="T6" fmla="*/ 61272 w 57"/>
              <a:gd name="T7" fmla="*/ 41275 h 41"/>
              <a:gd name="T8" fmla="*/ 68235 w 57"/>
              <a:gd name="T9" fmla="*/ 38100 h 41"/>
              <a:gd name="T10" fmla="*/ 72412 w 57"/>
              <a:gd name="T11" fmla="*/ 33337 h 41"/>
              <a:gd name="T12" fmla="*/ 75197 w 57"/>
              <a:gd name="T13" fmla="*/ 28575 h 41"/>
              <a:gd name="T14" fmla="*/ 77982 w 57"/>
              <a:gd name="T15" fmla="*/ 22225 h 41"/>
              <a:gd name="T16" fmla="*/ 75197 w 57"/>
              <a:gd name="T17" fmla="*/ 17462 h 41"/>
              <a:gd name="T18" fmla="*/ 71020 w 57"/>
              <a:gd name="T19" fmla="*/ 11112 h 41"/>
              <a:gd name="T20" fmla="*/ 64057 w 57"/>
              <a:gd name="T21" fmla="*/ 7937 h 41"/>
              <a:gd name="T22" fmla="*/ 54309 w 57"/>
              <a:gd name="T23" fmla="*/ 6350 h 41"/>
              <a:gd name="T24" fmla="*/ 41776 w 57"/>
              <a:gd name="T25" fmla="*/ 3175 h 41"/>
              <a:gd name="T26" fmla="*/ 25066 w 57"/>
              <a:gd name="T27" fmla="*/ 0 h 41"/>
              <a:gd name="T28" fmla="*/ 5570 w 57"/>
              <a:gd name="T29" fmla="*/ 0 h 4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7"/>
              <a:gd name="T46" fmla="*/ 0 h 41"/>
              <a:gd name="T47" fmla="*/ 57 w 57"/>
              <a:gd name="T48" fmla="*/ 41 h 4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7" h="41">
                <a:moveTo>
                  <a:pt x="0" y="40"/>
                </a:moveTo>
                <a:lnTo>
                  <a:pt x="21" y="37"/>
                </a:lnTo>
                <a:lnTo>
                  <a:pt x="39" y="30"/>
                </a:lnTo>
                <a:lnTo>
                  <a:pt x="44" y="26"/>
                </a:lnTo>
                <a:lnTo>
                  <a:pt x="49" y="24"/>
                </a:lnTo>
                <a:lnTo>
                  <a:pt x="52" y="21"/>
                </a:lnTo>
                <a:lnTo>
                  <a:pt x="54" y="18"/>
                </a:lnTo>
                <a:lnTo>
                  <a:pt x="56" y="14"/>
                </a:lnTo>
                <a:lnTo>
                  <a:pt x="54" y="11"/>
                </a:lnTo>
                <a:lnTo>
                  <a:pt x="51" y="7"/>
                </a:lnTo>
                <a:lnTo>
                  <a:pt x="46" y="5"/>
                </a:lnTo>
                <a:lnTo>
                  <a:pt x="39" y="4"/>
                </a:lnTo>
                <a:lnTo>
                  <a:pt x="30" y="2"/>
                </a:lnTo>
                <a:lnTo>
                  <a:pt x="18" y="0"/>
                </a:lnTo>
                <a:lnTo>
                  <a:pt x="4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95" name="Freeform 192">
            <a:extLst>
              <a:ext uri="{FF2B5EF4-FFF2-40B4-BE49-F238E27FC236}">
                <a16:creationId xmlns:a16="http://schemas.microsoft.com/office/drawing/2014/main" id="{D5CB44EF-CA53-B682-2F4D-0EE9436D6875}"/>
              </a:ext>
            </a:extLst>
          </p:cNvPr>
          <p:cNvSpPr>
            <a:spLocks/>
          </p:cNvSpPr>
          <p:nvPr/>
        </p:nvSpPr>
        <p:spPr bwMode="auto">
          <a:xfrm>
            <a:off x="1963738" y="4629150"/>
            <a:ext cx="68262" cy="52388"/>
          </a:xfrm>
          <a:custGeom>
            <a:avLst/>
            <a:gdLst>
              <a:gd name="T0" fmla="*/ 0 w 48"/>
              <a:gd name="T1" fmla="*/ 50800 h 33"/>
              <a:gd name="T2" fmla="*/ 22754 w 48"/>
              <a:gd name="T3" fmla="*/ 46038 h 33"/>
              <a:gd name="T4" fmla="*/ 44086 w 48"/>
              <a:gd name="T5" fmla="*/ 38100 h 33"/>
              <a:gd name="T6" fmla="*/ 52619 w 48"/>
              <a:gd name="T7" fmla="*/ 33338 h 33"/>
              <a:gd name="T8" fmla="*/ 58307 w 48"/>
              <a:gd name="T9" fmla="*/ 28575 h 33"/>
              <a:gd name="T10" fmla="*/ 62574 w 48"/>
              <a:gd name="T11" fmla="*/ 25400 h 33"/>
              <a:gd name="T12" fmla="*/ 63996 w 48"/>
              <a:gd name="T13" fmla="*/ 22225 h 33"/>
              <a:gd name="T14" fmla="*/ 66840 w 48"/>
              <a:gd name="T15" fmla="*/ 19050 h 33"/>
              <a:gd name="T16" fmla="*/ 63996 w 48"/>
              <a:gd name="T17" fmla="*/ 14288 h 33"/>
              <a:gd name="T18" fmla="*/ 61151 w 48"/>
              <a:gd name="T19" fmla="*/ 11113 h 33"/>
              <a:gd name="T20" fmla="*/ 54041 w 48"/>
              <a:gd name="T21" fmla="*/ 6350 h 33"/>
              <a:gd name="T22" fmla="*/ 45508 w 48"/>
              <a:gd name="T23" fmla="*/ 4763 h 33"/>
              <a:gd name="T24" fmla="*/ 36975 w 48"/>
              <a:gd name="T25" fmla="*/ 3175 h 33"/>
              <a:gd name="T26" fmla="*/ 22754 w 48"/>
              <a:gd name="T27" fmla="*/ 0 h 33"/>
              <a:gd name="T28" fmla="*/ 5689 w 48"/>
              <a:gd name="T29" fmla="*/ 0 h 33"/>
              <a:gd name="T30" fmla="*/ 0 w 48"/>
              <a:gd name="T31" fmla="*/ 50800 h 3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8"/>
              <a:gd name="T49" fmla="*/ 0 h 33"/>
              <a:gd name="T50" fmla="*/ 48 w 48"/>
              <a:gd name="T51" fmla="*/ 33 h 3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8" h="33">
                <a:moveTo>
                  <a:pt x="0" y="32"/>
                </a:moveTo>
                <a:lnTo>
                  <a:pt x="16" y="29"/>
                </a:lnTo>
                <a:lnTo>
                  <a:pt x="31" y="24"/>
                </a:lnTo>
                <a:lnTo>
                  <a:pt x="37" y="21"/>
                </a:lnTo>
                <a:lnTo>
                  <a:pt x="41" y="18"/>
                </a:lnTo>
                <a:lnTo>
                  <a:pt x="44" y="16"/>
                </a:lnTo>
                <a:lnTo>
                  <a:pt x="45" y="14"/>
                </a:lnTo>
                <a:lnTo>
                  <a:pt x="47" y="12"/>
                </a:lnTo>
                <a:lnTo>
                  <a:pt x="45" y="9"/>
                </a:lnTo>
                <a:lnTo>
                  <a:pt x="43" y="7"/>
                </a:lnTo>
                <a:lnTo>
                  <a:pt x="38" y="4"/>
                </a:lnTo>
                <a:lnTo>
                  <a:pt x="32" y="3"/>
                </a:lnTo>
                <a:lnTo>
                  <a:pt x="26" y="2"/>
                </a:lnTo>
                <a:lnTo>
                  <a:pt x="16" y="0"/>
                </a:lnTo>
                <a:lnTo>
                  <a:pt x="4" y="0"/>
                </a:lnTo>
                <a:lnTo>
                  <a:pt x="0" y="32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96" name="Freeform 193">
            <a:extLst>
              <a:ext uri="{FF2B5EF4-FFF2-40B4-BE49-F238E27FC236}">
                <a16:creationId xmlns:a16="http://schemas.microsoft.com/office/drawing/2014/main" id="{F8A396BF-629C-5E29-1BF1-923D2D668754}"/>
              </a:ext>
            </a:extLst>
          </p:cNvPr>
          <p:cNvSpPr>
            <a:spLocks/>
          </p:cNvSpPr>
          <p:nvPr/>
        </p:nvSpPr>
        <p:spPr bwMode="auto">
          <a:xfrm>
            <a:off x="1963738" y="4629150"/>
            <a:ext cx="84137" cy="68263"/>
          </a:xfrm>
          <a:custGeom>
            <a:avLst/>
            <a:gdLst>
              <a:gd name="T0" fmla="*/ 0 w 58"/>
              <a:gd name="T1" fmla="*/ 66675 h 43"/>
              <a:gd name="T2" fmla="*/ 29013 w 58"/>
              <a:gd name="T3" fmla="*/ 60325 h 43"/>
              <a:gd name="T4" fmla="*/ 55124 w 58"/>
              <a:gd name="T5" fmla="*/ 49213 h 43"/>
              <a:gd name="T6" fmla="*/ 65279 w 58"/>
              <a:gd name="T7" fmla="*/ 44450 h 43"/>
              <a:gd name="T8" fmla="*/ 72532 w 58"/>
              <a:gd name="T9" fmla="*/ 38100 h 43"/>
              <a:gd name="T10" fmla="*/ 76884 w 58"/>
              <a:gd name="T11" fmla="*/ 33338 h 43"/>
              <a:gd name="T12" fmla="*/ 79785 w 58"/>
              <a:gd name="T13" fmla="*/ 30163 h 43"/>
              <a:gd name="T14" fmla="*/ 82686 w 58"/>
              <a:gd name="T15" fmla="*/ 25400 h 43"/>
              <a:gd name="T16" fmla="*/ 79785 w 58"/>
              <a:gd name="T17" fmla="*/ 19050 h 43"/>
              <a:gd name="T18" fmla="*/ 75433 w 58"/>
              <a:gd name="T19" fmla="*/ 14288 h 43"/>
              <a:gd name="T20" fmla="*/ 66729 w 58"/>
              <a:gd name="T21" fmla="*/ 7938 h 43"/>
              <a:gd name="T22" fmla="*/ 56575 w 58"/>
              <a:gd name="T23" fmla="*/ 6350 h 43"/>
              <a:gd name="T24" fmla="*/ 44970 w 58"/>
              <a:gd name="T25" fmla="*/ 3175 h 43"/>
              <a:gd name="T26" fmla="*/ 27562 w 58"/>
              <a:gd name="T27" fmla="*/ 0 h 43"/>
              <a:gd name="T28" fmla="*/ 7253 w 58"/>
              <a:gd name="T29" fmla="*/ 0 h 4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8"/>
              <a:gd name="T46" fmla="*/ 0 h 43"/>
              <a:gd name="T47" fmla="*/ 58 w 58"/>
              <a:gd name="T48" fmla="*/ 43 h 43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8" h="43">
                <a:moveTo>
                  <a:pt x="0" y="42"/>
                </a:moveTo>
                <a:lnTo>
                  <a:pt x="20" y="38"/>
                </a:lnTo>
                <a:lnTo>
                  <a:pt x="38" y="31"/>
                </a:lnTo>
                <a:lnTo>
                  <a:pt x="45" y="28"/>
                </a:lnTo>
                <a:lnTo>
                  <a:pt x="50" y="24"/>
                </a:lnTo>
                <a:lnTo>
                  <a:pt x="53" y="21"/>
                </a:lnTo>
                <a:lnTo>
                  <a:pt x="55" y="19"/>
                </a:lnTo>
                <a:lnTo>
                  <a:pt x="57" y="16"/>
                </a:lnTo>
                <a:lnTo>
                  <a:pt x="55" y="12"/>
                </a:lnTo>
                <a:lnTo>
                  <a:pt x="52" y="9"/>
                </a:lnTo>
                <a:lnTo>
                  <a:pt x="46" y="5"/>
                </a:lnTo>
                <a:lnTo>
                  <a:pt x="39" y="4"/>
                </a:lnTo>
                <a:lnTo>
                  <a:pt x="31" y="2"/>
                </a:lnTo>
                <a:lnTo>
                  <a:pt x="19" y="0"/>
                </a:lnTo>
                <a:lnTo>
                  <a:pt x="5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97" name="Freeform 194">
            <a:extLst>
              <a:ext uri="{FF2B5EF4-FFF2-40B4-BE49-F238E27FC236}">
                <a16:creationId xmlns:a16="http://schemas.microsoft.com/office/drawing/2014/main" id="{2B64AE35-D09C-36CE-9F05-49502052B6FE}"/>
              </a:ext>
            </a:extLst>
          </p:cNvPr>
          <p:cNvSpPr>
            <a:spLocks/>
          </p:cNvSpPr>
          <p:nvPr/>
        </p:nvSpPr>
        <p:spPr bwMode="auto">
          <a:xfrm>
            <a:off x="2022475" y="5000625"/>
            <a:ext cx="58738" cy="77788"/>
          </a:xfrm>
          <a:custGeom>
            <a:avLst/>
            <a:gdLst>
              <a:gd name="T0" fmla="*/ 25173 w 42"/>
              <a:gd name="T1" fmla="*/ 0 h 49"/>
              <a:gd name="T2" fmla="*/ 12587 w 42"/>
              <a:gd name="T3" fmla="*/ 23813 h 49"/>
              <a:gd name="T4" fmla="*/ 4196 w 42"/>
              <a:gd name="T5" fmla="*/ 41275 h 49"/>
              <a:gd name="T6" fmla="*/ 0 w 42"/>
              <a:gd name="T7" fmla="*/ 58738 h 49"/>
              <a:gd name="T8" fmla="*/ 2797 w 42"/>
              <a:gd name="T9" fmla="*/ 71438 h 49"/>
              <a:gd name="T10" fmla="*/ 4196 w 42"/>
              <a:gd name="T11" fmla="*/ 73025 h 49"/>
              <a:gd name="T12" fmla="*/ 8391 w 42"/>
              <a:gd name="T13" fmla="*/ 76200 h 49"/>
              <a:gd name="T14" fmla="*/ 13985 w 42"/>
              <a:gd name="T15" fmla="*/ 76200 h 49"/>
              <a:gd name="T16" fmla="*/ 19579 w 42"/>
              <a:gd name="T17" fmla="*/ 73025 h 49"/>
              <a:gd name="T18" fmla="*/ 27970 w 42"/>
              <a:gd name="T19" fmla="*/ 68263 h 49"/>
              <a:gd name="T20" fmla="*/ 34963 w 42"/>
              <a:gd name="T21" fmla="*/ 65088 h 49"/>
              <a:gd name="T22" fmla="*/ 44753 w 42"/>
              <a:gd name="T23" fmla="*/ 55563 h 49"/>
              <a:gd name="T24" fmla="*/ 57339 w 42"/>
              <a:gd name="T25" fmla="*/ 42863 h 49"/>
              <a:gd name="T26" fmla="*/ 25173 w 42"/>
              <a:gd name="T27" fmla="*/ 0 h 4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2"/>
              <a:gd name="T43" fmla="*/ 0 h 49"/>
              <a:gd name="T44" fmla="*/ 42 w 42"/>
              <a:gd name="T45" fmla="*/ 49 h 4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2" h="49">
                <a:moveTo>
                  <a:pt x="18" y="0"/>
                </a:moveTo>
                <a:lnTo>
                  <a:pt x="9" y="15"/>
                </a:lnTo>
                <a:lnTo>
                  <a:pt x="3" y="26"/>
                </a:lnTo>
                <a:lnTo>
                  <a:pt x="0" y="37"/>
                </a:lnTo>
                <a:lnTo>
                  <a:pt x="2" y="45"/>
                </a:lnTo>
                <a:lnTo>
                  <a:pt x="3" y="46"/>
                </a:lnTo>
                <a:lnTo>
                  <a:pt x="6" y="48"/>
                </a:lnTo>
                <a:lnTo>
                  <a:pt x="10" y="48"/>
                </a:lnTo>
                <a:lnTo>
                  <a:pt x="14" y="46"/>
                </a:lnTo>
                <a:lnTo>
                  <a:pt x="20" y="43"/>
                </a:lnTo>
                <a:lnTo>
                  <a:pt x="25" y="41"/>
                </a:lnTo>
                <a:lnTo>
                  <a:pt x="32" y="35"/>
                </a:lnTo>
                <a:lnTo>
                  <a:pt x="41" y="27"/>
                </a:lnTo>
                <a:lnTo>
                  <a:pt x="18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98" name="Freeform 195">
            <a:extLst>
              <a:ext uri="{FF2B5EF4-FFF2-40B4-BE49-F238E27FC236}">
                <a16:creationId xmlns:a16="http://schemas.microsoft.com/office/drawing/2014/main" id="{A467BC01-D4CE-A6EA-D139-99AA3D495D3E}"/>
              </a:ext>
            </a:extLst>
          </p:cNvPr>
          <p:cNvSpPr>
            <a:spLocks/>
          </p:cNvSpPr>
          <p:nvPr/>
        </p:nvSpPr>
        <p:spPr bwMode="auto">
          <a:xfrm>
            <a:off x="2022475" y="5000625"/>
            <a:ext cx="73025" cy="93663"/>
          </a:xfrm>
          <a:custGeom>
            <a:avLst/>
            <a:gdLst>
              <a:gd name="T0" fmla="*/ 32300 w 52"/>
              <a:gd name="T1" fmla="*/ 0 h 59"/>
              <a:gd name="T2" fmla="*/ 15448 w 52"/>
              <a:gd name="T3" fmla="*/ 28575 h 59"/>
              <a:gd name="T4" fmla="*/ 5617 w 52"/>
              <a:gd name="T5" fmla="*/ 50800 h 59"/>
              <a:gd name="T6" fmla="*/ 0 w 52"/>
              <a:gd name="T7" fmla="*/ 71438 h 59"/>
              <a:gd name="T8" fmla="*/ 2809 w 52"/>
              <a:gd name="T9" fmla="*/ 85725 h 59"/>
              <a:gd name="T10" fmla="*/ 5617 w 52"/>
              <a:gd name="T11" fmla="*/ 88900 h 59"/>
              <a:gd name="T12" fmla="*/ 9830 w 52"/>
              <a:gd name="T13" fmla="*/ 92075 h 59"/>
              <a:gd name="T14" fmla="*/ 16852 w 52"/>
              <a:gd name="T15" fmla="*/ 92075 h 59"/>
              <a:gd name="T16" fmla="*/ 25278 w 52"/>
              <a:gd name="T17" fmla="*/ 88900 h 59"/>
              <a:gd name="T18" fmla="*/ 35108 w 52"/>
              <a:gd name="T19" fmla="*/ 82550 h 59"/>
              <a:gd name="T20" fmla="*/ 43534 w 52"/>
              <a:gd name="T21" fmla="*/ 77788 h 59"/>
              <a:gd name="T22" fmla="*/ 56173 w 52"/>
              <a:gd name="T23" fmla="*/ 66675 h 59"/>
              <a:gd name="T24" fmla="*/ 71621 w 52"/>
              <a:gd name="T25" fmla="*/ 52388 h 5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2"/>
              <a:gd name="T40" fmla="*/ 0 h 59"/>
              <a:gd name="T41" fmla="*/ 52 w 52"/>
              <a:gd name="T42" fmla="*/ 59 h 5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2" h="59">
                <a:moveTo>
                  <a:pt x="23" y="0"/>
                </a:moveTo>
                <a:lnTo>
                  <a:pt x="11" y="18"/>
                </a:lnTo>
                <a:lnTo>
                  <a:pt x="4" y="32"/>
                </a:lnTo>
                <a:lnTo>
                  <a:pt x="0" y="45"/>
                </a:lnTo>
                <a:lnTo>
                  <a:pt x="2" y="54"/>
                </a:lnTo>
                <a:lnTo>
                  <a:pt x="4" y="56"/>
                </a:lnTo>
                <a:lnTo>
                  <a:pt x="7" y="58"/>
                </a:lnTo>
                <a:lnTo>
                  <a:pt x="12" y="58"/>
                </a:lnTo>
                <a:lnTo>
                  <a:pt x="18" y="56"/>
                </a:lnTo>
                <a:lnTo>
                  <a:pt x="25" y="52"/>
                </a:lnTo>
                <a:lnTo>
                  <a:pt x="31" y="49"/>
                </a:lnTo>
                <a:lnTo>
                  <a:pt x="40" y="42"/>
                </a:lnTo>
                <a:lnTo>
                  <a:pt x="51" y="3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99" name="Freeform 196">
            <a:extLst>
              <a:ext uri="{FF2B5EF4-FFF2-40B4-BE49-F238E27FC236}">
                <a16:creationId xmlns:a16="http://schemas.microsoft.com/office/drawing/2014/main" id="{C58FE234-1A9B-A6C3-6483-E178E4B5C08A}"/>
              </a:ext>
            </a:extLst>
          </p:cNvPr>
          <p:cNvSpPr>
            <a:spLocks/>
          </p:cNvSpPr>
          <p:nvPr/>
        </p:nvSpPr>
        <p:spPr bwMode="auto">
          <a:xfrm>
            <a:off x="1984375" y="4946650"/>
            <a:ext cx="60325" cy="73025"/>
          </a:xfrm>
          <a:custGeom>
            <a:avLst/>
            <a:gdLst>
              <a:gd name="T0" fmla="*/ 26049 w 44"/>
              <a:gd name="T1" fmla="*/ 0 h 46"/>
              <a:gd name="T2" fmla="*/ 12339 w 44"/>
              <a:gd name="T3" fmla="*/ 19050 h 46"/>
              <a:gd name="T4" fmla="*/ 4113 w 44"/>
              <a:gd name="T5" fmla="*/ 39687 h 46"/>
              <a:gd name="T6" fmla="*/ 0 w 44"/>
              <a:gd name="T7" fmla="*/ 55563 h 46"/>
              <a:gd name="T8" fmla="*/ 2742 w 44"/>
              <a:gd name="T9" fmla="*/ 68263 h 46"/>
              <a:gd name="T10" fmla="*/ 6855 w 44"/>
              <a:gd name="T11" fmla="*/ 68263 h 46"/>
              <a:gd name="T12" fmla="*/ 9597 w 44"/>
              <a:gd name="T13" fmla="*/ 71438 h 46"/>
              <a:gd name="T14" fmla="*/ 15081 w 44"/>
              <a:gd name="T15" fmla="*/ 71438 h 46"/>
              <a:gd name="T16" fmla="*/ 20565 w 44"/>
              <a:gd name="T17" fmla="*/ 68263 h 46"/>
              <a:gd name="T18" fmla="*/ 27420 w 44"/>
              <a:gd name="T19" fmla="*/ 65088 h 46"/>
              <a:gd name="T20" fmla="*/ 37018 w 44"/>
              <a:gd name="T21" fmla="*/ 60325 h 46"/>
              <a:gd name="T22" fmla="*/ 46615 w 44"/>
              <a:gd name="T23" fmla="*/ 52388 h 46"/>
              <a:gd name="T24" fmla="*/ 58954 w 44"/>
              <a:gd name="T25" fmla="*/ 39687 h 46"/>
              <a:gd name="T26" fmla="*/ 26049 w 44"/>
              <a:gd name="T27" fmla="*/ 0 h 4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4"/>
              <a:gd name="T43" fmla="*/ 0 h 46"/>
              <a:gd name="T44" fmla="*/ 44 w 44"/>
              <a:gd name="T45" fmla="*/ 46 h 4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4" h="46">
                <a:moveTo>
                  <a:pt x="19" y="0"/>
                </a:moveTo>
                <a:lnTo>
                  <a:pt x="9" y="12"/>
                </a:lnTo>
                <a:lnTo>
                  <a:pt x="3" y="25"/>
                </a:lnTo>
                <a:lnTo>
                  <a:pt x="0" y="35"/>
                </a:lnTo>
                <a:lnTo>
                  <a:pt x="2" y="43"/>
                </a:lnTo>
                <a:lnTo>
                  <a:pt x="5" y="43"/>
                </a:lnTo>
                <a:lnTo>
                  <a:pt x="7" y="45"/>
                </a:lnTo>
                <a:lnTo>
                  <a:pt x="11" y="45"/>
                </a:lnTo>
                <a:lnTo>
                  <a:pt x="15" y="43"/>
                </a:lnTo>
                <a:lnTo>
                  <a:pt x="20" y="41"/>
                </a:lnTo>
                <a:lnTo>
                  <a:pt x="27" y="38"/>
                </a:lnTo>
                <a:lnTo>
                  <a:pt x="34" y="33"/>
                </a:lnTo>
                <a:lnTo>
                  <a:pt x="43" y="25"/>
                </a:lnTo>
                <a:lnTo>
                  <a:pt x="19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00" name="Freeform 197">
            <a:extLst>
              <a:ext uri="{FF2B5EF4-FFF2-40B4-BE49-F238E27FC236}">
                <a16:creationId xmlns:a16="http://schemas.microsoft.com/office/drawing/2014/main" id="{E67BF184-7F13-2B8F-67EA-39F88915BA96}"/>
              </a:ext>
            </a:extLst>
          </p:cNvPr>
          <p:cNvSpPr>
            <a:spLocks/>
          </p:cNvSpPr>
          <p:nvPr/>
        </p:nvSpPr>
        <p:spPr bwMode="auto">
          <a:xfrm>
            <a:off x="1984375" y="4946650"/>
            <a:ext cx="76200" cy="88900"/>
          </a:xfrm>
          <a:custGeom>
            <a:avLst/>
            <a:gdLst>
              <a:gd name="T0" fmla="*/ 32456 w 54"/>
              <a:gd name="T1" fmla="*/ 0 h 56"/>
              <a:gd name="T2" fmla="*/ 15522 w 54"/>
              <a:gd name="T3" fmla="*/ 23812 h 56"/>
              <a:gd name="T4" fmla="*/ 5644 w 54"/>
              <a:gd name="T5" fmla="*/ 49212 h 56"/>
              <a:gd name="T6" fmla="*/ 0 w 54"/>
              <a:gd name="T7" fmla="*/ 68263 h 56"/>
              <a:gd name="T8" fmla="*/ 2822 w 54"/>
              <a:gd name="T9" fmla="*/ 82550 h 56"/>
              <a:gd name="T10" fmla="*/ 8467 w 54"/>
              <a:gd name="T11" fmla="*/ 84138 h 56"/>
              <a:gd name="T12" fmla="*/ 12700 w 54"/>
              <a:gd name="T13" fmla="*/ 87313 h 56"/>
              <a:gd name="T14" fmla="*/ 18344 w 54"/>
              <a:gd name="T15" fmla="*/ 87313 h 56"/>
              <a:gd name="T16" fmla="*/ 25400 w 54"/>
              <a:gd name="T17" fmla="*/ 84138 h 56"/>
              <a:gd name="T18" fmla="*/ 35278 w 54"/>
              <a:gd name="T19" fmla="*/ 79375 h 56"/>
              <a:gd name="T20" fmla="*/ 46567 w 54"/>
              <a:gd name="T21" fmla="*/ 74613 h 56"/>
              <a:gd name="T22" fmla="*/ 59267 w 54"/>
              <a:gd name="T23" fmla="*/ 63500 h 56"/>
              <a:gd name="T24" fmla="*/ 74789 w 54"/>
              <a:gd name="T25" fmla="*/ 49212 h 5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4"/>
              <a:gd name="T40" fmla="*/ 0 h 56"/>
              <a:gd name="T41" fmla="*/ 54 w 54"/>
              <a:gd name="T42" fmla="*/ 56 h 5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4" h="56">
                <a:moveTo>
                  <a:pt x="23" y="0"/>
                </a:moveTo>
                <a:lnTo>
                  <a:pt x="11" y="15"/>
                </a:lnTo>
                <a:lnTo>
                  <a:pt x="4" y="31"/>
                </a:lnTo>
                <a:lnTo>
                  <a:pt x="0" y="43"/>
                </a:lnTo>
                <a:lnTo>
                  <a:pt x="2" y="52"/>
                </a:lnTo>
                <a:lnTo>
                  <a:pt x="6" y="53"/>
                </a:lnTo>
                <a:lnTo>
                  <a:pt x="9" y="55"/>
                </a:lnTo>
                <a:lnTo>
                  <a:pt x="13" y="55"/>
                </a:lnTo>
                <a:lnTo>
                  <a:pt x="18" y="53"/>
                </a:lnTo>
                <a:lnTo>
                  <a:pt x="25" y="50"/>
                </a:lnTo>
                <a:lnTo>
                  <a:pt x="33" y="47"/>
                </a:lnTo>
                <a:lnTo>
                  <a:pt x="42" y="40"/>
                </a:lnTo>
                <a:lnTo>
                  <a:pt x="53" y="31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01" name="Freeform 198">
            <a:extLst>
              <a:ext uri="{FF2B5EF4-FFF2-40B4-BE49-F238E27FC236}">
                <a16:creationId xmlns:a16="http://schemas.microsoft.com/office/drawing/2014/main" id="{736103E9-08DE-3EE3-AF0E-6C7D14DE4D9D}"/>
              </a:ext>
            </a:extLst>
          </p:cNvPr>
          <p:cNvSpPr>
            <a:spLocks/>
          </p:cNvSpPr>
          <p:nvPr/>
        </p:nvSpPr>
        <p:spPr bwMode="auto">
          <a:xfrm>
            <a:off x="2063750" y="5053013"/>
            <a:ext cx="60325" cy="74612"/>
          </a:xfrm>
          <a:custGeom>
            <a:avLst/>
            <a:gdLst>
              <a:gd name="T0" fmla="*/ 25013 w 41"/>
              <a:gd name="T1" fmla="*/ 0 h 47"/>
              <a:gd name="T2" fmla="*/ 11771 w 41"/>
              <a:gd name="T3" fmla="*/ 20637 h 47"/>
              <a:gd name="T4" fmla="*/ 2943 w 41"/>
              <a:gd name="T5" fmla="*/ 41275 h 47"/>
              <a:gd name="T6" fmla="*/ 0 w 41"/>
              <a:gd name="T7" fmla="*/ 57150 h 47"/>
              <a:gd name="T8" fmla="*/ 1471 w 41"/>
              <a:gd name="T9" fmla="*/ 68262 h 47"/>
              <a:gd name="T10" fmla="*/ 2943 w 41"/>
              <a:gd name="T11" fmla="*/ 69850 h 47"/>
              <a:gd name="T12" fmla="*/ 8828 w 41"/>
              <a:gd name="T13" fmla="*/ 73025 h 47"/>
              <a:gd name="T14" fmla="*/ 11771 w 41"/>
              <a:gd name="T15" fmla="*/ 73025 h 47"/>
              <a:gd name="T16" fmla="*/ 20599 w 41"/>
              <a:gd name="T17" fmla="*/ 73025 h 47"/>
              <a:gd name="T18" fmla="*/ 26484 w 41"/>
              <a:gd name="T19" fmla="*/ 68262 h 47"/>
              <a:gd name="T20" fmla="*/ 36784 w 41"/>
              <a:gd name="T21" fmla="*/ 61912 h 47"/>
              <a:gd name="T22" fmla="*/ 47083 w 41"/>
              <a:gd name="T23" fmla="*/ 55562 h 47"/>
              <a:gd name="T24" fmla="*/ 58854 w 41"/>
              <a:gd name="T25" fmla="*/ 42862 h 47"/>
              <a:gd name="T26" fmla="*/ 25013 w 41"/>
              <a:gd name="T27" fmla="*/ 0 h 4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1"/>
              <a:gd name="T43" fmla="*/ 0 h 47"/>
              <a:gd name="T44" fmla="*/ 41 w 41"/>
              <a:gd name="T45" fmla="*/ 47 h 47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1" h="47">
                <a:moveTo>
                  <a:pt x="17" y="0"/>
                </a:moveTo>
                <a:lnTo>
                  <a:pt x="8" y="13"/>
                </a:lnTo>
                <a:lnTo>
                  <a:pt x="2" y="26"/>
                </a:lnTo>
                <a:lnTo>
                  <a:pt x="0" y="36"/>
                </a:lnTo>
                <a:lnTo>
                  <a:pt x="1" y="43"/>
                </a:lnTo>
                <a:lnTo>
                  <a:pt x="2" y="44"/>
                </a:lnTo>
                <a:lnTo>
                  <a:pt x="6" y="46"/>
                </a:lnTo>
                <a:lnTo>
                  <a:pt x="8" y="46"/>
                </a:lnTo>
                <a:lnTo>
                  <a:pt x="14" y="46"/>
                </a:lnTo>
                <a:lnTo>
                  <a:pt x="18" y="43"/>
                </a:lnTo>
                <a:lnTo>
                  <a:pt x="25" y="39"/>
                </a:lnTo>
                <a:lnTo>
                  <a:pt x="32" y="35"/>
                </a:lnTo>
                <a:lnTo>
                  <a:pt x="40" y="27"/>
                </a:lnTo>
                <a:lnTo>
                  <a:pt x="17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02" name="Freeform 199">
            <a:extLst>
              <a:ext uri="{FF2B5EF4-FFF2-40B4-BE49-F238E27FC236}">
                <a16:creationId xmlns:a16="http://schemas.microsoft.com/office/drawing/2014/main" id="{58E2F192-94E7-0EA7-7877-9425A7173F8E}"/>
              </a:ext>
            </a:extLst>
          </p:cNvPr>
          <p:cNvSpPr>
            <a:spLocks/>
          </p:cNvSpPr>
          <p:nvPr/>
        </p:nvSpPr>
        <p:spPr bwMode="auto">
          <a:xfrm>
            <a:off x="2063750" y="5053013"/>
            <a:ext cx="73025" cy="90487"/>
          </a:xfrm>
          <a:custGeom>
            <a:avLst/>
            <a:gdLst>
              <a:gd name="T0" fmla="*/ 30069 w 51"/>
              <a:gd name="T1" fmla="*/ 0 h 57"/>
              <a:gd name="T2" fmla="*/ 14319 w 51"/>
              <a:gd name="T3" fmla="*/ 25400 h 57"/>
              <a:gd name="T4" fmla="*/ 4296 w 51"/>
              <a:gd name="T5" fmla="*/ 50800 h 57"/>
              <a:gd name="T6" fmla="*/ 0 w 51"/>
              <a:gd name="T7" fmla="*/ 69850 h 57"/>
              <a:gd name="T8" fmla="*/ 1432 w 51"/>
              <a:gd name="T9" fmla="*/ 82550 h 57"/>
              <a:gd name="T10" fmla="*/ 4296 w 51"/>
              <a:gd name="T11" fmla="*/ 85725 h 57"/>
              <a:gd name="T12" fmla="*/ 10023 w 51"/>
              <a:gd name="T13" fmla="*/ 88900 h 57"/>
              <a:gd name="T14" fmla="*/ 14319 w 51"/>
              <a:gd name="T15" fmla="*/ 88900 h 57"/>
              <a:gd name="T16" fmla="*/ 24342 w 51"/>
              <a:gd name="T17" fmla="*/ 88900 h 57"/>
              <a:gd name="T18" fmla="*/ 31501 w 51"/>
              <a:gd name="T19" fmla="*/ 82550 h 57"/>
              <a:gd name="T20" fmla="*/ 44388 w 51"/>
              <a:gd name="T21" fmla="*/ 74612 h 57"/>
              <a:gd name="T22" fmla="*/ 57275 w 51"/>
              <a:gd name="T23" fmla="*/ 66675 h 57"/>
              <a:gd name="T24" fmla="*/ 71593 w 51"/>
              <a:gd name="T25" fmla="*/ 52387 h 5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1"/>
              <a:gd name="T40" fmla="*/ 0 h 57"/>
              <a:gd name="T41" fmla="*/ 51 w 51"/>
              <a:gd name="T42" fmla="*/ 57 h 57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1" h="57">
                <a:moveTo>
                  <a:pt x="21" y="0"/>
                </a:moveTo>
                <a:lnTo>
                  <a:pt x="10" y="16"/>
                </a:lnTo>
                <a:lnTo>
                  <a:pt x="3" y="32"/>
                </a:lnTo>
                <a:lnTo>
                  <a:pt x="0" y="44"/>
                </a:lnTo>
                <a:lnTo>
                  <a:pt x="1" y="52"/>
                </a:lnTo>
                <a:lnTo>
                  <a:pt x="3" y="54"/>
                </a:lnTo>
                <a:lnTo>
                  <a:pt x="7" y="56"/>
                </a:lnTo>
                <a:lnTo>
                  <a:pt x="10" y="56"/>
                </a:lnTo>
                <a:lnTo>
                  <a:pt x="17" y="56"/>
                </a:lnTo>
                <a:lnTo>
                  <a:pt x="22" y="52"/>
                </a:lnTo>
                <a:lnTo>
                  <a:pt x="31" y="47"/>
                </a:lnTo>
                <a:lnTo>
                  <a:pt x="40" y="42"/>
                </a:lnTo>
                <a:lnTo>
                  <a:pt x="50" y="3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03" name="Freeform 200">
            <a:extLst>
              <a:ext uri="{FF2B5EF4-FFF2-40B4-BE49-F238E27FC236}">
                <a16:creationId xmlns:a16="http://schemas.microsoft.com/office/drawing/2014/main" id="{03C4FE6B-D968-F49A-4DD1-A6888419197D}"/>
              </a:ext>
            </a:extLst>
          </p:cNvPr>
          <p:cNvSpPr>
            <a:spLocks/>
          </p:cNvSpPr>
          <p:nvPr/>
        </p:nvSpPr>
        <p:spPr bwMode="auto">
          <a:xfrm>
            <a:off x="2309813" y="4937125"/>
            <a:ext cx="58737" cy="63500"/>
          </a:xfrm>
          <a:custGeom>
            <a:avLst/>
            <a:gdLst>
              <a:gd name="T0" fmla="*/ 57371 w 43"/>
              <a:gd name="T1" fmla="*/ 50800 h 40"/>
              <a:gd name="T2" fmla="*/ 46443 w 43"/>
              <a:gd name="T3" fmla="*/ 31750 h 40"/>
              <a:gd name="T4" fmla="*/ 32783 w 43"/>
              <a:gd name="T5" fmla="*/ 14288 h 40"/>
              <a:gd name="T6" fmla="*/ 27320 w 43"/>
              <a:gd name="T7" fmla="*/ 9525 h 40"/>
              <a:gd name="T8" fmla="*/ 20490 w 43"/>
              <a:gd name="T9" fmla="*/ 4762 h 40"/>
              <a:gd name="T10" fmla="*/ 17758 w 43"/>
              <a:gd name="T11" fmla="*/ 3175 h 40"/>
              <a:gd name="T12" fmla="*/ 12294 w 43"/>
              <a:gd name="T13" fmla="*/ 0 h 40"/>
              <a:gd name="T14" fmla="*/ 8196 w 43"/>
              <a:gd name="T15" fmla="*/ 3175 h 40"/>
              <a:gd name="T16" fmla="*/ 4098 w 43"/>
              <a:gd name="T17" fmla="*/ 4762 h 40"/>
              <a:gd name="T18" fmla="*/ 2732 w 43"/>
              <a:gd name="T19" fmla="*/ 9525 h 40"/>
              <a:gd name="T20" fmla="*/ 0 w 43"/>
              <a:gd name="T21" fmla="*/ 15875 h 40"/>
              <a:gd name="T22" fmla="*/ 0 w 43"/>
              <a:gd name="T23" fmla="*/ 25400 h 40"/>
              <a:gd name="T24" fmla="*/ 2732 w 43"/>
              <a:gd name="T25" fmla="*/ 33337 h 40"/>
              <a:gd name="T26" fmla="*/ 4098 w 43"/>
              <a:gd name="T27" fmla="*/ 46037 h 40"/>
              <a:gd name="T28" fmla="*/ 8196 w 43"/>
              <a:gd name="T29" fmla="*/ 61913 h 40"/>
              <a:gd name="T30" fmla="*/ 57371 w 43"/>
              <a:gd name="T31" fmla="*/ 50800 h 4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"/>
              <a:gd name="T49" fmla="*/ 0 h 40"/>
              <a:gd name="T50" fmla="*/ 43 w 43"/>
              <a:gd name="T51" fmla="*/ 40 h 4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" h="40">
                <a:moveTo>
                  <a:pt x="42" y="32"/>
                </a:moveTo>
                <a:lnTo>
                  <a:pt x="34" y="20"/>
                </a:lnTo>
                <a:lnTo>
                  <a:pt x="24" y="9"/>
                </a:lnTo>
                <a:lnTo>
                  <a:pt x="20" y="6"/>
                </a:lnTo>
                <a:lnTo>
                  <a:pt x="15" y="3"/>
                </a:lnTo>
                <a:lnTo>
                  <a:pt x="13" y="2"/>
                </a:lnTo>
                <a:lnTo>
                  <a:pt x="9" y="0"/>
                </a:lnTo>
                <a:lnTo>
                  <a:pt x="6" y="2"/>
                </a:lnTo>
                <a:lnTo>
                  <a:pt x="3" y="3"/>
                </a:lnTo>
                <a:lnTo>
                  <a:pt x="2" y="6"/>
                </a:lnTo>
                <a:lnTo>
                  <a:pt x="0" y="10"/>
                </a:lnTo>
                <a:lnTo>
                  <a:pt x="0" y="16"/>
                </a:lnTo>
                <a:lnTo>
                  <a:pt x="2" y="21"/>
                </a:lnTo>
                <a:lnTo>
                  <a:pt x="3" y="29"/>
                </a:lnTo>
                <a:lnTo>
                  <a:pt x="6" y="39"/>
                </a:lnTo>
                <a:lnTo>
                  <a:pt x="42" y="32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04" name="Freeform 201">
            <a:extLst>
              <a:ext uri="{FF2B5EF4-FFF2-40B4-BE49-F238E27FC236}">
                <a16:creationId xmlns:a16="http://schemas.microsoft.com/office/drawing/2014/main" id="{14FAD8B9-6C52-EB78-9503-C93CEB823B52}"/>
              </a:ext>
            </a:extLst>
          </p:cNvPr>
          <p:cNvSpPr>
            <a:spLocks/>
          </p:cNvSpPr>
          <p:nvPr/>
        </p:nvSpPr>
        <p:spPr bwMode="auto">
          <a:xfrm>
            <a:off x="2309813" y="4937125"/>
            <a:ext cx="73025" cy="79375"/>
          </a:xfrm>
          <a:custGeom>
            <a:avLst/>
            <a:gdLst>
              <a:gd name="T0" fmla="*/ 71647 w 53"/>
              <a:gd name="T1" fmla="*/ 63500 h 50"/>
              <a:gd name="T2" fmla="*/ 57869 w 53"/>
              <a:gd name="T3" fmla="*/ 39688 h 50"/>
              <a:gd name="T4" fmla="*/ 41335 w 53"/>
              <a:gd name="T5" fmla="*/ 17463 h 50"/>
              <a:gd name="T6" fmla="*/ 34446 w 53"/>
              <a:gd name="T7" fmla="*/ 11112 h 50"/>
              <a:gd name="T8" fmla="*/ 26179 w 53"/>
              <a:gd name="T9" fmla="*/ 6350 h 50"/>
              <a:gd name="T10" fmla="*/ 22045 w 53"/>
              <a:gd name="T11" fmla="*/ 3175 h 50"/>
              <a:gd name="T12" fmla="*/ 15156 w 53"/>
              <a:gd name="T13" fmla="*/ 0 h 50"/>
              <a:gd name="T14" fmla="*/ 9645 w 53"/>
              <a:gd name="T15" fmla="*/ 3175 h 50"/>
              <a:gd name="T16" fmla="*/ 5511 w 53"/>
              <a:gd name="T17" fmla="*/ 6350 h 50"/>
              <a:gd name="T18" fmla="*/ 2756 w 53"/>
              <a:gd name="T19" fmla="*/ 11112 h 50"/>
              <a:gd name="T20" fmla="*/ 0 w 53"/>
              <a:gd name="T21" fmla="*/ 20637 h 50"/>
              <a:gd name="T22" fmla="*/ 0 w 53"/>
              <a:gd name="T23" fmla="*/ 31750 h 50"/>
              <a:gd name="T24" fmla="*/ 2756 w 53"/>
              <a:gd name="T25" fmla="*/ 42862 h 50"/>
              <a:gd name="T26" fmla="*/ 5511 w 53"/>
              <a:gd name="T27" fmla="*/ 58738 h 50"/>
              <a:gd name="T28" fmla="*/ 9645 w 53"/>
              <a:gd name="T29" fmla="*/ 77788 h 5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3"/>
              <a:gd name="T46" fmla="*/ 0 h 50"/>
              <a:gd name="T47" fmla="*/ 53 w 53"/>
              <a:gd name="T48" fmla="*/ 50 h 50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3" h="50">
                <a:moveTo>
                  <a:pt x="52" y="40"/>
                </a:moveTo>
                <a:lnTo>
                  <a:pt x="42" y="25"/>
                </a:lnTo>
                <a:lnTo>
                  <a:pt x="30" y="11"/>
                </a:lnTo>
                <a:lnTo>
                  <a:pt x="25" y="7"/>
                </a:lnTo>
                <a:lnTo>
                  <a:pt x="19" y="4"/>
                </a:lnTo>
                <a:lnTo>
                  <a:pt x="16" y="2"/>
                </a:lnTo>
                <a:lnTo>
                  <a:pt x="11" y="0"/>
                </a:lnTo>
                <a:lnTo>
                  <a:pt x="7" y="2"/>
                </a:lnTo>
                <a:lnTo>
                  <a:pt x="4" y="4"/>
                </a:lnTo>
                <a:lnTo>
                  <a:pt x="2" y="7"/>
                </a:lnTo>
                <a:lnTo>
                  <a:pt x="0" y="13"/>
                </a:lnTo>
                <a:lnTo>
                  <a:pt x="0" y="20"/>
                </a:lnTo>
                <a:lnTo>
                  <a:pt x="2" y="27"/>
                </a:lnTo>
                <a:lnTo>
                  <a:pt x="4" y="37"/>
                </a:lnTo>
                <a:lnTo>
                  <a:pt x="7" y="49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05" name="Freeform 202">
            <a:extLst>
              <a:ext uri="{FF2B5EF4-FFF2-40B4-BE49-F238E27FC236}">
                <a16:creationId xmlns:a16="http://schemas.microsoft.com/office/drawing/2014/main" id="{EFAD1275-3B44-0997-D063-91A52205B90C}"/>
              </a:ext>
            </a:extLst>
          </p:cNvPr>
          <p:cNvSpPr>
            <a:spLocks/>
          </p:cNvSpPr>
          <p:nvPr/>
        </p:nvSpPr>
        <p:spPr bwMode="auto">
          <a:xfrm>
            <a:off x="2378075" y="4929188"/>
            <a:ext cx="60325" cy="63500"/>
          </a:xfrm>
          <a:custGeom>
            <a:avLst/>
            <a:gdLst>
              <a:gd name="T0" fmla="*/ 58922 w 43"/>
              <a:gd name="T1" fmla="*/ 50800 h 40"/>
              <a:gd name="T2" fmla="*/ 44893 w 43"/>
              <a:gd name="T3" fmla="*/ 28575 h 40"/>
              <a:gd name="T4" fmla="*/ 32267 w 43"/>
              <a:gd name="T5" fmla="*/ 14288 h 40"/>
              <a:gd name="T6" fmla="*/ 26655 w 43"/>
              <a:gd name="T7" fmla="*/ 6350 h 40"/>
              <a:gd name="T8" fmla="*/ 21044 w 43"/>
              <a:gd name="T9" fmla="*/ 4762 h 40"/>
              <a:gd name="T10" fmla="*/ 15432 w 43"/>
              <a:gd name="T11" fmla="*/ 0 h 40"/>
              <a:gd name="T12" fmla="*/ 11223 w 43"/>
              <a:gd name="T13" fmla="*/ 0 h 40"/>
              <a:gd name="T14" fmla="*/ 8417 w 43"/>
              <a:gd name="T15" fmla="*/ 0 h 40"/>
              <a:gd name="T16" fmla="*/ 2806 w 43"/>
              <a:gd name="T17" fmla="*/ 4762 h 40"/>
              <a:gd name="T18" fmla="*/ 2806 w 43"/>
              <a:gd name="T19" fmla="*/ 9525 h 40"/>
              <a:gd name="T20" fmla="*/ 0 w 43"/>
              <a:gd name="T21" fmla="*/ 15875 h 40"/>
              <a:gd name="T22" fmla="*/ 0 w 43"/>
              <a:gd name="T23" fmla="*/ 23812 h 40"/>
              <a:gd name="T24" fmla="*/ 2806 w 43"/>
              <a:gd name="T25" fmla="*/ 33337 h 40"/>
              <a:gd name="T26" fmla="*/ 2806 w 43"/>
              <a:gd name="T27" fmla="*/ 46037 h 40"/>
              <a:gd name="T28" fmla="*/ 8417 w 43"/>
              <a:gd name="T29" fmla="*/ 61913 h 40"/>
              <a:gd name="T30" fmla="*/ 58922 w 43"/>
              <a:gd name="T31" fmla="*/ 50800 h 4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"/>
              <a:gd name="T49" fmla="*/ 0 h 40"/>
              <a:gd name="T50" fmla="*/ 43 w 43"/>
              <a:gd name="T51" fmla="*/ 40 h 4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" h="40">
                <a:moveTo>
                  <a:pt x="42" y="32"/>
                </a:moveTo>
                <a:lnTo>
                  <a:pt x="32" y="18"/>
                </a:lnTo>
                <a:lnTo>
                  <a:pt x="23" y="9"/>
                </a:lnTo>
                <a:lnTo>
                  <a:pt x="19" y="4"/>
                </a:lnTo>
                <a:lnTo>
                  <a:pt x="15" y="3"/>
                </a:lnTo>
                <a:lnTo>
                  <a:pt x="11" y="0"/>
                </a:lnTo>
                <a:lnTo>
                  <a:pt x="8" y="0"/>
                </a:lnTo>
                <a:lnTo>
                  <a:pt x="6" y="0"/>
                </a:lnTo>
                <a:lnTo>
                  <a:pt x="2" y="3"/>
                </a:lnTo>
                <a:lnTo>
                  <a:pt x="2" y="6"/>
                </a:lnTo>
                <a:lnTo>
                  <a:pt x="0" y="10"/>
                </a:lnTo>
                <a:lnTo>
                  <a:pt x="0" y="15"/>
                </a:lnTo>
                <a:lnTo>
                  <a:pt x="2" y="21"/>
                </a:lnTo>
                <a:lnTo>
                  <a:pt x="2" y="29"/>
                </a:lnTo>
                <a:lnTo>
                  <a:pt x="6" y="39"/>
                </a:lnTo>
                <a:lnTo>
                  <a:pt x="42" y="32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06" name="Freeform 203">
            <a:extLst>
              <a:ext uri="{FF2B5EF4-FFF2-40B4-BE49-F238E27FC236}">
                <a16:creationId xmlns:a16="http://schemas.microsoft.com/office/drawing/2014/main" id="{038BC0AF-FC26-F5ED-CE1C-B8BAE0C2887E}"/>
              </a:ext>
            </a:extLst>
          </p:cNvPr>
          <p:cNvSpPr>
            <a:spLocks/>
          </p:cNvSpPr>
          <p:nvPr/>
        </p:nvSpPr>
        <p:spPr bwMode="auto">
          <a:xfrm>
            <a:off x="2378075" y="4929188"/>
            <a:ext cx="76200" cy="79375"/>
          </a:xfrm>
          <a:custGeom>
            <a:avLst/>
            <a:gdLst>
              <a:gd name="T0" fmla="*/ 74762 w 53"/>
              <a:gd name="T1" fmla="*/ 63500 h 50"/>
              <a:gd name="T2" fmla="*/ 57509 w 53"/>
              <a:gd name="T3" fmla="*/ 36513 h 50"/>
              <a:gd name="T4" fmla="*/ 41694 w 53"/>
              <a:gd name="T5" fmla="*/ 17463 h 50"/>
              <a:gd name="T6" fmla="*/ 34506 w 53"/>
              <a:gd name="T7" fmla="*/ 7938 h 50"/>
              <a:gd name="T8" fmla="*/ 27317 w 53"/>
              <a:gd name="T9" fmla="*/ 6350 h 50"/>
              <a:gd name="T10" fmla="*/ 20128 w 53"/>
              <a:gd name="T11" fmla="*/ 0 h 50"/>
              <a:gd name="T12" fmla="*/ 14377 w 53"/>
              <a:gd name="T13" fmla="*/ 0 h 50"/>
              <a:gd name="T14" fmla="*/ 10064 w 53"/>
              <a:gd name="T15" fmla="*/ 0 h 50"/>
              <a:gd name="T16" fmla="*/ 4313 w 53"/>
              <a:gd name="T17" fmla="*/ 6350 h 50"/>
              <a:gd name="T18" fmla="*/ 2875 w 53"/>
              <a:gd name="T19" fmla="*/ 11112 h 50"/>
              <a:gd name="T20" fmla="*/ 0 w 53"/>
              <a:gd name="T21" fmla="*/ 19050 h 50"/>
              <a:gd name="T22" fmla="*/ 0 w 53"/>
              <a:gd name="T23" fmla="*/ 30163 h 50"/>
              <a:gd name="T24" fmla="*/ 2875 w 53"/>
              <a:gd name="T25" fmla="*/ 41275 h 50"/>
              <a:gd name="T26" fmla="*/ 4313 w 53"/>
              <a:gd name="T27" fmla="*/ 58738 h 50"/>
              <a:gd name="T28" fmla="*/ 10064 w 53"/>
              <a:gd name="T29" fmla="*/ 77788 h 5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3"/>
              <a:gd name="T46" fmla="*/ 0 h 50"/>
              <a:gd name="T47" fmla="*/ 53 w 53"/>
              <a:gd name="T48" fmla="*/ 50 h 50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3" h="50">
                <a:moveTo>
                  <a:pt x="52" y="40"/>
                </a:moveTo>
                <a:lnTo>
                  <a:pt x="40" y="23"/>
                </a:lnTo>
                <a:lnTo>
                  <a:pt x="29" y="11"/>
                </a:lnTo>
                <a:lnTo>
                  <a:pt x="24" y="5"/>
                </a:lnTo>
                <a:lnTo>
                  <a:pt x="19" y="4"/>
                </a:lnTo>
                <a:lnTo>
                  <a:pt x="14" y="0"/>
                </a:lnTo>
                <a:lnTo>
                  <a:pt x="10" y="0"/>
                </a:lnTo>
                <a:lnTo>
                  <a:pt x="7" y="0"/>
                </a:lnTo>
                <a:lnTo>
                  <a:pt x="3" y="4"/>
                </a:lnTo>
                <a:lnTo>
                  <a:pt x="2" y="7"/>
                </a:lnTo>
                <a:lnTo>
                  <a:pt x="0" y="12"/>
                </a:lnTo>
                <a:lnTo>
                  <a:pt x="0" y="19"/>
                </a:lnTo>
                <a:lnTo>
                  <a:pt x="2" y="26"/>
                </a:lnTo>
                <a:lnTo>
                  <a:pt x="3" y="37"/>
                </a:lnTo>
                <a:lnTo>
                  <a:pt x="7" y="49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07" name="Freeform 204">
            <a:extLst>
              <a:ext uri="{FF2B5EF4-FFF2-40B4-BE49-F238E27FC236}">
                <a16:creationId xmlns:a16="http://schemas.microsoft.com/office/drawing/2014/main" id="{F6635968-7452-982E-A16C-6523B9AC47F3}"/>
              </a:ext>
            </a:extLst>
          </p:cNvPr>
          <p:cNvSpPr>
            <a:spLocks/>
          </p:cNvSpPr>
          <p:nvPr/>
        </p:nvSpPr>
        <p:spPr bwMode="auto">
          <a:xfrm>
            <a:off x="2247900" y="4951413"/>
            <a:ext cx="61913" cy="63500"/>
          </a:xfrm>
          <a:custGeom>
            <a:avLst/>
            <a:gdLst>
              <a:gd name="T0" fmla="*/ 60473 w 43"/>
              <a:gd name="T1" fmla="*/ 50800 h 40"/>
              <a:gd name="T2" fmla="*/ 46075 w 43"/>
              <a:gd name="T3" fmla="*/ 30163 h 40"/>
              <a:gd name="T4" fmla="*/ 33116 w 43"/>
              <a:gd name="T5" fmla="*/ 14288 h 40"/>
              <a:gd name="T6" fmla="*/ 27357 w 43"/>
              <a:gd name="T7" fmla="*/ 9525 h 40"/>
              <a:gd name="T8" fmla="*/ 21598 w 43"/>
              <a:gd name="T9" fmla="*/ 4762 h 40"/>
              <a:gd name="T10" fmla="*/ 15838 w 43"/>
              <a:gd name="T11" fmla="*/ 3175 h 40"/>
              <a:gd name="T12" fmla="*/ 10079 w 43"/>
              <a:gd name="T13" fmla="*/ 0 h 40"/>
              <a:gd name="T14" fmla="*/ 5759 w 43"/>
              <a:gd name="T15" fmla="*/ 3175 h 40"/>
              <a:gd name="T16" fmla="*/ 2880 w 43"/>
              <a:gd name="T17" fmla="*/ 4762 h 40"/>
              <a:gd name="T18" fmla="*/ 0 w 43"/>
              <a:gd name="T19" fmla="*/ 9525 h 40"/>
              <a:gd name="T20" fmla="*/ 0 w 43"/>
              <a:gd name="T21" fmla="*/ 15875 h 40"/>
              <a:gd name="T22" fmla="*/ 0 w 43"/>
              <a:gd name="T23" fmla="*/ 23812 h 40"/>
              <a:gd name="T24" fmla="*/ 0 w 43"/>
              <a:gd name="T25" fmla="*/ 33337 h 40"/>
              <a:gd name="T26" fmla="*/ 2880 w 43"/>
              <a:gd name="T27" fmla="*/ 46037 h 40"/>
              <a:gd name="T28" fmla="*/ 8639 w 43"/>
              <a:gd name="T29" fmla="*/ 61913 h 40"/>
              <a:gd name="T30" fmla="*/ 60473 w 43"/>
              <a:gd name="T31" fmla="*/ 50800 h 4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"/>
              <a:gd name="T49" fmla="*/ 0 h 40"/>
              <a:gd name="T50" fmla="*/ 43 w 43"/>
              <a:gd name="T51" fmla="*/ 40 h 4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" h="40">
                <a:moveTo>
                  <a:pt x="42" y="32"/>
                </a:moveTo>
                <a:lnTo>
                  <a:pt x="32" y="19"/>
                </a:lnTo>
                <a:lnTo>
                  <a:pt x="23" y="9"/>
                </a:lnTo>
                <a:lnTo>
                  <a:pt x="19" y="6"/>
                </a:lnTo>
                <a:lnTo>
                  <a:pt x="15" y="3"/>
                </a:lnTo>
                <a:lnTo>
                  <a:pt x="11" y="2"/>
                </a:lnTo>
                <a:lnTo>
                  <a:pt x="7" y="0"/>
                </a:lnTo>
                <a:lnTo>
                  <a:pt x="4" y="2"/>
                </a:lnTo>
                <a:lnTo>
                  <a:pt x="2" y="3"/>
                </a:lnTo>
                <a:lnTo>
                  <a:pt x="0" y="6"/>
                </a:lnTo>
                <a:lnTo>
                  <a:pt x="0" y="10"/>
                </a:lnTo>
                <a:lnTo>
                  <a:pt x="0" y="15"/>
                </a:lnTo>
                <a:lnTo>
                  <a:pt x="0" y="21"/>
                </a:lnTo>
                <a:lnTo>
                  <a:pt x="2" y="29"/>
                </a:lnTo>
                <a:lnTo>
                  <a:pt x="6" y="39"/>
                </a:lnTo>
                <a:lnTo>
                  <a:pt x="42" y="32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08" name="Freeform 205">
            <a:extLst>
              <a:ext uri="{FF2B5EF4-FFF2-40B4-BE49-F238E27FC236}">
                <a16:creationId xmlns:a16="http://schemas.microsoft.com/office/drawing/2014/main" id="{AB21C79F-B32F-A399-F36E-B5A1080DA75D}"/>
              </a:ext>
            </a:extLst>
          </p:cNvPr>
          <p:cNvSpPr>
            <a:spLocks/>
          </p:cNvSpPr>
          <p:nvPr/>
        </p:nvSpPr>
        <p:spPr bwMode="auto">
          <a:xfrm>
            <a:off x="2247900" y="4951413"/>
            <a:ext cx="74613" cy="79375"/>
          </a:xfrm>
          <a:custGeom>
            <a:avLst/>
            <a:gdLst>
              <a:gd name="T0" fmla="*/ 73205 w 53"/>
              <a:gd name="T1" fmla="*/ 63500 h 50"/>
              <a:gd name="T2" fmla="*/ 56312 w 53"/>
              <a:gd name="T3" fmla="*/ 38100 h 50"/>
              <a:gd name="T4" fmla="*/ 40826 w 53"/>
              <a:gd name="T5" fmla="*/ 17463 h 50"/>
              <a:gd name="T6" fmla="*/ 33787 w 53"/>
              <a:gd name="T7" fmla="*/ 11112 h 50"/>
              <a:gd name="T8" fmla="*/ 26748 w 53"/>
              <a:gd name="T9" fmla="*/ 6350 h 50"/>
              <a:gd name="T10" fmla="*/ 19709 w 53"/>
              <a:gd name="T11" fmla="*/ 3175 h 50"/>
              <a:gd name="T12" fmla="*/ 12670 w 53"/>
              <a:gd name="T13" fmla="*/ 0 h 50"/>
              <a:gd name="T14" fmla="*/ 7039 w 53"/>
              <a:gd name="T15" fmla="*/ 3175 h 50"/>
              <a:gd name="T16" fmla="*/ 4223 w 53"/>
              <a:gd name="T17" fmla="*/ 6350 h 50"/>
              <a:gd name="T18" fmla="*/ 0 w 53"/>
              <a:gd name="T19" fmla="*/ 11112 h 50"/>
              <a:gd name="T20" fmla="*/ 0 w 53"/>
              <a:gd name="T21" fmla="*/ 19050 h 50"/>
              <a:gd name="T22" fmla="*/ 0 w 53"/>
              <a:gd name="T23" fmla="*/ 30163 h 50"/>
              <a:gd name="T24" fmla="*/ 0 w 53"/>
              <a:gd name="T25" fmla="*/ 41275 h 50"/>
              <a:gd name="T26" fmla="*/ 4223 w 53"/>
              <a:gd name="T27" fmla="*/ 58738 h 50"/>
              <a:gd name="T28" fmla="*/ 9855 w 53"/>
              <a:gd name="T29" fmla="*/ 77788 h 5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3"/>
              <a:gd name="T46" fmla="*/ 0 h 50"/>
              <a:gd name="T47" fmla="*/ 53 w 53"/>
              <a:gd name="T48" fmla="*/ 50 h 50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3" h="50">
                <a:moveTo>
                  <a:pt x="52" y="40"/>
                </a:moveTo>
                <a:lnTo>
                  <a:pt x="40" y="24"/>
                </a:lnTo>
                <a:lnTo>
                  <a:pt x="29" y="11"/>
                </a:lnTo>
                <a:lnTo>
                  <a:pt x="24" y="7"/>
                </a:lnTo>
                <a:lnTo>
                  <a:pt x="19" y="4"/>
                </a:lnTo>
                <a:lnTo>
                  <a:pt x="14" y="2"/>
                </a:lnTo>
                <a:lnTo>
                  <a:pt x="9" y="0"/>
                </a:lnTo>
                <a:lnTo>
                  <a:pt x="5" y="2"/>
                </a:lnTo>
                <a:lnTo>
                  <a:pt x="3" y="4"/>
                </a:lnTo>
                <a:lnTo>
                  <a:pt x="0" y="7"/>
                </a:lnTo>
                <a:lnTo>
                  <a:pt x="0" y="12"/>
                </a:lnTo>
                <a:lnTo>
                  <a:pt x="0" y="19"/>
                </a:lnTo>
                <a:lnTo>
                  <a:pt x="0" y="26"/>
                </a:lnTo>
                <a:lnTo>
                  <a:pt x="3" y="37"/>
                </a:lnTo>
                <a:lnTo>
                  <a:pt x="7" y="49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09" name="Freeform 206">
            <a:extLst>
              <a:ext uri="{FF2B5EF4-FFF2-40B4-BE49-F238E27FC236}">
                <a16:creationId xmlns:a16="http://schemas.microsoft.com/office/drawing/2014/main" id="{F34CC857-58D3-5C68-CE90-06B2C9C34C53}"/>
              </a:ext>
            </a:extLst>
          </p:cNvPr>
          <p:cNvSpPr>
            <a:spLocks/>
          </p:cNvSpPr>
          <p:nvPr/>
        </p:nvSpPr>
        <p:spPr bwMode="auto">
          <a:xfrm>
            <a:off x="2347913" y="5100638"/>
            <a:ext cx="58737" cy="61912"/>
          </a:xfrm>
          <a:custGeom>
            <a:avLst/>
            <a:gdLst>
              <a:gd name="T0" fmla="*/ 0 w 41"/>
              <a:gd name="T1" fmla="*/ 6350 h 39"/>
              <a:gd name="T2" fmla="*/ 11461 w 41"/>
              <a:gd name="T3" fmla="*/ 26987 h 39"/>
              <a:gd name="T4" fmla="*/ 21489 w 41"/>
              <a:gd name="T5" fmla="*/ 46037 h 39"/>
              <a:gd name="T6" fmla="*/ 27220 w 41"/>
              <a:gd name="T7" fmla="*/ 50800 h 39"/>
              <a:gd name="T8" fmla="*/ 34383 w 41"/>
              <a:gd name="T9" fmla="*/ 57150 h 39"/>
              <a:gd name="T10" fmla="*/ 40113 w 41"/>
              <a:gd name="T11" fmla="*/ 58737 h 39"/>
              <a:gd name="T12" fmla="*/ 42978 w 41"/>
              <a:gd name="T13" fmla="*/ 60325 h 39"/>
              <a:gd name="T14" fmla="*/ 48709 w 41"/>
              <a:gd name="T15" fmla="*/ 60325 h 39"/>
              <a:gd name="T16" fmla="*/ 51574 w 41"/>
              <a:gd name="T17" fmla="*/ 57150 h 39"/>
              <a:gd name="T18" fmla="*/ 55872 w 41"/>
              <a:gd name="T19" fmla="*/ 50800 h 39"/>
              <a:gd name="T20" fmla="*/ 57304 w 41"/>
              <a:gd name="T21" fmla="*/ 47625 h 39"/>
              <a:gd name="T22" fmla="*/ 57304 w 41"/>
              <a:gd name="T23" fmla="*/ 39687 h 39"/>
              <a:gd name="T24" fmla="*/ 57304 w 41"/>
              <a:gd name="T25" fmla="*/ 26987 h 39"/>
              <a:gd name="T26" fmla="*/ 55872 w 41"/>
              <a:gd name="T27" fmla="*/ 15875 h 39"/>
              <a:gd name="T28" fmla="*/ 54439 w 41"/>
              <a:gd name="T29" fmla="*/ 0 h 39"/>
              <a:gd name="T30" fmla="*/ 0 w 41"/>
              <a:gd name="T31" fmla="*/ 6350 h 3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1"/>
              <a:gd name="T49" fmla="*/ 0 h 39"/>
              <a:gd name="T50" fmla="*/ 41 w 41"/>
              <a:gd name="T51" fmla="*/ 39 h 3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1" h="39">
                <a:moveTo>
                  <a:pt x="0" y="4"/>
                </a:moveTo>
                <a:lnTo>
                  <a:pt x="8" y="17"/>
                </a:lnTo>
                <a:lnTo>
                  <a:pt x="15" y="29"/>
                </a:lnTo>
                <a:lnTo>
                  <a:pt x="19" y="32"/>
                </a:lnTo>
                <a:lnTo>
                  <a:pt x="24" y="36"/>
                </a:lnTo>
                <a:lnTo>
                  <a:pt x="28" y="37"/>
                </a:lnTo>
                <a:lnTo>
                  <a:pt x="30" y="38"/>
                </a:lnTo>
                <a:lnTo>
                  <a:pt x="34" y="38"/>
                </a:lnTo>
                <a:lnTo>
                  <a:pt x="36" y="36"/>
                </a:lnTo>
                <a:lnTo>
                  <a:pt x="39" y="32"/>
                </a:lnTo>
                <a:lnTo>
                  <a:pt x="40" y="30"/>
                </a:lnTo>
                <a:lnTo>
                  <a:pt x="40" y="25"/>
                </a:lnTo>
                <a:lnTo>
                  <a:pt x="40" y="17"/>
                </a:lnTo>
                <a:lnTo>
                  <a:pt x="39" y="10"/>
                </a:lnTo>
                <a:lnTo>
                  <a:pt x="38" y="0"/>
                </a:lnTo>
                <a:lnTo>
                  <a:pt x="0" y="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10" name="Freeform 207">
            <a:extLst>
              <a:ext uri="{FF2B5EF4-FFF2-40B4-BE49-F238E27FC236}">
                <a16:creationId xmlns:a16="http://schemas.microsoft.com/office/drawing/2014/main" id="{5BBE8B6D-A04C-5FC1-CBCB-E18BB19F90B6}"/>
              </a:ext>
            </a:extLst>
          </p:cNvPr>
          <p:cNvSpPr>
            <a:spLocks/>
          </p:cNvSpPr>
          <p:nvPr/>
        </p:nvSpPr>
        <p:spPr bwMode="auto">
          <a:xfrm>
            <a:off x="2347913" y="5100638"/>
            <a:ext cx="71437" cy="77787"/>
          </a:xfrm>
          <a:custGeom>
            <a:avLst/>
            <a:gdLst>
              <a:gd name="T0" fmla="*/ 0 w 51"/>
              <a:gd name="T1" fmla="*/ 7937 h 49"/>
              <a:gd name="T2" fmla="*/ 14007 w 51"/>
              <a:gd name="T3" fmla="*/ 34925 h 49"/>
              <a:gd name="T4" fmla="*/ 26614 w 51"/>
              <a:gd name="T5" fmla="*/ 57150 h 49"/>
              <a:gd name="T6" fmla="*/ 33617 w 51"/>
              <a:gd name="T7" fmla="*/ 65087 h 49"/>
              <a:gd name="T8" fmla="*/ 42022 w 51"/>
              <a:gd name="T9" fmla="*/ 71437 h 49"/>
              <a:gd name="T10" fmla="*/ 49025 w 51"/>
              <a:gd name="T11" fmla="*/ 74612 h 49"/>
              <a:gd name="T12" fmla="*/ 53228 w 51"/>
              <a:gd name="T13" fmla="*/ 76200 h 49"/>
              <a:gd name="T14" fmla="*/ 58830 w 51"/>
              <a:gd name="T15" fmla="*/ 76200 h 49"/>
              <a:gd name="T16" fmla="*/ 63033 w 51"/>
              <a:gd name="T17" fmla="*/ 71437 h 49"/>
              <a:gd name="T18" fmla="*/ 68636 w 51"/>
              <a:gd name="T19" fmla="*/ 65087 h 49"/>
              <a:gd name="T20" fmla="*/ 70036 w 51"/>
              <a:gd name="T21" fmla="*/ 60325 h 49"/>
              <a:gd name="T22" fmla="*/ 70036 w 51"/>
              <a:gd name="T23" fmla="*/ 49212 h 49"/>
              <a:gd name="T24" fmla="*/ 70036 w 51"/>
              <a:gd name="T25" fmla="*/ 34925 h 49"/>
              <a:gd name="T26" fmla="*/ 68636 w 51"/>
              <a:gd name="T27" fmla="*/ 19050 h 49"/>
              <a:gd name="T28" fmla="*/ 65834 w 51"/>
              <a:gd name="T29" fmla="*/ 0 h 4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1"/>
              <a:gd name="T46" fmla="*/ 0 h 49"/>
              <a:gd name="T47" fmla="*/ 51 w 51"/>
              <a:gd name="T48" fmla="*/ 49 h 49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1" h="49">
                <a:moveTo>
                  <a:pt x="0" y="5"/>
                </a:moveTo>
                <a:lnTo>
                  <a:pt x="10" y="22"/>
                </a:lnTo>
                <a:lnTo>
                  <a:pt x="19" y="36"/>
                </a:lnTo>
                <a:lnTo>
                  <a:pt x="24" y="41"/>
                </a:lnTo>
                <a:lnTo>
                  <a:pt x="30" y="45"/>
                </a:lnTo>
                <a:lnTo>
                  <a:pt x="35" y="47"/>
                </a:lnTo>
                <a:lnTo>
                  <a:pt x="38" y="48"/>
                </a:lnTo>
                <a:lnTo>
                  <a:pt x="42" y="48"/>
                </a:lnTo>
                <a:lnTo>
                  <a:pt x="45" y="45"/>
                </a:lnTo>
                <a:lnTo>
                  <a:pt x="49" y="41"/>
                </a:lnTo>
                <a:lnTo>
                  <a:pt x="50" y="38"/>
                </a:lnTo>
                <a:lnTo>
                  <a:pt x="50" y="31"/>
                </a:lnTo>
                <a:lnTo>
                  <a:pt x="50" y="22"/>
                </a:lnTo>
                <a:lnTo>
                  <a:pt x="49" y="12"/>
                </a:lnTo>
                <a:lnTo>
                  <a:pt x="47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11" name="Freeform 208">
            <a:extLst>
              <a:ext uri="{FF2B5EF4-FFF2-40B4-BE49-F238E27FC236}">
                <a16:creationId xmlns:a16="http://schemas.microsoft.com/office/drawing/2014/main" id="{E0F126D5-164C-61FA-5B1B-9D872C40C2FF}"/>
              </a:ext>
            </a:extLst>
          </p:cNvPr>
          <p:cNvSpPr>
            <a:spLocks/>
          </p:cNvSpPr>
          <p:nvPr/>
        </p:nvSpPr>
        <p:spPr bwMode="auto">
          <a:xfrm>
            <a:off x="2281238" y="5103813"/>
            <a:ext cx="58737" cy="61912"/>
          </a:xfrm>
          <a:custGeom>
            <a:avLst/>
            <a:gdLst>
              <a:gd name="T0" fmla="*/ 0 w 40"/>
              <a:gd name="T1" fmla="*/ 6350 h 39"/>
              <a:gd name="T2" fmla="*/ 10279 w 40"/>
              <a:gd name="T3" fmla="*/ 26987 h 39"/>
              <a:gd name="T4" fmla="*/ 22026 w 40"/>
              <a:gd name="T5" fmla="*/ 46037 h 39"/>
              <a:gd name="T6" fmla="*/ 29369 w 40"/>
              <a:gd name="T7" fmla="*/ 50800 h 39"/>
              <a:gd name="T8" fmla="*/ 32305 w 40"/>
              <a:gd name="T9" fmla="*/ 57150 h 39"/>
              <a:gd name="T10" fmla="*/ 38179 w 40"/>
              <a:gd name="T11" fmla="*/ 57150 h 39"/>
              <a:gd name="T12" fmla="*/ 42584 w 40"/>
              <a:gd name="T13" fmla="*/ 60325 h 39"/>
              <a:gd name="T14" fmla="*/ 46990 w 40"/>
              <a:gd name="T15" fmla="*/ 60325 h 39"/>
              <a:gd name="T16" fmla="*/ 51395 w 40"/>
              <a:gd name="T17" fmla="*/ 57150 h 39"/>
              <a:gd name="T18" fmla="*/ 54332 w 40"/>
              <a:gd name="T19" fmla="*/ 50800 h 39"/>
              <a:gd name="T20" fmla="*/ 57269 w 40"/>
              <a:gd name="T21" fmla="*/ 47625 h 39"/>
              <a:gd name="T22" fmla="*/ 57269 w 40"/>
              <a:gd name="T23" fmla="*/ 39687 h 39"/>
              <a:gd name="T24" fmla="*/ 57269 w 40"/>
              <a:gd name="T25" fmla="*/ 26987 h 39"/>
              <a:gd name="T26" fmla="*/ 54332 w 40"/>
              <a:gd name="T27" fmla="*/ 15875 h 39"/>
              <a:gd name="T28" fmla="*/ 52863 w 40"/>
              <a:gd name="T29" fmla="*/ 0 h 39"/>
              <a:gd name="T30" fmla="*/ 0 w 40"/>
              <a:gd name="T31" fmla="*/ 6350 h 3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0"/>
              <a:gd name="T49" fmla="*/ 0 h 39"/>
              <a:gd name="T50" fmla="*/ 40 w 40"/>
              <a:gd name="T51" fmla="*/ 39 h 3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0" h="39">
                <a:moveTo>
                  <a:pt x="0" y="4"/>
                </a:moveTo>
                <a:lnTo>
                  <a:pt x="7" y="17"/>
                </a:lnTo>
                <a:lnTo>
                  <a:pt x="15" y="29"/>
                </a:lnTo>
                <a:lnTo>
                  <a:pt x="20" y="32"/>
                </a:lnTo>
                <a:lnTo>
                  <a:pt x="22" y="36"/>
                </a:lnTo>
                <a:lnTo>
                  <a:pt x="26" y="36"/>
                </a:lnTo>
                <a:lnTo>
                  <a:pt x="29" y="38"/>
                </a:lnTo>
                <a:lnTo>
                  <a:pt x="32" y="38"/>
                </a:lnTo>
                <a:lnTo>
                  <a:pt x="35" y="36"/>
                </a:lnTo>
                <a:lnTo>
                  <a:pt x="37" y="32"/>
                </a:lnTo>
                <a:lnTo>
                  <a:pt x="39" y="30"/>
                </a:lnTo>
                <a:lnTo>
                  <a:pt x="39" y="25"/>
                </a:lnTo>
                <a:lnTo>
                  <a:pt x="39" y="17"/>
                </a:lnTo>
                <a:lnTo>
                  <a:pt x="37" y="10"/>
                </a:lnTo>
                <a:lnTo>
                  <a:pt x="36" y="0"/>
                </a:lnTo>
                <a:lnTo>
                  <a:pt x="0" y="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12" name="Freeform 209">
            <a:extLst>
              <a:ext uri="{FF2B5EF4-FFF2-40B4-BE49-F238E27FC236}">
                <a16:creationId xmlns:a16="http://schemas.microsoft.com/office/drawing/2014/main" id="{3D53A18D-B908-0302-5435-9412237E0189}"/>
              </a:ext>
            </a:extLst>
          </p:cNvPr>
          <p:cNvSpPr>
            <a:spLocks/>
          </p:cNvSpPr>
          <p:nvPr/>
        </p:nvSpPr>
        <p:spPr bwMode="auto">
          <a:xfrm>
            <a:off x="2281238" y="5103813"/>
            <a:ext cx="71437" cy="77787"/>
          </a:xfrm>
          <a:custGeom>
            <a:avLst/>
            <a:gdLst>
              <a:gd name="T0" fmla="*/ 0 w 50"/>
              <a:gd name="T1" fmla="*/ 7937 h 49"/>
              <a:gd name="T2" fmla="*/ 12859 w 50"/>
              <a:gd name="T3" fmla="*/ 34925 h 49"/>
              <a:gd name="T4" fmla="*/ 27146 w 50"/>
              <a:gd name="T5" fmla="*/ 57150 h 49"/>
              <a:gd name="T6" fmla="*/ 35719 w 50"/>
              <a:gd name="T7" fmla="*/ 65087 h 49"/>
              <a:gd name="T8" fmla="*/ 40005 w 50"/>
              <a:gd name="T9" fmla="*/ 71437 h 49"/>
              <a:gd name="T10" fmla="*/ 47148 w 50"/>
              <a:gd name="T11" fmla="*/ 73025 h 49"/>
              <a:gd name="T12" fmla="*/ 52863 w 50"/>
              <a:gd name="T13" fmla="*/ 76200 h 49"/>
              <a:gd name="T14" fmla="*/ 57150 w 50"/>
              <a:gd name="T15" fmla="*/ 76200 h 49"/>
              <a:gd name="T16" fmla="*/ 62865 w 50"/>
              <a:gd name="T17" fmla="*/ 71437 h 49"/>
              <a:gd name="T18" fmla="*/ 67151 w 50"/>
              <a:gd name="T19" fmla="*/ 65087 h 49"/>
              <a:gd name="T20" fmla="*/ 70008 w 50"/>
              <a:gd name="T21" fmla="*/ 60325 h 49"/>
              <a:gd name="T22" fmla="*/ 70008 w 50"/>
              <a:gd name="T23" fmla="*/ 49212 h 49"/>
              <a:gd name="T24" fmla="*/ 70008 w 50"/>
              <a:gd name="T25" fmla="*/ 34925 h 49"/>
              <a:gd name="T26" fmla="*/ 67151 w 50"/>
              <a:gd name="T27" fmla="*/ 19050 h 49"/>
              <a:gd name="T28" fmla="*/ 64293 w 50"/>
              <a:gd name="T29" fmla="*/ 0 h 4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0"/>
              <a:gd name="T46" fmla="*/ 0 h 49"/>
              <a:gd name="T47" fmla="*/ 50 w 50"/>
              <a:gd name="T48" fmla="*/ 49 h 49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0" h="49">
                <a:moveTo>
                  <a:pt x="0" y="5"/>
                </a:moveTo>
                <a:lnTo>
                  <a:pt x="9" y="22"/>
                </a:lnTo>
                <a:lnTo>
                  <a:pt x="19" y="36"/>
                </a:lnTo>
                <a:lnTo>
                  <a:pt x="25" y="41"/>
                </a:lnTo>
                <a:lnTo>
                  <a:pt x="28" y="45"/>
                </a:lnTo>
                <a:lnTo>
                  <a:pt x="33" y="46"/>
                </a:lnTo>
                <a:lnTo>
                  <a:pt x="37" y="48"/>
                </a:lnTo>
                <a:lnTo>
                  <a:pt x="40" y="48"/>
                </a:lnTo>
                <a:lnTo>
                  <a:pt x="44" y="45"/>
                </a:lnTo>
                <a:lnTo>
                  <a:pt x="47" y="41"/>
                </a:lnTo>
                <a:lnTo>
                  <a:pt x="49" y="38"/>
                </a:lnTo>
                <a:lnTo>
                  <a:pt x="49" y="31"/>
                </a:lnTo>
                <a:lnTo>
                  <a:pt x="49" y="22"/>
                </a:lnTo>
                <a:lnTo>
                  <a:pt x="47" y="12"/>
                </a:lnTo>
                <a:lnTo>
                  <a:pt x="45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13" name="Freeform 210">
            <a:extLst>
              <a:ext uri="{FF2B5EF4-FFF2-40B4-BE49-F238E27FC236}">
                <a16:creationId xmlns:a16="http://schemas.microsoft.com/office/drawing/2014/main" id="{165F1912-0C53-2396-6D4E-E691DE694630}"/>
              </a:ext>
            </a:extLst>
          </p:cNvPr>
          <p:cNvSpPr>
            <a:spLocks/>
          </p:cNvSpPr>
          <p:nvPr/>
        </p:nvSpPr>
        <p:spPr bwMode="auto">
          <a:xfrm>
            <a:off x="2411413" y="5092700"/>
            <a:ext cx="58737" cy="61913"/>
          </a:xfrm>
          <a:custGeom>
            <a:avLst/>
            <a:gdLst>
              <a:gd name="T0" fmla="*/ 0 w 42"/>
              <a:gd name="T1" fmla="*/ 6350 h 39"/>
              <a:gd name="T2" fmla="*/ 12587 w 42"/>
              <a:gd name="T3" fmla="*/ 26988 h 39"/>
              <a:gd name="T4" fmla="*/ 20977 w 42"/>
              <a:gd name="T5" fmla="*/ 46038 h 39"/>
              <a:gd name="T6" fmla="*/ 27970 w 42"/>
              <a:gd name="T7" fmla="*/ 50800 h 39"/>
              <a:gd name="T8" fmla="*/ 33564 w 42"/>
              <a:gd name="T9" fmla="*/ 57150 h 39"/>
              <a:gd name="T10" fmla="*/ 39158 w 42"/>
              <a:gd name="T11" fmla="*/ 57150 h 39"/>
              <a:gd name="T12" fmla="*/ 43353 w 42"/>
              <a:gd name="T13" fmla="*/ 60325 h 39"/>
              <a:gd name="T14" fmla="*/ 47549 w 42"/>
              <a:gd name="T15" fmla="*/ 60325 h 39"/>
              <a:gd name="T16" fmla="*/ 50346 w 42"/>
              <a:gd name="T17" fmla="*/ 57150 h 39"/>
              <a:gd name="T18" fmla="*/ 54542 w 42"/>
              <a:gd name="T19" fmla="*/ 50800 h 39"/>
              <a:gd name="T20" fmla="*/ 57339 w 42"/>
              <a:gd name="T21" fmla="*/ 47625 h 39"/>
              <a:gd name="T22" fmla="*/ 57339 w 42"/>
              <a:gd name="T23" fmla="*/ 39688 h 39"/>
              <a:gd name="T24" fmla="*/ 57339 w 42"/>
              <a:gd name="T25" fmla="*/ 26988 h 39"/>
              <a:gd name="T26" fmla="*/ 54542 w 42"/>
              <a:gd name="T27" fmla="*/ 15875 h 39"/>
              <a:gd name="T28" fmla="*/ 53143 w 42"/>
              <a:gd name="T29" fmla="*/ 0 h 39"/>
              <a:gd name="T30" fmla="*/ 0 w 42"/>
              <a:gd name="T31" fmla="*/ 6350 h 3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2"/>
              <a:gd name="T49" fmla="*/ 0 h 39"/>
              <a:gd name="T50" fmla="*/ 42 w 42"/>
              <a:gd name="T51" fmla="*/ 39 h 3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2" h="39">
                <a:moveTo>
                  <a:pt x="0" y="4"/>
                </a:moveTo>
                <a:lnTo>
                  <a:pt x="9" y="17"/>
                </a:lnTo>
                <a:lnTo>
                  <a:pt x="15" y="29"/>
                </a:lnTo>
                <a:lnTo>
                  <a:pt x="20" y="32"/>
                </a:lnTo>
                <a:lnTo>
                  <a:pt x="24" y="36"/>
                </a:lnTo>
                <a:lnTo>
                  <a:pt x="28" y="36"/>
                </a:lnTo>
                <a:lnTo>
                  <a:pt x="31" y="38"/>
                </a:lnTo>
                <a:lnTo>
                  <a:pt x="34" y="38"/>
                </a:lnTo>
                <a:lnTo>
                  <a:pt x="36" y="36"/>
                </a:lnTo>
                <a:lnTo>
                  <a:pt x="39" y="32"/>
                </a:lnTo>
                <a:lnTo>
                  <a:pt x="41" y="30"/>
                </a:lnTo>
                <a:lnTo>
                  <a:pt x="41" y="25"/>
                </a:lnTo>
                <a:lnTo>
                  <a:pt x="41" y="17"/>
                </a:lnTo>
                <a:lnTo>
                  <a:pt x="39" y="10"/>
                </a:lnTo>
                <a:lnTo>
                  <a:pt x="38" y="0"/>
                </a:lnTo>
                <a:lnTo>
                  <a:pt x="0" y="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14" name="Freeform 211">
            <a:extLst>
              <a:ext uri="{FF2B5EF4-FFF2-40B4-BE49-F238E27FC236}">
                <a16:creationId xmlns:a16="http://schemas.microsoft.com/office/drawing/2014/main" id="{0D58AA62-F609-0734-EC04-4A5767B4DAC5}"/>
              </a:ext>
            </a:extLst>
          </p:cNvPr>
          <p:cNvSpPr>
            <a:spLocks/>
          </p:cNvSpPr>
          <p:nvPr/>
        </p:nvSpPr>
        <p:spPr bwMode="auto">
          <a:xfrm>
            <a:off x="2411413" y="5092700"/>
            <a:ext cx="73025" cy="77788"/>
          </a:xfrm>
          <a:custGeom>
            <a:avLst/>
            <a:gdLst>
              <a:gd name="T0" fmla="*/ 0 w 52"/>
              <a:gd name="T1" fmla="*/ 7938 h 49"/>
              <a:gd name="T2" fmla="*/ 15448 w 52"/>
              <a:gd name="T3" fmla="*/ 34925 h 49"/>
              <a:gd name="T4" fmla="*/ 26682 w 52"/>
              <a:gd name="T5" fmla="*/ 57150 h 49"/>
              <a:gd name="T6" fmla="*/ 35108 w 52"/>
              <a:gd name="T7" fmla="*/ 65088 h 49"/>
              <a:gd name="T8" fmla="*/ 42130 w 52"/>
              <a:gd name="T9" fmla="*/ 71438 h 49"/>
              <a:gd name="T10" fmla="*/ 49151 w 52"/>
              <a:gd name="T11" fmla="*/ 73025 h 49"/>
              <a:gd name="T12" fmla="*/ 53364 w 52"/>
              <a:gd name="T13" fmla="*/ 76200 h 49"/>
              <a:gd name="T14" fmla="*/ 58982 w 52"/>
              <a:gd name="T15" fmla="*/ 76200 h 49"/>
              <a:gd name="T16" fmla="*/ 63195 w 52"/>
              <a:gd name="T17" fmla="*/ 71438 h 49"/>
              <a:gd name="T18" fmla="*/ 68812 w 52"/>
              <a:gd name="T19" fmla="*/ 65088 h 49"/>
              <a:gd name="T20" fmla="*/ 71621 w 52"/>
              <a:gd name="T21" fmla="*/ 60325 h 49"/>
              <a:gd name="T22" fmla="*/ 71621 w 52"/>
              <a:gd name="T23" fmla="*/ 49213 h 49"/>
              <a:gd name="T24" fmla="*/ 71621 w 52"/>
              <a:gd name="T25" fmla="*/ 34925 h 49"/>
              <a:gd name="T26" fmla="*/ 68812 w 52"/>
              <a:gd name="T27" fmla="*/ 19050 h 49"/>
              <a:gd name="T28" fmla="*/ 66003 w 52"/>
              <a:gd name="T29" fmla="*/ 0 h 4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2"/>
              <a:gd name="T46" fmla="*/ 0 h 49"/>
              <a:gd name="T47" fmla="*/ 52 w 52"/>
              <a:gd name="T48" fmla="*/ 49 h 49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2" h="49">
                <a:moveTo>
                  <a:pt x="0" y="5"/>
                </a:moveTo>
                <a:lnTo>
                  <a:pt x="11" y="22"/>
                </a:lnTo>
                <a:lnTo>
                  <a:pt x="19" y="36"/>
                </a:lnTo>
                <a:lnTo>
                  <a:pt x="25" y="41"/>
                </a:lnTo>
                <a:lnTo>
                  <a:pt x="30" y="45"/>
                </a:lnTo>
                <a:lnTo>
                  <a:pt x="35" y="46"/>
                </a:lnTo>
                <a:lnTo>
                  <a:pt x="38" y="48"/>
                </a:lnTo>
                <a:lnTo>
                  <a:pt x="42" y="48"/>
                </a:lnTo>
                <a:lnTo>
                  <a:pt x="45" y="45"/>
                </a:lnTo>
                <a:lnTo>
                  <a:pt x="49" y="41"/>
                </a:lnTo>
                <a:lnTo>
                  <a:pt x="51" y="38"/>
                </a:lnTo>
                <a:lnTo>
                  <a:pt x="51" y="31"/>
                </a:lnTo>
                <a:lnTo>
                  <a:pt x="51" y="22"/>
                </a:lnTo>
                <a:lnTo>
                  <a:pt x="49" y="12"/>
                </a:lnTo>
                <a:lnTo>
                  <a:pt x="47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15" name="Freeform 212">
            <a:extLst>
              <a:ext uri="{FF2B5EF4-FFF2-40B4-BE49-F238E27FC236}">
                <a16:creationId xmlns:a16="http://schemas.microsoft.com/office/drawing/2014/main" id="{EA3E7330-81B8-0B0E-6611-FBA0FA5B17A6}"/>
              </a:ext>
            </a:extLst>
          </p:cNvPr>
          <p:cNvSpPr>
            <a:spLocks/>
          </p:cNvSpPr>
          <p:nvPr/>
        </p:nvSpPr>
        <p:spPr bwMode="auto">
          <a:xfrm>
            <a:off x="2230438" y="5249863"/>
            <a:ext cx="63500" cy="65087"/>
          </a:xfrm>
          <a:custGeom>
            <a:avLst/>
            <a:gdLst>
              <a:gd name="T0" fmla="*/ 19756 w 45"/>
              <a:gd name="T1" fmla="*/ 63500 h 41"/>
              <a:gd name="T2" fmla="*/ 38100 w 45"/>
              <a:gd name="T3" fmla="*/ 47625 h 41"/>
              <a:gd name="T4" fmla="*/ 52211 w 45"/>
              <a:gd name="T5" fmla="*/ 30162 h 41"/>
              <a:gd name="T6" fmla="*/ 55033 w 45"/>
              <a:gd name="T7" fmla="*/ 23812 h 41"/>
              <a:gd name="T8" fmla="*/ 59267 w 45"/>
              <a:gd name="T9" fmla="*/ 15875 h 41"/>
              <a:gd name="T10" fmla="*/ 62089 w 45"/>
              <a:gd name="T11" fmla="*/ 12700 h 41"/>
              <a:gd name="T12" fmla="*/ 62089 w 45"/>
              <a:gd name="T13" fmla="*/ 6350 h 41"/>
              <a:gd name="T14" fmla="*/ 59267 w 45"/>
              <a:gd name="T15" fmla="*/ 3175 h 41"/>
              <a:gd name="T16" fmla="*/ 57856 w 45"/>
              <a:gd name="T17" fmla="*/ 0 h 41"/>
              <a:gd name="T18" fmla="*/ 52211 w 45"/>
              <a:gd name="T19" fmla="*/ 0 h 41"/>
              <a:gd name="T20" fmla="*/ 46567 w 45"/>
              <a:gd name="T21" fmla="*/ 0 h 41"/>
              <a:gd name="T22" fmla="*/ 38100 w 45"/>
              <a:gd name="T23" fmla="*/ 0 h 41"/>
              <a:gd name="T24" fmla="*/ 25400 w 45"/>
              <a:gd name="T25" fmla="*/ 3175 h 41"/>
              <a:gd name="T26" fmla="*/ 14111 w 45"/>
              <a:gd name="T27" fmla="*/ 7937 h 41"/>
              <a:gd name="T28" fmla="*/ 0 w 45"/>
              <a:gd name="T29" fmla="*/ 15875 h 41"/>
              <a:gd name="T30" fmla="*/ 19756 w 45"/>
              <a:gd name="T31" fmla="*/ 63500 h 4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5"/>
              <a:gd name="T49" fmla="*/ 0 h 41"/>
              <a:gd name="T50" fmla="*/ 45 w 45"/>
              <a:gd name="T51" fmla="*/ 41 h 4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5" h="41">
                <a:moveTo>
                  <a:pt x="14" y="40"/>
                </a:moveTo>
                <a:lnTo>
                  <a:pt x="27" y="30"/>
                </a:lnTo>
                <a:lnTo>
                  <a:pt x="37" y="19"/>
                </a:lnTo>
                <a:lnTo>
                  <a:pt x="39" y="15"/>
                </a:lnTo>
                <a:lnTo>
                  <a:pt x="42" y="10"/>
                </a:lnTo>
                <a:lnTo>
                  <a:pt x="44" y="8"/>
                </a:lnTo>
                <a:lnTo>
                  <a:pt x="44" y="4"/>
                </a:lnTo>
                <a:lnTo>
                  <a:pt x="42" y="2"/>
                </a:lnTo>
                <a:lnTo>
                  <a:pt x="41" y="0"/>
                </a:lnTo>
                <a:lnTo>
                  <a:pt x="37" y="0"/>
                </a:lnTo>
                <a:lnTo>
                  <a:pt x="33" y="0"/>
                </a:lnTo>
                <a:lnTo>
                  <a:pt x="27" y="0"/>
                </a:lnTo>
                <a:lnTo>
                  <a:pt x="18" y="2"/>
                </a:lnTo>
                <a:lnTo>
                  <a:pt x="10" y="5"/>
                </a:lnTo>
                <a:lnTo>
                  <a:pt x="0" y="10"/>
                </a:lnTo>
                <a:lnTo>
                  <a:pt x="14" y="4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16" name="Freeform 213">
            <a:extLst>
              <a:ext uri="{FF2B5EF4-FFF2-40B4-BE49-F238E27FC236}">
                <a16:creationId xmlns:a16="http://schemas.microsoft.com/office/drawing/2014/main" id="{D095687E-B906-080B-AE70-BC55112D42E5}"/>
              </a:ext>
            </a:extLst>
          </p:cNvPr>
          <p:cNvSpPr>
            <a:spLocks/>
          </p:cNvSpPr>
          <p:nvPr/>
        </p:nvSpPr>
        <p:spPr bwMode="auto">
          <a:xfrm>
            <a:off x="2230438" y="5249863"/>
            <a:ext cx="79375" cy="80962"/>
          </a:xfrm>
          <a:custGeom>
            <a:avLst/>
            <a:gdLst>
              <a:gd name="T0" fmla="*/ 24534 w 55"/>
              <a:gd name="T1" fmla="*/ 79375 h 51"/>
              <a:gd name="T2" fmla="*/ 47625 w 55"/>
              <a:gd name="T3" fmla="*/ 60325 h 51"/>
              <a:gd name="T4" fmla="*/ 64943 w 55"/>
              <a:gd name="T5" fmla="*/ 38100 h 51"/>
              <a:gd name="T6" fmla="*/ 69273 w 55"/>
              <a:gd name="T7" fmla="*/ 30162 h 51"/>
              <a:gd name="T8" fmla="*/ 75045 w 55"/>
              <a:gd name="T9" fmla="*/ 20637 h 51"/>
              <a:gd name="T10" fmla="*/ 77932 w 55"/>
              <a:gd name="T11" fmla="*/ 15875 h 51"/>
              <a:gd name="T12" fmla="*/ 77932 w 55"/>
              <a:gd name="T13" fmla="*/ 7937 h 51"/>
              <a:gd name="T14" fmla="*/ 75045 w 55"/>
              <a:gd name="T15" fmla="*/ 4762 h 51"/>
              <a:gd name="T16" fmla="*/ 72159 w 55"/>
              <a:gd name="T17" fmla="*/ 0 h 51"/>
              <a:gd name="T18" fmla="*/ 64943 w 55"/>
              <a:gd name="T19" fmla="*/ 0 h 51"/>
              <a:gd name="T20" fmla="*/ 57727 w 55"/>
              <a:gd name="T21" fmla="*/ 0 h 51"/>
              <a:gd name="T22" fmla="*/ 47625 w 55"/>
              <a:gd name="T23" fmla="*/ 0 h 51"/>
              <a:gd name="T24" fmla="*/ 31750 w 55"/>
              <a:gd name="T25" fmla="*/ 4762 h 51"/>
              <a:gd name="T26" fmla="*/ 17318 w 55"/>
              <a:gd name="T27" fmla="*/ 9525 h 51"/>
              <a:gd name="T28" fmla="*/ 0 w 55"/>
              <a:gd name="T29" fmla="*/ 19050 h 5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5"/>
              <a:gd name="T46" fmla="*/ 0 h 51"/>
              <a:gd name="T47" fmla="*/ 55 w 55"/>
              <a:gd name="T48" fmla="*/ 51 h 5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5" h="51">
                <a:moveTo>
                  <a:pt x="17" y="50"/>
                </a:moveTo>
                <a:lnTo>
                  <a:pt x="33" y="38"/>
                </a:lnTo>
                <a:lnTo>
                  <a:pt x="45" y="24"/>
                </a:lnTo>
                <a:lnTo>
                  <a:pt x="48" y="19"/>
                </a:lnTo>
                <a:lnTo>
                  <a:pt x="52" y="13"/>
                </a:lnTo>
                <a:lnTo>
                  <a:pt x="54" y="10"/>
                </a:lnTo>
                <a:lnTo>
                  <a:pt x="54" y="5"/>
                </a:lnTo>
                <a:lnTo>
                  <a:pt x="52" y="3"/>
                </a:lnTo>
                <a:lnTo>
                  <a:pt x="50" y="0"/>
                </a:lnTo>
                <a:lnTo>
                  <a:pt x="45" y="0"/>
                </a:lnTo>
                <a:lnTo>
                  <a:pt x="40" y="0"/>
                </a:lnTo>
                <a:lnTo>
                  <a:pt x="33" y="0"/>
                </a:lnTo>
                <a:lnTo>
                  <a:pt x="22" y="3"/>
                </a:lnTo>
                <a:lnTo>
                  <a:pt x="12" y="6"/>
                </a:lnTo>
                <a:lnTo>
                  <a:pt x="0" y="12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17" name="Freeform 214">
            <a:extLst>
              <a:ext uri="{FF2B5EF4-FFF2-40B4-BE49-F238E27FC236}">
                <a16:creationId xmlns:a16="http://schemas.microsoft.com/office/drawing/2014/main" id="{321F51D2-B42F-AD6C-5178-B17AD26E2FFF}"/>
              </a:ext>
            </a:extLst>
          </p:cNvPr>
          <p:cNvSpPr>
            <a:spLocks/>
          </p:cNvSpPr>
          <p:nvPr/>
        </p:nvSpPr>
        <p:spPr bwMode="auto">
          <a:xfrm>
            <a:off x="2252663" y="5314950"/>
            <a:ext cx="61912" cy="66675"/>
          </a:xfrm>
          <a:custGeom>
            <a:avLst/>
            <a:gdLst>
              <a:gd name="T0" fmla="*/ 18718 w 43"/>
              <a:gd name="T1" fmla="*/ 65088 h 42"/>
              <a:gd name="T2" fmla="*/ 38875 w 43"/>
              <a:gd name="T3" fmla="*/ 49212 h 42"/>
              <a:gd name="T4" fmla="*/ 51833 w 43"/>
              <a:gd name="T5" fmla="*/ 30163 h 42"/>
              <a:gd name="T6" fmla="*/ 57593 w 43"/>
              <a:gd name="T7" fmla="*/ 23812 h 42"/>
              <a:gd name="T8" fmla="*/ 59032 w 43"/>
              <a:gd name="T9" fmla="*/ 17462 h 42"/>
              <a:gd name="T10" fmla="*/ 60472 w 43"/>
              <a:gd name="T11" fmla="*/ 14288 h 42"/>
              <a:gd name="T12" fmla="*/ 60472 w 43"/>
              <a:gd name="T13" fmla="*/ 6350 h 42"/>
              <a:gd name="T14" fmla="*/ 60472 w 43"/>
              <a:gd name="T15" fmla="*/ 4762 h 42"/>
              <a:gd name="T16" fmla="*/ 57593 w 43"/>
              <a:gd name="T17" fmla="*/ 0 h 42"/>
              <a:gd name="T18" fmla="*/ 53273 w 43"/>
              <a:gd name="T19" fmla="*/ 0 h 42"/>
              <a:gd name="T20" fmla="*/ 46074 w 43"/>
              <a:gd name="T21" fmla="*/ 0 h 42"/>
              <a:gd name="T22" fmla="*/ 37435 w 43"/>
              <a:gd name="T23" fmla="*/ 0 h 42"/>
              <a:gd name="T24" fmla="*/ 27356 w 43"/>
              <a:gd name="T25" fmla="*/ 4762 h 42"/>
              <a:gd name="T26" fmla="*/ 15838 w 43"/>
              <a:gd name="T27" fmla="*/ 9525 h 42"/>
              <a:gd name="T28" fmla="*/ 0 w 43"/>
              <a:gd name="T29" fmla="*/ 15875 h 42"/>
              <a:gd name="T30" fmla="*/ 18718 w 43"/>
              <a:gd name="T31" fmla="*/ 65088 h 4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"/>
              <a:gd name="T49" fmla="*/ 0 h 42"/>
              <a:gd name="T50" fmla="*/ 43 w 43"/>
              <a:gd name="T51" fmla="*/ 42 h 4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" h="42">
                <a:moveTo>
                  <a:pt x="13" y="41"/>
                </a:moveTo>
                <a:lnTo>
                  <a:pt x="27" y="31"/>
                </a:lnTo>
                <a:lnTo>
                  <a:pt x="36" y="19"/>
                </a:lnTo>
                <a:lnTo>
                  <a:pt x="40" y="15"/>
                </a:lnTo>
                <a:lnTo>
                  <a:pt x="41" y="11"/>
                </a:lnTo>
                <a:lnTo>
                  <a:pt x="42" y="9"/>
                </a:lnTo>
                <a:lnTo>
                  <a:pt x="42" y="4"/>
                </a:lnTo>
                <a:lnTo>
                  <a:pt x="42" y="3"/>
                </a:lnTo>
                <a:lnTo>
                  <a:pt x="40" y="0"/>
                </a:lnTo>
                <a:lnTo>
                  <a:pt x="37" y="0"/>
                </a:lnTo>
                <a:lnTo>
                  <a:pt x="32" y="0"/>
                </a:lnTo>
                <a:lnTo>
                  <a:pt x="26" y="0"/>
                </a:lnTo>
                <a:lnTo>
                  <a:pt x="19" y="3"/>
                </a:lnTo>
                <a:lnTo>
                  <a:pt x="11" y="6"/>
                </a:lnTo>
                <a:lnTo>
                  <a:pt x="0" y="10"/>
                </a:lnTo>
                <a:lnTo>
                  <a:pt x="13" y="41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18" name="Freeform 215">
            <a:extLst>
              <a:ext uri="{FF2B5EF4-FFF2-40B4-BE49-F238E27FC236}">
                <a16:creationId xmlns:a16="http://schemas.microsoft.com/office/drawing/2014/main" id="{4633FFFF-7A93-2ED5-C3BD-16CCDD1CEEE6}"/>
              </a:ext>
            </a:extLst>
          </p:cNvPr>
          <p:cNvSpPr>
            <a:spLocks/>
          </p:cNvSpPr>
          <p:nvPr/>
        </p:nvSpPr>
        <p:spPr bwMode="auto">
          <a:xfrm>
            <a:off x="2252663" y="5314950"/>
            <a:ext cx="74612" cy="82550"/>
          </a:xfrm>
          <a:custGeom>
            <a:avLst/>
            <a:gdLst>
              <a:gd name="T0" fmla="*/ 22524 w 53"/>
              <a:gd name="T1" fmla="*/ 80963 h 52"/>
              <a:gd name="T2" fmla="*/ 46457 w 53"/>
              <a:gd name="T3" fmla="*/ 60325 h 52"/>
              <a:gd name="T4" fmla="*/ 61942 w 53"/>
              <a:gd name="T5" fmla="*/ 38100 h 52"/>
              <a:gd name="T6" fmla="*/ 68981 w 53"/>
              <a:gd name="T7" fmla="*/ 30163 h 52"/>
              <a:gd name="T8" fmla="*/ 71796 w 53"/>
              <a:gd name="T9" fmla="*/ 22225 h 52"/>
              <a:gd name="T10" fmla="*/ 73204 w 53"/>
              <a:gd name="T11" fmla="*/ 17463 h 52"/>
              <a:gd name="T12" fmla="*/ 73204 w 53"/>
              <a:gd name="T13" fmla="*/ 7938 h 52"/>
              <a:gd name="T14" fmla="*/ 73204 w 53"/>
              <a:gd name="T15" fmla="*/ 6350 h 52"/>
              <a:gd name="T16" fmla="*/ 68981 w 53"/>
              <a:gd name="T17" fmla="*/ 0 h 52"/>
              <a:gd name="T18" fmla="*/ 64758 w 53"/>
              <a:gd name="T19" fmla="*/ 0 h 52"/>
              <a:gd name="T20" fmla="*/ 54903 w 53"/>
              <a:gd name="T21" fmla="*/ 0 h 52"/>
              <a:gd name="T22" fmla="*/ 45049 w 53"/>
              <a:gd name="T23" fmla="*/ 0 h 52"/>
              <a:gd name="T24" fmla="*/ 32379 w 53"/>
              <a:gd name="T25" fmla="*/ 6350 h 52"/>
              <a:gd name="T26" fmla="*/ 18301 w 53"/>
              <a:gd name="T27" fmla="*/ 11112 h 52"/>
              <a:gd name="T28" fmla="*/ 0 w 53"/>
              <a:gd name="T29" fmla="*/ 19050 h 5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3"/>
              <a:gd name="T46" fmla="*/ 0 h 52"/>
              <a:gd name="T47" fmla="*/ 53 w 53"/>
              <a:gd name="T48" fmla="*/ 52 h 5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3" h="52">
                <a:moveTo>
                  <a:pt x="16" y="51"/>
                </a:moveTo>
                <a:lnTo>
                  <a:pt x="33" y="38"/>
                </a:lnTo>
                <a:lnTo>
                  <a:pt x="44" y="24"/>
                </a:lnTo>
                <a:lnTo>
                  <a:pt x="49" y="19"/>
                </a:lnTo>
                <a:lnTo>
                  <a:pt x="51" y="14"/>
                </a:lnTo>
                <a:lnTo>
                  <a:pt x="52" y="11"/>
                </a:lnTo>
                <a:lnTo>
                  <a:pt x="52" y="5"/>
                </a:lnTo>
                <a:lnTo>
                  <a:pt x="52" y="4"/>
                </a:lnTo>
                <a:lnTo>
                  <a:pt x="49" y="0"/>
                </a:lnTo>
                <a:lnTo>
                  <a:pt x="46" y="0"/>
                </a:lnTo>
                <a:lnTo>
                  <a:pt x="39" y="0"/>
                </a:lnTo>
                <a:lnTo>
                  <a:pt x="32" y="0"/>
                </a:lnTo>
                <a:lnTo>
                  <a:pt x="23" y="4"/>
                </a:lnTo>
                <a:lnTo>
                  <a:pt x="13" y="7"/>
                </a:lnTo>
                <a:lnTo>
                  <a:pt x="0" y="12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19" name="Freeform 216">
            <a:extLst>
              <a:ext uri="{FF2B5EF4-FFF2-40B4-BE49-F238E27FC236}">
                <a16:creationId xmlns:a16="http://schemas.microsoft.com/office/drawing/2014/main" id="{A0A646D4-84E6-EF5C-B2FB-5357EFD0A1E4}"/>
              </a:ext>
            </a:extLst>
          </p:cNvPr>
          <p:cNvSpPr>
            <a:spLocks/>
          </p:cNvSpPr>
          <p:nvPr/>
        </p:nvSpPr>
        <p:spPr bwMode="auto">
          <a:xfrm>
            <a:off x="2205038" y="5187950"/>
            <a:ext cx="63500" cy="66675"/>
          </a:xfrm>
          <a:custGeom>
            <a:avLst/>
            <a:gdLst>
              <a:gd name="T0" fmla="*/ 21167 w 45"/>
              <a:gd name="T1" fmla="*/ 65088 h 42"/>
              <a:gd name="T2" fmla="*/ 40922 w 45"/>
              <a:gd name="T3" fmla="*/ 49212 h 42"/>
              <a:gd name="T4" fmla="*/ 52211 w 45"/>
              <a:gd name="T5" fmla="*/ 31750 h 42"/>
              <a:gd name="T6" fmla="*/ 59267 w 45"/>
              <a:gd name="T7" fmla="*/ 23812 h 42"/>
              <a:gd name="T8" fmla="*/ 59267 w 45"/>
              <a:gd name="T9" fmla="*/ 17462 h 42"/>
              <a:gd name="T10" fmla="*/ 62089 w 45"/>
              <a:gd name="T11" fmla="*/ 14288 h 42"/>
              <a:gd name="T12" fmla="*/ 62089 w 45"/>
              <a:gd name="T13" fmla="*/ 7938 h 42"/>
              <a:gd name="T14" fmla="*/ 59267 w 45"/>
              <a:gd name="T15" fmla="*/ 4762 h 42"/>
              <a:gd name="T16" fmla="*/ 59267 w 45"/>
              <a:gd name="T17" fmla="*/ 0 h 42"/>
              <a:gd name="T18" fmla="*/ 52211 w 45"/>
              <a:gd name="T19" fmla="*/ 0 h 42"/>
              <a:gd name="T20" fmla="*/ 46567 w 45"/>
              <a:gd name="T21" fmla="*/ 0 h 42"/>
              <a:gd name="T22" fmla="*/ 38100 w 45"/>
              <a:gd name="T23" fmla="*/ 0 h 42"/>
              <a:gd name="T24" fmla="*/ 26811 w 45"/>
              <a:gd name="T25" fmla="*/ 4762 h 42"/>
              <a:gd name="T26" fmla="*/ 15522 w 45"/>
              <a:gd name="T27" fmla="*/ 9525 h 42"/>
              <a:gd name="T28" fmla="*/ 0 w 45"/>
              <a:gd name="T29" fmla="*/ 15875 h 42"/>
              <a:gd name="T30" fmla="*/ 21167 w 45"/>
              <a:gd name="T31" fmla="*/ 65088 h 4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5"/>
              <a:gd name="T49" fmla="*/ 0 h 42"/>
              <a:gd name="T50" fmla="*/ 45 w 45"/>
              <a:gd name="T51" fmla="*/ 42 h 4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5" h="42">
                <a:moveTo>
                  <a:pt x="15" y="41"/>
                </a:moveTo>
                <a:lnTo>
                  <a:pt x="29" y="31"/>
                </a:lnTo>
                <a:lnTo>
                  <a:pt x="37" y="20"/>
                </a:lnTo>
                <a:lnTo>
                  <a:pt x="42" y="15"/>
                </a:lnTo>
                <a:lnTo>
                  <a:pt x="42" y="11"/>
                </a:lnTo>
                <a:lnTo>
                  <a:pt x="44" y="9"/>
                </a:lnTo>
                <a:lnTo>
                  <a:pt x="44" y="5"/>
                </a:lnTo>
                <a:lnTo>
                  <a:pt x="42" y="3"/>
                </a:lnTo>
                <a:lnTo>
                  <a:pt x="42" y="0"/>
                </a:lnTo>
                <a:lnTo>
                  <a:pt x="37" y="0"/>
                </a:lnTo>
                <a:lnTo>
                  <a:pt x="33" y="0"/>
                </a:lnTo>
                <a:lnTo>
                  <a:pt x="27" y="0"/>
                </a:lnTo>
                <a:lnTo>
                  <a:pt x="19" y="3"/>
                </a:lnTo>
                <a:lnTo>
                  <a:pt x="11" y="6"/>
                </a:lnTo>
                <a:lnTo>
                  <a:pt x="0" y="10"/>
                </a:lnTo>
                <a:lnTo>
                  <a:pt x="15" y="41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20" name="Freeform 217">
            <a:extLst>
              <a:ext uri="{FF2B5EF4-FFF2-40B4-BE49-F238E27FC236}">
                <a16:creationId xmlns:a16="http://schemas.microsoft.com/office/drawing/2014/main" id="{64C998FE-A24A-48C8-521B-9A13F9BF3E25}"/>
              </a:ext>
            </a:extLst>
          </p:cNvPr>
          <p:cNvSpPr>
            <a:spLocks/>
          </p:cNvSpPr>
          <p:nvPr/>
        </p:nvSpPr>
        <p:spPr bwMode="auto">
          <a:xfrm>
            <a:off x="2205038" y="5187950"/>
            <a:ext cx="79375" cy="82550"/>
          </a:xfrm>
          <a:custGeom>
            <a:avLst/>
            <a:gdLst>
              <a:gd name="T0" fmla="*/ 25977 w 55"/>
              <a:gd name="T1" fmla="*/ 80963 h 52"/>
              <a:gd name="T2" fmla="*/ 50511 w 55"/>
              <a:gd name="T3" fmla="*/ 61913 h 52"/>
              <a:gd name="T4" fmla="*/ 66386 w 55"/>
              <a:gd name="T5" fmla="*/ 39688 h 52"/>
              <a:gd name="T6" fmla="*/ 73602 w 55"/>
              <a:gd name="T7" fmla="*/ 30163 h 52"/>
              <a:gd name="T8" fmla="*/ 75045 w 55"/>
              <a:gd name="T9" fmla="*/ 22225 h 52"/>
              <a:gd name="T10" fmla="*/ 77932 w 55"/>
              <a:gd name="T11" fmla="*/ 17463 h 52"/>
              <a:gd name="T12" fmla="*/ 77932 w 55"/>
              <a:gd name="T13" fmla="*/ 9525 h 52"/>
              <a:gd name="T14" fmla="*/ 75045 w 55"/>
              <a:gd name="T15" fmla="*/ 6350 h 52"/>
              <a:gd name="T16" fmla="*/ 73602 w 55"/>
              <a:gd name="T17" fmla="*/ 0 h 52"/>
              <a:gd name="T18" fmla="*/ 66386 w 55"/>
              <a:gd name="T19" fmla="*/ 0 h 52"/>
              <a:gd name="T20" fmla="*/ 57727 w 55"/>
              <a:gd name="T21" fmla="*/ 0 h 52"/>
              <a:gd name="T22" fmla="*/ 47625 w 55"/>
              <a:gd name="T23" fmla="*/ 0 h 52"/>
              <a:gd name="T24" fmla="*/ 33193 w 55"/>
              <a:gd name="T25" fmla="*/ 6350 h 52"/>
              <a:gd name="T26" fmla="*/ 18761 w 55"/>
              <a:gd name="T27" fmla="*/ 11112 h 52"/>
              <a:gd name="T28" fmla="*/ 0 w 55"/>
              <a:gd name="T29" fmla="*/ 20638 h 5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5"/>
              <a:gd name="T46" fmla="*/ 0 h 52"/>
              <a:gd name="T47" fmla="*/ 55 w 55"/>
              <a:gd name="T48" fmla="*/ 52 h 5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5" h="52">
                <a:moveTo>
                  <a:pt x="18" y="51"/>
                </a:moveTo>
                <a:lnTo>
                  <a:pt x="35" y="39"/>
                </a:lnTo>
                <a:lnTo>
                  <a:pt x="46" y="25"/>
                </a:lnTo>
                <a:lnTo>
                  <a:pt x="51" y="19"/>
                </a:lnTo>
                <a:lnTo>
                  <a:pt x="52" y="14"/>
                </a:lnTo>
                <a:lnTo>
                  <a:pt x="54" y="11"/>
                </a:lnTo>
                <a:lnTo>
                  <a:pt x="54" y="6"/>
                </a:lnTo>
                <a:lnTo>
                  <a:pt x="52" y="4"/>
                </a:lnTo>
                <a:lnTo>
                  <a:pt x="51" y="0"/>
                </a:lnTo>
                <a:lnTo>
                  <a:pt x="46" y="0"/>
                </a:lnTo>
                <a:lnTo>
                  <a:pt x="40" y="0"/>
                </a:lnTo>
                <a:lnTo>
                  <a:pt x="33" y="0"/>
                </a:lnTo>
                <a:lnTo>
                  <a:pt x="23" y="4"/>
                </a:lnTo>
                <a:lnTo>
                  <a:pt x="13" y="7"/>
                </a:lnTo>
                <a:lnTo>
                  <a:pt x="0" y="1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21" name="Freeform 218">
            <a:extLst>
              <a:ext uri="{FF2B5EF4-FFF2-40B4-BE49-F238E27FC236}">
                <a16:creationId xmlns:a16="http://schemas.microsoft.com/office/drawing/2014/main" id="{8D83BB42-F098-5F47-99D4-2DB283A869CD}"/>
              </a:ext>
            </a:extLst>
          </p:cNvPr>
          <p:cNvSpPr>
            <a:spLocks/>
          </p:cNvSpPr>
          <p:nvPr/>
        </p:nvSpPr>
        <p:spPr bwMode="auto">
          <a:xfrm>
            <a:off x="2062163" y="5259388"/>
            <a:ext cx="66675" cy="52387"/>
          </a:xfrm>
          <a:custGeom>
            <a:avLst/>
            <a:gdLst>
              <a:gd name="T0" fmla="*/ 65286 w 48"/>
              <a:gd name="T1" fmla="*/ 50800 h 33"/>
              <a:gd name="T2" fmla="*/ 41672 w 48"/>
              <a:gd name="T3" fmla="*/ 44450 h 33"/>
              <a:gd name="T4" fmla="*/ 22225 w 48"/>
              <a:gd name="T5" fmla="*/ 38100 h 33"/>
              <a:gd name="T6" fmla="*/ 13891 w 48"/>
              <a:gd name="T7" fmla="*/ 33337 h 33"/>
              <a:gd name="T8" fmla="*/ 8334 w 48"/>
              <a:gd name="T9" fmla="*/ 30162 h 33"/>
              <a:gd name="T10" fmla="*/ 2778 w 48"/>
              <a:gd name="T11" fmla="*/ 25400 h 33"/>
              <a:gd name="T12" fmla="*/ 2778 w 48"/>
              <a:gd name="T13" fmla="*/ 22225 h 33"/>
              <a:gd name="T14" fmla="*/ 0 w 48"/>
              <a:gd name="T15" fmla="*/ 17462 h 33"/>
              <a:gd name="T16" fmla="*/ 2778 w 48"/>
              <a:gd name="T17" fmla="*/ 12700 h 33"/>
              <a:gd name="T18" fmla="*/ 5556 w 48"/>
              <a:gd name="T19" fmla="*/ 11112 h 33"/>
              <a:gd name="T20" fmla="*/ 11113 w 48"/>
              <a:gd name="T21" fmla="*/ 7937 h 33"/>
              <a:gd name="T22" fmla="*/ 19447 w 48"/>
              <a:gd name="T23" fmla="*/ 4762 h 33"/>
              <a:gd name="T24" fmla="*/ 29170 w 48"/>
              <a:gd name="T25" fmla="*/ 3175 h 33"/>
              <a:gd name="T26" fmla="*/ 43061 w 48"/>
              <a:gd name="T27" fmla="*/ 0 h 33"/>
              <a:gd name="T28" fmla="*/ 59730 w 48"/>
              <a:gd name="T29" fmla="*/ 0 h 33"/>
              <a:gd name="T30" fmla="*/ 65286 w 48"/>
              <a:gd name="T31" fmla="*/ 50800 h 3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8"/>
              <a:gd name="T49" fmla="*/ 0 h 33"/>
              <a:gd name="T50" fmla="*/ 48 w 48"/>
              <a:gd name="T51" fmla="*/ 33 h 3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8" h="33">
                <a:moveTo>
                  <a:pt x="47" y="32"/>
                </a:moveTo>
                <a:lnTo>
                  <a:pt x="30" y="28"/>
                </a:lnTo>
                <a:lnTo>
                  <a:pt x="16" y="24"/>
                </a:lnTo>
                <a:lnTo>
                  <a:pt x="10" y="21"/>
                </a:lnTo>
                <a:lnTo>
                  <a:pt x="6" y="19"/>
                </a:lnTo>
                <a:lnTo>
                  <a:pt x="2" y="16"/>
                </a:lnTo>
                <a:lnTo>
                  <a:pt x="2" y="14"/>
                </a:lnTo>
                <a:lnTo>
                  <a:pt x="0" y="11"/>
                </a:lnTo>
                <a:lnTo>
                  <a:pt x="2" y="8"/>
                </a:lnTo>
                <a:lnTo>
                  <a:pt x="4" y="7"/>
                </a:lnTo>
                <a:lnTo>
                  <a:pt x="8" y="5"/>
                </a:lnTo>
                <a:lnTo>
                  <a:pt x="14" y="3"/>
                </a:lnTo>
                <a:lnTo>
                  <a:pt x="21" y="2"/>
                </a:lnTo>
                <a:lnTo>
                  <a:pt x="31" y="0"/>
                </a:lnTo>
                <a:lnTo>
                  <a:pt x="43" y="0"/>
                </a:lnTo>
                <a:lnTo>
                  <a:pt x="47" y="32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22" name="Freeform 219">
            <a:extLst>
              <a:ext uri="{FF2B5EF4-FFF2-40B4-BE49-F238E27FC236}">
                <a16:creationId xmlns:a16="http://schemas.microsoft.com/office/drawing/2014/main" id="{D4501241-EBCB-7A4B-38D8-DF863B7C9BC5}"/>
              </a:ext>
            </a:extLst>
          </p:cNvPr>
          <p:cNvSpPr>
            <a:spLocks/>
          </p:cNvSpPr>
          <p:nvPr/>
        </p:nvSpPr>
        <p:spPr bwMode="auto">
          <a:xfrm>
            <a:off x="2062163" y="5259388"/>
            <a:ext cx="82550" cy="68262"/>
          </a:xfrm>
          <a:custGeom>
            <a:avLst/>
            <a:gdLst>
              <a:gd name="T0" fmla="*/ 81127 w 58"/>
              <a:gd name="T1" fmla="*/ 66675 h 43"/>
              <a:gd name="T2" fmla="*/ 51238 w 58"/>
              <a:gd name="T3" fmla="*/ 58737 h 43"/>
              <a:gd name="T4" fmla="*/ 27042 w 58"/>
              <a:gd name="T5" fmla="*/ 50800 h 43"/>
              <a:gd name="T6" fmla="*/ 17079 w 58"/>
              <a:gd name="T7" fmla="*/ 44450 h 43"/>
              <a:gd name="T8" fmla="*/ 9963 w 58"/>
              <a:gd name="T9" fmla="*/ 39687 h 43"/>
              <a:gd name="T10" fmla="*/ 4270 w 58"/>
              <a:gd name="T11" fmla="*/ 33337 h 43"/>
              <a:gd name="T12" fmla="*/ 2847 w 58"/>
              <a:gd name="T13" fmla="*/ 28575 h 43"/>
              <a:gd name="T14" fmla="*/ 0 w 58"/>
              <a:gd name="T15" fmla="*/ 22225 h 43"/>
              <a:gd name="T16" fmla="*/ 2847 w 58"/>
              <a:gd name="T17" fmla="*/ 17462 h 43"/>
              <a:gd name="T18" fmla="*/ 7116 w 58"/>
              <a:gd name="T19" fmla="*/ 14287 h 43"/>
              <a:gd name="T20" fmla="*/ 14233 w 58"/>
              <a:gd name="T21" fmla="*/ 9525 h 43"/>
              <a:gd name="T22" fmla="*/ 24196 w 58"/>
              <a:gd name="T23" fmla="*/ 6350 h 43"/>
              <a:gd name="T24" fmla="*/ 37005 w 58"/>
              <a:gd name="T25" fmla="*/ 3175 h 43"/>
              <a:gd name="T26" fmla="*/ 54084 w 58"/>
              <a:gd name="T27" fmla="*/ 0 h 43"/>
              <a:gd name="T28" fmla="*/ 74010 w 58"/>
              <a:gd name="T29" fmla="*/ 0 h 4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8"/>
              <a:gd name="T46" fmla="*/ 0 h 43"/>
              <a:gd name="T47" fmla="*/ 58 w 58"/>
              <a:gd name="T48" fmla="*/ 43 h 43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8" h="43">
                <a:moveTo>
                  <a:pt x="57" y="42"/>
                </a:moveTo>
                <a:lnTo>
                  <a:pt x="36" y="37"/>
                </a:lnTo>
                <a:lnTo>
                  <a:pt x="19" y="32"/>
                </a:lnTo>
                <a:lnTo>
                  <a:pt x="12" y="28"/>
                </a:lnTo>
                <a:lnTo>
                  <a:pt x="7" y="25"/>
                </a:lnTo>
                <a:lnTo>
                  <a:pt x="3" y="21"/>
                </a:lnTo>
                <a:lnTo>
                  <a:pt x="2" y="18"/>
                </a:lnTo>
                <a:lnTo>
                  <a:pt x="0" y="14"/>
                </a:lnTo>
                <a:lnTo>
                  <a:pt x="2" y="11"/>
                </a:lnTo>
                <a:lnTo>
                  <a:pt x="5" y="9"/>
                </a:lnTo>
                <a:lnTo>
                  <a:pt x="10" y="6"/>
                </a:lnTo>
                <a:lnTo>
                  <a:pt x="17" y="4"/>
                </a:lnTo>
                <a:lnTo>
                  <a:pt x="26" y="2"/>
                </a:lnTo>
                <a:lnTo>
                  <a:pt x="38" y="0"/>
                </a:lnTo>
                <a:lnTo>
                  <a:pt x="52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23" name="Freeform 220">
            <a:extLst>
              <a:ext uri="{FF2B5EF4-FFF2-40B4-BE49-F238E27FC236}">
                <a16:creationId xmlns:a16="http://schemas.microsoft.com/office/drawing/2014/main" id="{F2A49EFA-4BBE-2579-A8EC-6C0F4871A2FF}"/>
              </a:ext>
            </a:extLst>
          </p:cNvPr>
          <p:cNvSpPr>
            <a:spLocks/>
          </p:cNvSpPr>
          <p:nvPr/>
        </p:nvSpPr>
        <p:spPr bwMode="auto">
          <a:xfrm>
            <a:off x="2076450" y="5326063"/>
            <a:ext cx="65088" cy="52387"/>
          </a:xfrm>
          <a:custGeom>
            <a:avLst/>
            <a:gdLst>
              <a:gd name="T0" fmla="*/ 63703 w 47"/>
              <a:gd name="T1" fmla="*/ 50800 h 33"/>
              <a:gd name="T2" fmla="*/ 40161 w 47"/>
              <a:gd name="T3" fmla="*/ 46037 h 33"/>
              <a:gd name="T4" fmla="*/ 20773 w 47"/>
              <a:gd name="T5" fmla="*/ 38100 h 33"/>
              <a:gd name="T6" fmla="*/ 15233 w 47"/>
              <a:gd name="T7" fmla="*/ 33337 h 33"/>
              <a:gd name="T8" fmla="*/ 8309 w 47"/>
              <a:gd name="T9" fmla="*/ 28575 h 33"/>
              <a:gd name="T10" fmla="*/ 2770 w 47"/>
              <a:gd name="T11" fmla="*/ 25400 h 33"/>
              <a:gd name="T12" fmla="*/ 0 w 47"/>
              <a:gd name="T13" fmla="*/ 22225 h 33"/>
              <a:gd name="T14" fmla="*/ 0 w 47"/>
              <a:gd name="T15" fmla="*/ 19050 h 33"/>
              <a:gd name="T16" fmla="*/ 2770 w 47"/>
              <a:gd name="T17" fmla="*/ 14287 h 33"/>
              <a:gd name="T18" fmla="*/ 4155 w 47"/>
              <a:gd name="T19" fmla="*/ 11112 h 33"/>
              <a:gd name="T20" fmla="*/ 9694 w 47"/>
              <a:gd name="T21" fmla="*/ 6350 h 33"/>
              <a:gd name="T22" fmla="*/ 18003 w 47"/>
              <a:gd name="T23" fmla="*/ 4762 h 33"/>
              <a:gd name="T24" fmla="*/ 29082 w 47"/>
              <a:gd name="T25" fmla="*/ 3175 h 33"/>
              <a:gd name="T26" fmla="*/ 41546 w 47"/>
              <a:gd name="T27" fmla="*/ 0 h 33"/>
              <a:gd name="T28" fmla="*/ 58164 w 47"/>
              <a:gd name="T29" fmla="*/ 0 h 33"/>
              <a:gd name="T30" fmla="*/ 63703 w 47"/>
              <a:gd name="T31" fmla="*/ 50800 h 3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7"/>
              <a:gd name="T49" fmla="*/ 0 h 33"/>
              <a:gd name="T50" fmla="*/ 47 w 47"/>
              <a:gd name="T51" fmla="*/ 33 h 3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7" h="33">
                <a:moveTo>
                  <a:pt x="46" y="32"/>
                </a:moveTo>
                <a:lnTo>
                  <a:pt x="29" y="29"/>
                </a:lnTo>
                <a:lnTo>
                  <a:pt x="15" y="24"/>
                </a:lnTo>
                <a:lnTo>
                  <a:pt x="11" y="21"/>
                </a:lnTo>
                <a:lnTo>
                  <a:pt x="6" y="18"/>
                </a:lnTo>
                <a:lnTo>
                  <a:pt x="2" y="16"/>
                </a:lnTo>
                <a:lnTo>
                  <a:pt x="0" y="14"/>
                </a:lnTo>
                <a:lnTo>
                  <a:pt x="0" y="12"/>
                </a:lnTo>
                <a:lnTo>
                  <a:pt x="2" y="9"/>
                </a:lnTo>
                <a:lnTo>
                  <a:pt x="3" y="7"/>
                </a:lnTo>
                <a:lnTo>
                  <a:pt x="7" y="4"/>
                </a:lnTo>
                <a:lnTo>
                  <a:pt x="13" y="3"/>
                </a:lnTo>
                <a:lnTo>
                  <a:pt x="21" y="2"/>
                </a:lnTo>
                <a:lnTo>
                  <a:pt x="30" y="0"/>
                </a:lnTo>
                <a:lnTo>
                  <a:pt x="42" y="0"/>
                </a:lnTo>
                <a:lnTo>
                  <a:pt x="46" y="32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24" name="Freeform 221">
            <a:extLst>
              <a:ext uri="{FF2B5EF4-FFF2-40B4-BE49-F238E27FC236}">
                <a16:creationId xmlns:a16="http://schemas.microsoft.com/office/drawing/2014/main" id="{FF4DE64D-9900-FCC8-58BD-43CD8F5EB088}"/>
              </a:ext>
            </a:extLst>
          </p:cNvPr>
          <p:cNvSpPr>
            <a:spLocks/>
          </p:cNvSpPr>
          <p:nvPr/>
        </p:nvSpPr>
        <p:spPr bwMode="auto">
          <a:xfrm>
            <a:off x="2076450" y="5326063"/>
            <a:ext cx="80963" cy="68262"/>
          </a:xfrm>
          <a:custGeom>
            <a:avLst/>
            <a:gdLst>
              <a:gd name="T0" fmla="*/ 79543 w 57"/>
              <a:gd name="T1" fmla="*/ 66675 h 43"/>
              <a:gd name="T2" fmla="*/ 49714 w 57"/>
              <a:gd name="T3" fmla="*/ 60325 h 43"/>
              <a:gd name="T4" fmla="*/ 25567 w 57"/>
              <a:gd name="T5" fmla="*/ 49212 h 43"/>
              <a:gd name="T6" fmla="*/ 18465 w 57"/>
              <a:gd name="T7" fmla="*/ 44450 h 43"/>
              <a:gd name="T8" fmla="*/ 9943 w 57"/>
              <a:gd name="T9" fmla="*/ 38100 h 43"/>
              <a:gd name="T10" fmla="*/ 2841 w 57"/>
              <a:gd name="T11" fmla="*/ 33337 h 43"/>
              <a:gd name="T12" fmla="*/ 0 w 57"/>
              <a:gd name="T13" fmla="*/ 30162 h 43"/>
              <a:gd name="T14" fmla="*/ 0 w 57"/>
              <a:gd name="T15" fmla="*/ 25400 h 43"/>
              <a:gd name="T16" fmla="*/ 2841 w 57"/>
              <a:gd name="T17" fmla="*/ 19050 h 43"/>
              <a:gd name="T18" fmla="*/ 5682 w 57"/>
              <a:gd name="T19" fmla="*/ 14287 h 43"/>
              <a:gd name="T20" fmla="*/ 12784 w 57"/>
              <a:gd name="T21" fmla="*/ 7937 h 43"/>
              <a:gd name="T22" fmla="*/ 22726 w 57"/>
              <a:gd name="T23" fmla="*/ 6350 h 43"/>
              <a:gd name="T24" fmla="*/ 35510 w 57"/>
              <a:gd name="T25" fmla="*/ 3175 h 43"/>
              <a:gd name="T26" fmla="*/ 52555 w 57"/>
              <a:gd name="T27" fmla="*/ 0 h 43"/>
              <a:gd name="T28" fmla="*/ 72441 w 57"/>
              <a:gd name="T29" fmla="*/ 0 h 4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7"/>
              <a:gd name="T46" fmla="*/ 0 h 43"/>
              <a:gd name="T47" fmla="*/ 57 w 57"/>
              <a:gd name="T48" fmla="*/ 43 h 43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7" h="43">
                <a:moveTo>
                  <a:pt x="56" y="42"/>
                </a:moveTo>
                <a:lnTo>
                  <a:pt x="35" y="38"/>
                </a:lnTo>
                <a:lnTo>
                  <a:pt x="18" y="31"/>
                </a:lnTo>
                <a:lnTo>
                  <a:pt x="13" y="28"/>
                </a:lnTo>
                <a:lnTo>
                  <a:pt x="7" y="24"/>
                </a:lnTo>
                <a:lnTo>
                  <a:pt x="2" y="21"/>
                </a:lnTo>
                <a:lnTo>
                  <a:pt x="0" y="19"/>
                </a:lnTo>
                <a:lnTo>
                  <a:pt x="0" y="16"/>
                </a:lnTo>
                <a:lnTo>
                  <a:pt x="2" y="12"/>
                </a:lnTo>
                <a:lnTo>
                  <a:pt x="4" y="9"/>
                </a:lnTo>
                <a:lnTo>
                  <a:pt x="9" y="5"/>
                </a:lnTo>
                <a:lnTo>
                  <a:pt x="16" y="4"/>
                </a:lnTo>
                <a:lnTo>
                  <a:pt x="25" y="2"/>
                </a:lnTo>
                <a:lnTo>
                  <a:pt x="37" y="0"/>
                </a:lnTo>
                <a:lnTo>
                  <a:pt x="51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25" name="Freeform 222">
            <a:extLst>
              <a:ext uri="{FF2B5EF4-FFF2-40B4-BE49-F238E27FC236}">
                <a16:creationId xmlns:a16="http://schemas.microsoft.com/office/drawing/2014/main" id="{0F17A680-A776-4CFE-EF9C-F772F7D0B7CE}"/>
              </a:ext>
            </a:extLst>
          </p:cNvPr>
          <p:cNvSpPr>
            <a:spLocks/>
          </p:cNvSpPr>
          <p:nvPr/>
        </p:nvSpPr>
        <p:spPr bwMode="auto">
          <a:xfrm>
            <a:off x="2057400" y="5194300"/>
            <a:ext cx="66675" cy="50800"/>
          </a:xfrm>
          <a:custGeom>
            <a:avLst/>
            <a:gdLst>
              <a:gd name="T0" fmla="*/ 65226 w 46"/>
              <a:gd name="T1" fmla="*/ 49212 h 32"/>
              <a:gd name="T2" fmla="*/ 40585 w 46"/>
              <a:gd name="T3" fmla="*/ 42862 h 32"/>
              <a:gd name="T4" fmla="*/ 20292 w 46"/>
              <a:gd name="T5" fmla="*/ 36512 h 32"/>
              <a:gd name="T6" fmla="*/ 14495 w 46"/>
              <a:gd name="T7" fmla="*/ 33337 h 32"/>
              <a:gd name="T8" fmla="*/ 7247 w 46"/>
              <a:gd name="T9" fmla="*/ 28575 h 32"/>
              <a:gd name="T10" fmla="*/ 2899 w 46"/>
              <a:gd name="T11" fmla="*/ 25400 h 32"/>
              <a:gd name="T12" fmla="*/ 1449 w 46"/>
              <a:gd name="T13" fmla="*/ 20637 h 32"/>
              <a:gd name="T14" fmla="*/ 0 w 46"/>
              <a:gd name="T15" fmla="*/ 17462 h 32"/>
              <a:gd name="T16" fmla="*/ 1449 w 46"/>
              <a:gd name="T17" fmla="*/ 12700 h 32"/>
              <a:gd name="T18" fmla="*/ 5798 w 46"/>
              <a:gd name="T19" fmla="*/ 11112 h 32"/>
              <a:gd name="T20" fmla="*/ 11596 w 46"/>
              <a:gd name="T21" fmla="*/ 6350 h 32"/>
              <a:gd name="T22" fmla="*/ 20292 w 46"/>
              <a:gd name="T23" fmla="*/ 3175 h 32"/>
              <a:gd name="T24" fmla="*/ 30439 w 46"/>
              <a:gd name="T25" fmla="*/ 3175 h 32"/>
              <a:gd name="T26" fmla="*/ 42034 w 46"/>
              <a:gd name="T27" fmla="*/ 0 h 32"/>
              <a:gd name="T28" fmla="*/ 59428 w 46"/>
              <a:gd name="T29" fmla="*/ 0 h 32"/>
              <a:gd name="T30" fmla="*/ 65226 w 46"/>
              <a:gd name="T31" fmla="*/ 49212 h 3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6"/>
              <a:gd name="T49" fmla="*/ 0 h 32"/>
              <a:gd name="T50" fmla="*/ 46 w 46"/>
              <a:gd name="T51" fmla="*/ 32 h 3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6" h="32">
                <a:moveTo>
                  <a:pt x="45" y="31"/>
                </a:moveTo>
                <a:lnTo>
                  <a:pt x="28" y="27"/>
                </a:lnTo>
                <a:lnTo>
                  <a:pt x="14" y="23"/>
                </a:lnTo>
                <a:lnTo>
                  <a:pt x="10" y="21"/>
                </a:lnTo>
                <a:lnTo>
                  <a:pt x="5" y="18"/>
                </a:lnTo>
                <a:lnTo>
                  <a:pt x="2" y="16"/>
                </a:lnTo>
                <a:lnTo>
                  <a:pt x="1" y="13"/>
                </a:lnTo>
                <a:lnTo>
                  <a:pt x="0" y="11"/>
                </a:lnTo>
                <a:lnTo>
                  <a:pt x="1" y="8"/>
                </a:lnTo>
                <a:lnTo>
                  <a:pt x="4" y="7"/>
                </a:lnTo>
                <a:lnTo>
                  <a:pt x="8" y="4"/>
                </a:lnTo>
                <a:lnTo>
                  <a:pt x="14" y="2"/>
                </a:lnTo>
                <a:lnTo>
                  <a:pt x="21" y="2"/>
                </a:lnTo>
                <a:lnTo>
                  <a:pt x="29" y="0"/>
                </a:lnTo>
                <a:lnTo>
                  <a:pt x="41" y="0"/>
                </a:lnTo>
                <a:lnTo>
                  <a:pt x="45" y="31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26" name="Freeform 223">
            <a:extLst>
              <a:ext uri="{FF2B5EF4-FFF2-40B4-BE49-F238E27FC236}">
                <a16:creationId xmlns:a16="http://schemas.microsoft.com/office/drawing/2014/main" id="{F04C612B-4F7F-3A6C-8159-B7B8C77ED37D}"/>
              </a:ext>
            </a:extLst>
          </p:cNvPr>
          <p:cNvSpPr>
            <a:spLocks/>
          </p:cNvSpPr>
          <p:nvPr/>
        </p:nvSpPr>
        <p:spPr bwMode="auto">
          <a:xfrm>
            <a:off x="2057400" y="5194300"/>
            <a:ext cx="79375" cy="66675"/>
          </a:xfrm>
          <a:custGeom>
            <a:avLst/>
            <a:gdLst>
              <a:gd name="T0" fmla="*/ 77958 w 56"/>
              <a:gd name="T1" fmla="*/ 65088 h 42"/>
              <a:gd name="T2" fmla="*/ 48192 w 56"/>
              <a:gd name="T3" fmla="*/ 57150 h 42"/>
              <a:gd name="T4" fmla="*/ 24096 w 56"/>
              <a:gd name="T5" fmla="*/ 49212 h 42"/>
              <a:gd name="T6" fmla="*/ 17009 w 56"/>
              <a:gd name="T7" fmla="*/ 44450 h 42"/>
              <a:gd name="T8" fmla="*/ 8504 w 56"/>
              <a:gd name="T9" fmla="*/ 38100 h 42"/>
              <a:gd name="T10" fmla="*/ 4252 w 56"/>
              <a:gd name="T11" fmla="*/ 33338 h 42"/>
              <a:gd name="T12" fmla="*/ 1417 w 56"/>
              <a:gd name="T13" fmla="*/ 26988 h 42"/>
              <a:gd name="T14" fmla="*/ 0 w 56"/>
              <a:gd name="T15" fmla="*/ 22225 h 42"/>
              <a:gd name="T16" fmla="*/ 1417 w 56"/>
              <a:gd name="T17" fmla="*/ 15875 h 42"/>
              <a:gd name="T18" fmla="*/ 7087 w 56"/>
              <a:gd name="T19" fmla="*/ 14288 h 42"/>
              <a:gd name="T20" fmla="*/ 14174 w 56"/>
              <a:gd name="T21" fmla="*/ 7938 h 42"/>
              <a:gd name="T22" fmla="*/ 24096 w 56"/>
              <a:gd name="T23" fmla="*/ 4762 h 42"/>
              <a:gd name="T24" fmla="*/ 36853 w 56"/>
              <a:gd name="T25" fmla="*/ 3175 h 42"/>
              <a:gd name="T26" fmla="*/ 51027 w 56"/>
              <a:gd name="T27" fmla="*/ 0 h 42"/>
              <a:gd name="T28" fmla="*/ 70871 w 56"/>
              <a:gd name="T29" fmla="*/ 0 h 4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6"/>
              <a:gd name="T46" fmla="*/ 0 h 42"/>
              <a:gd name="T47" fmla="*/ 56 w 56"/>
              <a:gd name="T48" fmla="*/ 42 h 4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6" h="42">
                <a:moveTo>
                  <a:pt x="55" y="41"/>
                </a:moveTo>
                <a:lnTo>
                  <a:pt x="34" y="36"/>
                </a:lnTo>
                <a:lnTo>
                  <a:pt x="17" y="31"/>
                </a:lnTo>
                <a:lnTo>
                  <a:pt x="12" y="28"/>
                </a:lnTo>
                <a:lnTo>
                  <a:pt x="6" y="24"/>
                </a:lnTo>
                <a:lnTo>
                  <a:pt x="3" y="21"/>
                </a:lnTo>
                <a:lnTo>
                  <a:pt x="1" y="17"/>
                </a:lnTo>
                <a:lnTo>
                  <a:pt x="0" y="14"/>
                </a:lnTo>
                <a:lnTo>
                  <a:pt x="1" y="10"/>
                </a:lnTo>
                <a:lnTo>
                  <a:pt x="5" y="9"/>
                </a:lnTo>
                <a:lnTo>
                  <a:pt x="10" y="5"/>
                </a:lnTo>
                <a:lnTo>
                  <a:pt x="17" y="3"/>
                </a:lnTo>
                <a:lnTo>
                  <a:pt x="26" y="2"/>
                </a:lnTo>
                <a:lnTo>
                  <a:pt x="36" y="0"/>
                </a:lnTo>
                <a:lnTo>
                  <a:pt x="50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27" name="Freeform 224">
            <a:extLst>
              <a:ext uri="{FF2B5EF4-FFF2-40B4-BE49-F238E27FC236}">
                <a16:creationId xmlns:a16="http://schemas.microsoft.com/office/drawing/2014/main" id="{886D4F5A-7AA7-BD25-2CE0-DCE53BAC5AF9}"/>
              </a:ext>
            </a:extLst>
          </p:cNvPr>
          <p:cNvSpPr>
            <a:spLocks/>
          </p:cNvSpPr>
          <p:nvPr/>
        </p:nvSpPr>
        <p:spPr bwMode="auto">
          <a:xfrm>
            <a:off x="3776663" y="5957888"/>
            <a:ext cx="84137" cy="6350"/>
          </a:xfrm>
          <a:custGeom>
            <a:avLst/>
            <a:gdLst>
              <a:gd name="T0" fmla="*/ 82735 w 60"/>
              <a:gd name="T1" fmla="*/ 4762 h 4"/>
              <a:gd name="T2" fmla="*/ 0 w 60"/>
              <a:gd name="T3" fmla="*/ 4762 h 4"/>
              <a:gd name="T4" fmla="*/ 0 w 60"/>
              <a:gd name="T5" fmla="*/ 0 h 4"/>
              <a:gd name="T6" fmla="*/ 82735 w 60"/>
              <a:gd name="T7" fmla="*/ 0 h 4"/>
              <a:gd name="T8" fmla="*/ 82735 w 60"/>
              <a:gd name="T9" fmla="*/ 4762 h 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4"/>
              <a:gd name="T17" fmla="*/ 60 w 60"/>
              <a:gd name="T18" fmla="*/ 4 h 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4">
                <a:moveTo>
                  <a:pt x="59" y="3"/>
                </a:moveTo>
                <a:lnTo>
                  <a:pt x="0" y="3"/>
                </a:lnTo>
                <a:lnTo>
                  <a:pt x="0" y="0"/>
                </a:lnTo>
                <a:lnTo>
                  <a:pt x="59" y="0"/>
                </a:lnTo>
                <a:lnTo>
                  <a:pt x="59" y="3"/>
                </a:lnTo>
              </a:path>
            </a:pathLst>
          </a:custGeom>
          <a:solidFill>
            <a:srgbClr val="FAFD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28" name="Freeform 225">
            <a:extLst>
              <a:ext uri="{FF2B5EF4-FFF2-40B4-BE49-F238E27FC236}">
                <a16:creationId xmlns:a16="http://schemas.microsoft.com/office/drawing/2014/main" id="{3662D398-3D95-B928-DB23-DA73A58D965A}"/>
              </a:ext>
            </a:extLst>
          </p:cNvPr>
          <p:cNvSpPr>
            <a:spLocks/>
          </p:cNvSpPr>
          <p:nvPr/>
        </p:nvSpPr>
        <p:spPr bwMode="auto">
          <a:xfrm>
            <a:off x="3579813" y="5957888"/>
            <a:ext cx="85725" cy="6350"/>
          </a:xfrm>
          <a:custGeom>
            <a:avLst/>
            <a:gdLst>
              <a:gd name="T0" fmla="*/ 84320 w 61"/>
              <a:gd name="T1" fmla="*/ 4762 h 4"/>
              <a:gd name="T2" fmla="*/ 0 w 61"/>
              <a:gd name="T3" fmla="*/ 4762 h 4"/>
              <a:gd name="T4" fmla="*/ 0 w 61"/>
              <a:gd name="T5" fmla="*/ 0 h 4"/>
              <a:gd name="T6" fmla="*/ 84320 w 61"/>
              <a:gd name="T7" fmla="*/ 0 h 4"/>
              <a:gd name="T8" fmla="*/ 84320 w 61"/>
              <a:gd name="T9" fmla="*/ 4762 h 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1"/>
              <a:gd name="T16" fmla="*/ 0 h 4"/>
              <a:gd name="T17" fmla="*/ 61 w 61"/>
              <a:gd name="T18" fmla="*/ 4 h 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1" h="4">
                <a:moveTo>
                  <a:pt x="60" y="3"/>
                </a:moveTo>
                <a:lnTo>
                  <a:pt x="0" y="3"/>
                </a:lnTo>
                <a:lnTo>
                  <a:pt x="0" y="0"/>
                </a:lnTo>
                <a:lnTo>
                  <a:pt x="60" y="0"/>
                </a:lnTo>
                <a:lnTo>
                  <a:pt x="60" y="3"/>
                </a:lnTo>
              </a:path>
            </a:pathLst>
          </a:custGeom>
          <a:solidFill>
            <a:srgbClr val="FAFD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29" name="Freeform 226">
            <a:extLst>
              <a:ext uri="{FF2B5EF4-FFF2-40B4-BE49-F238E27FC236}">
                <a16:creationId xmlns:a16="http://schemas.microsoft.com/office/drawing/2014/main" id="{537D235A-FB4B-9ED8-3C8A-9C0A1B2F6836}"/>
              </a:ext>
            </a:extLst>
          </p:cNvPr>
          <p:cNvSpPr>
            <a:spLocks/>
          </p:cNvSpPr>
          <p:nvPr/>
        </p:nvSpPr>
        <p:spPr bwMode="auto">
          <a:xfrm>
            <a:off x="3384550" y="5957888"/>
            <a:ext cx="85725" cy="6350"/>
          </a:xfrm>
          <a:custGeom>
            <a:avLst/>
            <a:gdLst>
              <a:gd name="T0" fmla="*/ 84320 w 61"/>
              <a:gd name="T1" fmla="*/ 4762 h 4"/>
              <a:gd name="T2" fmla="*/ 0 w 61"/>
              <a:gd name="T3" fmla="*/ 4762 h 4"/>
              <a:gd name="T4" fmla="*/ 0 w 61"/>
              <a:gd name="T5" fmla="*/ 0 h 4"/>
              <a:gd name="T6" fmla="*/ 84320 w 61"/>
              <a:gd name="T7" fmla="*/ 0 h 4"/>
              <a:gd name="T8" fmla="*/ 84320 w 61"/>
              <a:gd name="T9" fmla="*/ 4762 h 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1"/>
              <a:gd name="T16" fmla="*/ 0 h 4"/>
              <a:gd name="T17" fmla="*/ 61 w 61"/>
              <a:gd name="T18" fmla="*/ 4 h 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1" h="4">
                <a:moveTo>
                  <a:pt x="60" y="3"/>
                </a:moveTo>
                <a:lnTo>
                  <a:pt x="0" y="3"/>
                </a:lnTo>
                <a:lnTo>
                  <a:pt x="0" y="0"/>
                </a:lnTo>
                <a:lnTo>
                  <a:pt x="60" y="0"/>
                </a:lnTo>
                <a:lnTo>
                  <a:pt x="60" y="3"/>
                </a:lnTo>
              </a:path>
            </a:pathLst>
          </a:custGeom>
          <a:solidFill>
            <a:srgbClr val="FAFD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30" name="Freeform 227">
            <a:extLst>
              <a:ext uri="{FF2B5EF4-FFF2-40B4-BE49-F238E27FC236}">
                <a16:creationId xmlns:a16="http://schemas.microsoft.com/office/drawing/2014/main" id="{25BE1024-D11C-B09F-AEC9-3FD5C872601D}"/>
              </a:ext>
            </a:extLst>
          </p:cNvPr>
          <p:cNvSpPr>
            <a:spLocks/>
          </p:cNvSpPr>
          <p:nvPr/>
        </p:nvSpPr>
        <p:spPr bwMode="auto">
          <a:xfrm>
            <a:off x="3187700" y="5957888"/>
            <a:ext cx="87313" cy="6350"/>
          </a:xfrm>
          <a:custGeom>
            <a:avLst/>
            <a:gdLst>
              <a:gd name="T0" fmla="*/ 85882 w 61"/>
              <a:gd name="T1" fmla="*/ 4762 h 4"/>
              <a:gd name="T2" fmla="*/ 0 w 61"/>
              <a:gd name="T3" fmla="*/ 4762 h 4"/>
              <a:gd name="T4" fmla="*/ 0 w 61"/>
              <a:gd name="T5" fmla="*/ 0 h 4"/>
              <a:gd name="T6" fmla="*/ 85882 w 61"/>
              <a:gd name="T7" fmla="*/ 0 h 4"/>
              <a:gd name="T8" fmla="*/ 85882 w 61"/>
              <a:gd name="T9" fmla="*/ 4762 h 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1"/>
              <a:gd name="T16" fmla="*/ 0 h 4"/>
              <a:gd name="T17" fmla="*/ 61 w 61"/>
              <a:gd name="T18" fmla="*/ 4 h 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1" h="4">
                <a:moveTo>
                  <a:pt x="60" y="3"/>
                </a:moveTo>
                <a:lnTo>
                  <a:pt x="0" y="3"/>
                </a:lnTo>
                <a:lnTo>
                  <a:pt x="0" y="0"/>
                </a:lnTo>
                <a:lnTo>
                  <a:pt x="60" y="0"/>
                </a:lnTo>
                <a:lnTo>
                  <a:pt x="60" y="3"/>
                </a:lnTo>
              </a:path>
            </a:pathLst>
          </a:custGeom>
          <a:solidFill>
            <a:srgbClr val="FAFD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31" name="Freeform 228">
            <a:extLst>
              <a:ext uri="{FF2B5EF4-FFF2-40B4-BE49-F238E27FC236}">
                <a16:creationId xmlns:a16="http://schemas.microsoft.com/office/drawing/2014/main" id="{82BA25F7-C8F0-7BA8-21CF-B5183AC2DB17}"/>
              </a:ext>
            </a:extLst>
          </p:cNvPr>
          <p:cNvSpPr>
            <a:spLocks/>
          </p:cNvSpPr>
          <p:nvPr/>
        </p:nvSpPr>
        <p:spPr bwMode="auto">
          <a:xfrm>
            <a:off x="2992438" y="5957888"/>
            <a:ext cx="85725" cy="6350"/>
          </a:xfrm>
          <a:custGeom>
            <a:avLst/>
            <a:gdLst>
              <a:gd name="T0" fmla="*/ 84296 w 60"/>
              <a:gd name="T1" fmla="*/ 4762 h 4"/>
              <a:gd name="T2" fmla="*/ 0 w 60"/>
              <a:gd name="T3" fmla="*/ 4762 h 4"/>
              <a:gd name="T4" fmla="*/ 0 w 60"/>
              <a:gd name="T5" fmla="*/ 0 h 4"/>
              <a:gd name="T6" fmla="*/ 84296 w 60"/>
              <a:gd name="T7" fmla="*/ 0 h 4"/>
              <a:gd name="T8" fmla="*/ 84296 w 60"/>
              <a:gd name="T9" fmla="*/ 4762 h 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4"/>
              <a:gd name="T17" fmla="*/ 60 w 60"/>
              <a:gd name="T18" fmla="*/ 4 h 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4">
                <a:moveTo>
                  <a:pt x="59" y="3"/>
                </a:moveTo>
                <a:lnTo>
                  <a:pt x="0" y="3"/>
                </a:lnTo>
                <a:lnTo>
                  <a:pt x="0" y="0"/>
                </a:lnTo>
                <a:lnTo>
                  <a:pt x="59" y="0"/>
                </a:lnTo>
                <a:lnTo>
                  <a:pt x="59" y="3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32" name="Freeform 229">
            <a:extLst>
              <a:ext uri="{FF2B5EF4-FFF2-40B4-BE49-F238E27FC236}">
                <a16:creationId xmlns:a16="http://schemas.microsoft.com/office/drawing/2014/main" id="{18122DA3-FA32-270E-C664-C56B57A96404}"/>
              </a:ext>
            </a:extLst>
          </p:cNvPr>
          <p:cNvSpPr>
            <a:spLocks/>
          </p:cNvSpPr>
          <p:nvPr/>
        </p:nvSpPr>
        <p:spPr bwMode="auto">
          <a:xfrm>
            <a:off x="2797175" y="5957888"/>
            <a:ext cx="84138" cy="6350"/>
          </a:xfrm>
          <a:custGeom>
            <a:avLst/>
            <a:gdLst>
              <a:gd name="T0" fmla="*/ 82736 w 60"/>
              <a:gd name="T1" fmla="*/ 4762 h 4"/>
              <a:gd name="T2" fmla="*/ 0 w 60"/>
              <a:gd name="T3" fmla="*/ 4762 h 4"/>
              <a:gd name="T4" fmla="*/ 0 w 60"/>
              <a:gd name="T5" fmla="*/ 0 h 4"/>
              <a:gd name="T6" fmla="*/ 82736 w 60"/>
              <a:gd name="T7" fmla="*/ 0 h 4"/>
              <a:gd name="T8" fmla="*/ 82736 w 60"/>
              <a:gd name="T9" fmla="*/ 4762 h 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4"/>
              <a:gd name="T17" fmla="*/ 60 w 60"/>
              <a:gd name="T18" fmla="*/ 4 h 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4">
                <a:moveTo>
                  <a:pt x="59" y="3"/>
                </a:moveTo>
                <a:lnTo>
                  <a:pt x="0" y="3"/>
                </a:lnTo>
                <a:lnTo>
                  <a:pt x="0" y="0"/>
                </a:lnTo>
                <a:lnTo>
                  <a:pt x="59" y="0"/>
                </a:lnTo>
                <a:lnTo>
                  <a:pt x="59" y="3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33" name="Freeform 230">
            <a:extLst>
              <a:ext uri="{FF2B5EF4-FFF2-40B4-BE49-F238E27FC236}">
                <a16:creationId xmlns:a16="http://schemas.microsoft.com/office/drawing/2014/main" id="{D18095CA-3007-B3BE-B26B-D2D98D93868E}"/>
              </a:ext>
            </a:extLst>
          </p:cNvPr>
          <p:cNvSpPr>
            <a:spLocks/>
          </p:cNvSpPr>
          <p:nvPr/>
        </p:nvSpPr>
        <p:spPr bwMode="auto">
          <a:xfrm>
            <a:off x="2601913" y="5957888"/>
            <a:ext cx="84137" cy="6350"/>
          </a:xfrm>
          <a:custGeom>
            <a:avLst/>
            <a:gdLst>
              <a:gd name="T0" fmla="*/ 82735 w 60"/>
              <a:gd name="T1" fmla="*/ 4762 h 4"/>
              <a:gd name="T2" fmla="*/ 0 w 60"/>
              <a:gd name="T3" fmla="*/ 4762 h 4"/>
              <a:gd name="T4" fmla="*/ 0 w 60"/>
              <a:gd name="T5" fmla="*/ 0 h 4"/>
              <a:gd name="T6" fmla="*/ 82735 w 60"/>
              <a:gd name="T7" fmla="*/ 0 h 4"/>
              <a:gd name="T8" fmla="*/ 82735 w 60"/>
              <a:gd name="T9" fmla="*/ 4762 h 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4"/>
              <a:gd name="T17" fmla="*/ 60 w 60"/>
              <a:gd name="T18" fmla="*/ 4 h 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4">
                <a:moveTo>
                  <a:pt x="59" y="3"/>
                </a:moveTo>
                <a:lnTo>
                  <a:pt x="0" y="3"/>
                </a:lnTo>
                <a:lnTo>
                  <a:pt x="0" y="0"/>
                </a:lnTo>
                <a:lnTo>
                  <a:pt x="59" y="0"/>
                </a:lnTo>
                <a:lnTo>
                  <a:pt x="59" y="3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34" name="Freeform 231">
            <a:extLst>
              <a:ext uri="{FF2B5EF4-FFF2-40B4-BE49-F238E27FC236}">
                <a16:creationId xmlns:a16="http://schemas.microsoft.com/office/drawing/2014/main" id="{388C8BFF-EFE8-FD6F-659F-F7E6027DAA0C}"/>
              </a:ext>
            </a:extLst>
          </p:cNvPr>
          <p:cNvSpPr>
            <a:spLocks/>
          </p:cNvSpPr>
          <p:nvPr/>
        </p:nvSpPr>
        <p:spPr bwMode="auto">
          <a:xfrm>
            <a:off x="2405063" y="5957888"/>
            <a:ext cx="84137" cy="6350"/>
          </a:xfrm>
          <a:custGeom>
            <a:avLst/>
            <a:gdLst>
              <a:gd name="T0" fmla="*/ 82735 w 60"/>
              <a:gd name="T1" fmla="*/ 4762 h 4"/>
              <a:gd name="T2" fmla="*/ 0 w 60"/>
              <a:gd name="T3" fmla="*/ 4762 h 4"/>
              <a:gd name="T4" fmla="*/ 0 w 60"/>
              <a:gd name="T5" fmla="*/ 0 h 4"/>
              <a:gd name="T6" fmla="*/ 82735 w 60"/>
              <a:gd name="T7" fmla="*/ 0 h 4"/>
              <a:gd name="T8" fmla="*/ 82735 w 60"/>
              <a:gd name="T9" fmla="*/ 4762 h 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4"/>
              <a:gd name="T17" fmla="*/ 60 w 60"/>
              <a:gd name="T18" fmla="*/ 4 h 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4">
                <a:moveTo>
                  <a:pt x="59" y="3"/>
                </a:moveTo>
                <a:lnTo>
                  <a:pt x="0" y="3"/>
                </a:lnTo>
                <a:lnTo>
                  <a:pt x="0" y="0"/>
                </a:lnTo>
                <a:lnTo>
                  <a:pt x="59" y="0"/>
                </a:lnTo>
                <a:lnTo>
                  <a:pt x="59" y="3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35" name="Freeform 232">
            <a:extLst>
              <a:ext uri="{FF2B5EF4-FFF2-40B4-BE49-F238E27FC236}">
                <a16:creationId xmlns:a16="http://schemas.microsoft.com/office/drawing/2014/main" id="{A707C0CE-96CD-3DD1-98EB-228BAA6DFC35}"/>
              </a:ext>
            </a:extLst>
          </p:cNvPr>
          <p:cNvSpPr>
            <a:spLocks/>
          </p:cNvSpPr>
          <p:nvPr/>
        </p:nvSpPr>
        <p:spPr bwMode="auto">
          <a:xfrm>
            <a:off x="2208213" y="5957888"/>
            <a:ext cx="85725" cy="6350"/>
          </a:xfrm>
          <a:custGeom>
            <a:avLst/>
            <a:gdLst>
              <a:gd name="T0" fmla="*/ 84320 w 61"/>
              <a:gd name="T1" fmla="*/ 4762 h 4"/>
              <a:gd name="T2" fmla="*/ 0 w 61"/>
              <a:gd name="T3" fmla="*/ 4762 h 4"/>
              <a:gd name="T4" fmla="*/ 0 w 61"/>
              <a:gd name="T5" fmla="*/ 0 h 4"/>
              <a:gd name="T6" fmla="*/ 84320 w 61"/>
              <a:gd name="T7" fmla="*/ 0 h 4"/>
              <a:gd name="T8" fmla="*/ 84320 w 61"/>
              <a:gd name="T9" fmla="*/ 4762 h 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1"/>
              <a:gd name="T16" fmla="*/ 0 h 4"/>
              <a:gd name="T17" fmla="*/ 61 w 61"/>
              <a:gd name="T18" fmla="*/ 4 h 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1" h="4">
                <a:moveTo>
                  <a:pt x="60" y="3"/>
                </a:moveTo>
                <a:lnTo>
                  <a:pt x="0" y="3"/>
                </a:lnTo>
                <a:lnTo>
                  <a:pt x="0" y="0"/>
                </a:lnTo>
                <a:lnTo>
                  <a:pt x="60" y="0"/>
                </a:lnTo>
                <a:lnTo>
                  <a:pt x="60" y="3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36" name="Freeform 233">
            <a:extLst>
              <a:ext uri="{FF2B5EF4-FFF2-40B4-BE49-F238E27FC236}">
                <a16:creationId xmlns:a16="http://schemas.microsoft.com/office/drawing/2014/main" id="{61B0A578-467E-1581-6317-755198B70B66}"/>
              </a:ext>
            </a:extLst>
          </p:cNvPr>
          <p:cNvSpPr>
            <a:spLocks/>
          </p:cNvSpPr>
          <p:nvPr/>
        </p:nvSpPr>
        <p:spPr bwMode="auto">
          <a:xfrm>
            <a:off x="2022475" y="5478463"/>
            <a:ext cx="63500" cy="79375"/>
          </a:xfrm>
          <a:custGeom>
            <a:avLst/>
            <a:gdLst>
              <a:gd name="T0" fmla="*/ 29633 w 45"/>
              <a:gd name="T1" fmla="*/ 77788 h 50"/>
              <a:gd name="T2" fmla="*/ 15522 w 45"/>
              <a:gd name="T3" fmla="*/ 53975 h 50"/>
              <a:gd name="T4" fmla="*/ 5644 w 45"/>
              <a:gd name="T5" fmla="*/ 34925 h 50"/>
              <a:gd name="T6" fmla="*/ 0 w 45"/>
              <a:gd name="T7" fmla="*/ 17463 h 50"/>
              <a:gd name="T8" fmla="*/ 2822 w 45"/>
              <a:gd name="T9" fmla="*/ 3175 h 50"/>
              <a:gd name="T10" fmla="*/ 4233 w 45"/>
              <a:gd name="T11" fmla="*/ 1588 h 50"/>
              <a:gd name="T12" fmla="*/ 8467 w 45"/>
              <a:gd name="T13" fmla="*/ 0 h 50"/>
              <a:gd name="T14" fmla="*/ 14111 w 45"/>
              <a:gd name="T15" fmla="*/ 0 h 50"/>
              <a:gd name="T16" fmla="*/ 21167 w 45"/>
              <a:gd name="T17" fmla="*/ 1588 h 50"/>
              <a:gd name="T18" fmla="*/ 28222 w 45"/>
              <a:gd name="T19" fmla="*/ 6350 h 50"/>
              <a:gd name="T20" fmla="*/ 38100 w 45"/>
              <a:gd name="T21" fmla="*/ 12700 h 50"/>
              <a:gd name="T22" fmla="*/ 50800 w 45"/>
              <a:gd name="T23" fmla="*/ 22225 h 50"/>
              <a:gd name="T24" fmla="*/ 62089 w 45"/>
              <a:gd name="T25" fmla="*/ 34925 h 50"/>
              <a:gd name="T26" fmla="*/ 29633 w 45"/>
              <a:gd name="T27" fmla="*/ 77788 h 5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5"/>
              <a:gd name="T43" fmla="*/ 0 h 50"/>
              <a:gd name="T44" fmla="*/ 45 w 45"/>
              <a:gd name="T45" fmla="*/ 50 h 5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5" h="50">
                <a:moveTo>
                  <a:pt x="21" y="49"/>
                </a:moveTo>
                <a:lnTo>
                  <a:pt x="11" y="34"/>
                </a:lnTo>
                <a:lnTo>
                  <a:pt x="4" y="22"/>
                </a:lnTo>
                <a:lnTo>
                  <a:pt x="0" y="11"/>
                </a:lnTo>
                <a:lnTo>
                  <a:pt x="2" y="2"/>
                </a:lnTo>
                <a:lnTo>
                  <a:pt x="3" y="1"/>
                </a:lnTo>
                <a:lnTo>
                  <a:pt x="6" y="0"/>
                </a:lnTo>
                <a:lnTo>
                  <a:pt x="10" y="0"/>
                </a:lnTo>
                <a:lnTo>
                  <a:pt x="15" y="1"/>
                </a:lnTo>
                <a:lnTo>
                  <a:pt x="20" y="4"/>
                </a:lnTo>
                <a:lnTo>
                  <a:pt x="27" y="8"/>
                </a:lnTo>
                <a:lnTo>
                  <a:pt x="36" y="14"/>
                </a:lnTo>
                <a:lnTo>
                  <a:pt x="44" y="22"/>
                </a:lnTo>
                <a:lnTo>
                  <a:pt x="21" y="49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37" name="Freeform 234">
            <a:extLst>
              <a:ext uri="{FF2B5EF4-FFF2-40B4-BE49-F238E27FC236}">
                <a16:creationId xmlns:a16="http://schemas.microsoft.com/office/drawing/2014/main" id="{D47A17EE-0A18-4B9E-F3AA-621C9AE15A45}"/>
              </a:ext>
            </a:extLst>
          </p:cNvPr>
          <p:cNvSpPr>
            <a:spLocks/>
          </p:cNvSpPr>
          <p:nvPr/>
        </p:nvSpPr>
        <p:spPr bwMode="auto">
          <a:xfrm>
            <a:off x="2022475" y="5478463"/>
            <a:ext cx="77788" cy="95250"/>
          </a:xfrm>
          <a:custGeom>
            <a:avLst/>
            <a:gdLst>
              <a:gd name="T0" fmla="*/ 36773 w 55"/>
              <a:gd name="T1" fmla="*/ 93663 h 60"/>
              <a:gd name="T2" fmla="*/ 19801 w 55"/>
              <a:gd name="T3" fmla="*/ 65088 h 60"/>
              <a:gd name="T4" fmla="*/ 7072 w 55"/>
              <a:gd name="T5" fmla="*/ 41275 h 60"/>
              <a:gd name="T6" fmla="*/ 0 w 55"/>
              <a:gd name="T7" fmla="*/ 20638 h 60"/>
              <a:gd name="T8" fmla="*/ 2829 w 55"/>
              <a:gd name="T9" fmla="*/ 4763 h 60"/>
              <a:gd name="T10" fmla="*/ 5657 w 55"/>
              <a:gd name="T11" fmla="*/ 1588 h 60"/>
              <a:gd name="T12" fmla="*/ 9900 w 55"/>
              <a:gd name="T13" fmla="*/ 0 h 60"/>
              <a:gd name="T14" fmla="*/ 16972 w 55"/>
              <a:gd name="T15" fmla="*/ 0 h 60"/>
              <a:gd name="T16" fmla="*/ 25458 w 55"/>
              <a:gd name="T17" fmla="*/ 1588 h 60"/>
              <a:gd name="T18" fmla="*/ 35358 w 55"/>
              <a:gd name="T19" fmla="*/ 7938 h 60"/>
              <a:gd name="T20" fmla="*/ 46673 w 55"/>
              <a:gd name="T21" fmla="*/ 15875 h 60"/>
              <a:gd name="T22" fmla="*/ 62230 w 55"/>
              <a:gd name="T23" fmla="*/ 26988 h 60"/>
              <a:gd name="T24" fmla="*/ 76374 w 55"/>
              <a:gd name="T25" fmla="*/ 41275 h 6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5"/>
              <a:gd name="T40" fmla="*/ 0 h 60"/>
              <a:gd name="T41" fmla="*/ 55 w 55"/>
              <a:gd name="T42" fmla="*/ 60 h 6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5" h="60">
                <a:moveTo>
                  <a:pt x="26" y="59"/>
                </a:moveTo>
                <a:lnTo>
                  <a:pt x="14" y="41"/>
                </a:lnTo>
                <a:lnTo>
                  <a:pt x="5" y="26"/>
                </a:lnTo>
                <a:lnTo>
                  <a:pt x="0" y="13"/>
                </a:lnTo>
                <a:lnTo>
                  <a:pt x="2" y="3"/>
                </a:lnTo>
                <a:lnTo>
                  <a:pt x="4" y="1"/>
                </a:lnTo>
                <a:lnTo>
                  <a:pt x="7" y="0"/>
                </a:lnTo>
                <a:lnTo>
                  <a:pt x="12" y="0"/>
                </a:lnTo>
                <a:lnTo>
                  <a:pt x="18" y="1"/>
                </a:lnTo>
                <a:lnTo>
                  <a:pt x="25" y="5"/>
                </a:lnTo>
                <a:lnTo>
                  <a:pt x="33" y="10"/>
                </a:lnTo>
                <a:lnTo>
                  <a:pt x="44" y="17"/>
                </a:lnTo>
                <a:lnTo>
                  <a:pt x="54" y="26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38" name="Freeform 235">
            <a:extLst>
              <a:ext uri="{FF2B5EF4-FFF2-40B4-BE49-F238E27FC236}">
                <a16:creationId xmlns:a16="http://schemas.microsoft.com/office/drawing/2014/main" id="{5E020127-4572-AE44-3591-BDFED3131DA8}"/>
              </a:ext>
            </a:extLst>
          </p:cNvPr>
          <p:cNvSpPr>
            <a:spLocks/>
          </p:cNvSpPr>
          <p:nvPr/>
        </p:nvSpPr>
        <p:spPr bwMode="auto">
          <a:xfrm>
            <a:off x="1971675" y="5551488"/>
            <a:ext cx="66675" cy="71437"/>
          </a:xfrm>
          <a:custGeom>
            <a:avLst/>
            <a:gdLst>
              <a:gd name="T0" fmla="*/ 41672 w 48"/>
              <a:gd name="T1" fmla="*/ 69850 h 45"/>
              <a:gd name="T2" fmla="*/ 22225 w 48"/>
              <a:gd name="T3" fmla="*/ 52387 h 45"/>
              <a:gd name="T4" fmla="*/ 9723 w 48"/>
              <a:gd name="T5" fmla="*/ 33337 h 45"/>
              <a:gd name="T6" fmla="*/ 2778 w 48"/>
              <a:gd name="T7" fmla="*/ 25400 h 45"/>
              <a:gd name="T8" fmla="*/ 2778 w 48"/>
              <a:gd name="T9" fmla="*/ 17462 h 45"/>
              <a:gd name="T10" fmla="*/ 0 w 48"/>
              <a:gd name="T11" fmla="*/ 11112 h 45"/>
              <a:gd name="T12" fmla="*/ 0 w 48"/>
              <a:gd name="T13" fmla="*/ 7937 h 45"/>
              <a:gd name="T14" fmla="*/ 2778 w 48"/>
              <a:gd name="T15" fmla="*/ 3175 h 45"/>
              <a:gd name="T16" fmla="*/ 5556 w 48"/>
              <a:gd name="T17" fmla="*/ 0 h 45"/>
              <a:gd name="T18" fmla="*/ 11113 w 48"/>
              <a:gd name="T19" fmla="*/ 0 h 45"/>
              <a:gd name="T20" fmla="*/ 16669 w 48"/>
              <a:gd name="T21" fmla="*/ 0 h 45"/>
              <a:gd name="T22" fmla="*/ 27781 w 48"/>
              <a:gd name="T23" fmla="*/ 3175 h 45"/>
              <a:gd name="T24" fmla="*/ 37505 w 48"/>
              <a:gd name="T25" fmla="*/ 7937 h 45"/>
              <a:gd name="T26" fmla="*/ 51395 w 48"/>
              <a:gd name="T27" fmla="*/ 11112 h 45"/>
              <a:gd name="T28" fmla="*/ 65286 w 48"/>
              <a:gd name="T29" fmla="*/ 20637 h 45"/>
              <a:gd name="T30" fmla="*/ 41672 w 48"/>
              <a:gd name="T31" fmla="*/ 69850 h 4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8"/>
              <a:gd name="T49" fmla="*/ 0 h 45"/>
              <a:gd name="T50" fmla="*/ 48 w 48"/>
              <a:gd name="T51" fmla="*/ 45 h 4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8" h="45">
                <a:moveTo>
                  <a:pt x="30" y="44"/>
                </a:moveTo>
                <a:lnTo>
                  <a:pt x="16" y="33"/>
                </a:lnTo>
                <a:lnTo>
                  <a:pt x="7" y="21"/>
                </a:lnTo>
                <a:lnTo>
                  <a:pt x="2" y="16"/>
                </a:lnTo>
                <a:lnTo>
                  <a:pt x="2" y="11"/>
                </a:lnTo>
                <a:lnTo>
                  <a:pt x="0" y="7"/>
                </a:lnTo>
                <a:lnTo>
                  <a:pt x="0" y="5"/>
                </a:lnTo>
                <a:lnTo>
                  <a:pt x="2" y="2"/>
                </a:lnTo>
                <a:lnTo>
                  <a:pt x="4" y="0"/>
                </a:lnTo>
                <a:lnTo>
                  <a:pt x="8" y="0"/>
                </a:lnTo>
                <a:lnTo>
                  <a:pt x="12" y="0"/>
                </a:lnTo>
                <a:lnTo>
                  <a:pt x="20" y="2"/>
                </a:lnTo>
                <a:lnTo>
                  <a:pt x="27" y="5"/>
                </a:lnTo>
                <a:lnTo>
                  <a:pt x="37" y="7"/>
                </a:lnTo>
                <a:lnTo>
                  <a:pt x="47" y="13"/>
                </a:lnTo>
                <a:lnTo>
                  <a:pt x="30" y="4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39" name="Freeform 236">
            <a:extLst>
              <a:ext uri="{FF2B5EF4-FFF2-40B4-BE49-F238E27FC236}">
                <a16:creationId xmlns:a16="http://schemas.microsoft.com/office/drawing/2014/main" id="{91042795-76FD-3145-A217-39BEF1AC70B8}"/>
              </a:ext>
            </a:extLst>
          </p:cNvPr>
          <p:cNvSpPr>
            <a:spLocks/>
          </p:cNvSpPr>
          <p:nvPr/>
        </p:nvSpPr>
        <p:spPr bwMode="auto">
          <a:xfrm>
            <a:off x="1971675" y="5551488"/>
            <a:ext cx="80963" cy="87312"/>
          </a:xfrm>
          <a:custGeom>
            <a:avLst/>
            <a:gdLst>
              <a:gd name="T0" fmla="*/ 50253 w 58"/>
              <a:gd name="T1" fmla="*/ 85725 h 55"/>
              <a:gd name="T2" fmla="*/ 26522 w 58"/>
              <a:gd name="T3" fmla="*/ 63500 h 55"/>
              <a:gd name="T4" fmla="*/ 11167 w 58"/>
              <a:gd name="T5" fmla="*/ 41275 h 55"/>
              <a:gd name="T6" fmla="*/ 4188 w 58"/>
              <a:gd name="T7" fmla="*/ 31750 h 55"/>
              <a:gd name="T8" fmla="*/ 2792 w 58"/>
              <a:gd name="T9" fmla="*/ 22225 h 55"/>
              <a:gd name="T10" fmla="*/ 0 w 58"/>
              <a:gd name="T11" fmla="*/ 14287 h 55"/>
              <a:gd name="T12" fmla="*/ 0 w 58"/>
              <a:gd name="T13" fmla="*/ 9525 h 55"/>
              <a:gd name="T14" fmla="*/ 2792 w 58"/>
              <a:gd name="T15" fmla="*/ 3175 h 55"/>
              <a:gd name="T16" fmla="*/ 6980 w 58"/>
              <a:gd name="T17" fmla="*/ 0 h 55"/>
              <a:gd name="T18" fmla="*/ 13959 w 58"/>
              <a:gd name="T19" fmla="*/ 0 h 55"/>
              <a:gd name="T20" fmla="*/ 20939 w 58"/>
              <a:gd name="T21" fmla="*/ 0 h 55"/>
              <a:gd name="T22" fmla="*/ 33502 w 58"/>
              <a:gd name="T23" fmla="*/ 3175 h 55"/>
              <a:gd name="T24" fmla="*/ 46065 w 58"/>
              <a:gd name="T25" fmla="*/ 9525 h 55"/>
              <a:gd name="T26" fmla="*/ 62816 w 58"/>
              <a:gd name="T27" fmla="*/ 14287 h 55"/>
              <a:gd name="T28" fmla="*/ 79567 w 58"/>
              <a:gd name="T29" fmla="*/ 25400 h 5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8"/>
              <a:gd name="T46" fmla="*/ 0 h 55"/>
              <a:gd name="T47" fmla="*/ 58 w 58"/>
              <a:gd name="T48" fmla="*/ 55 h 5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8" h="55">
                <a:moveTo>
                  <a:pt x="36" y="54"/>
                </a:moveTo>
                <a:lnTo>
                  <a:pt x="19" y="40"/>
                </a:lnTo>
                <a:lnTo>
                  <a:pt x="8" y="26"/>
                </a:lnTo>
                <a:lnTo>
                  <a:pt x="3" y="20"/>
                </a:lnTo>
                <a:lnTo>
                  <a:pt x="2" y="14"/>
                </a:lnTo>
                <a:lnTo>
                  <a:pt x="0" y="9"/>
                </a:lnTo>
                <a:lnTo>
                  <a:pt x="0" y="6"/>
                </a:lnTo>
                <a:lnTo>
                  <a:pt x="2" y="2"/>
                </a:lnTo>
                <a:lnTo>
                  <a:pt x="5" y="0"/>
                </a:lnTo>
                <a:lnTo>
                  <a:pt x="10" y="0"/>
                </a:lnTo>
                <a:lnTo>
                  <a:pt x="15" y="0"/>
                </a:lnTo>
                <a:lnTo>
                  <a:pt x="24" y="2"/>
                </a:lnTo>
                <a:lnTo>
                  <a:pt x="33" y="6"/>
                </a:lnTo>
                <a:lnTo>
                  <a:pt x="45" y="9"/>
                </a:lnTo>
                <a:lnTo>
                  <a:pt x="57" y="16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40" name="Freeform 237">
            <a:extLst>
              <a:ext uri="{FF2B5EF4-FFF2-40B4-BE49-F238E27FC236}">
                <a16:creationId xmlns:a16="http://schemas.microsoft.com/office/drawing/2014/main" id="{16778A0C-4A66-90C1-06DD-9330BB747FA9}"/>
              </a:ext>
            </a:extLst>
          </p:cNvPr>
          <p:cNvSpPr>
            <a:spLocks/>
          </p:cNvSpPr>
          <p:nvPr/>
        </p:nvSpPr>
        <p:spPr bwMode="auto">
          <a:xfrm>
            <a:off x="1938338" y="5634038"/>
            <a:ext cx="68262" cy="58737"/>
          </a:xfrm>
          <a:custGeom>
            <a:avLst/>
            <a:gdLst>
              <a:gd name="T0" fmla="*/ 59729 w 48"/>
              <a:gd name="T1" fmla="*/ 57150 h 37"/>
              <a:gd name="T2" fmla="*/ 46930 w 48"/>
              <a:gd name="T3" fmla="*/ 52387 h 37"/>
              <a:gd name="T4" fmla="*/ 35553 w 48"/>
              <a:gd name="T5" fmla="*/ 46037 h 37"/>
              <a:gd name="T6" fmla="*/ 24176 w 48"/>
              <a:gd name="T7" fmla="*/ 41275 h 37"/>
              <a:gd name="T8" fmla="*/ 17066 w 48"/>
              <a:gd name="T9" fmla="*/ 34925 h 37"/>
              <a:gd name="T10" fmla="*/ 9955 w 48"/>
              <a:gd name="T11" fmla="*/ 28575 h 37"/>
              <a:gd name="T12" fmla="*/ 4266 w 48"/>
              <a:gd name="T13" fmla="*/ 25400 h 37"/>
              <a:gd name="T14" fmla="*/ 2844 w 48"/>
              <a:gd name="T15" fmla="*/ 20637 h 37"/>
              <a:gd name="T16" fmla="*/ 0 w 48"/>
              <a:gd name="T17" fmla="*/ 14287 h 37"/>
              <a:gd name="T18" fmla="*/ 2844 w 48"/>
              <a:gd name="T19" fmla="*/ 7937 h 37"/>
              <a:gd name="T20" fmla="*/ 4266 w 48"/>
              <a:gd name="T21" fmla="*/ 7937 h 37"/>
              <a:gd name="T22" fmla="*/ 8533 w 48"/>
              <a:gd name="T23" fmla="*/ 3175 h 37"/>
              <a:gd name="T24" fmla="*/ 17066 w 48"/>
              <a:gd name="T25" fmla="*/ 0 h 37"/>
              <a:gd name="T26" fmla="*/ 24176 w 48"/>
              <a:gd name="T27" fmla="*/ 0 h 37"/>
              <a:gd name="T28" fmla="*/ 36975 w 48"/>
              <a:gd name="T29" fmla="*/ 0 h 37"/>
              <a:gd name="T30" fmla="*/ 51197 w 48"/>
              <a:gd name="T31" fmla="*/ 0 h 37"/>
              <a:gd name="T32" fmla="*/ 66840 w 48"/>
              <a:gd name="T33" fmla="*/ 3175 h 37"/>
              <a:gd name="T34" fmla="*/ 59729 w 48"/>
              <a:gd name="T35" fmla="*/ 57150 h 37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48"/>
              <a:gd name="T55" fmla="*/ 0 h 37"/>
              <a:gd name="T56" fmla="*/ 48 w 48"/>
              <a:gd name="T57" fmla="*/ 37 h 37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48" h="37">
                <a:moveTo>
                  <a:pt x="42" y="36"/>
                </a:moveTo>
                <a:lnTo>
                  <a:pt x="33" y="33"/>
                </a:lnTo>
                <a:lnTo>
                  <a:pt x="25" y="29"/>
                </a:lnTo>
                <a:lnTo>
                  <a:pt x="17" y="26"/>
                </a:lnTo>
                <a:lnTo>
                  <a:pt x="12" y="22"/>
                </a:lnTo>
                <a:lnTo>
                  <a:pt x="7" y="18"/>
                </a:lnTo>
                <a:lnTo>
                  <a:pt x="3" y="16"/>
                </a:lnTo>
                <a:lnTo>
                  <a:pt x="2" y="13"/>
                </a:lnTo>
                <a:lnTo>
                  <a:pt x="0" y="9"/>
                </a:lnTo>
                <a:lnTo>
                  <a:pt x="2" y="5"/>
                </a:lnTo>
                <a:lnTo>
                  <a:pt x="3" y="5"/>
                </a:lnTo>
                <a:lnTo>
                  <a:pt x="6" y="2"/>
                </a:lnTo>
                <a:lnTo>
                  <a:pt x="12" y="0"/>
                </a:lnTo>
                <a:lnTo>
                  <a:pt x="17" y="0"/>
                </a:lnTo>
                <a:lnTo>
                  <a:pt x="26" y="0"/>
                </a:lnTo>
                <a:lnTo>
                  <a:pt x="36" y="0"/>
                </a:lnTo>
                <a:lnTo>
                  <a:pt x="47" y="2"/>
                </a:lnTo>
                <a:lnTo>
                  <a:pt x="42" y="36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41" name="Freeform 238">
            <a:extLst>
              <a:ext uri="{FF2B5EF4-FFF2-40B4-BE49-F238E27FC236}">
                <a16:creationId xmlns:a16="http://schemas.microsoft.com/office/drawing/2014/main" id="{92B4A5B8-0669-0BF0-0881-D11F48071D86}"/>
              </a:ext>
            </a:extLst>
          </p:cNvPr>
          <p:cNvSpPr>
            <a:spLocks/>
          </p:cNvSpPr>
          <p:nvPr/>
        </p:nvSpPr>
        <p:spPr bwMode="auto">
          <a:xfrm>
            <a:off x="1938338" y="5634038"/>
            <a:ext cx="84137" cy="74612"/>
          </a:xfrm>
          <a:custGeom>
            <a:avLst/>
            <a:gdLst>
              <a:gd name="T0" fmla="*/ 73983 w 58"/>
              <a:gd name="T1" fmla="*/ 73025 h 47"/>
              <a:gd name="T2" fmla="*/ 58026 w 58"/>
              <a:gd name="T3" fmla="*/ 66675 h 47"/>
              <a:gd name="T4" fmla="*/ 43519 w 58"/>
              <a:gd name="T5" fmla="*/ 58737 h 47"/>
              <a:gd name="T6" fmla="*/ 30463 w 58"/>
              <a:gd name="T7" fmla="*/ 52387 h 47"/>
              <a:gd name="T8" fmla="*/ 20309 w 58"/>
              <a:gd name="T9" fmla="*/ 44450 h 47"/>
              <a:gd name="T10" fmla="*/ 13056 w 58"/>
              <a:gd name="T11" fmla="*/ 36512 h 47"/>
              <a:gd name="T12" fmla="*/ 5803 w 58"/>
              <a:gd name="T13" fmla="*/ 31750 h 47"/>
              <a:gd name="T14" fmla="*/ 2901 w 58"/>
              <a:gd name="T15" fmla="*/ 25400 h 47"/>
              <a:gd name="T16" fmla="*/ 0 w 58"/>
              <a:gd name="T17" fmla="*/ 17462 h 47"/>
              <a:gd name="T18" fmla="*/ 2901 w 58"/>
              <a:gd name="T19" fmla="*/ 11112 h 47"/>
              <a:gd name="T20" fmla="*/ 5803 w 58"/>
              <a:gd name="T21" fmla="*/ 9525 h 47"/>
              <a:gd name="T22" fmla="*/ 10154 w 58"/>
              <a:gd name="T23" fmla="*/ 3175 h 47"/>
              <a:gd name="T24" fmla="*/ 20309 w 58"/>
              <a:gd name="T25" fmla="*/ 0 h 47"/>
              <a:gd name="T26" fmla="*/ 30463 w 58"/>
              <a:gd name="T27" fmla="*/ 0 h 47"/>
              <a:gd name="T28" fmla="*/ 44970 w 58"/>
              <a:gd name="T29" fmla="*/ 0 h 47"/>
              <a:gd name="T30" fmla="*/ 63828 w 58"/>
              <a:gd name="T31" fmla="*/ 0 h 47"/>
              <a:gd name="T32" fmla="*/ 82686 w 58"/>
              <a:gd name="T33" fmla="*/ 3175 h 4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58"/>
              <a:gd name="T52" fmla="*/ 0 h 47"/>
              <a:gd name="T53" fmla="*/ 58 w 58"/>
              <a:gd name="T54" fmla="*/ 47 h 47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58" h="47">
                <a:moveTo>
                  <a:pt x="51" y="46"/>
                </a:moveTo>
                <a:lnTo>
                  <a:pt x="40" y="42"/>
                </a:lnTo>
                <a:lnTo>
                  <a:pt x="30" y="37"/>
                </a:lnTo>
                <a:lnTo>
                  <a:pt x="21" y="33"/>
                </a:lnTo>
                <a:lnTo>
                  <a:pt x="14" y="28"/>
                </a:lnTo>
                <a:lnTo>
                  <a:pt x="9" y="23"/>
                </a:lnTo>
                <a:lnTo>
                  <a:pt x="4" y="20"/>
                </a:lnTo>
                <a:lnTo>
                  <a:pt x="2" y="16"/>
                </a:lnTo>
                <a:lnTo>
                  <a:pt x="0" y="11"/>
                </a:lnTo>
                <a:lnTo>
                  <a:pt x="2" y="7"/>
                </a:lnTo>
                <a:lnTo>
                  <a:pt x="4" y="6"/>
                </a:lnTo>
                <a:lnTo>
                  <a:pt x="7" y="2"/>
                </a:lnTo>
                <a:lnTo>
                  <a:pt x="14" y="0"/>
                </a:lnTo>
                <a:lnTo>
                  <a:pt x="21" y="0"/>
                </a:lnTo>
                <a:lnTo>
                  <a:pt x="31" y="0"/>
                </a:lnTo>
                <a:lnTo>
                  <a:pt x="44" y="0"/>
                </a:lnTo>
                <a:lnTo>
                  <a:pt x="57" y="2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42" name="Freeform 239">
            <a:extLst>
              <a:ext uri="{FF2B5EF4-FFF2-40B4-BE49-F238E27FC236}">
                <a16:creationId xmlns:a16="http://schemas.microsoft.com/office/drawing/2014/main" id="{B749B036-DCFC-1EEF-3365-C08B648DEAB1}"/>
              </a:ext>
            </a:extLst>
          </p:cNvPr>
          <p:cNvSpPr>
            <a:spLocks/>
          </p:cNvSpPr>
          <p:nvPr/>
        </p:nvSpPr>
        <p:spPr bwMode="auto">
          <a:xfrm>
            <a:off x="1946275" y="5703888"/>
            <a:ext cx="33338" cy="52387"/>
          </a:xfrm>
          <a:custGeom>
            <a:avLst/>
            <a:gdLst>
              <a:gd name="T0" fmla="*/ 32004 w 25"/>
              <a:gd name="T1" fmla="*/ 47625 h 33"/>
              <a:gd name="T2" fmla="*/ 21336 w 25"/>
              <a:gd name="T3" fmla="*/ 50800 h 33"/>
              <a:gd name="T4" fmla="*/ 10668 w 25"/>
              <a:gd name="T5" fmla="*/ 50800 h 33"/>
              <a:gd name="T6" fmla="*/ 5334 w 25"/>
              <a:gd name="T7" fmla="*/ 46037 h 33"/>
              <a:gd name="T8" fmla="*/ 1334 w 25"/>
              <a:gd name="T9" fmla="*/ 39687 h 33"/>
              <a:gd name="T10" fmla="*/ 0 w 25"/>
              <a:gd name="T11" fmla="*/ 31750 h 33"/>
              <a:gd name="T12" fmla="*/ 2667 w 25"/>
              <a:gd name="T13" fmla="*/ 22225 h 33"/>
              <a:gd name="T14" fmla="*/ 6668 w 25"/>
              <a:gd name="T15" fmla="*/ 17462 h 33"/>
              <a:gd name="T16" fmla="*/ 10668 w 25"/>
              <a:gd name="T17" fmla="*/ 12700 h 33"/>
              <a:gd name="T18" fmla="*/ 17336 w 25"/>
              <a:gd name="T19" fmla="*/ 6350 h 33"/>
              <a:gd name="T20" fmla="*/ 24003 w 25"/>
              <a:gd name="T21" fmla="*/ 0 h 33"/>
              <a:gd name="T22" fmla="*/ 32004 w 25"/>
              <a:gd name="T23" fmla="*/ 47625 h 3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5"/>
              <a:gd name="T37" fmla="*/ 0 h 33"/>
              <a:gd name="T38" fmla="*/ 25 w 25"/>
              <a:gd name="T39" fmla="*/ 33 h 3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5" h="33">
                <a:moveTo>
                  <a:pt x="24" y="30"/>
                </a:moveTo>
                <a:lnTo>
                  <a:pt x="16" y="32"/>
                </a:lnTo>
                <a:lnTo>
                  <a:pt x="8" y="32"/>
                </a:lnTo>
                <a:lnTo>
                  <a:pt x="4" y="29"/>
                </a:lnTo>
                <a:lnTo>
                  <a:pt x="1" y="25"/>
                </a:lnTo>
                <a:lnTo>
                  <a:pt x="0" y="20"/>
                </a:lnTo>
                <a:lnTo>
                  <a:pt x="2" y="14"/>
                </a:lnTo>
                <a:lnTo>
                  <a:pt x="5" y="11"/>
                </a:lnTo>
                <a:lnTo>
                  <a:pt x="8" y="8"/>
                </a:lnTo>
                <a:lnTo>
                  <a:pt x="13" y="4"/>
                </a:lnTo>
                <a:lnTo>
                  <a:pt x="18" y="0"/>
                </a:lnTo>
                <a:lnTo>
                  <a:pt x="24" y="3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43" name="Freeform 240">
            <a:extLst>
              <a:ext uri="{FF2B5EF4-FFF2-40B4-BE49-F238E27FC236}">
                <a16:creationId xmlns:a16="http://schemas.microsoft.com/office/drawing/2014/main" id="{5A28DF5A-4270-A7E5-13C9-CCE1FF250925}"/>
              </a:ext>
            </a:extLst>
          </p:cNvPr>
          <p:cNvSpPr>
            <a:spLocks/>
          </p:cNvSpPr>
          <p:nvPr/>
        </p:nvSpPr>
        <p:spPr bwMode="auto">
          <a:xfrm>
            <a:off x="1946275" y="5703888"/>
            <a:ext cx="47625" cy="68262"/>
          </a:xfrm>
          <a:custGeom>
            <a:avLst/>
            <a:gdLst>
              <a:gd name="T0" fmla="*/ 46264 w 35"/>
              <a:gd name="T1" fmla="*/ 63500 h 43"/>
              <a:gd name="T2" fmla="*/ 29936 w 35"/>
              <a:gd name="T3" fmla="*/ 66675 h 43"/>
              <a:gd name="T4" fmla="*/ 16329 w 35"/>
              <a:gd name="T5" fmla="*/ 66675 h 43"/>
              <a:gd name="T6" fmla="*/ 6804 w 35"/>
              <a:gd name="T7" fmla="*/ 60325 h 43"/>
              <a:gd name="T8" fmla="*/ 1361 w 35"/>
              <a:gd name="T9" fmla="*/ 52387 h 43"/>
              <a:gd name="T10" fmla="*/ 0 w 35"/>
              <a:gd name="T11" fmla="*/ 41275 h 43"/>
              <a:gd name="T12" fmla="*/ 4082 w 35"/>
              <a:gd name="T13" fmla="*/ 30162 h 43"/>
              <a:gd name="T14" fmla="*/ 9525 w 35"/>
              <a:gd name="T15" fmla="*/ 22225 h 43"/>
              <a:gd name="T16" fmla="*/ 16329 w 35"/>
              <a:gd name="T17" fmla="*/ 15875 h 43"/>
              <a:gd name="T18" fmla="*/ 25854 w 35"/>
              <a:gd name="T19" fmla="*/ 7937 h 43"/>
              <a:gd name="T20" fmla="*/ 35379 w 35"/>
              <a:gd name="T21" fmla="*/ 0 h 4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5"/>
              <a:gd name="T34" fmla="*/ 0 h 43"/>
              <a:gd name="T35" fmla="*/ 35 w 35"/>
              <a:gd name="T36" fmla="*/ 43 h 4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5" h="43">
                <a:moveTo>
                  <a:pt x="34" y="40"/>
                </a:moveTo>
                <a:lnTo>
                  <a:pt x="22" y="42"/>
                </a:lnTo>
                <a:lnTo>
                  <a:pt x="12" y="42"/>
                </a:lnTo>
                <a:lnTo>
                  <a:pt x="5" y="38"/>
                </a:lnTo>
                <a:lnTo>
                  <a:pt x="1" y="33"/>
                </a:lnTo>
                <a:lnTo>
                  <a:pt x="0" y="26"/>
                </a:lnTo>
                <a:lnTo>
                  <a:pt x="3" y="19"/>
                </a:lnTo>
                <a:lnTo>
                  <a:pt x="7" y="14"/>
                </a:lnTo>
                <a:lnTo>
                  <a:pt x="12" y="10"/>
                </a:lnTo>
                <a:lnTo>
                  <a:pt x="19" y="5"/>
                </a:lnTo>
                <a:lnTo>
                  <a:pt x="26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44" name="Freeform 241">
            <a:extLst>
              <a:ext uri="{FF2B5EF4-FFF2-40B4-BE49-F238E27FC236}">
                <a16:creationId xmlns:a16="http://schemas.microsoft.com/office/drawing/2014/main" id="{1DA7E104-6674-1768-1BE7-664C589B6568}"/>
              </a:ext>
            </a:extLst>
          </p:cNvPr>
          <p:cNvSpPr>
            <a:spLocks/>
          </p:cNvSpPr>
          <p:nvPr/>
        </p:nvSpPr>
        <p:spPr bwMode="auto">
          <a:xfrm>
            <a:off x="2063750" y="5408613"/>
            <a:ext cx="63500" cy="79375"/>
          </a:xfrm>
          <a:custGeom>
            <a:avLst/>
            <a:gdLst>
              <a:gd name="T0" fmla="*/ 29633 w 45"/>
              <a:gd name="T1" fmla="*/ 77788 h 50"/>
              <a:gd name="T2" fmla="*/ 15522 w 45"/>
              <a:gd name="T3" fmla="*/ 55563 h 50"/>
              <a:gd name="T4" fmla="*/ 5644 w 45"/>
              <a:gd name="T5" fmla="*/ 34925 h 50"/>
              <a:gd name="T6" fmla="*/ 0 w 45"/>
              <a:gd name="T7" fmla="*/ 19050 h 50"/>
              <a:gd name="T8" fmla="*/ 1411 w 45"/>
              <a:gd name="T9" fmla="*/ 4763 h 50"/>
              <a:gd name="T10" fmla="*/ 2822 w 45"/>
              <a:gd name="T11" fmla="*/ 3175 h 50"/>
              <a:gd name="T12" fmla="*/ 8467 w 45"/>
              <a:gd name="T13" fmla="*/ 0 h 50"/>
              <a:gd name="T14" fmla="*/ 14111 w 45"/>
              <a:gd name="T15" fmla="*/ 0 h 50"/>
              <a:gd name="T16" fmla="*/ 19756 w 45"/>
              <a:gd name="T17" fmla="*/ 3175 h 50"/>
              <a:gd name="T18" fmla="*/ 28222 w 45"/>
              <a:gd name="T19" fmla="*/ 6350 h 50"/>
              <a:gd name="T20" fmla="*/ 38100 w 45"/>
              <a:gd name="T21" fmla="*/ 14288 h 50"/>
              <a:gd name="T22" fmla="*/ 49389 w 45"/>
              <a:gd name="T23" fmla="*/ 23812 h 50"/>
              <a:gd name="T24" fmla="*/ 62089 w 45"/>
              <a:gd name="T25" fmla="*/ 34925 h 50"/>
              <a:gd name="T26" fmla="*/ 29633 w 45"/>
              <a:gd name="T27" fmla="*/ 77788 h 5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5"/>
              <a:gd name="T43" fmla="*/ 0 h 50"/>
              <a:gd name="T44" fmla="*/ 45 w 45"/>
              <a:gd name="T45" fmla="*/ 50 h 5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5" h="50">
                <a:moveTo>
                  <a:pt x="21" y="49"/>
                </a:moveTo>
                <a:lnTo>
                  <a:pt x="11" y="35"/>
                </a:lnTo>
                <a:lnTo>
                  <a:pt x="4" y="22"/>
                </a:lnTo>
                <a:lnTo>
                  <a:pt x="0" y="12"/>
                </a:lnTo>
                <a:lnTo>
                  <a:pt x="1" y="3"/>
                </a:lnTo>
                <a:lnTo>
                  <a:pt x="2" y="2"/>
                </a:lnTo>
                <a:lnTo>
                  <a:pt x="6" y="0"/>
                </a:lnTo>
                <a:lnTo>
                  <a:pt x="10" y="0"/>
                </a:lnTo>
                <a:lnTo>
                  <a:pt x="14" y="2"/>
                </a:lnTo>
                <a:lnTo>
                  <a:pt x="20" y="4"/>
                </a:lnTo>
                <a:lnTo>
                  <a:pt x="27" y="9"/>
                </a:lnTo>
                <a:lnTo>
                  <a:pt x="35" y="15"/>
                </a:lnTo>
                <a:lnTo>
                  <a:pt x="44" y="22"/>
                </a:lnTo>
                <a:lnTo>
                  <a:pt x="21" y="49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45" name="Freeform 242">
            <a:extLst>
              <a:ext uri="{FF2B5EF4-FFF2-40B4-BE49-F238E27FC236}">
                <a16:creationId xmlns:a16="http://schemas.microsoft.com/office/drawing/2014/main" id="{512F51A5-30A1-9C7D-050C-9104B5FF2693}"/>
              </a:ext>
            </a:extLst>
          </p:cNvPr>
          <p:cNvSpPr>
            <a:spLocks/>
          </p:cNvSpPr>
          <p:nvPr/>
        </p:nvSpPr>
        <p:spPr bwMode="auto">
          <a:xfrm>
            <a:off x="2063750" y="5408613"/>
            <a:ext cx="77788" cy="95250"/>
          </a:xfrm>
          <a:custGeom>
            <a:avLst/>
            <a:gdLst>
              <a:gd name="T0" fmla="*/ 36773 w 55"/>
              <a:gd name="T1" fmla="*/ 93663 h 60"/>
              <a:gd name="T2" fmla="*/ 19801 w 55"/>
              <a:gd name="T3" fmla="*/ 66675 h 60"/>
              <a:gd name="T4" fmla="*/ 7072 w 55"/>
              <a:gd name="T5" fmla="*/ 41275 h 60"/>
              <a:gd name="T6" fmla="*/ 0 w 55"/>
              <a:gd name="T7" fmla="*/ 22225 h 60"/>
              <a:gd name="T8" fmla="*/ 1414 w 55"/>
              <a:gd name="T9" fmla="*/ 6350 h 60"/>
              <a:gd name="T10" fmla="*/ 4243 w 55"/>
              <a:gd name="T11" fmla="*/ 3175 h 60"/>
              <a:gd name="T12" fmla="*/ 9900 w 55"/>
              <a:gd name="T13" fmla="*/ 0 h 60"/>
              <a:gd name="T14" fmla="*/ 16972 w 55"/>
              <a:gd name="T15" fmla="*/ 0 h 60"/>
              <a:gd name="T16" fmla="*/ 24044 w 55"/>
              <a:gd name="T17" fmla="*/ 3175 h 60"/>
              <a:gd name="T18" fmla="*/ 33944 w 55"/>
              <a:gd name="T19" fmla="*/ 7938 h 60"/>
              <a:gd name="T20" fmla="*/ 46673 w 55"/>
              <a:gd name="T21" fmla="*/ 17463 h 60"/>
              <a:gd name="T22" fmla="*/ 60816 w 55"/>
              <a:gd name="T23" fmla="*/ 28575 h 60"/>
              <a:gd name="T24" fmla="*/ 76374 w 55"/>
              <a:gd name="T25" fmla="*/ 41275 h 6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5"/>
              <a:gd name="T40" fmla="*/ 0 h 60"/>
              <a:gd name="T41" fmla="*/ 55 w 55"/>
              <a:gd name="T42" fmla="*/ 60 h 6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5" h="60">
                <a:moveTo>
                  <a:pt x="26" y="59"/>
                </a:moveTo>
                <a:lnTo>
                  <a:pt x="14" y="42"/>
                </a:lnTo>
                <a:lnTo>
                  <a:pt x="5" y="26"/>
                </a:lnTo>
                <a:lnTo>
                  <a:pt x="0" y="14"/>
                </a:lnTo>
                <a:lnTo>
                  <a:pt x="1" y="4"/>
                </a:lnTo>
                <a:lnTo>
                  <a:pt x="3" y="2"/>
                </a:lnTo>
                <a:lnTo>
                  <a:pt x="7" y="0"/>
                </a:lnTo>
                <a:lnTo>
                  <a:pt x="12" y="0"/>
                </a:lnTo>
                <a:lnTo>
                  <a:pt x="17" y="2"/>
                </a:lnTo>
                <a:lnTo>
                  <a:pt x="24" y="5"/>
                </a:lnTo>
                <a:lnTo>
                  <a:pt x="33" y="11"/>
                </a:lnTo>
                <a:lnTo>
                  <a:pt x="43" y="18"/>
                </a:lnTo>
                <a:lnTo>
                  <a:pt x="54" y="26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46" name="Freeform 243">
            <a:extLst>
              <a:ext uri="{FF2B5EF4-FFF2-40B4-BE49-F238E27FC236}">
                <a16:creationId xmlns:a16="http://schemas.microsoft.com/office/drawing/2014/main" id="{F8CB7443-AFB7-B87C-D570-3BFB0FCCCA00}"/>
              </a:ext>
            </a:extLst>
          </p:cNvPr>
          <p:cNvSpPr>
            <a:spLocks/>
          </p:cNvSpPr>
          <p:nvPr/>
        </p:nvSpPr>
        <p:spPr bwMode="auto">
          <a:xfrm>
            <a:off x="2051050" y="5764213"/>
            <a:ext cx="44450" cy="53975"/>
          </a:xfrm>
          <a:custGeom>
            <a:avLst/>
            <a:gdLst>
              <a:gd name="T0" fmla="*/ 32979 w 31"/>
              <a:gd name="T1" fmla="*/ 0 h 34"/>
              <a:gd name="T2" fmla="*/ 41582 w 31"/>
              <a:gd name="T3" fmla="*/ 17462 h 34"/>
              <a:gd name="T4" fmla="*/ 43016 w 31"/>
              <a:gd name="T5" fmla="*/ 31750 h 34"/>
              <a:gd name="T6" fmla="*/ 43016 w 31"/>
              <a:gd name="T7" fmla="*/ 42862 h 34"/>
              <a:gd name="T8" fmla="*/ 41582 w 31"/>
              <a:gd name="T9" fmla="*/ 50800 h 34"/>
              <a:gd name="T10" fmla="*/ 37281 w 31"/>
              <a:gd name="T11" fmla="*/ 52388 h 34"/>
              <a:gd name="T12" fmla="*/ 35847 w 31"/>
              <a:gd name="T13" fmla="*/ 52388 h 34"/>
              <a:gd name="T14" fmla="*/ 30111 w 31"/>
              <a:gd name="T15" fmla="*/ 50800 h 34"/>
              <a:gd name="T16" fmla="*/ 25810 w 31"/>
              <a:gd name="T17" fmla="*/ 49212 h 34"/>
              <a:gd name="T18" fmla="*/ 20074 w 31"/>
              <a:gd name="T19" fmla="*/ 44450 h 34"/>
              <a:gd name="T20" fmla="*/ 15773 w 31"/>
              <a:gd name="T21" fmla="*/ 38100 h 34"/>
              <a:gd name="T22" fmla="*/ 7169 w 31"/>
              <a:gd name="T23" fmla="*/ 31750 h 34"/>
              <a:gd name="T24" fmla="*/ 0 w 31"/>
              <a:gd name="T25" fmla="*/ 20637 h 34"/>
              <a:gd name="T26" fmla="*/ 32979 w 31"/>
              <a:gd name="T27" fmla="*/ 0 h 3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31"/>
              <a:gd name="T43" fmla="*/ 0 h 34"/>
              <a:gd name="T44" fmla="*/ 31 w 31"/>
              <a:gd name="T45" fmla="*/ 34 h 3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31" h="34">
                <a:moveTo>
                  <a:pt x="23" y="0"/>
                </a:moveTo>
                <a:lnTo>
                  <a:pt x="29" y="11"/>
                </a:lnTo>
                <a:lnTo>
                  <a:pt x="30" y="20"/>
                </a:lnTo>
                <a:lnTo>
                  <a:pt x="30" y="27"/>
                </a:lnTo>
                <a:lnTo>
                  <a:pt x="29" y="32"/>
                </a:lnTo>
                <a:lnTo>
                  <a:pt x="26" y="33"/>
                </a:lnTo>
                <a:lnTo>
                  <a:pt x="25" y="33"/>
                </a:lnTo>
                <a:lnTo>
                  <a:pt x="21" y="32"/>
                </a:lnTo>
                <a:lnTo>
                  <a:pt x="18" y="31"/>
                </a:lnTo>
                <a:lnTo>
                  <a:pt x="14" y="28"/>
                </a:lnTo>
                <a:lnTo>
                  <a:pt x="11" y="24"/>
                </a:lnTo>
                <a:lnTo>
                  <a:pt x="5" y="20"/>
                </a:lnTo>
                <a:lnTo>
                  <a:pt x="0" y="13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47" name="Freeform 244">
            <a:extLst>
              <a:ext uri="{FF2B5EF4-FFF2-40B4-BE49-F238E27FC236}">
                <a16:creationId xmlns:a16="http://schemas.microsoft.com/office/drawing/2014/main" id="{23CE14C4-A0B2-9A72-9F25-A140372F4DA7}"/>
              </a:ext>
            </a:extLst>
          </p:cNvPr>
          <p:cNvSpPr>
            <a:spLocks/>
          </p:cNvSpPr>
          <p:nvPr/>
        </p:nvSpPr>
        <p:spPr bwMode="auto">
          <a:xfrm>
            <a:off x="2051050" y="5764213"/>
            <a:ext cx="60325" cy="69850"/>
          </a:xfrm>
          <a:custGeom>
            <a:avLst/>
            <a:gdLst>
              <a:gd name="T0" fmla="*/ 45612 w 41"/>
              <a:gd name="T1" fmla="*/ 0 h 44"/>
              <a:gd name="T2" fmla="*/ 55911 w 41"/>
              <a:gd name="T3" fmla="*/ 22225 h 44"/>
              <a:gd name="T4" fmla="*/ 58854 w 41"/>
              <a:gd name="T5" fmla="*/ 41275 h 44"/>
              <a:gd name="T6" fmla="*/ 58854 w 41"/>
              <a:gd name="T7" fmla="*/ 55563 h 44"/>
              <a:gd name="T8" fmla="*/ 55911 w 41"/>
              <a:gd name="T9" fmla="*/ 66675 h 44"/>
              <a:gd name="T10" fmla="*/ 51497 w 41"/>
              <a:gd name="T11" fmla="*/ 68263 h 44"/>
              <a:gd name="T12" fmla="*/ 48554 w 41"/>
              <a:gd name="T13" fmla="*/ 68263 h 44"/>
              <a:gd name="T14" fmla="*/ 41198 w 41"/>
              <a:gd name="T15" fmla="*/ 66675 h 44"/>
              <a:gd name="T16" fmla="*/ 35312 w 41"/>
              <a:gd name="T17" fmla="*/ 63500 h 44"/>
              <a:gd name="T18" fmla="*/ 27955 w 41"/>
              <a:gd name="T19" fmla="*/ 57150 h 44"/>
              <a:gd name="T20" fmla="*/ 20599 w 41"/>
              <a:gd name="T21" fmla="*/ 49212 h 44"/>
              <a:gd name="T22" fmla="*/ 10299 w 41"/>
              <a:gd name="T23" fmla="*/ 41275 h 44"/>
              <a:gd name="T24" fmla="*/ 0 w 41"/>
              <a:gd name="T25" fmla="*/ 26988 h 4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1"/>
              <a:gd name="T40" fmla="*/ 0 h 44"/>
              <a:gd name="T41" fmla="*/ 41 w 41"/>
              <a:gd name="T42" fmla="*/ 44 h 44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1" h="44">
                <a:moveTo>
                  <a:pt x="31" y="0"/>
                </a:moveTo>
                <a:lnTo>
                  <a:pt x="38" y="14"/>
                </a:lnTo>
                <a:lnTo>
                  <a:pt x="40" y="26"/>
                </a:lnTo>
                <a:lnTo>
                  <a:pt x="40" y="35"/>
                </a:lnTo>
                <a:lnTo>
                  <a:pt x="38" y="42"/>
                </a:lnTo>
                <a:lnTo>
                  <a:pt x="35" y="43"/>
                </a:lnTo>
                <a:lnTo>
                  <a:pt x="33" y="43"/>
                </a:lnTo>
                <a:lnTo>
                  <a:pt x="28" y="42"/>
                </a:lnTo>
                <a:lnTo>
                  <a:pt x="24" y="40"/>
                </a:lnTo>
                <a:lnTo>
                  <a:pt x="19" y="36"/>
                </a:lnTo>
                <a:lnTo>
                  <a:pt x="14" y="31"/>
                </a:lnTo>
                <a:lnTo>
                  <a:pt x="7" y="26"/>
                </a:lnTo>
                <a:lnTo>
                  <a:pt x="0" y="17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48" name="Freeform 245">
            <a:extLst>
              <a:ext uri="{FF2B5EF4-FFF2-40B4-BE49-F238E27FC236}">
                <a16:creationId xmlns:a16="http://schemas.microsoft.com/office/drawing/2014/main" id="{00CB5831-191C-9032-1DE2-79C04372FB9F}"/>
              </a:ext>
            </a:extLst>
          </p:cNvPr>
          <p:cNvSpPr>
            <a:spLocks/>
          </p:cNvSpPr>
          <p:nvPr/>
        </p:nvSpPr>
        <p:spPr bwMode="auto">
          <a:xfrm>
            <a:off x="2103438" y="5681663"/>
            <a:ext cx="61912" cy="82550"/>
          </a:xfrm>
          <a:custGeom>
            <a:avLst/>
            <a:gdLst>
              <a:gd name="T0" fmla="*/ 35995 w 43"/>
              <a:gd name="T1" fmla="*/ 0 h 52"/>
              <a:gd name="T2" fmla="*/ 47514 w 43"/>
              <a:gd name="T3" fmla="*/ 25400 h 52"/>
              <a:gd name="T4" fmla="*/ 56153 w 43"/>
              <a:gd name="T5" fmla="*/ 47625 h 52"/>
              <a:gd name="T6" fmla="*/ 60472 w 43"/>
              <a:gd name="T7" fmla="*/ 57150 h 52"/>
              <a:gd name="T8" fmla="*/ 60472 w 43"/>
              <a:gd name="T9" fmla="*/ 65088 h 52"/>
              <a:gd name="T10" fmla="*/ 60472 w 43"/>
              <a:gd name="T11" fmla="*/ 71438 h 52"/>
              <a:gd name="T12" fmla="*/ 57593 w 43"/>
              <a:gd name="T13" fmla="*/ 76200 h 52"/>
              <a:gd name="T14" fmla="*/ 56153 w 43"/>
              <a:gd name="T15" fmla="*/ 80963 h 52"/>
              <a:gd name="T16" fmla="*/ 51833 w 43"/>
              <a:gd name="T17" fmla="*/ 80963 h 52"/>
              <a:gd name="T18" fmla="*/ 46074 w 43"/>
              <a:gd name="T19" fmla="*/ 80963 h 52"/>
              <a:gd name="T20" fmla="*/ 38875 w 43"/>
              <a:gd name="T21" fmla="*/ 77788 h 52"/>
              <a:gd name="T22" fmla="*/ 31676 w 43"/>
              <a:gd name="T23" fmla="*/ 74613 h 52"/>
              <a:gd name="T24" fmla="*/ 21597 w 43"/>
              <a:gd name="T25" fmla="*/ 65088 h 52"/>
              <a:gd name="T26" fmla="*/ 11519 w 43"/>
              <a:gd name="T27" fmla="*/ 55563 h 52"/>
              <a:gd name="T28" fmla="*/ 0 w 43"/>
              <a:gd name="T29" fmla="*/ 41275 h 52"/>
              <a:gd name="T30" fmla="*/ 35995 w 43"/>
              <a:gd name="T31" fmla="*/ 0 h 5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"/>
              <a:gd name="T49" fmla="*/ 0 h 52"/>
              <a:gd name="T50" fmla="*/ 43 w 43"/>
              <a:gd name="T51" fmla="*/ 52 h 5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" h="52">
                <a:moveTo>
                  <a:pt x="25" y="0"/>
                </a:moveTo>
                <a:lnTo>
                  <a:pt x="33" y="16"/>
                </a:lnTo>
                <a:lnTo>
                  <a:pt x="39" y="30"/>
                </a:lnTo>
                <a:lnTo>
                  <a:pt x="42" y="36"/>
                </a:lnTo>
                <a:lnTo>
                  <a:pt x="42" y="41"/>
                </a:lnTo>
                <a:lnTo>
                  <a:pt x="42" y="45"/>
                </a:lnTo>
                <a:lnTo>
                  <a:pt x="40" y="48"/>
                </a:lnTo>
                <a:lnTo>
                  <a:pt x="39" y="51"/>
                </a:lnTo>
                <a:lnTo>
                  <a:pt x="36" y="51"/>
                </a:lnTo>
                <a:lnTo>
                  <a:pt x="32" y="51"/>
                </a:lnTo>
                <a:lnTo>
                  <a:pt x="27" y="49"/>
                </a:lnTo>
                <a:lnTo>
                  <a:pt x="22" y="47"/>
                </a:lnTo>
                <a:lnTo>
                  <a:pt x="15" y="41"/>
                </a:lnTo>
                <a:lnTo>
                  <a:pt x="8" y="35"/>
                </a:lnTo>
                <a:lnTo>
                  <a:pt x="0" y="26"/>
                </a:lnTo>
                <a:lnTo>
                  <a:pt x="25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49" name="Freeform 246">
            <a:extLst>
              <a:ext uri="{FF2B5EF4-FFF2-40B4-BE49-F238E27FC236}">
                <a16:creationId xmlns:a16="http://schemas.microsoft.com/office/drawing/2014/main" id="{810F5196-0A8A-E546-16FE-5CA6179F35B7}"/>
              </a:ext>
            </a:extLst>
          </p:cNvPr>
          <p:cNvSpPr>
            <a:spLocks/>
          </p:cNvSpPr>
          <p:nvPr/>
        </p:nvSpPr>
        <p:spPr bwMode="auto">
          <a:xfrm>
            <a:off x="2103438" y="5681663"/>
            <a:ext cx="74612" cy="98425"/>
          </a:xfrm>
          <a:custGeom>
            <a:avLst/>
            <a:gdLst>
              <a:gd name="T0" fmla="*/ 43641 w 53"/>
              <a:gd name="T1" fmla="*/ 0 h 62"/>
              <a:gd name="T2" fmla="*/ 57719 w 53"/>
              <a:gd name="T3" fmla="*/ 30163 h 62"/>
              <a:gd name="T4" fmla="*/ 67573 w 53"/>
              <a:gd name="T5" fmla="*/ 57150 h 62"/>
              <a:gd name="T6" fmla="*/ 73204 w 53"/>
              <a:gd name="T7" fmla="*/ 68263 h 62"/>
              <a:gd name="T8" fmla="*/ 73204 w 53"/>
              <a:gd name="T9" fmla="*/ 77788 h 62"/>
              <a:gd name="T10" fmla="*/ 73204 w 53"/>
              <a:gd name="T11" fmla="*/ 85725 h 62"/>
              <a:gd name="T12" fmla="*/ 70389 w 53"/>
              <a:gd name="T13" fmla="*/ 90488 h 62"/>
              <a:gd name="T14" fmla="*/ 67573 w 53"/>
              <a:gd name="T15" fmla="*/ 96838 h 62"/>
              <a:gd name="T16" fmla="*/ 63350 w 53"/>
              <a:gd name="T17" fmla="*/ 96838 h 62"/>
              <a:gd name="T18" fmla="*/ 54903 w 53"/>
              <a:gd name="T19" fmla="*/ 96838 h 62"/>
              <a:gd name="T20" fmla="*/ 47864 w 53"/>
              <a:gd name="T21" fmla="*/ 93663 h 62"/>
              <a:gd name="T22" fmla="*/ 38010 w 53"/>
              <a:gd name="T23" fmla="*/ 88900 h 62"/>
              <a:gd name="T24" fmla="*/ 26748 w 53"/>
              <a:gd name="T25" fmla="*/ 77788 h 62"/>
              <a:gd name="T26" fmla="*/ 14078 w 53"/>
              <a:gd name="T27" fmla="*/ 66675 h 62"/>
              <a:gd name="T28" fmla="*/ 0 w 53"/>
              <a:gd name="T29" fmla="*/ 49213 h 6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3"/>
              <a:gd name="T46" fmla="*/ 0 h 62"/>
              <a:gd name="T47" fmla="*/ 53 w 53"/>
              <a:gd name="T48" fmla="*/ 62 h 6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3" h="62">
                <a:moveTo>
                  <a:pt x="31" y="0"/>
                </a:moveTo>
                <a:lnTo>
                  <a:pt x="41" y="19"/>
                </a:lnTo>
                <a:lnTo>
                  <a:pt x="48" y="36"/>
                </a:lnTo>
                <a:lnTo>
                  <a:pt x="52" y="43"/>
                </a:lnTo>
                <a:lnTo>
                  <a:pt x="52" y="49"/>
                </a:lnTo>
                <a:lnTo>
                  <a:pt x="52" y="54"/>
                </a:lnTo>
                <a:lnTo>
                  <a:pt x="50" y="57"/>
                </a:lnTo>
                <a:lnTo>
                  <a:pt x="48" y="61"/>
                </a:lnTo>
                <a:lnTo>
                  <a:pt x="45" y="61"/>
                </a:lnTo>
                <a:lnTo>
                  <a:pt x="39" y="61"/>
                </a:lnTo>
                <a:lnTo>
                  <a:pt x="34" y="59"/>
                </a:lnTo>
                <a:lnTo>
                  <a:pt x="27" y="56"/>
                </a:lnTo>
                <a:lnTo>
                  <a:pt x="19" y="49"/>
                </a:lnTo>
                <a:lnTo>
                  <a:pt x="10" y="42"/>
                </a:lnTo>
                <a:lnTo>
                  <a:pt x="0" y="31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50" name="Freeform 247">
            <a:extLst>
              <a:ext uri="{FF2B5EF4-FFF2-40B4-BE49-F238E27FC236}">
                <a16:creationId xmlns:a16="http://schemas.microsoft.com/office/drawing/2014/main" id="{6CF37B69-E43A-A3A7-99C4-4A26AB53B3B2}"/>
              </a:ext>
            </a:extLst>
          </p:cNvPr>
          <p:cNvSpPr>
            <a:spLocks/>
          </p:cNvSpPr>
          <p:nvPr/>
        </p:nvSpPr>
        <p:spPr bwMode="auto">
          <a:xfrm>
            <a:off x="2165350" y="5637213"/>
            <a:ext cx="52388" cy="55562"/>
          </a:xfrm>
          <a:custGeom>
            <a:avLst/>
            <a:gdLst>
              <a:gd name="T0" fmla="*/ 17922 w 38"/>
              <a:gd name="T1" fmla="*/ 0 h 35"/>
              <a:gd name="T2" fmla="*/ 31709 w 38"/>
              <a:gd name="T3" fmla="*/ 14287 h 35"/>
              <a:gd name="T4" fmla="*/ 42738 w 38"/>
              <a:gd name="T5" fmla="*/ 28575 h 35"/>
              <a:gd name="T6" fmla="*/ 48252 w 38"/>
              <a:gd name="T7" fmla="*/ 38100 h 35"/>
              <a:gd name="T8" fmla="*/ 51009 w 38"/>
              <a:gd name="T9" fmla="*/ 46037 h 35"/>
              <a:gd name="T10" fmla="*/ 48252 w 38"/>
              <a:gd name="T11" fmla="*/ 50800 h 35"/>
              <a:gd name="T12" fmla="*/ 46873 w 38"/>
              <a:gd name="T13" fmla="*/ 53975 h 35"/>
              <a:gd name="T14" fmla="*/ 41359 w 38"/>
              <a:gd name="T15" fmla="*/ 53975 h 35"/>
              <a:gd name="T16" fmla="*/ 38602 w 38"/>
              <a:gd name="T17" fmla="*/ 53975 h 35"/>
              <a:gd name="T18" fmla="*/ 30330 w 38"/>
              <a:gd name="T19" fmla="*/ 50800 h 35"/>
              <a:gd name="T20" fmla="*/ 20679 w 38"/>
              <a:gd name="T21" fmla="*/ 49212 h 35"/>
              <a:gd name="T22" fmla="*/ 11029 w 38"/>
              <a:gd name="T23" fmla="*/ 46037 h 35"/>
              <a:gd name="T24" fmla="*/ 0 w 38"/>
              <a:gd name="T25" fmla="*/ 38100 h 35"/>
              <a:gd name="T26" fmla="*/ 17922 w 38"/>
              <a:gd name="T27" fmla="*/ 0 h 3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38"/>
              <a:gd name="T43" fmla="*/ 0 h 35"/>
              <a:gd name="T44" fmla="*/ 38 w 38"/>
              <a:gd name="T45" fmla="*/ 35 h 3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38" h="35">
                <a:moveTo>
                  <a:pt x="13" y="0"/>
                </a:moveTo>
                <a:lnTo>
                  <a:pt x="23" y="9"/>
                </a:lnTo>
                <a:lnTo>
                  <a:pt x="31" y="18"/>
                </a:lnTo>
                <a:lnTo>
                  <a:pt x="35" y="24"/>
                </a:lnTo>
                <a:lnTo>
                  <a:pt x="37" y="29"/>
                </a:lnTo>
                <a:lnTo>
                  <a:pt x="35" y="32"/>
                </a:lnTo>
                <a:lnTo>
                  <a:pt x="34" y="34"/>
                </a:lnTo>
                <a:lnTo>
                  <a:pt x="30" y="34"/>
                </a:lnTo>
                <a:lnTo>
                  <a:pt x="28" y="34"/>
                </a:lnTo>
                <a:lnTo>
                  <a:pt x="22" y="32"/>
                </a:lnTo>
                <a:lnTo>
                  <a:pt x="15" y="31"/>
                </a:lnTo>
                <a:lnTo>
                  <a:pt x="8" y="29"/>
                </a:lnTo>
                <a:lnTo>
                  <a:pt x="0" y="24"/>
                </a:lnTo>
                <a:lnTo>
                  <a:pt x="13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51" name="Freeform 248">
            <a:extLst>
              <a:ext uri="{FF2B5EF4-FFF2-40B4-BE49-F238E27FC236}">
                <a16:creationId xmlns:a16="http://schemas.microsoft.com/office/drawing/2014/main" id="{645CA1CA-6293-A503-13E3-F4943930A0DE}"/>
              </a:ext>
            </a:extLst>
          </p:cNvPr>
          <p:cNvSpPr>
            <a:spLocks/>
          </p:cNvSpPr>
          <p:nvPr/>
        </p:nvSpPr>
        <p:spPr bwMode="auto">
          <a:xfrm>
            <a:off x="2165350" y="5637213"/>
            <a:ext cx="68263" cy="71437"/>
          </a:xfrm>
          <a:custGeom>
            <a:avLst/>
            <a:gdLst>
              <a:gd name="T0" fmla="*/ 22754 w 48"/>
              <a:gd name="T1" fmla="*/ 0 h 45"/>
              <a:gd name="T2" fmla="*/ 41242 w 48"/>
              <a:gd name="T3" fmla="*/ 19050 h 45"/>
              <a:gd name="T4" fmla="*/ 56886 w 48"/>
              <a:gd name="T5" fmla="*/ 36512 h 45"/>
              <a:gd name="T6" fmla="*/ 63997 w 48"/>
              <a:gd name="T7" fmla="*/ 49212 h 45"/>
              <a:gd name="T8" fmla="*/ 66841 w 48"/>
              <a:gd name="T9" fmla="*/ 60325 h 45"/>
              <a:gd name="T10" fmla="*/ 63997 w 48"/>
              <a:gd name="T11" fmla="*/ 66675 h 45"/>
              <a:gd name="T12" fmla="*/ 61152 w 48"/>
              <a:gd name="T13" fmla="*/ 69850 h 45"/>
              <a:gd name="T14" fmla="*/ 54042 w 48"/>
              <a:gd name="T15" fmla="*/ 69850 h 45"/>
              <a:gd name="T16" fmla="*/ 49775 w 48"/>
              <a:gd name="T17" fmla="*/ 69850 h 45"/>
              <a:gd name="T18" fmla="*/ 39820 w 48"/>
              <a:gd name="T19" fmla="*/ 66675 h 45"/>
              <a:gd name="T20" fmla="*/ 27021 w 48"/>
              <a:gd name="T21" fmla="*/ 63500 h 45"/>
              <a:gd name="T22" fmla="*/ 14221 w 48"/>
              <a:gd name="T23" fmla="*/ 58737 h 45"/>
              <a:gd name="T24" fmla="*/ 0 w 48"/>
              <a:gd name="T25" fmla="*/ 49212 h 4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8"/>
              <a:gd name="T40" fmla="*/ 0 h 45"/>
              <a:gd name="T41" fmla="*/ 48 w 48"/>
              <a:gd name="T42" fmla="*/ 45 h 45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8" h="45">
                <a:moveTo>
                  <a:pt x="16" y="0"/>
                </a:moveTo>
                <a:lnTo>
                  <a:pt x="29" y="12"/>
                </a:lnTo>
                <a:lnTo>
                  <a:pt x="40" y="23"/>
                </a:lnTo>
                <a:lnTo>
                  <a:pt x="45" y="31"/>
                </a:lnTo>
                <a:lnTo>
                  <a:pt x="47" y="38"/>
                </a:lnTo>
                <a:lnTo>
                  <a:pt x="45" y="42"/>
                </a:lnTo>
                <a:lnTo>
                  <a:pt x="43" y="44"/>
                </a:lnTo>
                <a:lnTo>
                  <a:pt x="38" y="44"/>
                </a:lnTo>
                <a:lnTo>
                  <a:pt x="35" y="44"/>
                </a:lnTo>
                <a:lnTo>
                  <a:pt x="28" y="42"/>
                </a:lnTo>
                <a:lnTo>
                  <a:pt x="19" y="40"/>
                </a:lnTo>
                <a:lnTo>
                  <a:pt x="10" y="37"/>
                </a:lnTo>
                <a:lnTo>
                  <a:pt x="0" y="31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52" name="Freeform 249">
            <a:extLst>
              <a:ext uri="{FF2B5EF4-FFF2-40B4-BE49-F238E27FC236}">
                <a16:creationId xmlns:a16="http://schemas.microsoft.com/office/drawing/2014/main" id="{FB197397-A377-3F85-BDEF-7B63CB462AA2}"/>
              </a:ext>
            </a:extLst>
          </p:cNvPr>
          <p:cNvSpPr>
            <a:spLocks/>
          </p:cNvSpPr>
          <p:nvPr/>
        </p:nvSpPr>
        <p:spPr bwMode="auto">
          <a:xfrm>
            <a:off x="1984375" y="5764213"/>
            <a:ext cx="52388" cy="71437"/>
          </a:xfrm>
          <a:custGeom>
            <a:avLst/>
            <a:gdLst>
              <a:gd name="T0" fmla="*/ 13786 w 38"/>
              <a:gd name="T1" fmla="*/ 0 h 45"/>
              <a:gd name="T2" fmla="*/ 4136 w 38"/>
              <a:gd name="T3" fmla="*/ 22225 h 45"/>
              <a:gd name="T4" fmla="*/ 0 w 38"/>
              <a:gd name="T5" fmla="*/ 42862 h 45"/>
              <a:gd name="T6" fmla="*/ 0 w 38"/>
              <a:gd name="T7" fmla="*/ 58737 h 45"/>
              <a:gd name="T8" fmla="*/ 2757 w 38"/>
              <a:gd name="T9" fmla="*/ 66675 h 45"/>
              <a:gd name="T10" fmla="*/ 6893 w 38"/>
              <a:gd name="T11" fmla="*/ 69850 h 45"/>
              <a:gd name="T12" fmla="*/ 9650 w 38"/>
              <a:gd name="T13" fmla="*/ 69850 h 45"/>
              <a:gd name="T14" fmla="*/ 13786 w 38"/>
              <a:gd name="T15" fmla="*/ 69850 h 45"/>
              <a:gd name="T16" fmla="*/ 19301 w 38"/>
              <a:gd name="T17" fmla="*/ 65087 h 45"/>
              <a:gd name="T18" fmla="*/ 27573 w 38"/>
              <a:gd name="T19" fmla="*/ 60325 h 45"/>
              <a:gd name="T20" fmla="*/ 34466 w 38"/>
              <a:gd name="T21" fmla="*/ 52387 h 45"/>
              <a:gd name="T22" fmla="*/ 42738 w 38"/>
              <a:gd name="T23" fmla="*/ 42862 h 45"/>
              <a:gd name="T24" fmla="*/ 51009 w 38"/>
              <a:gd name="T25" fmla="*/ 30162 h 45"/>
              <a:gd name="T26" fmla="*/ 13786 w 38"/>
              <a:gd name="T27" fmla="*/ 0 h 4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38"/>
              <a:gd name="T43" fmla="*/ 0 h 45"/>
              <a:gd name="T44" fmla="*/ 38 w 38"/>
              <a:gd name="T45" fmla="*/ 45 h 4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38" h="45">
                <a:moveTo>
                  <a:pt x="10" y="0"/>
                </a:moveTo>
                <a:lnTo>
                  <a:pt x="3" y="14"/>
                </a:lnTo>
                <a:lnTo>
                  <a:pt x="0" y="27"/>
                </a:lnTo>
                <a:lnTo>
                  <a:pt x="0" y="37"/>
                </a:lnTo>
                <a:lnTo>
                  <a:pt x="2" y="42"/>
                </a:lnTo>
                <a:lnTo>
                  <a:pt x="5" y="44"/>
                </a:lnTo>
                <a:lnTo>
                  <a:pt x="7" y="44"/>
                </a:lnTo>
                <a:lnTo>
                  <a:pt x="10" y="44"/>
                </a:lnTo>
                <a:lnTo>
                  <a:pt x="14" y="41"/>
                </a:lnTo>
                <a:lnTo>
                  <a:pt x="20" y="38"/>
                </a:lnTo>
                <a:lnTo>
                  <a:pt x="25" y="33"/>
                </a:lnTo>
                <a:lnTo>
                  <a:pt x="31" y="27"/>
                </a:lnTo>
                <a:lnTo>
                  <a:pt x="37" y="19"/>
                </a:lnTo>
                <a:lnTo>
                  <a:pt x="10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53" name="Freeform 250">
            <a:extLst>
              <a:ext uri="{FF2B5EF4-FFF2-40B4-BE49-F238E27FC236}">
                <a16:creationId xmlns:a16="http://schemas.microsoft.com/office/drawing/2014/main" id="{EE894252-29E3-9D53-F59A-D2F9F245BA90}"/>
              </a:ext>
            </a:extLst>
          </p:cNvPr>
          <p:cNvSpPr>
            <a:spLocks/>
          </p:cNvSpPr>
          <p:nvPr/>
        </p:nvSpPr>
        <p:spPr bwMode="auto">
          <a:xfrm>
            <a:off x="1984375" y="5764213"/>
            <a:ext cx="66675" cy="87312"/>
          </a:xfrm>
          <a:custGeom>
            <a:avLst/>
            <a:gdLst>
              <a:gd name="T0" fmla="*/ 18058 w 48"/>
              <a:gd name="T1" fmla="*/ 0 h 55"/>
              <a:gd name="T2" fmla="*/ 5556 w 48"/>
              <a:gd name="T3" fmla="*/ 26987 h 55"/>
              <a:gd name="T4" fmla="*/ 0 w 48"/>
              <a:gd name="T5" fmla="*/ 52387 h 55"/>
              <a:gd name="T6" fmla="*/ 0 w 48"/>
              <a:gd name="T7" fmla="*/ 71437 h 55"/>
              <a:gd name="T8" fmla="*/ 2778 w 48"/>
              <a:gd name="T9" fmla="*/ 82550 h 55"/>
              <a:gd name="T10" fmla="*/ 8334 w 48"/>
              <a:gd name="T11" fmla="*/ 85725 h 55"/>
              <a:gd name="T12" fmla="*/ 12502 w 48"/>
              <a:gd name="T13" fmla="*/ 85725 h 55"/>
              <a:gd name="T14" fmla="*/ 18058 w 48"/>
              <a:gd name="T15" fmla="*/ 85725 h 55"/>
              <a:gd name="T16" fmla="*/ 25003 w 48"/>
              <a:gd name="T17" fmla="*/ 79375 h 55"/>
              <a:gd name="T18" fmla="*/ 34727 w 48"/>
              <a:gd name="T19" fmla="*/ 74612 h 55"/>
              <a:gd name="T20" fmla="*/ 44450 w 48"/>
              <a:gd name="T21" fmla="*/ 63500 h 55"/>
              <a:gd name="T22" fmla="*/ 54173 w 48"/>
              <a:gd name="T23" fmla="*/ 52387 h 55"/>
              <a:gd name="T24" fmla="*/ 65286 w 48"/>
              <a:gd name="T25" fmla="*/ 36512 h 5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8"/>
              <a:gd name="T40" fmla="*/ 0 h 55"/>
              <a:gd name="T41" fmla="*/ 48 w 48"/>
              <a:gd name="T42" fmla="*/ 55 h 55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8" h="55">
                <a:moveTo>
                  <a:pt x="13" y="0"/>
                </a:moveTo>
                <a:lnTo>
                  <a:pt x="4" y="17"/>
                </a:lnTo>
                <a:lnTo>
                  <a:pt x="0" y="33"/>
                </a:lnTo>
                <a:lnTo>
                  <a:pt x="0" y="45"/>
                </a:lnTo>
                <a:lnTo>
                  <a:pt x="2" y="52"/>
                </a:lnTo>
                <a:lnTo>
                  <a:pt x="6" y="54"/>
                </a:lnTo>
                <a:lnTo>
                  <a:pt x="9" y="54"/>
                </a:lnTo>
                <a:lnTo>
                  <a:pt x="13" y="54"/>
                </a:lnTo>
                <a:lnTo>
                  <a:pt x="18" y="50"/>
                </a:lnTo>
                <a:lnTo>
                  <a:pt x="25" y="47"/>
                </a:lnTo>
                <a:lnTo>
                  <a:pt x="32" y="40"/>
                </a:lnTo>
                <a:lnTo>
                  <a:pt x="39" y="33"/>
                </a:lnTo>
                <a:lnTo>
                  <a:pt x="47" y="2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54" name="Freeform 251">
            <a:extLst>
              <a:ext uri="{FF2B5EF4-FFF2-40B4-BE49-F238E27FC236}">
                <a16:creationId xmlns:a16="http://schemas.microsoft.com/office/drawing/2014/main" id="{29597A26-962A-A07D-8B19-2D79F0D0A651}"/>
              </a:ext>
            </a:extLst>
          </p:cNvPr>
          <p:cNvSpPr>
            <a:spLocks/>
          </p:cNvSpPr>
          <p:nvPr/>
        </p:nvSpPr>
        <p:spPr bwMode="auto">
          <a:xfrm>
            <a:off x="2225675" y="5591175"/>
            <a:ext cx="46038" cy="76200"/>
          </a:xfrm>
          <a:custGeom>
            <a:avLst/>
            <a:gdLst>
              <a:gd name="T0" fmla="*/ 44684 w 34"/>
              <a:gd name="T1" fmla="*/ 0 h 48"/>
              <a:gd name="T2" fmla="*/ 41976 w 34"/>
              <a:gd name="T3" fmla="*/ 15875 h 48"/>
              <a:gd name="T4" fmla="*/ 40622 w 34"/>
              <a:gd name="T5" fmla="*/ 28575 h 48"/>
              <a:gd name="T6" fmla="*/ 39268 w 34"/>
              <a:gd name="T7" fmla="*/ 41275 h 48"/>
              <a:gd name="T8" fmla="*/ 35206 w 34"/>
              <a:gd name="T9" fmla="*/ 52388 h 48"/>
              <a:gd name="T10" fmla="*/ 32497 w 34"/>
              <a:gd name="T11" fmla="*/ 61913 h 48"/>
              <a:gd name="T12" fmla="*/ 28435 w 34"/>
              <a:gd name="T13" fmla="*/ 68263 h 48"/>
              <a:gd name="T14" fmla="*/ 24373 w 34"/>
              <a:gd name="T15" fmla="*/ 71438 h 48"/>
              <a:gd name="T16" fmla="*/ 23019 w 34"/>
              <a:gd name="T17" fmla="*/ 74613 h 48"/>
              <a:gd name="T18" fmla="*/ 20311 w 34"/>
              <a:gd name="T19" fmla="*/ 74613 h 48"/>
              <a:gd name="T20" fmla="*/ 16249 w 34"/>
              <a:gd name="T21" fmla="*/ 71438 h 48"/>
              <a:gd name="T22" fmla="*/ 12187 w 34"/>
              <a:gd name="T23" fmla="*/ 68263 h 48"/>
              <a:gd name="T24" fmla="*/ 8124 w 34"/>
              <a:gd name="T25" fmla="*/ 61913 h 48"/>
              <a:gd name="T26" fmla="*/ 5416 w 34"/>
              <a:gd name="T27" fmla="*/ 52388 h 48"/>
              <a:gd name="T28" fmla="*/ 2708 w 34"/>
              <a:gd name="T29" fmla="*/ 38100 h 48"/>
              <a:gd name="T30" fmla="*/ 1354 w 34"/>
              <a:gd name="T31" fmla="*/ 22225 h 48"/>
              <a:gd name="T32" fmla="*/ 0 w 34"/>
              <a:gd name="T33" fmla="*/ 3175 h 48"/>
              <a:gd name="T34" fmla="*/ 44684 w 34"/>
              <a:gd name="T35" fmla="*/ 0 h 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34"/>
              <a:gd name="T55" fmla="*/ 0 h 48"/>
              <a:gd name="T56" fmla="*/ 34 w 34"/>
              <a:gd name="T57" fmla="*/ 48 h 48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34" h="48">
                <a:moveTo>
                  <a:pt x="33" y="0"/>
                </a:moveTo>
                <a:lnTo>
                  <a:pt x="31" y="10"/>
                </a:lnTo>
                <a:lnTo>
                  <a:pt x="30" y="18"/>
                </a:lnTo>
                <a:lnTo>
                  <a:pt x="29" y="26"/>
                </a:lnTo>
                <a:lnTo>
                  <a:pt x="26" y="33"/>
                </a:lnTo>
                <a:lnTo>
                  <a:pt x="24" y="39"/>
                </a:lnTo>
                <a:lnTo>
                  <a:pt x="21" y="43"/>
                </a:lnTo>
                <a:lnTo>
                  <a:pt x="18" y="45"/>
                </a:lnTo>
                <a:lnTo>
                  <a:pt x="17" y="47"/>
                </a:lnTo>
                <a:lnTo>
                  <a:pt x="15" y="47"/>
                </a:lnTo>
                <a:lnTo>
                  <a:pt x="12" y="45"/>
                </a:lnTo>
                <a:lnTo>
                  <a:pt x="9" y="43"/>
                </a:lnTo>
                <a:lnTo>
                  <a:pt x="6" y="39"/>
                </a:lnTo>
                <a:lnTo>
                  <a:pt x="4" y="33"/>
                </a:lnTo>
                <a:lnTo>
                  <a:pt x="2" y="24"/>
                </a:lnTo>
                <a:lnTo>
                  <a:pt x="1" y="14"/>
                </a:lnTo>
                <a:lnTo>
                  <a:pt x="0" y="2"/>
                </a:lnTo>
                <a:lnTo>
                  <a:pt x="33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55" name="Freeform 252">
            <a:extLst>
              <a:ext uri="{FF2B5EF4-FFF2-40B4-BE49-F238E27FC236}">
                <a16:creationId xmlns:a16="http://schemas.microsoft.com/office/drawing/2014/main" id="{1E0D91C4-E1A9-96F5-49F2-04321BD00F4D}"/>
              </a:ext>
            </a:extLst>
          </p:cNvPr>
          <p:cNvSpPr>
            <a:spLocks/>
          </p:cNvSpPr>
          <p:nvPr/>
        </p:nvSpPr>
        <p:spPr bwMode="auto">
          <a:xfrm>
            <a:off x="2225675" y="5591175"/>
            <a:ext cx="60325" cy="92075"/>
          </a:xfrm>
          <a:custGeom>
            <a:avLst/>
            <a:gdLst>
              <a:gd name="T0" fmla="*/ 58954 w 44"/>
              <a:gd name="T1" fmla="*/ 0 h 58"/>
              <a:gd name="T2" fmla="*/ 56212 w 44"/>
              <a:gd name="T3" fmla="*/ 19050 h 58"/>
              <a:gd name="T4" fmla="*/ 53470 w 44"/>
              <a:gd name="T5" fmla="*/ 34925 h 58"/>
              <a:gd name="T6" fmla="*/ 52099 w 44"/>
              <a:gd name="T7" fmla="*/ 49212 h 58"/>
              <a:gd name="T8" fmla="*/ 46615 w 44"/>
              <a:gd name="T9" fmla="*/ 63500 h 58"/>
              <a:gd name="T10" fmla="*/ 42502 w 44"/>
              <a:gd name="T11" fmla="*/ 74613 h 58"/>
              <a:gd name="T12" fmla="*/ 37018 w 44"/>
              <a:gd name="T13" fmla="*/ 82550 h 58"/>
              <a:gd name="T14" fmla="*/ 32905 w 44"/>
              <a:gd name="T15" fmla="*/ 87313 h 58"/>
              <a:gd name="T16" fmla="*/ 30162 w 44"/>
              <a:gd name="T17" fmla="*/ 90488 h 58"/>
              <a:gd name="T18" fmla="*/ 26049 w 44"/>
              <a:gd name="T19" fmla="*/ 90488 h 58"/>
              <a:gd name="T20" fmla="*/ 20565 w 44"/>
              <a:gd name="T21" fmla="*/ 87313 h 58"/>
              <a:gd name="T22" fmla="*/ 16452 w 44"/>
              <a:gd name="T23" fmla="*/ 82550 h 58"/>
              <a:gd name="T24" fmla="*/ 10968 w 44"/>
              <a:gd name="T25" fmla="*/ 74613 h 58"/>
              <a:gd name="T26" fmla="*/ 6855 w 44"/>
              <a:gd name="T27" fmla="*/ 63500 h 58"/>
              <a:gd name="T28" fmla="*/ 4113 w 44"/>
              <a:gd name="T29" fmla="*/ 46038 h 58"/>
              <a:gd name="T30" fmla="*/ 1371 w 44"/>
              <a:gd name="T31" fmla="*/ 26988 h 58"/>
              <a:gd name="T32" fmla="*/ 0 w 44"/>
              <a:gd name="T33" fmla="*/ 4763 h 5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44"/>
              <a:gd name="T52" fmla="*/ 0 h 58"/>
              <a:gd name="T53" fmla="*/ 44 w 44"/>
              <a:gd name="T54" fmla="*/ 58 h 58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44" h="58">
                <a:moveTo>
                  <a:pt x="43" y="0"/>
                </a:moveTo>
                <a:lnTo>
                  <a:pt x="41" y="12"/>
                </a:lnTo>
                <a:lnTo>
                  <a:pt x="39" y="22"/>
                </a:lnTo>
                <a:lnTo>
                  <a:pt x="38" y="31"/>
                </a:lnTo>
                <a:lnTo>
                  <a:pt x="34" y="40"/>
                </a:lnTo>
                <a:lnTo>
                  <a:pt x="31" y="47"/>
                </a:lnTo>
                <a:lnTo>
                  <a:pt x="27" y="52"/>
                </a:lnTo>
                <a:lnTo>
                  <a:pt x="24" y="55"/>
                </a:lnTo>
                <a:lnTo>
                  <a:pt x="22" y="57"/>
                </a:lnTo>
                <a:lnTo>
                  <a:pt x="19" y="57"/>
                </a:lnTo>
                <a:lnTo>
                  <a:pt x="15" y="55"/>
                </a:lnTo>
                <a:lnTo>
                  <a:pt x="12" y="52"/>
                </a:lnTo>
                <a:lnTo>
                  <a:pt x="8" y="47"/>
                </a:lnTo>
                <a:lnTo>
                  <a:pt x="5" y="40"/>
                </a:lnTo>
                <a:lnTo>
                  <a:pt x="3" y="29"/>
                </a:lnTo>
                <a:lnTo>
                  <a:pt x="1" y="17"/>
                </a:lnTo>
                <a:lnTo>
                  <a:pt x="0" y="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56" name="Freeform 253">
            <a:extLst>
              <a:ext uri="{FF2B5EF4-FFF2-40B4-BE49-F238E27FC236}">
                <a16:creationId xmlns:a16="http://schemas.microsoft.com/office/drawing/2014/main" id="{503BDCE5-A818-4AD7-A957-DA3D3A69A813}"/>
              </a:ext>
            </a:extLst>
          </p:cNvPr>
          <p:cNvSpPr>
            <a:spLocks/>
          </p:cNvSpPr>
          <p:nvPr/>
        </p:nvSpPr>
        <p:spPr bwMode="auto">
          <a:xfrm>
            <a:off x="2360613" y="5419725"/>
            <a:ext cx="55562" cy="85725"/>
          </a:xfrm>
          <a:custGeom>
            <a:avLst/>
            <a:gdLst>
              <a:gd name="T0" fmla="*/ 43865 w 38"/>
              <a:gd name="T1" fmla="*/ 84138 h 54"/>
              <a:gd name="T2" fmla="*/ 49713 w 38"/>
              <a:gd name="T3" fmla="*/ 55563 h 54"/>
              <a:gd name="T4" fmla="*/ 54100 w 38"/>
              <a:gd name="T5" fmla="*/ 31750 h 54"/>
              <a:gd name="T6" fmla="*/ 54100 w 38"/>
              <a:gd name="T7" fmla="*/ 22225 h 54"/>
              <a:gd name="T8" fmla="*/ 54100 w 38"/>
              <a:gd name="T9" fmla="*/ 14288 h 54"/>
              <a:gd name="T10" fmla="*/ 51176 w 38"/>
              <a:gd name="T11" fmla="*/ 6350 h 54"/>
              <a:gd name="T12" fmla="*/ 49713 w 38"/>
              <a:gd name="T13" fmla="*/ 4763 h 54"/>
              <a:gd name="T14" fmla="*/ 45327 w 38"/>
              <a:gd name="T15" fmla="*/ 0 h 54"/>
              <a:gd name="T16" fmla="*/ 40940 w 38"/>
              <a:gd name="T17" fmla="*/ 0 h 54"/>
              <a:gd name="T18" fmla="*/ 35092 w 38"/>
              <a:gd name="T19" fmla="*/ 3175 h 54"/>
              <a:gd name="T20" fmla="*/ 29243 w 38"/>
              <a:gd name="T21" fmla="*/ 6350 h 54"/>
              <a:gd name="T22" fmla="*/ 24857 w 38"/>
              <a:gd name="T23" fmla="*/ 15875 h 54"/>
              <a:gd name="T24" fmla="*/ 16084 w 38"/>
              <a:gd name="T25" fmla="*/ 25400 h 54"/>
              <a:gd name="T26" fmla="*/ 8773 w 38"/>
              <a:gd name="T27" fmla="*/ 39688 h 54"/>
              <a:gd name="T28" fmla="*/ 0 w 38"/>
              <a:gd name="T29" fmla="*/ 55563 h 54"/>
              <a:gd name="T30" fmla="*/ 43865 w 38"/>
              <a:gd name="T31" fmla="*/ 84138 h 5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"/>
              <a:gd name="T49" fmla="*/ 0 h 54"/>
              <a:gd name="T50" fmla="*/ 38 w 38"/>
              <a:gd name="T51" fmla="*/ 54 h 5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" h="54">
                <a:moveTo>
                  <a:pt x="30" y="53"/>
                </a:moveTo>
                <a:lnTo>
                  <a:pt x="34" y="35"/>
                </a:lnTo>
                <a:lnTo>
                  <a:pt x="37" y="20"/>
                </a:lnTo>
                <a:lnTo>
                  <a:pt x="37" y="14"/>
                </a:lnTo>
                <a:lnTo>
                  <a:pt x="37" y="9"/>
                </a:lnTo>
                <a:lnTo>
                  <a:pt x="35" y="4"/>
                </a:lnTo>
                <a:lnTo>
                  <a:pt x="34" y="3"/>
                </a:lnTo>
                <a:lnTo>
                  <a:pt x="31" y="0"/>
                </a:lnTo>
                <a:lnTo>
                  <a:pt x="28" y="0"/>
                </a:lnTo>
                <a:lnTo>
                  <a:pt x="24" y="2"/>
                </a:lnTo>
                <a:lnTo>
                  <a:pt x="20" y="4"/>
                </a:lnTo>
                <a:lnTo>
                  <a:pt x="17" y="10"/>
                </a:lnTo>
                <a:lnTo>
                  <a:pt x="11" y="16"/>
                </a:lnTo>
                <a:lnTo>
                  <a:pt x="6" y="25"/>
                </a:lnTo>
                <a:lnTo>
                  <a:pt x="0" y="35"/>
                </a:lnTo>
                <a:lnTo>
                  <a:pt x="30" y="53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57" name="Freeform 254">
            <a:extLst>
              <a:ext uri="{FF2B5EF4-FFF2-40B4-BE49-F238E27FC236}">
                <a16:creationId xmlns:a16="http://schemas.microsoft.com/office/drawing/2014/main" id="{3F79B4FC-EAFF-6044-65B5-B51CBFE53D75}"/>
              </a:ext>
            </a:extLst>
          </p:cNvPr>
          <p:cNvSpPr>
            <a:spLocks/>
          </p:cNvSpPr>
          <p:nvPr/>
        </p:nvSpPr>
        <p:spPr bwMode="auto">
          <a:xfrm>
            <a:off x="2360613" y="5419725"/>
            <a:ext cx="68262" cy="101600"/>
          </a:xfrm>
          <a:custGeom>
            <a:avLst/>
            <a:gdLst>
              <a:gd name="T0" fmla="*/ 54041 w 48"/>
              <a:gd name="T1" fmla="*/ 100012 h 64"/>
              <a:gd name="T2" fmla="*/ 61151 w 48"/>
              <a:gd name="T3" fmla="*/ 66675 h 64"/>
              <a:gd name="T4" fmla="*/ 66840 w 48"/>
              <a:gd name="T5" fmla="*/ 38100 h 64"/>
              <a:gd name="T6" fmla="*/ 66840 w 48"/>
              <a:gd name="T7" fmla="*/ 26987 h 64"/>
              <a:gd name="T8" fmla="*/ 66840 w 48"/>
              <a:gd name="T9" fmla="*/ 17462 h 64"/>
              <a:gd name="T10" fmla="*/ 63996 w 48"/>
              <a:gd name="T11" fmla="*/ 7937 h 64"/>
              <a:gd name="T12" fmla="*/ 61151 w 48"/>
              <a:gd name="T13" fmla="*/ 6350 h 64"/>
              <a:gd name="T14" fmla="*/ 56885 w 48"/>
              <a:gd name="T15" fmla="*/ 0 h 64"/>
              <a:gd name="T16" fmla="*/ 51197 w 48"/>
              <a:gd name="T17" fmla="*/ 0 h 64"/>
              <a:gd name="T18" fmla="*/ 44086 w 48"/>
              <a:gd name="T19" fmla="*/ 3175 h 64"/>
              <a:gd name="T20" fmla="*/ 36975 w 48"/>
              <a:gd name="T21" fmla="*/ 7937 h 64"/>
              <a:gd name="T22" fmla="*/ 29865 w 48"/>
              <a:gd name="T23" fmla="*/ 19050 h 64"/>
              <a:gd name="T24" fmla="*/ 19910 w 48"/>
              <a:gd name="T25" fmla="*/ 30162 h 64"/>
              <a:gd name="T26" fmla="*/ 9955 w 48"/>
              <a:gd name="T27" fmla="*/ 47625 h 64"/>
              <a:gd name="T28" fmla="*/ 0 w 48"/>
              <a:gd name="T29" fmla="*/ 66675 h 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48"/>
              <a:gd name="T46" fmla="*/ 0 h 64"/>
              <a:gd name="T47" fmla="*/ 48 w 48"/>
              <a:gd name="T48" fmla="*/ 64 h 6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48" h="64">
                <a:moveTo>
                  <a:pt x="38" y="63"/>
                </a:moveTo>
                <a:lnTo>
                  <a:pt x="43" y="42"/>
                </a:lnTo>
                <a:lnTo>
                  <a:pt x="47" y="24"/>
                </a:lnTo>
                <a:lnTo>
                  <a:pt x="47" y="17"/>
                </a:lnTo>
                <a:lnTo>
                  <a:pt x="47" y="11"/>
                </a:lnTo>
                <a:lnTo>
                  <a:pt x="45" y="5"/>
                </a:lnTo>
                <a:lnTo>
                  <a:pt x="43" y="4"/>
                </a:lnTo>
                <a:lnTo>
                  <a:pt x="40" y="0"/>
                </a:lnTo>
                <a:lnTo>
                  <a:pt x="36" y="0"/>
                </a:lnTo>
                <a:lnTo>
                  <a:pt x="31" y="2"/>
                </a:lnTo>
                <a:lnTo>
                  <a:pt x="26" y="5"/>
                </a:lnTo>
                <a:lnTo>
                  <a:pt x="21" y="12"/>
                </a:lnTo>
                <a:lnTo>
                  <a:pt x="14" y="19"/>
                </a:lnTo>
                <a:lnTo>
                  <a:pt x="7" y="30"/>
                </a:lnTo>
                <a:lnTo>
                  <a:pt x="0" y="42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58" name="Freeform 255">
            <a:extLst>
              <a:ext uri="{FF2B5EF4-FFF2-40B4-BE49-F238E27FC236}">
                <a16:creationId xmlns:a16="http://schemas.microsoft.com/office/drawing/2014/main" id="{F47D26F6-BBB4-8D82-2836-25DF3E1758A7}"/>
              </a:ext>
            </a:extLst>
          </p:cNvPr>
          <p:cNvSpPr>
            <a:spLocks/>
          </p:cNvSpPr>
          <p:nvPr/>
        </p:nvSpPr>
        <p:spPr bwMode="auto">
          <a:xfrm>
            <a:off x="2424113" y="5468938"/>
            <a:ext cx="58737" cy="85725"/>
          </a:xfrm>
          <a:custGeom>
            <a:avLst/>
            <a:gdLst>
              <a:gd name="T0" fmla="*/ 35815 w 41"/>
              <a:gd name="T1" fmla="*/ 84138 h 54"/>
              <a:gd name="T2" fmla="*/ 48709 w 41"/>
              <a:gd name="T3" fmla="*/ 58738 h 54"/>
              <a:gd name="T4" fmla="*/ 54439 w 41"/>
              <a:gd name="T5" fmla="*/ 34925 h 54"/>
              <a:gd name="T6" fmla="*/ 54439 w 41"/>
              <a:gd name="T7" fmla="*/ 25400 h 54"/>
              <a:gd name="T8" fmla="*/ 57304 w 41"/>
              <a:gd name="T9" fmla="*/ 17463 h 54"/>
              <a:gd name="T10" fmla="*/ 57304 w 41"/>
              <a:gd name="T11" fmla="*/ 9525 h 54"/>
              <a:gd name="T12" fmla="*/ 54439 w 41"/>
              <a:gd name="T13" fmla="*/ 4763 h 54"/>
              <a:gd name="T14" fmla="*/ 51574 w 41"/>
              <a:gd name="T15" fmla="*/ 3175 h 54"/>
              <a:gd name="T16" fmla="*/ 48709 w 41"/>
              <a:gd name="T17" fmla="*/ 0 h 54"/>
              <a:gd name="T18" fmla="*/ 42978 w 41"/>
              <a:gd name="T19" fmla="*/ 3175 h 54"/>
              <a:gd name="T20" fmla="*/ 37248 w 41"/>
              <a:gd name="T21" fmla="*/ 4763 h 54"/>
              <a:gd name="T22" fmla="*/ 30085 w 41"/>
              <a:gd name="T23" fmla="*/ 9525 h 54"/>
              <a:gd name="T24" fmla="*/ 20057 w 41"/>
              <a:gd name="T25" fmla="*/ 19050 h 54"/>
              <a:gd name="T26" fmla="*/ 11461 w 41"/>
              <a:gd name="T27" fmla="*/ 30163 h 54"/>
              <a:gd name="T28" fmla="*/ 0 w 41"/>
              <a:gd name="T29" fmla="*/ 44450 h 54"/>
              <a:gd name="T30" fmla="*/ 35815 w 41"/>
              <a:gd name="T31" fmla="*/ 84138 h 5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1"/>
              <a:gd name="T49" fmla="*/ 0 h 54"/>
              <a:gd name="T50" fmla="*/ 41 w 41"/>
              <a:gd name="T51" fmla="*/ 54 h 5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1" h="54">
                <a:moveTo>
                  <a:pt x="25" y="53"/>
                </a:moveTo>
                <a:lnTo>
                  <a:pt x="34" y="37"/>
                </a:lnTo>
                <a:lnTo>
                  <a:pt x="38" y="22"/>
                </a:lnTo>
                <a:lnTo>
                  <a:pt x="38" y="16"/>
                </a:lnTo>
                <a:lnTo>
                  <a:pt x="40" y="11"/>
                </a:lnTo>
                <a:lnTo>
                  <a:pt x="40" y="6"/>
                </a:lnTo>
                <a:lnTo>
                  <a:pt x="38" y="3"/>
                </a:lnTo>
                <a:lnTo>
                  <a:pt x="36" y="2"/>
                </a:lnTo>
                <a:lnTo>
                  <a:pt x="34" y="0"/>
                </a:lnTo>
                <a:lnTo>
                  <a:pt x="30" y="2"/>
                </a:lnTo>
                <a:lnTo>
                  <a:pt x="26" y="3"/>
                </a:lnTo>
                <a:lnTo>
                  <a:pt x="21" y="6"/>
                </a:lnTo>
                <a:lnTo>
                  <a:pt x="14" y="12"/>
                </a:lnTo>
                <a:lnTo>
                  <a:pt x="8" y="19"/>
                </a:lnTo>
                <a:lnTo>
                  <a:pt x="0" y="28"/>
                </a:lnTo>
                <a:lnTo>
                  <a:pt x="25" y="53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59" name="Freeform 256">
            <a:extLst>
              <a:ext uri="{FF2B5EF4-FFF2-40B4-BE49-F238E27FC236}">
                <a16:creationId xmlns:a16="http://schemas.microsoft.com/office/drawing/2014/main" id="{B84E6364-5E18-7E51-4EDA-52D7819E0FC5}"/>
              </a:ext>
            </a:extLst>
          </p:cNvPr>
          <p:cNvSpPr>
            <a:spLocks/>
          </p:cNvSpPr>
          <p:nvPr/>
        </p:nvSpPr>
        <p:spPr bwMode="auto">
          <a:xfrm>
            <a:off x="2424113" y="5468938"/>
            <a:ext cx="71437" cy="101600"/>
          </a:xfrm>
          <a:custGeom>
            <a:avLst/>
            <a:gdLst>
              <a:gd name="T0" fmla="*/ 43422 w 51"/>
              <a:gd name="T1" fmla="*/ 100012 h 64"/>
              <a:gd name="T2" fmla="*/ 58830 w 51"/>
              <a:gd name="T3" fmla="*/ 69850 h 64"/>
              <a:gd name="T4" fmla="*/ 67235 w 51"/>
              <a:gd name="T5" fmla="*/ 41275 h 64"/>
              <a:gd name="T6" fmla="*/ 67235 w 51"/>
              <a:gd name="T7" fmla="*/ 30162 h 64"/>
              <a:gd name="T8" fmla="*/ 70036 w 51"/>
              <a:gd name="T9" fmla="*/ 20637 h 64"/>
              <a:gd name="T10" fmla="*/ 70036 w 51"/>
              <a:gd name="T11" fmla="*/ 11112 h 64"/>
              <a:gd name="T12" fmla="*/ 67235 w 51"/>
              <a:gd name="T13" fmla="*/ 6350 h 64"/>
              <a:gd name="T14" fmla="*/ 63033 w 51"/>
              <a:gd name="T15" fmla="*/ 3175 h 64"/>
              <a:gd name="T16" fmla="*/ 58830 w 51"/>
              <a:gd name="T17" fmla="*/ 0 h 64"/>
              <a:gd name="T18" fmla="*/ 53228 w 51"/>
              <a:gd name="T19" fmla="*/ 3175 h 64"/>
              <a:gd name="T20" fmla="*/ 46224 w 51"/>
              <a:gd name="T21" fmla="*/ 6350 h 64"/>
              <a:gd name="T22" fmla="*/ 36419 w 51"/>
              <a:gd name="T23" fmla="*/ 11112 h 64"/>
              <a:gd name="T24" fmla="*/ 23812 w 51"/>
              <a:gd name="T25" fmla="*/ 22225 h 64"/>
              <a:gd name="T26" fmla="*/ 14007 w 51"/>
              <a:gd name="T27" fmla="*/ 36512 h 64"/>
              <a:gd name="T28" fmla="*/ 0 w 51"/>
              <a:gd name="T29" fmla="*/ 52387 h 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1"/>
              <a:gd name="T46" fmla="*/ 0 h 64"/>
              <a:gd name="T47" fmla="*/ 51 w 51"/>
              <a:gd name="T48" fmla="*/ 64 h 6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1" h="64">
                <a:moveTo>
                  <a:pt x="31" y="63"/>
                </a:moveTo>
                <a:lnTo>
                  <a:pt x="42" y="44"/>
                </a:lnTo>
                <a:lnTo>
                  <a:pt x="48" y="26"/>
                </a:lnTo>
                <a:lnTo>
                  <a:pt x="48" y="19"/>
                </a:lnTo>
                <a:lnTo>
                  <a:pt x="50" y="13"/>
                </a:lnTo>
                <a:lnTo>
                  <a:pt x="50" y="7"/>
                </a:lnTo>
                <a:lnTo>
                  <a:pt x="48" y="4"/>
                </a:lnTo>
                <a:lnTo>
                  <a:pt x="45" y="2"/>
                </a:lnTo>
                <a:lnTo>
                  <a:pt x="42" y="0"/>
                </a:lnTo>
                <a:lnTo>
                  <a:pt x="38" y="2"/>
                </a:lnTo>
                <a:lnTo>
                  <a:pt x="33" y="4"/>
                </a:lnTo>
                <a:lnTo>
                  <a:pt x="26" y="7"/>
                </a:lnTo>
                <a:lnTo>
                  <a:pt x="17" y="14"/>
                </a:lnTo>
                <a:lnTo>
                  <a:pt x="10" y="23"/>
                </a:lnTo>
                <a:lnTo>
                  <a:pt x="0" y="3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60" name="Freeform 257">
            <a:extLst>
              <a:ext uri="{FF2B5EF4-FFF2-40B4-BE49-F238E27FC236}">
                <a16:creationId xmlns:a16="http://schemas.microsoft.com/office/drawing/2014/main" id="{D5898B2F-2C63-4A9B-5C2D-D7FEEC1A8FF1}"/>
              </a:ext>
            </a:extLst>
          </p:cNvPr>
          <p:cNvSpPr>
            <a:spLocks/>
          </p:cNvSpPr>
          <p:nvPr/>
        </p:nvSpPr>
        <p:spPr bwMode="auto">
          <a:xfrm>
            <a:off x="2470150" y="5538788"/>
            <a:ext cx="68263" cy="73025"/>
          </a:xfrm>
          <a:custGeom>
            <a:avLst/>
            <a:gdLst>
              <a:gd name="T0" fmla="*/ 24176 w 48"/>
              <a:gd name="T1" fmla="*/ 71438 h 46"/>
              <a:gd name="T2" fmla="*/ 44087 w 48"/>
              <a:gd name="T3" fmla="*/ 53975 h 46"/>
              <a:gd name="T4" fmla="*/ 56886 w 48"/>
              <a:gd name="T5" fmla="*/ 36513 h 46"/>
              <a:gd name="T6" fmla="*/ 63997 w 48"/>
              <a:gd name="T7" fmla="*/ 26988 h 46"/>
              <a:gd name="T8" fmla="*/ 63997 w 48"/>
              <a:gd name="T9" fmla="*/ 19050 h 46"/>
              <a:gd name="T10" fmla="*/ 66841 w 48"/>
              <a:gd name="T11" fmla="*/ 12700 h 46"/>
              <a:gd name="T12" fmla="*/ 66841 w 48"/>
              <a:gd name="T13" fmla="*/ 9525 h 46"/>
              <a:gd name="T14" fmla="*/ 63997 w 48"/>
              <a:gd name="T15" fmla="*/ 3175 h 46"/>
              <a:gd name="T16" fmla="*/ 61152 w 48"/>
              <a:gd name="T17" fmla="*/ 1588 h 46"/>
              <a:gd name="T18" fmla="*/ 55464 w 48"/>
              <a:gd name="T19" fmla="*/ 0 h 46"/>
              <a:gd name="T20" fmla="*/ 49775 w 48"/>
              <a:gd name="T21" fmla="*/ 1588 h 46"/>
              <a:gd name="T22" fmla="*/ 38398 w 48"/>
              <a:gd name="T23" fmla="*/ 3175 h 46"/>
              <a:gd name="T24" fmla="*/ 28443 w 48"/>
              <a:gd name="T25" fmla="*/ 6350 h 46"/>
              <a:gd name="T26" fmla="*/ 14221 w 48"/>
              <a:gd name="T27" fmla="*/ 12700 h 46"/>
              <a:gd name="T28" fmla="*/ 0 w 48"/>
              <a:gd name="T29" fmla="*/ 22225 h 46"/>
              <a:gd name="T30" fmla="*/ 24176 w 48"/>
              <a:gd name="T31" fmla="*/ 71438 h 4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8"/>
              <a:gd name="T49" fmla="*/ 0 h 46"/>
              <a:gd name="T50" fmla="*/ 48 w 48"/>
              <a:gd name="T51" fmla="*/ 46 h 4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8" h="46">
                <a:moveTo>
                  <a:pt x="17" y="45"/>
                </a:moveTo>
                <a:lnTo>
                  <a:pt x="31" y="34"/>
                </a:lnTo>
                <a:lnTo>
                  <a:pt x="40" y="23"/>
                </a:lnTo>
                <a:lnTo>
                  <a:pt x="45" y="17"/>
                </a:lnTo>
                <a:lnTo>
                  <a:pt x="45" y="12"/>
                </a:lnTo>
                <a:lnTo>
                  <a:pt x="47" y="8"/>
                </a:lnTo>
                <a:lnTo>
                  <a:pt x="47" y="6"/>
                </a:lnTo>
                <a:lnTo>
                  <a:pt x="45" y="2"/>
                </a:lnTo>
                <a:lnTo>
                  <a:pt x="43" y="1"/>
                </a:lnTo>
                <a:lnTo>
                  <a:pt x="39" y="0"/>
                </a:lnTo>
                <a:lnTo>
                  <a:pt x="35" y="1"/>
                </a:lnTo>
                <a:lnTo>
                  <a:pt x="27" y="2"/>
                </a:lnTo>
                <a:lnTo>
                  <a:pt x="20" y="4"/>
                </a:lnTo>
                <a:lnTo>
                  <a:pt x="10" y="8"/>
                </a:lnTo>
                <a:lnTo>
                  <a:pt x="0" y="14"/>
                </a:lnTo>
                <a:lnTo>
                  <a:pt x="17" y="45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61" name="Freeform 258">
            <a:extLst>
              <a:ext uri="{FF2B5EF4-FFF2-40B4-BE49-F238E27FC236}">
                <a16:creationId xmlns:a16="http://schemas.microsoft.com/office/drawing/2014/main" id="{A2E1E7CC-75F5-2A73-F786-A45160266290}"/>
              </a:ext>
            </a:extLst>
          </p:cNvPr>
          <p:cNvSpPr>
            <a:spLocks/>
          </p:cNvSpPr>
          <p:nvPr/>
        </p:nvSpPr>
        <p:spPr bwMode="auto">
          <a:xfrm>
            <a:off x="2470150" y="5538788"/>
            <a:ext cx="82550" cy="88900"/>
          </a:xfrm>
          <a:custGeom>
            <a:avLst/>
            <a:gdLst>
              <a:gd name="T0" fmla="*/ 29889 w 58"/>
              <a:gd name="T1" fmla="*/ 87313 h 56"/>
              <a:gd name="T2" fmla="*/ 54084 w 58"/>
              <a:gd name="T3" fmla="*/ 65088 h 56"/>
              <a:gd name="T4" fmla="*/ 68317 w 58"/>
              <a:gd name="T5" fmla="*/ 44450 h 56"/>
              <a:gd name="T6" fmla="*/ 76857 w 58"/>
              <a:gd name="T7" fmla="*/ 33338 h 56"/>
              <a:gd name="T8" fmla="*/ 78280 w 58"/>
              <a:gd name="T9" fmla="*/ 23812 h 56"/>
              <a:gd name="T10" fmla="*/ 81127 w 58"/>
              <a:gd name="T11" fmla="*/ 15875 h 56"/>
              <a:gd name="T12" fmla="*/ 81127 w 58"/>
              <a:gd name="T13" fmla="*/ 11113 h 56"/>
              <a:gd name="T14" fmla="*/ 78280 w 58"/>
              <a:gd name="T15" fmla="*/ 4763 h 56"/>
              <a:gd name="T16" fmla="*/ 74010 w 58"/>
              <a:gd name="T17" fmla="*/ 1588 h 56"/>
              <a:gd name="T18" fmla="*/ 66894 w 58"/>
              <a:gd name="T19" fmla="*/ 0 h 56"/>
              <a:gd name="T20" fmla="*/ 59778 w 58"/>
              <a:gd name="T21" fmla="*/ 1588 h 56"/>
              <a:gd name="T22" fmla="*/ 46968 w 58"/>
              <a:gd name="T23" fmla="*/ 4763 h 56"/>
              <a:gd name="T24" fmla="*/ 34159 w 58"/>
              <a:gd name="T25" fmla="*/ 7938 h 56"/>
              <a:gd name="T26" fmla="*/ 17079 w 58"/>
              <a:gd name="T27" fmla="*/ 15875 h 56"/>
              <a:gd name="T28" fmla="*/ 0 w 58"/>
              <a:gd name="T29" fmla="*/ 26988 h 5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8"/>
              <a:gd name="T46" fmla="*/ 0 h 56"/>
              <a:gd name="T47" fmla="*/ 58 w 58"/>
              <a:gd name="T48" fmla="*/ 56 h 5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8" h="56">
                <a:moveTo>
                  <a:pt x="21" y="55"/>
                </a:moveTo>
                <a:lnTo>
                  <a:pt x="38" y="41"/>
                </a:lnTo>
                <a:lnTo>
                  <a:pt x="48" y="28"/>
                </a:lnTo>
                <a:lnTo>
                  <a:pt x="54" y="21"/>
                </a:lnTo>
                <a:lnTo>
                  <a:pt x="55" y="15"/>
                </a:lnTo>
                <a:lnTo>
                  <a:pt x="57" y="10"/>
                </a:lnTo>
                <a:lnTo>
                  <a:pt x="57" y="7"/>
                </a:lnTo>
                <a:lnTo>
                  <a:pt x="55" y="3"/>
                </a:lnTo>
                <a:lnTo>
                  <a:pt x="52" y="1"/>
                </a:lnTo>
                <a:lnTo>
                  <a:pt x="47" y="0"/>
                </a:lnTo>
                <a:lnTo>
                  <a:pt x="42" y="1"/>
                </a:lnTo>
                <a:lnTo>
                  <a:pt x="33" y="3"/>
                </a:lnTo>
                <a:lnTo>
                  <a:pt x="24" y="5"/>
                </a:lnTo>
                <a:lnTo>
                  <a:pt x="12" y="10"/>
                </a:lnTo>
                <a:lnTo>
                  <a:pt x="0" y="17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62" name="Freeform 259">
            <a:extLst>
              <a:ext uri="{FF2B5EF4-FFF2-40B4-BE49-F238E27FC236}">
                <a16:creationId xmlns:a16="http://schemas.microsoft.com/office/drawing/2014/main" id="{4DC5E901-DC8A-93EB-926F-6D63D31A8299}"/>
              </a:ext>
            </a:extLst>
          </p:cNvPr>
          <p:cNvSpPr>
            <a:spLocks/>
          </p:cNvSpPr>
          <p:nvPr/>
        </p:nvSpPr>
        <p:spPr bwMode="auto">
          <a:xfrm>
            <a:off x="2527300" y="5613400"/>
            <a:ext cx="36513" cy="49213"/>
          </a:xfrm>
          <a:custGeom>
            <a:avLst/>
            <a:gdLst>
              <a:gd name="T0" fmla="*/ 5617 w 26"/>
              <a:gd name="T1" fmla="*/ 47625 h 31"/>
              <a:gd name="T2" fmla="*/ 16852 w 26"/>
              <a:gd name="T3" fmla="*/ 46038 h 31"/>
              <a:gd name="T4" fmla="*/ 26683 w 26"/>
              <a:gd name="T5" fmla="*/ 41275 h 31"/>
              <a:gd name="T6" fmla="*/ 33704 w 26"/>
              <a:gd name="T7" fmla="*/ 34925 h 31"/>
              <a:gd name="T8" fmla="*/ 35109 w 26"/>
              <a:gd name="T9" fmla="*/ 26988 h 31"/>
              <a:gd name="T10" fmla="*/ 33704 w 26"/>
              <a:gd name="T11" fmla="*/ 20638 h 31"/>
              <a:gd name="T12" fmla="*/ 28087 w 26"/>
              <a:gd name="T13" fmla="*/ 12700 h 31"/>
              <a:gd name="T14" fmla="*/ 22470 w 26"/>
              <a:gd name="T15" fmla="*/ 7938 h 31"/>
              <a:gd name="T16" fmla="*/ 15448 w 26"/>
              <a:gd name="T17" fmla="*/ 6350 h 31"/>
              <a:gd name="T18" fmla="*/ 8426 w 26"/>
              <a:gd name="T19" fmla="*/ 1588 h 31"/>
              <a:gd name="T20" fmla="*/ 0 w 26"/>
              <a:gd name="T21" fmla="*/ 0 h 31"/>
              <a:gd name="T22" fmla="*/ 5617 w 26"/>
              <a:gd name="T23" fmla="*/ 47625 h 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6"/>
              <a:gd name="T37" fmla="*/ 0 h 31"/>
              <a:gd name="T38" fmla="*/ 26 w 26"/>
              <a:gd name="T39" fmla="*/ 31 h 3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6" h="31">
                <a:moveTo>
                  <a:pt x="4" y="30"/>
                </a:moveTo>
                <a:lnTo>
                  <a:pt x="12" y="29"/>
                </a:lnTo>
                <a:lnTo>
                  <a:pt x="19" y="26"/>
                </a:lnTo>
                <a:lnTo>
                  <a:pt x="24" y="22"/>
                </a:lnTo>
                <a:lnTo>
                  <a:pt x="25" y="17"/>
                </a:lnTo>
                <a:lnTo>
                  <a:pt x="24" y="13"/>
                </a:lnTo>
                <a:lnTo>
                  <a:pt x="20" y="8"/>
                </a:lnTo>
                <a:lnTo>
                  <a:pt x="16" y="5"/>
                </a:lnTo>
                <a:lnTo>
                  <a:pt x="11" y="4"/>
                </a:lnTo>
                <a:lnTo>
                  <a:pt x="6" y="1"/>
                </a:lnTo>
                <a:lnTo>
                  <a:pt x="0" y="0"/>
                </a:lnTo>
                <a:lnTo>
                  <a:pt x="4" y="3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63" name="Freeform 260">
            <a:extLst>
              <a:ext uri="{FF2B5EF4-FFF2-40B4-BE49-F238E27FC236}">
                <a16:creationId xmlns:a16="http://schemas.microsoft.com/office/drawing/2014/main" id="{C158AE45-D8DA-AED4-373D-C192BF84790A}"/>
              </a:ext>
            </a:extLst>
          </p:cNvPr>
          <p:cNvSpPr>
            <a:spLocks/>
          </p:cNvSpPr>
          <p:nvPr/>
        </p:nvSpPr>
        <p:spPr bwMode="auto">
          <a:xfrm>
            <a:off x="2527300" y="5613400"/>
            <a:ext cx="50800" cy="65088"/>
          </a:xfrm>
          <a:custGeom>
            <a:avLst/>
            <a:gdLst>
              <a:gd name="T0" fmla="*/ 7056 w 36"/>
              <a:gd name="T1" fmla="*/ 63500 h 41"/>
              <a:gd name="T2" fmla="*/ 23989 w 36"/>
              <a:gd name="T3" fmla="*/ 60325 h 41"/>
              <a:gd name="T4" fmla="*/ 36689 w 36"/>
              <a:gd name="T5" fmla="*/ 53975 h 41"/>
              <a:gd name="T6" fmla="*/ 46567 w 36"/>
              <a:gd name="T7" fmla="*/ 46038 h 41"/>
              <a:gd name="T8" fmla="*/ 49389 w 36"/>
              <a:gd name="T9" fmla="*/ 34925 h 41"/>
              <a:gd name="T10" fmla="*/ 46567 w 36"/>
              <a:gd name="T11" fmla="*/ 26988 h 41"/>
              <a:gd name="T12" fmla="*/ 39511 w 36"/>
              <a:gd name="T13" fmla="*/ 15875 h 41"/>
              <a:gd name="T14" fmla="*/ 31044 w 36"/>
              <a:gd name="T15" fmla="*/ 11113 h 41"/>
              <a:gd name="T16" fmla="*/ 21167 w 36"/>
              <a:gd name="T17" fmla="*/ 7938 h 41"/>
              <a:gd name="T18" fmla="*/ 11289 w 36"/>
              <a:gd name="T19" fmla="*/ 1588 h 41"/>
              <a:gd name="T20" fmla="*/ 0 w 36"/>
              <a:gd name="T21" fmla="*/ 0 h 4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6"/>
              <a:gd name="T34" fmla="*/ 0 h 41"/>
              <a:gd name="T35" fmla="*/ 36 w 36"/>
              <a:gd name="T36" fmla="*/ 41 h 41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6" h="41">
                <a:moveTo>
                  <a:pt x="5" y="40"/>
                </a:moveTo>
                <a:lnTo>
                  <a:pt x="17" y="38"/>
                </a:lnTo>
                <a:lnTo>
                  <a:pt x="26" y="34"/>
                </a:lnTo>
                <a:lnTo>
                  <a:pt x="33" y="29"/>
                </a:lnTo>
                <a:lnTo>
                  <a:pt x="35" y="22"/>
                </a:lnTo>
                <a:lnTo>
                  <a:pt x="33" y="17"/>
                </a:lnTo>
                <a:lnTo>
                  <a:pt x="28" y="10"/>
                </a:lnTo>
                <a:lnTo>
                  <a:pt x="22" y="7"/>
                </a:lnTo>
                <a:lnTo>
                  <a:pt x="15" y="5"/>
                </a:lnTo>
                <a:lnTo>
                  <a:pt x="8" y="1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64" name="Freeform 261">
            <a:extLst>
              <a:ext uri="{FF2B5EF4-FFF2-40B4-BE49-F238E27FC236}">
                <a16:creationId xmlns:a16="http://schemas.microsoft.com/office/drawing/2014/main" id="{2DF44E7C-F0D5-EF55-805B-D682E1114F80}"/>
              </a:ext>
            </a:extLst>
          </p:cNvPr>
          <p:cNvSpPr>
            <a:spLocks/>
          </p:cNvSpPr>
          <p:nvPr/>
        </p:nvSpPr>
        <p:spPr bwMode="auto">
          <a:xfrm>
            <a:off x="2301875" y="5373688"/>
            <a:ext cx="53975" cy="84137"/>
          </a:xfrm>
          <a:custGeom>
            <a:avLst/>
            <a:gdLst>
              <a:gd name="T0" fmla="*/ 41191 w 38"/>
              <a:gd name="T1" fmla="*/ 82550 h 53"/>
              <a:gd name="T2" fmla="*/ 48293 w 38"/>
              <a:gd name="T3" fmla="*/ 53975 h 53"/>
              <a:gd name="T4" fmla="*/ 49714 w 38"/>
              <a:gd name="T5" fmla="*/ 28575 h 53"/>
              <a:gd name="T6" fmla="*/ 52555 w 38"/>
              <a:gd name="T7" fmla="*/ 20637 h 53"/>
              <a:gd name="T8" fmla="*/ 49714 w 38"/>
              <a:gd name="T9" fmla="*/ 12700 h 53"/>
              <a:gd name="T10" fmla="*/ 48293 w 38"/>
              <a:gd name="T11" fmla="*/ 6350 h 53"/>
              <a:gd name="T12" fmla="*/ 46873 w 38"/>
              <a:gd name="T13" fmla="*/ 1587 h 53"/>
              <a:gd name="T14" fmla="*/ 42612 w 38"/>
              <a:gd name="T15" fmla="*/ 0 h 53"/>
              <a:gd name="T16" fmla="*/ 39771 w 38"/>
              <a:gd name="T17" fmla="*/ 0 h 53"/>
              <a:gd name="T18" fmla="*/ 34089 w 38"/>
              <a:gd name="T19" fmla="*/ 1587 h 53"/>
              <a:gd name="T20" fmla="*/ 28408 w 38"/>
              <a:gd name="T21" fmla="*/ 6350 h 53"/>
              <a:gd name="T22" fmla="*/ 24147 w 38"/>
              <a:gd name="T23" fmla="*/ 12700 h 53"/>
              <a:gd name="T24" fmla="*/ 15624 w 38"/>
              <a:gd name="T25" fmla="*/ 22225 h 53"/>
              <a:gd name="T26" fmla="*/ 8522 w 38"/>
              <a:gd name="T27" fmla="*/ 36512 h 53"/>
              <a:gd name="T28" fmla="*/ 0 w 38"/>
              <a:gd name="T29" fmla="*/ 53975 h 53"/>
              <a:gd name="T30" fmla="*/ 41191 w 38"/>
              <a:gd name="T31" fmla="*/ 82550 h 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"/>
              <a:gd name="T49" fmla="*/ 0 h 53"/>
              <a:gd name="T50" fmla="*/ 38 w 38"/>
              <a:gd name="T51" fmla="*/ 53 h 5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" h="53">
                <a:moveTo>
                  <a:pt x="29" y="52"/>
                </a:moveTo>
                <a:lnTo>
                  <a:pt x="34" y="34"/>
                </a:lnTo>
                <a:lnTo>
                  <a:pt x="35" y="18"/>
                </a:lnTo>
                <a:lnTo>
                  <a:pt x="37" y="13"/>
                </a:lnTo>
                <a:lnTo>
                  <a:pt x="35" y="8"/>
                </a:lnTo>
                <a:lnTo>
                  <a:pt x="34" y="4"/>
                </a:lnTo>
                <a:lnTo>
                  <a:pt x="33" y="1"/>
                </a:lnTo>
                <a:lnTo>
                  <a:pt x="30" y="0"/>
                </a:lnTo>
                <a:lnTo>
                  <a:pt x="28" y="0"/>
                </a:lnTo>
                <a:lnTo>
                  <a:pt x="24" y="1"/>
                </a:lnTo>
                <a:lnTo>
                  <a:pt x="20" y="4"/>
                </a:lnTo>
                <a:lnTo>
                  <a:pt x="17" y="8"/>
                </a:lnTo>
                <a:lnTo>
                  <a:pt x="11" y="14"/>
                </a:lnTo>
                <a:lnTo>
                  <a:pt x="6" y="23"/>
                </a:lnTo>
                <a:lnTo>
                  <a:pt x="0" y="34"/>
                </a:lnTo>
                <a:lnTo>
                  <a:pt x="29" y="52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65" name="Freeform 262">
            <a:extLst>
              <a:ext uri="{FF2B5EF4-FFF2-40B4-BE49-F238E27FC236}">
                <a16:creationId xmlns:a16="http://schemas.microsoft.com/office/drawing/2014/main" id="{16F2FC84-A8BF-8CC2-DD57-A859927F0B30}"/>
              </a:ext>
            </a:extLst>
          </p:cNvPr>
          <p:cNvSpPr>
            <a:spLocks/>
          </p:cNvSpPr>
          <p:nvPr/>
        </p:nvSpPr>
        <p:spPr bwMode="auto">
          <a:xfrm>
            <a:off x="2301875" y="5373688"/>
            <a:ext cx="66675" cy="100012"/>
          </a:xfrm>
          <a:custGeom>
            <a:avLst/>
            <a:gdLst>
              <a:gd name="T0" fmla="*/ 51395 w 48"/>
              <a:gd name="T1" fmla="*/ 98425 h 63"/>
              <a:gd name="T2" fmla="*/ 59730 w 48"/>
              <a:gd name="T3" fmla="*/ 65087 h 63"/>
              <a:gd name="T4" fmla="*/ 62508 w 48"/>
              <a:gd name="T5" fmla="*/ 34925 h 63"/>
              <a:gd name="T6" fmla="*/ 65286 w 48"/>
              <a:gd name="T7" fmla="*/ 23812 h 63"/>
              <a:gd name="T8" fmla="*/ 62508 w 48"/>
              <a:gd name="T9" fmla="*/ 15875 h 63"/>
              <a:gd name="T10" fmla="*/ 59730 w 48"/>
              <a:gd name="T11" fmla="*/ 7937 h 63"/>
              <a:gd name="T12" fmla="*/ 58341 w 48"/>
              <a:gd name="T13" fmla="*/ 1587 h 63"/>
              <a:gd name="T14" fmla="*/ 52784 w 48"/>
              <a:gd name="T15" fmla="*/ 0 h 63"/>
              <a:gd name="T16" fmla="*/ 48617 w 48"/>
              <a:gd name="T17" fmla="*/ 0 h 63"/>
              <a:gd name="T18" fmla="*/ 43061 w 48"/>
              <a:gd name="T19" fmla="*/ 1587 h 63"/>
              <a:gd name="T20" fmla="*/ 36116 w 48"/>
              <a:gd name="T21" fmla="*/ 7937 h 63"/>
              <a:gd name="T22" fmla="*/ 29170 w 48"/>
              <a:gd name="T23" fmla="*/ 15875 h 63"/>
              <a:gd name="T24" fmla="*/ 19447 w 48"/>
              <a:gd name="T25" fmla="*/ 26987 h 63"/>
              <a:gd name="T26" fmla="*/ 9723 w 48"/>
              <a:gd name="T27" fmla="*/ 42862 h 63"/>
              <a:gd name="T28" fmla="*/ 0 w 48"/>
              <a:gd name="T29" fmla="*/ 63500 h 6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48"/>
              <a:gd name="T46" fmla="*/ 0 h 63"/>
              <a:gd name="T47" fmla="*/ 48 w 48"/>
              <a:gd name="T48" fmla="*/ 63 h 63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48" h="63">
                <a:moveTo>
                  <a:pt x="37" y="62"/>
                </a:moveTo>
                <a:lnTo>
                  <a:pt x="43" y="41"/>
                </a:lnTo>
                <a:lnTo>
                  <a:pt x="45" y="22"/>
                </a:lnTo>
                <a:lnTo>
                  <a:pt x="47" y="15"/>
                </a:lnTo>
                <a:lnTo>
                  <a:pt x="45" y="10"/>
                </a:lnTo>
                <a:lnTo>
                  <a:pt x="43" y="5"/>
                </a:lnTo>
                <a:lnTo>
                  <a:pt x="42" y="1"/>
                </a:lnTo>
                <a:lnTo>
                  <a:pt x="38" y="0"/>
                </a:lnTo>
                <a:lnTo>
                  <a:pt x="35" y="0"/>
                </a:lnTo>
                <a:lnTo>
                  <a:pt x="31" y="1"/>
                </a:lnTo>
                <a:lnTo>
                  <a:pt x="26" y="5"/>
                </a:lnTo>
                <a:lnTo>
                  <a:pt x="21" y="10"/>
                </a:lnTo>
                <a:lnTo>
                  <a:pt x="14" y="17"/>
                </a:lnTo>
                <a:lnTo>
                  <a:pt x="7" y="27"/>
                </a:lnTo>
                <a:lnTo>
                  <a:pt x="0" y="4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66" name="Freeform 263">
            <a:extLst>
              <a:ext uri="{FF2B5EF4-FFF2-40B4-BE49-F238E27FC236}">
                <a16:creationId xmlns:a16="http://schemas.microsoft.com/office/drawing/2014/main" id="{451818AE-BB4F-893A-E65D-BE3465ACE7B8}"/>
              </a:ext>
            </a:extLst>
          </p:cNvPr>
          <p:cNvSpPr>
            <a:spLocks/>
          </p:cNvSpPr>
          <p:nvPr/>
        </p:nvSpPr>
        <p:spPr bwMode="auto">
          <a:xfrm>
            <a:off x="2436813" y="5715000"/>
            <a:ext cx="38100" cy="50800"/>
          </a:xfrm>
          <a:custGeom>
            <a:avLst/>
            <a:gdLst>
              <a:gd name="T0" fmla="*/ 1411 w 27"/>
              <a:gd name="T1" fmla="*/ 0 h 32"/>
              <a:gd name="T2" fmla="*/ 0 w 27"/>
              <a:gd name="T3" fmla="*/ 17462 h 32"/>
              <a:gd name="T4" fmla="*/ 1411 w 27"/>
              <a:gd name="T5" fmla="*/ 33337 h 32"/>
              <a:gd name="T6" fmla="*/ 2822 w 27"/>
              <a:gd name="T7" fmla="*/ 42862 h 32"/>
              <a:gd name="T8" fmla="*/ 8467 w 27"/>
              <a:gd name="T9" fmla="*/ 49212 h 32"/>
              <a:gd name="T10" fmla="*/ 12700 w 27"/>
              <a:gd name="T11" fmla="*/ 49212 h 32"/>
              <a:gd name="T12" fmla="*/ 12700 w 27"/>
              <a:gd name="T13" fmla="*/ 47625 h 32"/>
              <a:gd name="T14" fmla="*/ 16933 w 27"/>
              <a:gd name="T15" fmla="*/ 46037 h 32"/>
              <a:gd name="T16" fmla="*/ 19756 w 27"/>
              <a:gd name="T17" fmla="*/ 41275 h 32"/>
              <a:gd name="T18" fmla="*/ 23989 w 27"/>
              <a:gd name="T19" fmla="*/ 34925 h 32"/>
              <a:gd name="T20" fmla="*/ 29633 w 27"/>
              <a:gd name="T21" fmla="*/ 26987 h 32"/>
              <a:gd name="T22" fmla="*/ 33867 w 27"/>
              <a:gd name="T23" fmla="*/ 17462 h 32"/>
              <a:gd name="T24" fmla="*/ 36689 w 27"/>
              <a:gd name="T25" fmla="*/ 6350 h 32"/>
              <a:gd name="T26" fmla="*/ 1411 w 27"/>
              <a:gd name="T27" fmla="*/ 0 h 3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7"/>
              <a:gd name="T43" fmla="*/ 0 h 32"/>
              <a:gd name="T44" fmla="*/ 27 w 27"/>
              <a:gd name="T45" fmla="*/ 32 h 3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7" h="32">
                <a:moveTo>
                  <a:pt x="1" y="0"/>
                </a:moveTo>
                <a:lnTo>
                  <a:pt x="0" y="11"/>
                </a:lnTo>
                <a:lnTo>
                  <a:pt x="1" y="21"/>
                </a:lnTo>
                <a:lnTo>
                  <a:pt x="2" y="27"/>
                </a:lnTo>
                <a:lnTo>
                  <a:pt x="6" y="31"/>
                </a:lnTo>
                <a:lnTo>
                  <a:pt x="9" y="31"/>
                </a:lnTo>
                <a:lnTo>
                  <a:pt x="9" y="30"/>
                </a:lnTo>
                <a:lnTo>
                  <a:pt x="12" y="29"/>
                </a:lnTo>
                <a:lnTo>
                  <a:pt x="14" y="26"/>
                </a:lnTo>
                <a:lnTo>
                  <a:pt x="17" y="22"/>
                </a:lnTo>
                <a:lnTo>
                  <a:pt x="21" y="17"/>
                </a:lnTo>
                <a:lnTo>
                  <a:pt x="24" y="11"/>
                </a:lnTo>
                <a:lnTo>
                  <a:pt x="26" y="4"/>
                </a:lnTo>
                <a:lnTo>
                  <a:pt x="1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67" name="Freeform 264">
            <a:extLst>
              <a:ext uri="{FF2B5EF4-FFF2-40B4-BE49-F238E27FC236}">
                <a16:creationId xmlns:a16="http://schemas.microsoft.com/office/drawing/2014/main" id="{BACBD1FD-A217-39BA-50CB-2E5C0BBA1643}"/>
              </a:ext>
            </a:extLst>
          </p:cNvPr>
          <p:cNvSpPr>
            <a:spLocks/>
          </p:cNvSpPr>
          <p:nvPr/>
        </p:nvSpPr>
        <p:spPr bwMode="auto">
          <a:xfrm>
            <a:off x="2436813" y="5715000"/>
            <a:ext cx="52387" cy="66675"/>
          </a:xfrm>
          <a:custGeom>
            <a:avLst/>
            <a:gdLst>
              <a:gd name="T0" fmla="*/ 1416 w 37"/>
              <a:gd name="T1" fmla="*/ 0 h 42"/>
              <a:gd name="T2" fmla="*/ 0 w 37"/>
              <a:gd name="T3" fmla="*/ 23812 h 42"/>
              <a:gd name="T4" fmla="*/ 1416 w 37"/>
              <a:gd name="T5" fmla="*/ 44450 h 42"/>
              <a:gd name="T6" fmla="*/ 4248 w 37"/>
              <a:gd name="T7" fmla="*/ 57150 h 42"/>
              <a:gd name="T8" fmla="*/ 11327 w 37"/>
              <a:gd name="T9" fmla="*/ 65088 h 42"/>
              <a:gd name="T10" fmla="*/ 16990 w 37"/>
              <a:gd name="T11" fmla="*/ 65088 h 42"/>
              <a:gd name="T12" fmla="*/ 18406 w 37"/>
              <a:gd name="T13" fmla="*/ 63500 h 42"/>
              <a:gd name="T14" fmla="*/ 24070 w 37"/>
              <a:gd name="T15" fmla="*/ 60325 h 42"/>
              <a:gd name="T16" fmla="*/ 28317 w 37"/>
              <a:gd name="T17" fmla="*/ 55563 h 42"/>
              <a:gd name="T18" fmla="*/ 33981 w 37"/>
              <a:gd name="T19" fmla="*/ 46037 h 42"/>
              <a:gd name="T20" fmla="*/ 41060 w 37"/>
              <a:gd name="T21" fmla="*/ 34925 h 42"/>
              <a:gd name="T22" fmla="*/ 46724 w 37"/>
              <a:gd name="T23" fmla="*/ 23812 h 42"/>
              <a:gd name="T24" fmla="*/ 50971 w 37"/>
              <a:gd name="T25" fmla="*/ 7938 h 4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7"/>
              <a:gd name="T40" fmla="*/ 0 h 42"/>
              <a:gd name="T41" fmla="*/ 37 w 37"/>
              <a:gd name="T42" fmla="*/ 42 h 4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7" h="42">
                <a:moveTo>
                  <a:pt x="1" y="0"/>
                </a:moveTo>
                <a:lnTo>
                  <a:pt x="0" y="15"/>
                </a:lnTo>
                <a:lnTo>
                  <a:pt x="1" y="28"/>
                </a:lnTo>
                <a:lnTo>
                  <a:pt x="3" y="36"/>
                </a:lnTo>
                <a:lnTo>
                  <a:pt x="8" y="41"/>
                </a:lnTo>
                <a:lnTo>
                  <a:pt x="12" y="41"/>
                </a:lnTo>
                <a:lnTo>
                  <a:pt x="13" y="40"/>
                </a:lnTo>
                <a:lnTo>
                  <a:pt x="17" y="38"/>
                </a:lnTo>
                <a:lnTo>
                  <a:pt x="20" y="35"/>
                </a:lnTo>
                <a:lnTo>
                  <a:pt x="24" y="29"/>
                </a:lnTo>
                <a:lnTo>
                  <a:pt x="29" y="22"/>
                </a:lnTo>
                <a:lnTo>
                  <a:pt x="33" y="15"/>
                </a:lnTo>
                <a:lnTo>
                  <a:pt x="36" y="5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68" name="Freeform 265">
            <a:extLst>
              <a:ext uri="{FF2B5EF4-FFF2-40B4-BE49-F238E27FC236}">
                <a16:creationId xmlns:a16="http://schemas.microsoft.com/office/drawing/2014/main" id="{BD116786-BF5C-B736-2D6D-E3E69591B0C4}"/>
              </a:ext>
            </a:extLst>
          </p:cNvPr>
          <p:cNvSpPr>
            <a:spLocks/>
          </p:cNvSpPr>
          <p:nvPr/>
        </p:nvSpPr>
        <p:spPr bwMode="auto">
          <a:xfrm>
            <a:off x="2357438" y="5656263"/>
            <a:ext cx="49212" cy="85725"/>
          </a:xfrm>
          <a:custGeom>
            <a:avLst/>
            <a:gdLst>
              <a:gd name="T0" fmla="*/ 5790 w 34"/>
              <a:gd name="T1" fmla="*/ 0 h 54"/>
              <a:gd name="T2" fmla="*/ 2895 w 34"/>
              <a:gd name="T3" fmla="*/ 30163 h 54"/>
              <a:gd name="T4" fmla="*/ 0 w 34"/>
              <a:gd name="T5" fmla="*/ 53975 h 54"/>
              <a:gd name="T6" fmla="*/ 0 w 34"/>
              <a:gd name="T7" fmla="*/ 63500 h 54"/>
              <a:gd name="T8" fmla="*/ 2895 w 34"/>
              <a:gd name="T9" fmla="*/ 71438 h 54"/>
              <a:gd name="T10" fmla="*/ 2895 w 34"/>
              <a:gd name="T11" fmla="*/ 77788 h 54"/>
              <a:gd name="T12" fmla="*/ 7237 w 34"/>
              <a:gd name="T13" fmla="*/ 80963 h 54"/>
              <a:gd name="T14" fmla="*/ 10132 w 34"/>
              <a:gd name="T15" fmla="*/ 84138 h 54"/>
              <a:gd name="T16" fmla="*/ 13027 w 34"/>
              <a:gd name="T17" fmla="*/ 84138 h 54"/>
              <a:gd name="T18" fmla="*/ 18816 w 34"/>
              <a:gd name="T19" fmla="*/ 80963 h 54"/>
              <a:gd name="T20" fmla="*/ 23159 w 34"/>
              <a:gd name="T21" fmla="*/ 74613 h 54"/>
              <a:gd name="T22" fmla="*/ 28948 w 34"/>
              <a:gd name="T23" fmla="*/ 68263 h 54"/>
              <a:gd name="T24" fmla="*/ 34738 w 34"/>
              <a:gd name="T25" fmla="*/ 55563 h 54"/>
              <a:gd name="T26" fmla="*/ 41975 w 34"/>
              <a:gd name="T27" fmla="*/ 42863 h 54"/>
              <a:gd name="T28" fmla="*/ 47765 w 34"/>
              <a:gd name="T29" fmla="*/ 25400 h 54"/>
              <a:gd name="T30" fmla="*/ 5790 w 34"/>
              <a:gd name="T31" fmla="*/ 0 h 5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4"/>
              <a:gd name="T49" fmla="*/ 0 h 54"/>
              <a:gd name="T50" fmla="*/ 34 w 34"/>
              <a:gd name="T51" fmla="*/ 54 h 5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4" h="54">
                <a:moveTo>
                  <a:pt x="4" y="0"/>
                </a:moveTo>
                <a:lnTo>
                  <a:pt x="2" y="19"/>
                </a:lnTo>
                <a:lnTo>
                  <a:pt x="0" y="34"/>
                </a:lnTo>
                <a:lnTo>
                  <a:pt x="0" y="40"/>
                </a:lnTo>
                <a:lnTo>
                  <a:pt x="2" y="45"/>
                </a:lnTo>
                <a:lnTo>
                  <a:pt x="2" y="49"/>
                </a:lnTo>
                <a:lnTo>
                  <a:pt x="5" y="51"/>
                </a:lnTo>
                <a:lnTo>
                  <a:pt x="7" y="53"/>
                </a:lnTo>
                <a:lnTo>
                  <a:pt x="9" y="53"/>
                </a:lnTo>
                <a:lnTo>
                  <a:pt x="13" y="51"/>
                </a:lnTo>
                <a:lnTo>
                  <a:pt x="16" y="47"/>
                </a:lnTo>
                <a:lnTo>
                  <a:pt x="20" y="43"/>
                </a:lnTo>
                <a:lnTo>
                  <a:pt x="24" y="35"/>
                </a:lnTo>
                <a:lnTo>
                  <a:pt x="29" y="27"/>
                </a:lnTo>
                <a:lnTo>
                  <a:pt x="33" y="16"/>
                </a:lnTo>
                <a:lnTo>
                  <a:pt x="4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69" name="Freeform 266">
            <a:extLst>
              <a:ext uri="{FF2B5EF4-FFF2-40B4-BE49-F238E27FC236}">
                <a16:creationId xmlns:a16="http://schemas.microsoft.com/office/drawing/2014/main" id="{9FEA41EB-EDEC-928A-AE31-401590494DCD}"/>
              </a:ext>
            </a:extLst>
          </p:cNvPr>
          <p:cNvSpPr>
            <a:spLocks/>
          </p:cNvSpPr>
          <p:nvPr/>
        </p:nvSpPr>
        <p:spPr bwMode="auto">
          <a:xfrm>
            <a:off x="2357438" y="5656263"/>
            <a:ext cx="61912" cy="101600"/>
          </a:xfrm>
          <a:custGeom>
            <a:avLst/>
            <a:gdLst>
              <a:gd name="T0" fmla="*/ 7035 w 44"/>
              <a:gd name="T1" fmla="*/ 0 h 64"/>
              <a:gd name="T2" fmla="*/ 2814 w 44"/>
              <a:gd name="T3" fmla="*/ 36512 h 64"/>
              <a:gd name="T4" fmla="*/ 0 w 44"/>
              <a:gd name="T5" fmla="*/ 63500 h 64"/>
              <a:gd name="T6" fmla="*/ 0 w 44"/>
              <a:gd name="T7" fmla="*/ 74612 h 64"/>
              <a:gd name="T8" fmla="*/ 2814 w 44"/>
              <a:gd name="T9" fmla="*/ 85725 h 64"/>
              <a:gd name="T10" fmla="*/ 4221 w 44"/>
              <a:gd name="T11" fmla="*/ 92075 h 64"/>
              <a:gd name="T12" fmla="*/ 9850 w 44"/>
              <a:gd name="T13" fmla="*/ 96837 h 64"/>
              <a:gd name="T14" fmla="*/ 12664 w 44"/>
              <a:gd name="T15" fmla="*/ 100012 h 64"/>
              <a:gd name="T16" fmla="*/ 16885 w 44"/>
              <a:gd name="T17" fmla="*/ 100012 h 64"/>
              <a:gd name="T18" fmla="*/ 23921 w 44"/>
              <a:gd name="T19" fmla="*/ 96837 h 64"/>
              <a:gd name="T20" fmla="*/ 29549 w 44"/>
              <a:gd name="T21" fmla="*/ 88900 h 64"/>
              <a:gd name="T22" fmla="*/ 36584 w 44"/>
              <a:gd name="T23" fmla="*/ 80962 h 64"/>
              <a:gd name="T24" fmla="*/ 43620 w 44"/>
              <a:gd name="T25" fmla="*/ 66675 h 64"/>
              <a:gd name="T26" fmla="*/ 53469 w 44"/>
              <a:gd name="T27" fmla="*/ 50800 h 64"/>
              <a:gd name="T28" fmla="*/ 60505 w 44"/>
              <a:gd name="T29" fmla="*/ 30162 h 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44"/>
              <a:gd name="T46" fmla="*/ 0 h 64"/>
              <a:gd name="T47" fmla="*/ 44 w 44"/>
              <a:gd name="T48" fmla="*/ 64 h 6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44" h="64">
                <a:moveTo>
                  <a:pt x="5" y="0"/>
                </a:moveTo>
                <a:lnTo>
                  <a:pt x="2" y="23"/>
                </a:lnTo>
                <a:lnTo>
                  <a:pt x="0" y="40"/>
                </a:lnTo>
                <a:lnTo>
                  <a:pt x="0" y="47"/>
                </a:lnTo>
                <a:lnTo>
                  <a:pt x="2" y="54"/>
                </a:lnTo>
                <a:lnTo>
                  <a:pt x="3" y="58"/>
                </a:lnTo>
                <a:lnTo>
                  <a:pt x="7" y="61"/>
                </a:lnTo>
                <a:lnTo>
                  <a:pt x="9" y="63"/>
                </a:lnTo>
                <a:lnTo>
                  <a:pt x="12" y="63"/>
                </a:lnTo>
                <a:lnTo>
                  <a:pt x="17" y="61"/>
                </a:lnTo>
                <a:lnTo>
                  <a:pt x="21" y="56"/>
                </a:lnTo>
                <a:lnTo>
                  <a:pt x="26" y="51"/>
                </a:lnTo>
                <a:lnTo>
                  <a:pt x="31" y="42"/>
                </a:lnTo>
                <a:lnTo>
                  <a:pt x="38" y="32"/>
                </a:lnTo>
                <a:lnTo>
                  <a:pt x="43" y="19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70" name="Freeform 267">
            <a:extLst>
              <a:ext uri="{FF2B5EF4-FFF2-40B4-BE49-F238E27FC236}">
                <a16:creationId xmlns:a16="http://schemas.microsoft.com/office/drawing/2014/main" id="{582688B4-03EC-359C-7DA8-DAC4CFAD7495}"/>
              </a:ext>
            </a:extLst>
          </p:cNvPr>
          <p:cNvSpPr>
            <a:spLocks/>
          </p:cNvSpPr>
          <p:nvPr/>
        </p:nvSpPr>
        <p:spPr bwMode="auto">
          <a:xfrm>
            <a:off x="2292350" y="5629275"/>
            <a:ext cx="47625" cy="63500"/>
          </a:xfrm>
          <a:custGeom>
            <a:avLst/>
            <a:gdLst>
              <a:gd name="T0" fmla="*/ 20205 w 33"/>
              <a:gd name="T1" fmla="*/ 0 h 40"/>
              <a:gd name="T2" fmla="*/ 10102 w 33"/>
              <a:gd name="T3" fmla="*/ 20637 h 40"/>
              <a:gd name="T4" fmla="*/ 2886 w 33"/>
              <a:gd name="T5" fmla="*/ 38100 h 40"/>
              <a:gd name="T6" fmla="*/ 0 w 33"/>
              <a:gd name="T7" fmla="*/ 50800 h 40"/>
              <a:gd name="T8" fmla="*/ 2886 w 33"/>
              <a:gd name="T9" fmla="*/ 58738 h 40"/>
              <a:gd name="T10" fmla="*/ 4330 w 33"/>
              <a:gd name="T11" fmla="*/ 61913 h 40"/>
              <a:gd name="T12" fmla="*/ 5773 w 33"/>
              <a:gd name="T13" fmla="*/ 61913 h 40"/>
              <a:gd name="T14" fmla="*/ 10102 w 33"/>
              <a:gd name="T15" fmla="*/ 61913 h 40"/>
              <a:gd name="T16" fmla="*/ 15875 w 33"/>
              <a:gd name="T17" fmla="*/ 58738 h 40"/>
              <a:gd name="T18" fmla="*/ 20205 w 33"/>
              <a:gd name="T19" fmla="*/ 53975 h 40"/>
              <a:gd name="T20" fmla="*/ 28864 w 33"/>
              <a:gd name="T21" fmla="*/ 47625 h 40"/>
              <a:gd name="T22" fmla="*/ 36080 w 33"/>
              <a:gd name="T23" fmla="*/ 41275 h 40"/>
              <a:gd name="T24" fmla="*/ 46182 w 33"/>
              <a:gd name="T25" fmla="*/ 30163 h 40"/>
              <a:gd name="T26" fmla="*/ 20205 w 33"/>
              <a:gd name="T27" fmla="*/ 0 h 4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33"/>
              <a:gd name="T43" fmla="*/ 0 h 40"/>
              <a:gd name="T44" fmla="*/ 33 w 33"/>
              <a:gd name="T45" fmla="*/ 40 h 4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33" h="40">
                <a:moveTo>
                  <a:pt x="14" y="0"/>
                </a:moveTo>
                <a:lnTo>
                  <a:pt x="7" y="13"/>
                </a:lnTo>
                <a:lnTo>
                  <a:pt x="2" y="24"/>
                </a:lnTo>
                <a:lnTo>
                  <a:pt x="0" y="32"/>
                </a:lnTo>
                <a:lnTo>
                  <a:pt x="2" y="37"/>
                </a:lnTo>
                <a:lnTo>
                  <a:pt x="3" y="39"/>
                </a:lnTo>
                <a:lnTo>
                  <a:pt x="4" y="39"/>
                </a:lnTo>
                <a:lnTo>
                  <a:pt x="7" y="39"/>
                </a:lnTo>
                <a:lnTo>
                  <a:pt x="11" y="37"/>
                </a:lnTo>
                <a:lnTo>
                  <a:pt x="14" y="34"/>
                </a:lnTo>
                <a:lnTo>
                  <a:pt x="20" y="30"/>
                </a:lnTo>
                <a:lnTo>
                  <a:pt x="25" y="26"/>
                </a:lnTo>
                <a:lnTo>
                  <a:pt x="32" y="19"/>
                </a:lnTo>
                <a:lnTo>
                  <a:pt x="14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71" name="Freeform 268">
            <a:extLst>
              <a:ext uri="{FF2B5EF4-FFF2-40B4-BE49-F238E27FC236}">
                <a16:creationId xmlns:a16="http://schemas.microsoft.com/office/drawing/2014/main" id="{18F6A2D6-1994-BFED-5159-0087FFC4309F}"/>
              </a:ext>
            </a:extLst>
          </p:cNvPr>
          <p:cNvSpPr>
            <a:spLocks/>
          </p:cNvSpPr>
          <p:nvPr/>
        </p:nvSpPr>
        <p:spPr bwMode="auto">
          <a:xfrm>
            <a:off x="2292350" y="5629275"/>
            <a:ext cx="60325" cy="79375"/>
          </a:xfrm>
          <a:custGeom>
            <a:avLst/>
            <a:gdLst>
              <a:gd name="T0" fmla="*/ 25252 w 43"/>
              <a:gd name="T1" fmla="*/ 0 h 50"/>
              <a:gd name="T2" fmla="*/ 12626 w 43"/>
              <a:gd name="T3" fmla="*/ 25400 h 50"/>
              <a:gd name="T4" fmla="*/ 2806 w 43"/>
              <a:gd name="T5" fmla="*/ 47625 h 50"/>
              <a:gd name="T6" fmla="*/ 0 w 43"/>
              <a:gd name="T7" fmla="*/ 63500 h 50"/>
              <a:gd name="T8" fmla="*/ 2806 w 43"/>
              <a:gd name="T9" fmla="*/ 74613 h 50"/>
              <a:gd name="T10" fmla="*/ 5612 w 43"/>
              <a:gd name="T11" fmla="*/ 77788 h 50"/>
              <a:gd name="T12" fmla="*/ 7015 w 43"/>
              <a:gd name="T13" fmla="*/ 77788 h 50"/>
              <a:gd name="T14" fmla="*/ 12626 w 43"/>
              <a:gd name="T15" fmla="*/ 77788 h 50"/>
              <a:gd name="T16" fmla="*/ 19641 w 43"/>
              <a:gd name="T17" fmla="*/ 74613 h 50"/>
              <a:gd name="T18" fmla="*/ 26655 w 43"/>
              <a:gd name="T19" fmla="*/ 68263 h 50"/>
              <a:gd name="T20" fmla="*/ 36476 w 43"/>
              <a:gd name="T21" fmla="*/ 60325 h 50"/>
              <a:gd name="T22" fmla="*/ 46296 w 43"/>
              <a:gd name="T23" fmla="*/ 52388 h 50"/>
              <a:gd name="T24" fmla="*/ 58922 w 43"/>
              <a:gd name="T25" fmla="*/ 38100 h 5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3"/>
              <a:gd name="T40" fmla="*/ 0 h 50"/>
              <a:gd name="T41" fmla="*/ 43 w 43"/>
              <a:gd name="T42" fmla="*/ 50 h 5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3" h="50">
                <a:moveTo>
                  <a:pt x="18" y="0"/>
                </a:moveTo>
                <a:lnTo>
                  <a:pt x="9" y="16"/>
                </a:lnTo>
                <a:lnTo>
                  <a:pt x="2" y="30"/>
                </a:lnTo>
                <a:lnTo>
                  <a:pt x="0" y="40"/>
                </a:lnTo>
                <a:lnTo>
                  <a:pt x="2" y="47"/>
                </a:lnTo>
                <a:lnTo>
                  <a:pt x="4" y="49"/>
                </a:lnTo>
                <a:lnTo>
                  <a:pt x="5" y="49"/>
                </a:lnTo>
                <a:lnTo>
                  <a:pt x="9" y="49"/>
                </a:lnTo>
                <a:lnTo>
                  <a:pt x="14" y="47"/>
                </a:lnTo>
                <a:lnTo>
                  <a:pt x="19" y="43"/>
                </a:lnTo>
                <a:lnTo>
                  <a:pt x="26" y="38"/>
                </a:lnTo>
                <a:lnTo>
                  <a:pt x="33" y="33"/>
                </a:lnTo>
                <a:lnTo>
                  <a:pt x="42" y="24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72" name="Freeform 269">
            <a:extLst>
              <a:ext uri="{FF2B5EF4-FFF2-40B4-BE49-F238E27FC236}">
                <a16:creationId xmlns:a16="http://schemas.microsoft.com/office/drawing/2014/main" id="{0E587659-C7C7-E732-3DE7-7A18088325D0}"/>
              </a:ext>
            </a:extLst>
          </p:cNvPr>
          <p:cNvSpPr>
            <a:spLocks/>
          </p:cNvSpPr>
          <p:nvPr/>
        </p:nvSpPr>
        <p:spPr bwMode="auto">
          <a:xfrm>
            <a:off x="2492375" y="5681663"/>
            <a:ext cx="63500" cy="63500"/>
          </a:xfrm>
          <a:custGeom>
            <a:avLst/>
            <a:gdLst>
              <a:gd name="T0" fmla="*/ 28222 w 45"/>
              <a:gd name="T1" fmla="*/ 0 h 40"/>
              <a:gd name="T2" fmla="*/ 45156 w 45"/>
              <a:gd name="T3" fmla="*/ 17462 h 40"/>
              <a:gd name="T4" fmla="*/ 56444 w 45"/>
              <a:gd name="T5" fmla="*/ 33337 h 40"/>
              <a:gd name="T6" fmla="*/ 62089 w 45"/>
              <a:gd name="T7" fmla="*/ 46037 h 40"/>
              <a:gd name="T8" fmla="*/ 62089 w 45"/>
              <a:gd name="T9" fmla="*/ 57150 h 40"/>
              <a:gd name="T10" fmla="*/ 60678 w 45"/>
              <a:gd name="T11" fmla="*/ 58738 h 40"/>
              <a:gd name="T12" fmla="*/ 56444 w 45"/>
              <a:gd name="T13" fmla="*/ 61913 h 40"/>
              <a:gd name="T14" fmla="*/ 50800 w 45"/>
              <a:gd name="T15" fmla="*/ 61913 h 40"/>
              <a:gd name="T16" fmla="*/ 45156 w 45"/>
              <a:gd name="T17" fmla="*/ 61913 h 40"/>
              <a:gd name="T18" fmla="*/ 36689 w 45"/>
              <a:gd name="T19" fmla="*/ 57150 h 40"/>
              <a:gd name="T20" fmla="*/ 26811 w 45"/>
              <a:gd name="T21" fmla="*/ 52388 h 40"/>
              <a:gd name="T22" fmla="*/ 15522 w 45"/>
              <a:gd name="T23" fmla="*/ 46037 h 40"/>
              <a:gd name="T24" fmla="*/ 0 w 45"/>
              <a:gd name="T25" fmla="*/ 36512 h 40"/>
              <a:gd name="T26" fmla="*/ 28222 w 45"/>
              <a:gd name="T27" fmla="*/ 0 h 4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5"/>
              <a:gd name="T43" fmla="*/ 0 h 40"/>
              <a:gd name="T44" fmla="*/ 45 w 45"/>
              <a:gd name="T45" fmla="*/ 40 h 4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5" h="40">
                <a:moveTo>
                  <a:pt x="20" y="0"/>
                </a:moveTo>
                <a:lnTo>
                  <a:pt x="32" y="11"/>
                </a:lnTo>
                <a:lnTo>
                  <a:pt x="40" y="21"/>
                </a:lnTo>
                <a:lnTo>
                  <a:pt x="44" y="29"/>
                </a:lnTo>
                <a:lnTo>
                  <a:pt x="44" y="36"/>
                </a:lnTo>
                <a:lnTo>
                  <a:pt x="43" y="37"/>
                </a:lnTo>
                <a:lnTo>
                  <a:pt x="40" y="39"/>
                </a:lnTo>
                <a:lnTo>
                  <a:pt x="36" y="39"/>
                </a:lnTo>
                <a:lnTo>
                  <a:pt x="32" y="39"/>
                </a:lnTo>
                <a:lnTo>
                  <a:pt x="26" y="36"/>
                </a:lnTo>
                <a:lnTo>
                  <a:pt x="19" y="33"/>
                </a:lnTo>
                <a:lnTo>
                  <a:pt x="11" y="29"/>
                </a:lnTo>
                <a:lnTo>
                  <a:pt x="0" y="23"/>
                </a:lnTo>
                <a:lnTo>
                  <a:pt x="20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73" name="Freeform 270">
            <a:extLst>
              <a:ext uri="{FF2B5EF4-FFF2-40B4-BE49-F238E27FC236}">
                <a16:creationId xmlns:a16="http://schemas.microsoft.com/office/drawing/2014/main" id="{0CFA7382-6EF0-5F75-4F51-1D2743C236D3}"/>
              </a:ext>
            </a:extLst>
          </p:cNvPr>
          <p:cNvSpPr>
            <a:spLocks/>
          </p:cNvSpPr>
          <p:nvPr/>
        </p:nvSpPr>
        <p:spPr bwMode="auto">
          <a:xfrm>
            <a:off x="2492375" y="5681663"/>
            <a:ext cx="77788" cy="79375"/>
          </a:xfrm>
          <a:custGeom>
            <a:avLst/>
            <a:gdLst>
              <a:gd name="T0" fmla="*/ 35358 w 55"/>
              <a:gd name="T1" fmla="*/ 0 h 50"/>
              <a:gd name="T2" fmla="*/ 55159 w 55"/>
              <a:gd name="T3" fmla="*/ 22225 h 50"/>
              <a:gd name="T4" fmla="*/ 69302 w 55"/>
              <a:gd name="T5" fmla="*/ 41275 h 50"/>
              <a:gd name="T6" fmla="*/ 76374 w 55"/>
              <a:gd name="T7" fmla="*/ 57150 h 50"/>
              <a:gd name="T8" fmla="*/ 76374 w 55"/>
              <a:gd name="T9" fmla="*/ 71438 h 50"/>
              <a:gd name="T10" fmla="*/ 74959 w 55"/>
              <a:gd name="T11" fmla="*/ 74613 h 50"/>
              <a:gd name="T12" fmla="*/ 69302 w 55"/>
              <a:gd name="T13" fmla="*/ 77788 h 50"/>
              <a:gd name="T14" fmla="*/ 62230 w 55"/>
              <a:gd name="T15" fmla="*/ 77788 h 50"/>
              <a:gd name="T16" fmla="*/ 55159 w 55"/>
              <a:gd name="T17" fmla="*/ 77788 h 50"/>
              <a:gd name="T18" fmla="*/ 45258 w 55"/>
              <a:gd name="T19" fmla="*/ 71438 h 50"/>
              <a:gd name="T20" fmla="*/ 32530 w 55"/>
              <a:gd name="T21" fmla="*/ 66675 h 50"/>
              <a:gd name="T22" fmla="*/ 18386 w 55"/>
              <a:gd name="T23" fmla="*/ 57150 h 50"/>
              <a:gd name="T24" fmla="*/ 0 w 55"/>
              <a:gd name="T25" fmla="*/ 46037 h 5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5"/>
              <a:gd name="T40" fmla="*/ 0 h 50"/>
              <a:gd name="T41" fmla="*/ 55 w 55"/>
              <a:gd name="T42" fmla="*/ 50 h 5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5" h="50">
                <a:moveTo>
                  <a:pt x="25" y="0"/>
                </a:moveTo>
                <a:lnTo>
                  <a:pt x="39" y="14"/>
                </a:lnTo>
                <a:lnTo>
                  <a:pt x="49" y="26"/>
                </a:lnTo>
                <a:lnTo>
                  <a:pt x="54" y="36"/>
                </a:lnTo>
                <a:lnTo>
                  <a:pt x="54" y="45"/>
                </a:lnTo>
                <a:lnTo>
                  <a:pt x="53" y="47"/>
                </a:lnTo>
                <a:lnTo>
                  <a:pt x="49" y="49"/>
                </a:lnTo>
                <a:lnTo>
                  <a:pt x="44" y="49"/>
                </a:lnTo>
                <a:lnTo>
                  <a:pt x="39" y="49"/>
                </a:lnTo>
                <a:lnTo>
                  <a:pt x="32" y="45"/>
                </a:lnTo>
                <a:lnTo>
                  <a:pt x="23" y="42"/>
                </a:lnTo>
                <a:lnTo>
                  <a:pt x="13" y="36"/>
                </a:lnTo>
                <a:lnTo>
                  <a:pt x="0" y="29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74" name="Freeform 271">
            <a:extLst>
              <a:ext uri="{FF2B5EF4-FFF2-40B4-BE49-F238E27FC236}">
                <a16:creationId xmlns:a16="http://schemas.microsoft.com/office/drawing/2014/main" id="{FD955F87-9D27-5500-4EB4-E5F21D6C213D}"/>
              </a:ext>
            </a:extLst>
          </p:cNvPr>
          <p:cNvSpPr>
            <a:spLocks/>
          </p:cNvSpPr>
          <p:nvPr/>
        </p:nvSpPr>
        <p:spPr bwMode="auto">
          <a:xfrm>
            <a:off x="1606550" y="3851275"/>
            <a:ext cx="4763" cy="11113"/>
          </a:xfrm>
          <a:custGeom>
            <a:avLst/>
            <a:gdLst>
              <a:gd name="T0" fmla="*/ 0 w 2"/>
              <a:gd name="T1" fmla="*/ 7938 h 7"/>
              <a:gd name="T2" fmla="*/ 2382 w 2"/>
              <a:gd name="T3" fmla="*/ 9525 h 7"/>
              <a:gd name="T4" fmla="*/ 2382 w 2"/>
              <a:gd name="T5" fmla="*/ 1588 h 7"/>
              <a:gd name="T6" fmla="*/ 2382 w 2"/>
              <a:gd name="T7" fmla="*/ 0 h 7"/>
              <a:gd name="T8" fmla="*/ 0 w 2"/>
              <a:gd name="T9" fmla="*/ 7938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"/>
              <a:gd name="T16" fmla="*/ 0 h 7"/>
              <a:gd name="T17" fmla="*/ 2 w 2"/>
              <a:gd name="T18" fmla="*/ 7 h 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" h="7">
                <a:moveTo>
                  <a:pt x="0" y="5"/>
                </a:moveTo>
                <a:lnTo>
                  <a:pt x="1" y="6"/>
                </a:lnTo>
                <a:lnTo>
                  <a:pt x="1" y="1"/>
                </a:lnTo>
                <a:lnTo>
                  <a:pt x="1" y="0"/>
                </a:lnTo>
                <a:lnTo>
                  <a:pt x="0" y="5"/>
                </a:lnTo>
              </a:path>
            </a:pathLst>
          </a:custGeom>
          <a:solidFill>
            <a:srgbClr val="FAFD00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75" name="Freeform 272">
            <a:extLst>
              <a:ext uri="{FF2B5EF4-FFF2-40B4-BE49-F238E27FC236}">
                <a16:creationId xmlns:a16="http://schemas.microsoft.com/office/drawing/2014/main" id="{7517FD17-0B5A-E2F1-1807-BE99A2F8C7E6}"/>
              </a:ext>
            </a:extLst>
          </p:cNvPr>
          <p:cNvSpPr>
            <a:spLocks/>
          </p:cNvSpPr>
          <p:nvPr/>
        </p:nvSpPr>
        <p:spPr bwMode="auto">
          <a:xfrm>
            <a:off x="1598613" y="3854450"/>
            <a:ext cx="12700" cy="7938"/>
          </a:xfrm>
          <a:custGeom>
            <a:avLst/>
            <a:gdLst>
              <a:gd name="T0" fmla="*/ 0 w 8"/>
              <a:gd name="T1" fmla="*/ 6350 h 5"/>
              <a:gd name="T2" fmla="*/ 0 w 8"/>
              <a:gd name="T3" fmla="*/ 6350 h 5"/>
              <a:gd name="T4" fmla="*/ 11112 w 8"/>
              <a:gd name="T5" fmla="*/ 0 h 5"/>
              <a:gd name="T6" fmla="*/ 0 w 8"/>
              <a:gd name="T7" fmla="*/ 6350 h 5"/>
              <a:gd name="T8" fmla="*/ 0 60000 65536"/>
              <a:gd name="T9" fmla="*/ 0 60000 65536"/>
              <a:gd name="T10" fmla="*/ 0 60000 65536"/>
              <a:gd name="T11" fmla="*/ 0 60000 65536"/>
              <a:gd name="T12" fmla="*/ 0 w 8"/>
              <a:gd name="T13" fmla="*/ 0 h 5"/>
              <a:gd name="T14" fmla="*/ 8 w 8"/>
              <a:gd name="T15" fmla="*/ 5 h 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" h="5">
                <a:moveTo>
                  <a:pt x="0" y="4"/>
                </a:moveTo>
                <a:lnTo>
                  <a:pt x="0" y="4"/>
                </a:lnTo>
                <a:lnTo>
                  <a:pt x="7" y="0"/>
                </a:lnTo>
                <a:lnTo>
                  <a:pt x="0" y="4"/>
                </a:lnTo>
              </a:path>
            </a:pathLst>
          </a:custGeom>
          <a:solidFill>
            <a:srgbClr val="FAFD00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76" name="Freeform 273">
            <a:extLst>
              <a:ext uri="{FF2B5EF4-FFF2-40B4-BE49-F238E27FC236}">
                <a16:creationId xmlns:a16="http://schemas.microsoft.com/office/drawing/2014/main" id="{64BAD17B-EA58-0AAC-84F2-2CE100A4F631}"/>
              </a:ext>
            </a:extLst>
          </p:cNvPr>
          <p:cNvSpPr>
            <a:spLocks/>
          </p:cNvSpPr>
          <p:nvPr/>
        </p:nvSpPr>
        <p:spPr bwMode="auto">
          <a:xfrm>
            <a:off x="1539875" y="3870325"/>
            <a:ext cx="7938" cy="7938"/>
          </a:xfrm>
          <a:custGeom>
            <a:avLst/>
            <a:gdLst>
              <a:gd name="T0" fmla="*/ 0 w 7"/>
              <a:gd name="T1" fmla="*/ 6350 h 5"/>
              <a:gd name="T2" fmla="*/ 0 w 7"/>
              <a:gd name="T3" fmla="*/ 6350 h 5"/>
              <a:gd name="T4" fmla="*/ 6804 w 7"/>
              <a:gd name="T5" fmla="*/ 0 h 5"/>
              <a:gd name="T6" fmla="*/ 0 w 7"/>
              <a:gd name="T7" fmla="*/ 6350 h 5"/>
              <a:gd name="T8" fmla="*/ 0 60000 65536"/>
              <a:gd name="T9" fmla="*/ 0 60000 65536"/>
              <a:gd name="T10" fmla="*/ 0 60000 65536"/>
              <a:gd name="T11" fmla="*/ 0 60000 65536"/>
              <a:gd name="T12" fmla="*/ 0 w 7"/>
              <a:gd name="T13" fmla="*/ 0 h 5"/>
              <a:gd name="T14" fmla="*/ 7 w 7"/>
              <a:gd name="T15" fmla="*/ 5 h 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" h="5">
                <a:moveTo>
                  <a:pt x="0" y="4"/>
                </a:moveTo>
                <a:lnTo>
                  <a:pt x="0" y="4"/>
                </a:lnTo>
                <a:lnTo>
                  <a:pt x="6" y="0"/>
                </a:lnTo>
                <a:lnTo>
                  <a:pt x="0" y="4"/>
                </a:lnTo>
              </a:path>
            </a:pathLst>
          </a:custGeom>
          <a:solidFill>
            <a:srgbClr val="FAFD00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77" name="Freeform 274" descr="20%">
            <a:extLst>
              <a:ext uri="{FF2B5EF4-FFF2-40B4-BE49-F238E27FC236}">
                <a16:creationId xmlns:a16="http://schemas.microsoft.com/office/drawing/2014/main" id="{99FD828E-A79F-7D58-E3FD-2A86DA4C878D}"/>
              </a:ext>
            </a:extLst>
          </p:cNvPr>
          <p:cNvSpPr>
            <a:spLocks/>
          </p:cNvSpPr>
          <p:nvPr/>
        </p:nvSpPr>
        <p:spPr bwMode="auto">
          <a:xfrm>
            <a:off x="4905375" y="3144838"/>
            <a:ext cx="407988" cy="328612"/>
          </a:xfrm>
          <a:custGeom>
            <a:avLst/>
            <a:gdLst>
              <a:gd name="T0" fmla="*/ 9882 w 289"/>
              <a:gd name="T1" fmla="*/ 74612 h 207"/>
              <a:gd name="T2" fmla="*/ 0 w 289"/>
              <a:gd name="T3" fmla="*/ 242887 h 207"/>
              <a:gd name="T4" fmla="*/ 84703 w 289"/>
              <a:gd name="T5" fmla="*/ 327025 h 207"/>
              <a:gd name="T6" fmla="*/ 341637 w 289"/>
              <a:gd name="T7" fmla="*/ 295275 h 207"/>
              <a:gd name="T8" fmla="*/ 406576 w 289"/>
              <a:gd name="T9" fmla="*/ 252412 h 207"/>
              <a:gd name="T10" fmla="*/ 396694 w 289"/>
              <a:gd name="T11" fmla="*/ 0 h 207"/>
              <a:gd name="T12" fmla="*/ 9882 w 289"/>
              <a:gd name="T13" fmla="*/ 74612 h 20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9"/>
              <a:gd name="T22" fmla="*/ 0 h 207"/>
              <a:gd name="T23" fmla="*/ 289 w 289"/>
              <a:gd name="T24" fmla="*/ 207 h 20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9" h="207">
                <a:moveTo>
                  <a:pt x="7" y="47"/>
                </a:moveTo>
                <a:lnTo>
                  <a:pt x="0" y="153"/>
                </a:lnTo>
                <a:lnTo>
                  <a:pt x="60" y="206"/>
                </a:lnTo>
                <a:lnTo>
                  <a:pt x="242" y="186"/>
                </a:lnTo>
                <a:lnTo>
                  <a:pt x="288" y="159"/>
                </a:lnTo>
                <a:lnTo>
                  <a:pt x="281" y="0"/>
                </a:lnTo>
                <a:lnTo>
                  <a:pt x="7" y="47"/>
                </a:lnTo>
              </a:path>
            </a:pathLst>
          </a:custGeom>
          <a:pattFill prst="pct20">
            <a:fgClr>
              <a:srgbClr val="FF0000"/>
            </a:fgClr>
            <a:bgClr>
              <a:srgbClr val="FFFF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78" name="Oval 275">
            <a:extLst>
              <a:ext uri="{FF2B5EF4-FFF2-40B4-BE49-F238E27FC236}">
                <a16:creationId xmlns:a16="http://schemas.microsoft.com/office/drawing/2014/main" id="{173108DA-2ED5-92A8-1DFC-491474733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4489450"/>
            <a:ext cx="19050" cy="20638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79" name="Oval 276">
            <a:extLst>
              <a:ext uri="{FF2B5EF4-FFF2-40B4-BE49-F238E27FC236}">
                <a16:creationId xmlns:a16="http://schemas.microsoft.com/office/drawing/2014/main" id="{4434DE95-F07E-0424-48AA-53A7FB29D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538" y="4070350"/>
            <a:ext cx="20637" cy="20638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80" name="Oval 277">
            <a:extLst>
              <a:ext uri="{FF2B5EF4-FFF2-40B4-BE49-F238E27FC236}">
                <a16:creationId xmlns:a16="http://schemas.microsoft.com/office/drawing/2014/main" id="{49047253-E871-731F-424F-120D2C38A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56100"/>
            <a:ext cx="17463" cy="22225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81" name="Oval 278">
            <a:extLst>
              <a:ext uri="{FF2B5EF4-FFF2-40B4-BE49-F238E27FC236}">
                <a16:creationId xmlns:a16="http://schemas.microsoft.com/office/drawing/2014/main" id="{677F4103-C7CF-52A1-6FB5-8C7A61498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4891088"/>
            <a:ext cx="19050" cy="20637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82" name="Oval 279">
            <a:extLst>
              <a:ext uri="{FF2B5EF4-FFF2-40B4-BE49-F238E27FC236}">
                <a16:creationId xmlns:a16="http://schemas.microsoft.com/office/drawing/2014/main" id="{395AB5AF-700A-FE96-A724-FFDBF9158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4625975"/>
            <a:ext cx="17463" cy="22225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83" name="Oval 280">
            <a:extLst>
              <a:ext uri="{FF2B5EF4-FFF2-40B4-BE49-F238E27FC236}">
                <a16:creationId xmlns:a16="http://schemas.microsoft.com/office/drawing/2014/main" id="{5DEEA2F5-E1E7-0818-4A91-E2CC04926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4363" y="4891088"/>
            <a:ext cx="19050" cy="20637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84" name="Oval 281">
            <a:extLst>
              <a:ext uri="{FF2B5EF4-FFF2-40B4-BE49-F238E27FC236}">
                <a16:creationId xmlns:a16="http://schemas.microsoft.com/office/drawing/2014/main" id="{2644F9CF-077C-045E-1957-B5F55640D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463" y="4725988"/>
            <a:ext cx="19050" cy="20637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85" name="Oval 282">
            <a:extLst>
              <a:ext uri="{FF2B5EF4-FFF2-40B4-BE49-F238E27FC236}">
                <a16:creationId xmlns:a16="http://schemas.microsoft.com/office/drawing/2014/main" id="{5B5B723C-8150-3F4D-CE2E-DDE4595AA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600" y="4730750"/>
            <a:ext cx="19050" cy="22225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686" name="Rectangle 283">
            <a:extLst>
              <a:ext uri="{FF2B5EF4-FFF2-40B4-BE49-F238E27FC236}">
                <a16:creationId xmlns:a16="http://schemas.microsoft.com/office/drawing/2014/main" id="{75FDF059-0C2C-DB6C-8F76-73F7FE914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7513" y="1577975"/>
            <a:ext cx="290353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Anatomic Dead Space</a:t>
            </a:r>
          </a:p>
        </p:txBody>
      </p:sp>
      <p:sp>
        <p:nvSpPr>
          <p:cNvPr id="21687" name="Rectangle 284">
            <a:extLst>
              <a:ext uri="{FF2B5EF4-FFF2-40B4-BE49-F238E27FC236}">
                <a16:creationId xmlns:a16="http://schemas.microsoft.com/office/drawing/2014/main" id="{7AC77D1E-DEA2-EB79-BEEC-0B286775E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300" y="3905250"/>
            <a:ext cx="17430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Low Blood Flow</a:t>
            </a:r>
          </a:p>
        </p:txBody>
      </p:sp>
      <p:sp>
        <p:nvSpPr>
          <p:cNvPr id="21688" name="Line 285">
            <a:extLst>
              <a:ext uri="{FF2B5EF4-FFF2-40B4-BE49-F238E27FC236}">
                <a16:creationId xmlns:a16="http://schemas.microsoft.com/office/drawing/2014/main" id="{647C165F-9682-253D-3818-42184F8B3F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1875" y="4046538"/>
            <a:ext cx="327183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89" name="Rectangle 286">
            <a:extLst>
              <a:ext uri="{FF2B5EF4-FFF2-40B4-BE49-F238E27FC236}">
                <a16:creationId xmlns:a16="http://schemas.microsoft.com/office/drawing/2014/main" id="{922855AF-54BD-2262-4410-0AC178197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950" y="3522663"/>
            <a:ext cx="314325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Physiologic Dead Space</a:t>
            </a:r>
          </a:p>
        </p:txBody>
      </p:sp>
      <p:sp>
        <p:nvSpPr>
          <p:cNvPr id="21690" name="Line 287">
            <a:extLst>
              <a:ext uri="{FF2B5EF4-FFF2-40B4-BE49-F238E27FC236}">
                <a16:creationId xmlns:a16="http://schemas.microsoft.com/office/drawing/2014/main" id="{6187A0D2-B90D-331B-6891-6E1672523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8375" y="3409950"/>
            <a:ext cx="2365375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91" name="Text Box 288">
            <a:extLst>
              <a:ext uri="{FF2B5EF4-FFF2-40B4-BE49-F238E27FC236}">
                <a16:creationId xmlns:a16="http://schemas.microsoft.com/office/drawing/2014/main" id="{A26C0713-5E96-598F-56C9-AE69486B5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563" y="325438"/>
            <a:ext cx="3408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Definitions of Dead Space</a:t>
            </a:r>
          </a:p>
        </p:txBody>
      </p:sp>
      <p:sp>
        <p:nvSpPr>
          <p:cNvPr id="21692" name="Text Box 290">
            <a:extLst>
              <a:ext uri="{FF2B5EF4-FFF2-40B4-BE49-F238E27FC236}">
                <a16:creationId xmlns:a16="http://schemas.microsoft.com/office/drawing/2014/main" id="{7A1A9858-C834-EE91-6FAC-6372E1D19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629400"/>
            <a:ext cx="4191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000"/>
              <a:t>Copyright © 2006 by Elsevier, Inc.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7" name="Group 22536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22538" name="Oval 22537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22539" name="Oval 22538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 useBgFill="1">
        <p:nvSpPr>
          <p:cNvPr id="22541" name="Rectangle 22540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43" name="Rectangle 22542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545" name="Rectangle 22544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547" name="Rectangle 22546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530" name="Title 1">
            <a:extLst>
              <a:ext uri="{FF2B5EF4-FFF2-40B4-BE49-F238E27FC236}">
                <a16:creationId xmlns:a16="http://schemas.microsoft.com/office/drawing/2014/main" id="{10BEA51F-6C67-3774-13A7-7D65E1DF3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5400"/>
              <a:t>MEASUREMENT OF DEAD SPACE (FOWLER’S METHOD)</a:t>
            </a:r>
          </a:p>
        </p:txBody>
      </p:sp>
      <p:pic>
        <p:nvPicPr>
          <p:cNvPr id="22532" name="Picture 5" descr="8">
            <a:extLst>
              <a:ext uri="{FF2B5EF4-FFF2-40B4-BE49-F238E27FC236}">
                <a16:creationId xmlns:a16="http://schemas.microsoft.com/office/drawing/2014/main" id="{88C2D43C-2615-65A1-CEE5-DBA28AF3EE2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87" r="2" b="2"/>
          <a:stretch/>
        </p:blipFill>
        <p:spPr>
          <a:xfrm>
            <a:off x="755397" y="2265037"/>
            <a:ext cx="3816600" cy="390715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A78DC-ADF9-D7AC-42ED-37BF2D25A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1791" y="2320412"/>
            <a:ext cx="4268680" cy="3797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 sz="1600" dirty="0"/>
              <a:t>Deep breath of O</a:t>
            </a:r>
            <a:r>
              <a:rPr lang="en-US" sz="1600" baseline="-25000" dirty="0"/>
              <a:t>2</a:t>
            </a:r>
            <a:r>
              <a:rPr lang="en-US" sz="1600" dirty="0"/>
              <a:t> ,then expire through rapidly recording nitrogen meter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r>
              <a:rPr lang="en-US" sz="1600" dirty="0"/>
              <a:t>V</a:t>
            </a:r>
            <a:r>
              <a:rPr lang="en-US" sz="1600" baseline="-25000" dirty="0"/>
              <a:t>D</a:t>
            </a:r>
            <a:r>
              <a:rPr lang="en-US" sz="1600" dirty="0"/>
              <a:t>= </a:t>
            </a:r>
            <a:r>
              <a:rPr lang="en-US" sz="1600" u="sng" dirty="0"/>
              <a:t>Area without N</a:t>
            </a:r>
            <a:r>
              <a:rPr lang="en-US" sz="1600" u="sng" baseline="-25000" dirty="0"/>
              <a:t>2            </a:t>
            </a:r>
            <a:r>
              <a:rPr lang="en-US" sz="1600" dirty="0"/>
              <a:t>x vol of air expired</a:t>
            </a:r>
          </a:p>
          <a:p>
            <a:pPr>
              <a:defRPr/>
            </a:pPr>
            <a:r>
              <a:rPr lang="en-US" sz="1600" dirty="0"/>
              <a:t>      Area with N</a:t>
            </a:r>
            <a:r>
              <a:rPr lang="en-US" sz="1600" baseline="-25000" dirty="0"/>
              <a:t>2</a:t>
            </a:r>
            <a:r>
              <a:rPr lang="en-US" sz="1600" dirty="0"/>
              <a:t> + Area without N</a:t>
            </a:r>
            <a:r>
              <a:rPr lang="en-US" sz="1600" baseline="-25000" dirty="0"/>
              <a:t>2</a:t>
            </a:r>
          </a:p>
          <a:p>
            <a:pPr>
              <a:defRPr/>
            </a:pPr>
            <a:r>
              <a:rPr lang="en-US" sz="1600" dirty="0"/>
              <a:t>     = </a:t>
            </a:r>
            <a:r>
              <a:rPr lang="en-US" sz="1600" u="sng" dirty="0"/>
              <a:t>       30     </a:t>
            </a:r>
            <a:r>
              <a:rPr lang="en-US" sz="1600" dirty="0"/>
              <a:t>x    500</a:t>
            </a:r>
          </a:p>
          <a:p>
            <a:pPr>
              <a:defRPr/>
            </a:pPr>
            <a:r>
              <a:rPr lang="en-US" sz="1600" dirty="0"/>
              <a:t>		70+30</a:t>
            </a:r>
          </a:p>
          <a:p>
            <a:pPr>
              <a:defRPr/>
            </a:pPr>
            <a:r>
              <a:rPr lang="en-US" sz="1600" dirty="0"/>
              <a:t>     =      150 ml </a:t>
            </a:r>
          </a:p>
          <a:p>
            <a:pPr>
              <a:defRPr/>
            </a:pPr>
            <a:r>
              <a:rPr lang="en-US" sz="1600" dirty="0"/>
              <a:t> </a:t>
            </a:r>
            <a:r>
              <a:rPr lang="en-US" sz="1600" u="sng" dirty="0"/>
              <a:t>SIGNIFICANCE  </a:t>
            </a:r>
            <a:r>
              <a:rPr lang="en-US" sz="1600" dirty="0"/>
              <a:t>V</a:t>
            </a:r>
            <a:r>
              <a:rPr lang="en-US" sz="1600" baseline="-25000" dirty="0"/>
              <a:t>D</a:t>
            </a:r>
            <a:r>
              <a:rPr lang="en-US" sz="1600" dirty="0"/>
              <a:t> may increase 10 times in pulmonary diseases.</a:t>
            </a:r>
          </a:p>
          <a:p>
            <a:pPr>
              <a:defRPr/>
            </a:pPr>
            <a:endParaRPr lang="en-US" sz="1400"/>
          </a:p>
        </p:txBody>
      </p:sp>
      <p:sp>
        <p:nvSpPr>
          <p:cNvPr id="22549" name="Oval 22548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2551" name="Oval 22550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05829ACC-8FB5-2FC7-5A40-23BC2C83D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6C85D6A6-4DC4-24B1-82DB-0AFB45E90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3556" name="Picture 3" descr="S9781416045748-037-f007.jpg">
            <a:extLst>
              <a:ext uri="{FF2B5EF4-FFF2-40B4-BE49-F238E27FC236}">
                <a16:creationId xmlns:a16="http://schemas.microsoft.com/office/drawing/2014/main" id="{29BCC6C7-01DF-B617-23D4-AEFC2133E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71" y="284389"/>
            <a:ext cx="8261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0.8|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5|1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22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Wood Type</vt:lpstr>
      <vt:lpstr>LUNG VOLUMES AND CAPACITIES, DEAD SPACE</vt:lpstr>
      <vt:lpstr>Volumes Versus Capacities</vt:lpstr>
      <vt:lpstr>Spirometer and Lung Volumes/Capacities</vt:lpstr>
      <vt:lpstr>PowerPoint Presentation</vt:lpstr>
      <vt:lpstr>LUNG VOLUMES AND CAPACITIES</vt:lpstr>
      <vt:lpstr>Tidal Volume (TV)</vt:lpstr>
      <vt:lpstr>Inspiratory Reserve Volume (IRV)</vt:lpstr>
      <vt:lpstr>Expiratory Reserve Volume (ERV)</vt:lpstr>
      <vt:lpstr>Residual Volume (RV)</vt:lpstr>
      <vt:lpstr>Vital Capacity (VC)</vt:lpstr>
      <vt:lpstr>Inspiratory Capacity (IC)</vt:lpstr>
      <vt:lpstr>Functional Residual Capacity (FRC)</vt:lpstr>
      <vt:lpstr>Forced Spirometry  ( FEV1 , FEV1/FVC )</vt:lpstr>
      <vt:lpstr>  </vt:lpstr>
      <vt:lpstr>Total  And  Alveolar Ventilation</vt:lpstr>
      <vt:lpstr>ALVEOLAR VENTILATION</vt:lpstr>
      <vt:lpstr>Minute and Alveolar Ventilation</vt:lpstr>
      <vt:lpstr>PowerPoint Presentation</vt:lpstr>
      <vt:lpstr>PowerPoint Presentation</vt:lpstr>
      <vt:lpstr>PowerPoint Presentation</vt:lpstr>
      <vt:lpstr>MEASUREMENT OF DEAD SPACE (FOWLER’S METHOD)</vt:lpstr>
      <vt:lpstr>PowerPoint Presentation</vt:lpstr>
    </vt:vector>
  </TitlesOfParts>
  <Company>am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Respiratory physiology</dc:title>
  <dc:creator>iftekhar</dc:creator>
  <cp:revision>70</cp:revision>
  <dcterms:created xsi:type="dcterms:W3CDTF">2007-02-04T10:26:16Z</dcterms:created>
  <dcterms:modified xsi:type="dcterms:W3CDTF">2025-03-19T22:03:18Z</dcterms:modified>
</cp:coreProperties>
</file>