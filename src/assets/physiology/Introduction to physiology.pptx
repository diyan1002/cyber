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33"/>
  </p:notesMasterIdLst>
  <p:sldIdLst>
    <p:sldId id="333" r:id="rId2"/>
    <p:sldId id="339" r:id="rId3"/>
    <p:sldId id="337" r:id="rId4"/>
    <p:sldId id="396" r:id="rId5"/>
    <p:sldId id="341" r:id="rId6"/>
    <p:sldId id="334" r:id="rId7"/>
    <p:sldId id="365" r:id="rId8"/>
    <p:sldId id="366" r:id="rId9"/>
    <p:sldId id="367" r:id="rId10"/>
    <p:sldId id="376" r:id="rId11"/>
    <p:sldId id="368" r:id="rId12"/>
    <p:sldId id="369" r:id="rId13"/>
    <p:sldId id="387" r:id="rId14"/>
    <p:sldId id="388" r:id="rId15"/>
    <p:sldId id="391" r:id="rId16"/>
    <p:sldId id="389" r:id="rId17"/>
    <p:sldId id="390" r:id="rId18"/>
    <p:sldId id="392" r:id="rId19"/>
    <p:sldId id="393" r:id="rId20"/>
    <p:sldId id="394" r:id="rId21"/>
    <p:sldId id="395" r:id="rId22"/>
    <p:sldId id="400" r:id="rId23"/>
    <p:sldId id="401" r:id="rId24"/>
    <p:sldId id="402" r:id="rId25"/>
    <p:sldId id="410" r:id="rId26"/>
    <p:sldId id="403" r:id="rId27"/>
    <p:sldId id="404" r:id="rId28"/>
    <p:sldId id="405" r:id="rId29"/>
    <p:sldId id="406" r:id="rId30"/>
    <p:sldId id="407" r:id="rId31"/>
    <p:sldId id="408" r:id="rId3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504D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5BAF8B-D4F0-4434-B937-955487F003C6}" v="214" dt="2025-03-19T22:25:44.7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34" autoAdjust="0"/>
  </p:normalViewPr>
  <p:slideViewPr>
    <p:cSldViewPr>
      <p:cViewPr varScale="1">
        <p:scale>
          <a:sx n="73" d="100"/>
          <a:sy n="73" d="100"/>
        </p:scale>
        <p:origin x="129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916D00-C559-CED6-6CF0-8BC4BC3024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19797D-19C2-7A46-B3C5-E616F59E8A8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581E512-FD25-495A-A9E3-BC42F34C27A9}" type="datetimeFigureOut">
              <a:rPr lang="en-US"/>
              <a:pPr>
                <a:defRPr/>
              </a:pPr>
              <a:t>23/03/2025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8256B83-7941-3675-2B27-23A930D55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ECE00D8-8802-B739-F58F-10FC85F3E6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1BE2E-C9B0-7AF6-2550-7A5EF824FBE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AADFE-FB5C-6B55-A24B-501DB64B7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07A4D636-8664-4A9C-8378-F6568B3E4F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9D83D1A3-75D8-E18C-606B-9E403B7852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039780F0-417A-AE5E-E668-CC55FC59952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5FD0197A-3C66-355D-5CAC-27E154F3D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B7FE453B-7A38-4ADB-9ED2-D1781B896DA2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B4554F2B-4BCF-4197-901F-D7CA0C5C3346}" type="datetimeFigureOut">
              <a:rPr lang="en-US" dirty="0"/>
              <a:t>23/03/2025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3619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F21A-8405-4DA5-BEAC-3D4CC71D54EA}" type="datetimeFigureOut">
              <a:rPr lang="en-US" dirty="0"/>
              <a:t>23/03/2025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395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5F84-9683-4B1B-940C-516296C3B9E2}" type="datetimeFigureOut">
              <a:rPr lang="en-US" dirty="0"/>
              <a:t>23/03/2025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69271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B2AD-074C-4247-B20E-4BA1D1B80702}" type="datetimeFigureOut">
              <a:rPr lang="en-US" dirty="0"/>
              <a:t>23/03/2025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948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26FB-39E8-4A97-A330-257F2E3058A9}" type="datetimeFigureOut">
              <a:rPr lang="en-US" dirty="0"/>
              <a:t>23/03/2025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431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405D-5078-464B-95D5-AD1D787A29C3}" type="datetimeFigureOut">
              <a:rPr lang="en-US" dirty="0"/>
              <a:t>23/03/2025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30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5EF8-B59A-48DF-A116-AFDAD4B003AB}" type="datetimeFigureOut">
              <a:rPr lang="en-US" dirty="0"/>
              <a:t>23/03/2025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441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4AEE7-DB1F-4DD1-9290-70ECE3C49600}" type="datetimeFigureOut">
              <a:rPr lang="en-US" dirty="0"/>
              <a:t>23/03/2025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39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F845D-AA64-4C6F-B170-8AA45DD4B329}" type="datetimeFigureOut">
              <a:rPr lang="en-US" dirty="0"/>
              <a:t>23/03/2025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52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8BB0-1F20-4C6B-A56C-896A9F73FB4A}" type="datetimeFigureOut">
              <a:rPr lang="en-US" dirty="0"/>
              <a:t>23/03/2025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007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C60DA-11B7-472A-AFEF-07FB059A27D8}" type="datetimeFigureOut">
              <a:rPr lang="en-US" dirty="0"/>
              <a:t>23/03/2025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247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38600" cy="4302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302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FD4DD-4CC2-22DF-C6C0-C0068FB849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D409B-AE82-918A-2636-94163E59BA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495B9-760C-ECE2-1F5A-6AF1AD6796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BCBDBFF-7EE9-4DE7-BBF4-1EEE9E490A91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1747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28077EF-3DB9-4852-A8C8-9AA18A70A9F8}" type="datetimeFigureOut">
              <a:rPr lang="en-US" dirty="0"/>
              <a:t>23/03/2025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36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7B056-026A-AEB6-87FC-402FBB552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875" y="187452"/>
            <a:ext cx="7556798" cy="4052853"/>
          </a:xfrm>
        </p:spPr>
        <p:txBody>
          <a:bodyPr/>
          <a:lstStyle/>
          <a:p>
            <a:r>
              <a:rPr lang="en-US" dirty="0"/>
              <a:t>INTRODUCTION TO PHYSIOLOGY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37E8D-8926-BF83-0662-9A9B55DF9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6404" y="5316071"/>
            <a:ext cx="7063740" cy="16916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Dr. Tabish</a:t>
            </a:r>
            <a:r>
              <a:rPr lang="en-US" b="1" dirty="0"/>
              <a:t> Masood Ranjha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>
            <a:extLst>
              <a:ext uri="{FF2B5EF4-FFF2-40B4-BE49-F238E27FC236}">
                <a16:creationId xmlns:a16="http://schemas.microsoft.com/office/drawing/2014/main" id="{8A5FFC73-9598-754E-CC5A-4EC9488D9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7" y="1415143"/>
            <a:ext cx="8077200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 eaLnBrk="1" hangingPunct="1"/>
            <a:r>
              <a:rPr lang="en-US" altLang="en-US" sz="2800" dirty="0"/>
              <a:t>Physiology is the science of studying the functional activities and its mechanisms in biological body. </a:t>
            </a:r>
          </a:p>
          <a:p>
            <a:pPr eaLnBrk="1" hangingPunct="1"/>
            <a:r>
              <a:rPr lang="en-US" altLang="en-US" sz="2800" dirty="0"/>
              <a:t>For example: why can heart automatically beat?</a:t>
            </a:r>
          </a:p>
          <a:p>
            <a:r>
              <a:rPr lang="en-US" altLang="en-US" sz="2800" dirty="0"/>
              <a:t>Physiology derived from two Greek words –  	</a:t>
            </a:r>
            <a:r>
              <a:rPr lang="en-US" altLang="en-US" sz="2800" i="1" dirty="0"/>
              <a:t>physis </a:t>
            </a:r>
            <a:r>
              <a:rPr lang="en-US" altLang="en-US" sz="2800" dirty="0"/>
              <a:t>= nature;</a:t>
            </a:r>
            <a:endParaRPr lang="en-US" altLang="en-US" sz="2800">
              <a:solidFill>
                <a:srgbClr val="000000"/>
              </a:solidFill>
              <a:latin typeface="Century Schoolbook"/>
              <a:cs typeface="Times New Roman"/>
            </a:endParaRPr>
          </a:p>
          <a:p>
            <a:pPr marL="0" indent="0">
              <a:buNone/>
            </a:pPr>
            <a:r>
              <a:rPr lang="en-US" altLang="en-US" sz="2800" i="1" spc="0" dirty="0">
                <a:solidFill>
                  <a:srgbClr val="262626"/>
                </a:solidFill>
                <a:latin typeface="Times New Roman"/>
                <a:cs typeface="Times New Roman"/>
              </a:rPr>
              <a:t>   logos </a:t>
            </a:r>
            <a:r>
              <a:rPr lang="en-US" altLang="en-US" sz="2800" spc="0" dirty="0">
                <a:solidFill>
                  <a:srgbClr val="262626"/>
                </a:solidFill>
                <a:latin typeface="Times New Roman"/>
                <a:cs typeface="Times New Roman"/>
              </a:rPr>
              <a:t>= study </a:t>
            </a:r>
            <a:endParaRPr lang="en-US"/>
          </a:p>
          <a:p>
            <a:pPr eaLnBrk="1" hangingPunct="1"/>
            <a:endParaRPr lang="en-US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6AE0975-35A6-03AF-2CEC-37D485F67BE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What is Physiology?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47F07AAD-EEB7-31B2-5957-5E52D75551E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Levels of Structural Organization</a:t>
            </a:r>
          </a:p>
        </p:txBody>
      </p:sp>
      <p:pic>
        <p:nvPicPr>
          <p:cNvPr id="6147" name="Picture 1">
            <a:extLst>
              <a:ext uri="{FF2B5EF4-FFF2-40B4-BE49-F238E27FC236}">
                <a16:creationId xmlns:a16="http://schemas.microsoft.com/office/drawing/2014/main" id="{E36F971F-CD55-9A5A-9755-D064F56CE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726" b="38821"/>
          <a:stretch>
            <a:fillRect/>
          </a:stretch>
        </p:blipFill>
        <p:spPr bwMode="auto">
          <a:xfrm>
            <a:off x="0" y="838200"/>
            <a:ext cx="3276600" cy="582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1">
            <a:extLst>
              <a:ext uri="{FF2B5EF4-FFF2-40B4-BE49-F238E27FC236}">
                <a16:creationId xmlns:a16="http://schemas.microsoft.com/office/drawing/2014/main" id="{29949DDB-6A56-F27E-4D3F-1EC155529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6"/>
          <a:stretch>
            <a:fillRect/>
          </a:stretch>
        </p:blipFill>
        <p:spPr bwMode="auto">
          <a:xfrm>
            <a:off x="2535238" y="990600"/>
            <a:ext cx="660082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8B27ECB5-9E8F-63EE-1E26-050244DED82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Levels of Structural Organization</a:t>
            </a:r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8D56C1A3-DA37-29F9-C20E-125C83EF8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6751" y="1508353"/>
            <a:ext cx="9286874" cy="4886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BC33EE9F-4807-95D5-1C2D-E4E7E86409D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Key Themes in Physiology: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C3B4C7-8B1A-C439-AE5D-AF8F8204197B}"/>
              </a:ext>
            </a:extLst>
          </p:cNvPr>
          <p:cNvSpPr/>
          <p:nvPr/>
        </p:nvSpPr>
        <p:spPr>
          <a:xfrm>
            <a:off x="457200" y="1295400"/>
            <a:ext cx="8458200" cy="4032250"/>
          </a:xfrm>
          <a:prstGeom prst="rect">
            <a:avLst/>
          </a:prstGeom>
        </p:spPr>
        <p:txBody>
          <a:bodyPr lIns="91440" tIns="45720" rIns="91440" bIns="45720" anchor="t">
            <a:spAutoFit/>
          </a:bodyPr>
          <a:lstStyle/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GB" sz="2800" b="1" dirty="0">
                <a:latin typeface="Arial" panose="020B0604020202020204" pitchFamily="34" charset="0"/>
              </a:rPr>
              <a:t>Homeostasis</a:t>
            </a:r>
            <a:endParaRPr lang="en-GB" sz="2800" dirty="0">
              <a:latin typeface="Arial" panose="020B0604020202020204" pitchFamily="34" charset="0"/>
            </a:endParaRPr>
          </a:p>
          <a:p>
            <a:pPr marL="971550" lvl="1" indent="-514350" eaLnBrk="1" hangingPunct="1">
              <a:buFont typeface="Arial" panose="020B0604020202020204" pitchFamily="34" charset="0"/>
              <a:buChar char="•"/>
              <a:defRPr/>
            </a:pPr>
            <a:r>
              <a:rPr lang="en-GB" sz="2400" b="1" dirty="0">
                <a:solidFill>
                  <a:srgbClr val="000000"/>
                </a:solidFill>
                <a:latin typeface="Arial" panose="020B0604020202020204" pitchFamily="34" charset="0"/>
              </a:rPr>
              <a:t>Body systems work together (Integration of function) </a:t>
            </a:r>
            <a:endParaRPr lang="en-GB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71550" lvl="1" indent="-514350" eaLnBrk="1" hangingPunct="1">
              <a:buFont typeface="Arial" panose="020B0604020202020204" pitchFamily="34" charset="0"/>
              <a:buChar char="•"/>
              <a:defRPr/>
            </a:pPr>
            <a:r>
              <a:rPr lang="en-GB" sz="2400" b="1" dirty="0">
                <a:solidFill>
                  <a:srgbClr val="000000"/>
                </a:solidFill>
                <a:latin typeface="Arial" panose="020B0604020202020204" pitchFamily="34" charset="0"/>
              </a:rPr>
              <a:t>Internal vs. external failure of homeostasis </a:t>
            </a:r>
            <a:endParaRPr lang="en-GB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514350" indent="-514350" eaLnBrk="1" hangingPunct="1">
              <a:buFont typeface="+mj-lt"/>
              <a:buAutoNum type="arabicPeriod"/>
              <a:defRPr/>
            </a:pPr>
            <a:endParaRPr lang="en-GB" sz="28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GB" sz="2800" b="1" dirty="0">
                <a:latin typeface="Arial"/>
                <a:cs typeface="Arial"/>
              </a:rPr>
              <a:t>2. Communication and movement across cell membranes </a:t>
            </a:r>
            <a:endParaRPr lang="en-GB" sz="2800" dirty="0">
              <a:latin typeface="Arial"/>
              <a:cs typeface="Arial"/>
            </a:endParaRPr>
          </a:p>
          <a:p>
            <a:pPr marL="971550" lvl="1" indent="-514350" eaLnBrk="1" hangingPunct="1">
              <a:buFont typeface="Arial" panose="020B0604020202020204" pitchFamily="34" charset="0"/>
              <a:buChar char="•"/>
              <a:defRPr/>
            </a:pPr>
            <a:r>
              <a:rPr lang="en-GB" sz="2400" b="1" dirty="0">
                <a:solidFill>
                  <a:srgbClr val="000000"/>
                </a:solidFill>
                <a:latin typeface="Arial" panose="020B0604020202020204" pitchFamily="34" charset="0"/>
              </a:rPr>
              <a:t>Vital to integration &amp; homeostasis </a:t>
            </a:r>
            <a:endParaRPr lang="en-GB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71550" lvl="1" indent="-514350" eaLnBrk="1" hangingPunct="1">
              <a:buFont typeface="Arial" panose="020B0604020202020204" pitchFamily="34" charset="0"/>
              <a:buChar char="•"/>
              <a:defRPr/>
            </a:pPr>
            <a:r>
              <a:rPr lang="en-GB" sz="2400" b="1" dirty="0">
                <a:solidFill>
                  <a:srgbClr val="000000"/>
                </a:solidFill>
                <a:latin typeface="Arial" panose="020B0604020202020204" pitchFamily="34" charset="0"/>
              </a:rPr>
              <a:t>Cells communicate with other cells, tissues &amp; organs </a:t>
            </a:r>
            <a:endParaRPr lang="en-GB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1">
            <a:extLst>
              <a:ext uri="{FF2B5EF4-FFF2-40B4-BE49-F238E27FC236}">
                <a16:creationId xmlns:a16="http://schemas.microsoft.com/office/drawing/2014/main" id="{097D6A59-37CB-CA2C-1AE6-93FC7E6A4F35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685800"/>
            <a:ext cx="4495800" cy="6172200"/>
            <a:chOff x="4316413" y="457200"/>
            <a:chExt cx="4598987" cy="6510338"/>
          </a:xfrm>
        </p:grpSpPr>
        <p:pic>
          <p:nvPicPr>
            <p:cNvPr id="9221" name="Picture 9">
              <a:extLst>
                <a:ext uri="{FF2B5EF4-FFF2-40B4-BE49-F238E27FC236}">
                  <a16:creationId xmlns:a16="http://schemas.microsoft.com/office/drawing/2014/main" id="{E5AC2FF1-5261-EB0C-0769-B82C3599A4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6413" y="1288960"/>
              <a:ext cx="4598987" cy="536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28" name="Rectangle 10">
              <a:extLst>
                <a:ext uri="{FF2B5EF4-FFF2-40B4-BE49-F238E27FC236}">
                  <a16:creationId xmlns:a16="http://schemas.microsoft.com/office/drawing/2014/main" id="{1B93187C-38B9-8650-9BE2-39D36CBBF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1627" y="457200"/>
              <a:ext cx="2102998" cy="76188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50" b="1" dirty="0">
                  <a:latin typeface="Times New Roman" pitchFamily="18" charset="0"/>
                  <a:cs typeface="Times New Roman" pitchFamily="18" charset="0"/>
                </a:rPr>
                <a:t>Digestive system 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latin typeface="Times New Roman" pitchFamily="18" charset="0"/>
                  <a:cs typeface="Times New Roman" pitchFamily="18" charset="0"/>
                </a:rPr>
                <a:t>Takes in nutrients, breaks them 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latin typeface="Times New Roman" pitchFamily="18" charset="0"/>
                  <a:cs typeface="Times New Roman" pitchFamily="18" charset="0"/>
                </a:rPr>
                <a:t>down, and eliminates unabsorbed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latin typeface="Times New Roman" pitchFamily="18" charset="0"/>
                  <a:cs typeface="Times New Roman" pitchFamily="18" charset="0"/>
                </a:rPr>
                <a:t> matter (feces)</a:t>
              </a:r>
            </a:p>
          </p:txBody>
        </p:sp>
        <p:sp>
          <p:nvSpPr>
            <p:cNvPr id="2" name="Rectangle 11">
              <a:extLst>
                <a:ext uri="{FF2B5EF4-FFF2-40B4-BE49-F238E27FC236}">
                  <a16:creationId xmlns:a16="http://schemas.microsoft.com/office/drawing/2014/main" id="{36A9C698-3BBA-EF7A-F2EC-9ED179F27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7702" y="458875"/>
              <a:ext cx="1669406" cy="59778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50" b="1" dirty="0">
                  <a:latin typeface="Times New Roman" pitchFamily="18" charset="0"/>
                  <a:cs typeface="Times New Roman" pitchFamily="18" charset="0"/>
                </a:rPr>
                <a:t>Respiratory system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latin typeface="Times New Roman" pitchFamily="18" charset="0"/>
                  <a:cs typeface="Times New Roman" pitchFamily="18" charset="0"/>
                </a:rPr>
                <a:t>Takes in oxygen and 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latin typeface="Times New Roman" pitchFamily="18" charset="0"/>
                  <a:cs typeface="Times New Roman" pitchFamily="18" charset="0"/>
                </a:rPr>
                <a:t>eliminates carbon dioxide</a:t>
              </a:r>
            </a:p>
          </p:txBody>
        </p:sp>
        <p:sp>
          <p:nvSpPr>
            <p:cNvPr id="9224" name="Rectangle 12">
              <a:extLst>
                <a:ext uri="{FF2B5EF4-FFF2-40B4-BE49-F238E27FC236}">
                  <a16:creationId xmlns:a16="http://schemas.microsoft.com/office/drawing/2014/main" id="{5CDB15F2-5F01-6302-9068-2A836A4B4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1795" y="1177382"/>
              <a:ext cx="509857" cy="262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Food</a:t>
              </a:r>
            </a:p>
          </p:txBody>
        </p:sp>
        <p:sp>
          <p:nvSpPr>
            <p:cNvPr id="9225" name="Rectangle 13">
              <a:extLst>
                <a:ext uri="{FF2B5EF4-FFF2-40B4-BE49-F238E27FC236}">
                  <a16:creationId xmlns:a16="http://schemas.microsoft.com/office/drawing/2014/main" id="{752FF4A1-9565-4652-39E5-1CF53844E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1596" y="1204431"/>
              <a:ext cx="366168" cy="260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1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26" name="Rectangle 14">
              <a:extLst>
                <a:ext uri="{FF2B5EF4-FFF2-40B4-BE49-F238E27FC236}">
                  <a16:creationId xmlns:a16="http://schemas.microsoft.com/office/drawing/2014/main" id="{0E94DD7F-BEA3-BCF6-56A7-3A4F32CA2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5819" y="1211194"/>
              <a:ext cx="447937" cy="262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</a:t>
              </a:r>
              <a:r>
                <a:rPr lang="en-US" altLang="en-US" sz="1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27" name="Rectangle 15">
              <a:extLst>
                <a:ext uri="{FF2B5EF4-FFF2-40B4-BE49-F238E27FC236}">
                  <a16:creationId xmlns:a16="http://schemas.microsoft.com/office/drawing/2014/main" id="{B97D37F8-A79C-3BCC-C005-712F17D2A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554" y="1532402"/>
              <a:ext cx="2151586" cy="917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Cardiovascular system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Via the blood, distributes oxygen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 nutrients to all body cells and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delivers wastes and carbon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dioxide to disposal organs</a:t>
              </a:r>
            </a:p>
          </p:txBody>
        </p:sp>
        <p:sp>
          <p:nvSpPr>
            <p:cNvPr id="9228" name="Rectangle 16">
              <a:extLst>
                <a:ext uri="{FF2B5EF4-FFF2-40B4-BE49-F238E27FC236}">
                  <a16:creationId xmlns:a16="http://schemas.microsoft.com/office/drawing/2014/main" id="{9DD77B65-143E-1E0F-9E9B-DCA46E51F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9273" y="4233930"/>
              <a:ext cx="1088353" cy="262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Interstitial fluid</a:t>
              </a:r>
            </a:p>
          </p:txBody>
        </p:sp>
        <p:sp>
          <p:nvSpPr>
            <p:cNvPr id="9229" name="Rectangle 17">
              <a:extLst>
                <a:ext uri="{FF2B5EF4-FFF2-40B4-BE49-F238E27FC236}">
                  <a16:creationId xmlns:a16="http://schemas.microsoft.com/office/drawing/2014/main" id="{805E9104-4AC8-6004-DB30-3E3E18DAC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9339" y="3779168"/>
              <a:ext cx="730994" cy="262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Nutrients</a:t>
              </a:r>
            </a:p>
          </p:txBody>
        </p:sp>
        <p:sp>
          <p:nvSpPr>
            <p:cNvPr id="9230" name="Rectangle 18">
              <a:extLst>
                <a:ext uri="{FF2B5EF4-FFF2-40B4-BE49-F238E27FC236}">
                  <a16:creationId xmlns:a16="http://schemas.microsoft.com/office/drawing/2014/main" id="{B5B9B4F0-78A7-6DBE-B091-2A8A921D0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5772" y="3400481"/>
              <a:ext cx="1111485" cy="1081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Urinary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system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Eliminates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nitrogenous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wastes and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excess ions</a:t>
              </a:r>
            </a:p>
          </p:txBody>
        </p:sp>
        <p:sp>
          <p:nvSpPr>
            <p:cNvPr id="9231" name="Rectangle 19">
              <a:extLst>
                <a:ext uri="{FF2B5EF4-FFF2-40B4-BE49-F238E27FC236}">
                  <a16:creationId xmlns:a16="http://schemas.microsoft.com/office/drawing/2014/main" id="{F7270678-0037-78B9-4FD3-C03E93DE0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9681" y="5601601"/>
              <a:ext cx="1700463" cy="5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Nutrients and wastes pass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between blood and cells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via the interstitial fluid</a:t>
              </a:r>
            </a:p>
          </p:txBody>
        </p:sp>
        <p:sp>
          <p:nvSpPr>
            <p:cNvPr id="9232" name="Rectangle 20">
              <a:extLst>
                <a:ext uri="{FF2B5EF4-FFF2-40B4-BE49-F238E27FC236}">
                  <a16:creationId xmlns:a16="http://schemas.microsoft.com/office/drawing/2014/main" id="{4DDBF4DC-3DDB-E456-91B9-BED582CEA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7121" y="6377572"/>
              <a:ext cx="1969367" cy="5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Integumentary system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Protects the body as a whole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from the external environment</a:t>
              </a:r>
            </a:p>
          </p:txBody>
        </p:sp>
        <p:sp>
          <p:nvSpPr>
            <p:cNvPr id="9233" name="Rectangle 21">
              <a:extLst>
                <a:ext uri="{FF2B5EF4-FFF2-40B4-BE49-F238E27FC236}">
                  <a16:creationId xmlns:a16="http://schemas.microsoft.com/office/drawing/2014/main" id="{5327057D-9F5F-49AE-9EE3-FD7BC024E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7431" y="2649868"/>
              <a:ext cx="555853" cy="262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Blood</a:t>
              </a:r>
            </a:p>
          </p:txBody>
        </p:sp>
        <p:sp>
          <p:nvSpPr>
            <p:cNvPr id="9234" name="Rectangle 22">
              <a:extLst>
                <a:ext uri="{FF2B5EF4-FFF2-40B4-BE49-F238E27FC236}">
                  <a16:creationId xmlns:a16="http://schemas.microsoft.com/office/drawing/2014/main" id="{B47AF223-0E8E-2593-8D99-9E19C0C71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3688" y="3599968"/>
              <a:ext cx="520471" cy="262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Heart</a:t>
              </a:r>
            </a:p>
          </p:txBody>
        </p:sp>
        <p:sp>
          <p:nvSpPr>
            <p:cNvPr id="9235" name="Rectangle 23">
              <a:extLst>
                <a:ext uri="{FF2B5EF4-FFF2-40B4-BE49-F238E27FC236}">
                  <a16:creationId xmlns:a16="http://schemas.microsoft.com/office/drawing/2014/main" id="{319F323A-5A9A-3FDE-A9F1-CE1435060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331" y="6570296"/>
              <a:ext cx="536392" cy="262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Feces</a:t>
              </a:r>
            </a:p>
          </p:txBody>
        </p:sp>
        <p:sp>
          <p:nvSpPr>
            <p:cNvPr id="9236" name="Rectangle 24">
              <a:extLst>
                <a:ext uri="{FF2B5EF4-FFF2-40B4-BE49-F238E27FC236}">
                  <a16:creationId xmlns:a16="http://schemas.microsoft.com/office/drawing/2014/main" id="{0E96CB7D-701D-C5A4-6C76-97E1095B2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6308" y="6577059"/>
              <a:ext cx="527548" cy="262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Urine</a:t>
              </a:r>
            </a:p>
          </p:txBody>
        </p:sp>
        <p:sp>
          <p:nvSpPr>
            <p:cNvPr id="9237" name="Line 25">
              <a:extLst>
                <a:ext uri="{FF2B5EF4-FFF2-40B4-BE49-F238E27FC236}">
                  <a16:creationId xmlns:a16="http://schemas.microsoft.com/office/drawing/2014/main" id="{511C0B70-E203-D7A5-7B1D-0C1C77F240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4143" y="4452014"/>
              <a:ext cx="1753" cy="267110"/>
            </a:xfrm>
            <a:prstGeom prst="line">
              <a:avLst/>
            </a:prstGeom>
            <a:noFill/>
            <a:ln w="12700">
              <a:solidFill>
                <a:srgbClr val="231F2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8" name="Line 26">
              <a:extLst>
                <a:ext uri="{FF2B5EF4-FFF2-40B4-BE49-F238E27FC236}">
                  <a16:creationId xmlns:a16="http://schemas.microsoft.com/office/drawing/2014/main" id="{D861C98D-563D-657D-0B41-1D457C2F3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16510" y="2539981"/>
              <a:ext cx="1753" cy="179200"/>
            </a:xfrm>
            <a:prstGeom prst="line">
              <a:avLst/>
            </a:prstGeom>
            <a:noFill/>
            <a:ln w="12700">
              <a:solidFill>
                <a:srgbClr val="231F2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9" name="Line 27">
              <a:extLst>
                <a:ext uri="{FF2B5EF4-FFF2-40B4-BE49-F238E27FC236}">
                  <a16:creationId xmlns:a16="http://schemas.microsoft.com/office/drawing/2014/main" id="{46E5DE79-534F-96D3-1A8E-33F632109E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80399" y="2428403"/>
              <a:ext cx="84096" cy="304302"/>
            </a:xfrm>
            <a:prstGeom prst="line">
              <a:avLst/>
            </a:prstGeom>
            <a:noFill/>
            <a:ln w="12700">
              <a:solidFill>
                <a:srgbClr val="231F2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0" name="Rectangle 28">
              <a:extLst>
                <a:ext uri="{FF2B5EF4-FFF2-40B4-BE49-F238E27FC236}">
                  <a16:creationId xmlns:a16="http://schemas.microsoft.com/office/drawing/2014/main" id="{B7C88B3E-9666-258F-9EBD-92511291B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3052" y="2773279"/>
              <a:ext cx="447937" cy="262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</a:t>
              </a:r>
              <a:r>
                <a:rPr lang="en-US" altLang="en-US" sz="1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41" name="Rectangle 29">
              <a:extLst>
                <a:ext uri="{FF2B5EF4-FFF2-40B4-BE49-F238E27FC236}">
                  <a16:creationId xmlns:a16="http://schemas.microsoft.com/office/drawing/2014/main" id="{BF80FD09-BFB4-8900-1AC3-5AA2636B9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9469" y="2933884"/>
              <a:ext cx="366168" cy="260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1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219" name="Rectangle 4">
            <a:extLst>
              <a:ext uri="{FF2B5EF4-FFF2-40B4-BE49-F238E27FC236}">
                <a16:creationId xmlns:a16="http://schemas.microsoft.com/office/drawing/2014/main" id="{F5C267B1-A3C5-1807-2C87-343DA1072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" y="2144713"/>
            <a:ext cx="4281488" cy="2057400"/>
          </a:xfrm>
        </p:spPr>
        <p:txBody>
          <a:bodyPr>
            <a:normAutofit fontScale="90000"/>
          </a:bodyPr>
          <a:lstStyle/>
          <a:p>
            <a:pPr marL="177800" indent="-68263" algn="l" eaLnBrk="1" hangingPunct="1">
              <a:buFontTx/>
              <a:buChar char="•"/>
            </a:pPr>
            <a:r>
              <a:rPr lang="en-US" altLang="en-US" sz="2800"/>
              <a:t>All cells depend on organ systems to meet their survival needs.</a:t>
            </a:r>
            <a:br>
              <a:rPr lang="en-US" altLang="en-US" sz="2800"/>
            </a:br>
            <a:r>
              <a:rPr lang="en-US" altLang="en-US" sz="2800"/>
              <a:t/>
            </a:r>
            <a:br>
              <a:rPr lang="en-US" altLang="en-US" sz="2800"/>
            </a:br>
            <a:r>
              <a:rPr lang="en-US" altLang="en-US" sz="2800"/>
              <a:t>Organ systems work cooperatively to perform necessary life functions</a:t>
            </a:r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2D673145-E11F-82A6-DE38-0675A1AF162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GB" dirty="0">
                <a:solidFill>
                  <a:schemeClr val="bg1"/>
                </a:solidFill>
              </a:rPr>
              <a:t>Organ Systems Interrelationships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861532C8-7610-CED2-F666-F68C14B1DBE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8223250" cy="534988"/>
          </a:xfrm>
        </p:spPr>
        <p:txBody>
          <a:bodyPr/>
          <a:lstStyle/>
          <a:p>
            <a:pPr eaLnBrk="1" hangingPunct="1"/>
            <a:r>
              <a:rPr lang="en-US" altLang="en-US" sz="2400">
                <a:sym typeface="Symbol" panose="05050102010706020507" pitchFamily="18" charset="2"/>
              </a:rPr>
              <a:t>In average young adult male:</a:t>
            </a:r>
            <a:endParaRPr lang="en-US" altLang="en-US" sz="2000"/>
          </a:p>
        </p:txBody>
      </p:sp>
      <p:graphicFrame>
        <p:nvGraphicFramePr>
          <p:cNvPr id="156696" name="Group 24">
            <a:extLst>
              <a:ext uri="{FF2B5EF4-FFF2-40B4-BE49-F238E27FC236}">
                <a16:creationId xmlns:a16="http://schemas.microsoft.com/office/drawing/2014/main" id="{632CEA0A-B44F-F0D9-3BB5-104B721649A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175" y="2589213"/>
          <a:ext cx="8175625" cy="3243264"/>
        </p:xfrm>
        <a:graphic>
          <a:graphicData uri="http://schemas.openxmlformats.org/drawingml/2006/table">
            <a:tbl>
              <a:tblPr rtl="1"/>
              <a:tblGrid>
                <a:gridCol w="3227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8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% of body weight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Body composition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18%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Protein, &amp; related substances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15%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Fat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7%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Mineral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60%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Water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6675" name="Rectangle 3">
            <a:extLst>
              <a:ext uri="{FF2B5EF4-FFF2-40B4-BE49-F238E27FC236}">
                <a16:creationId xmlns:a16="http://schemas.microsoft.com/office/drawing/2014/main" id="{4E84C6DD-3714-0F87-B2A4-FA22BE704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592138"/>
            <a:ext cx="75438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Times New Roman"/>
                <a:cs typeface="Arial"/>
              </a:rPr>
              <a:t>Body composition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DC8161-A57D-19DF-525B-75E8A89441F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GB" dirty="0">
                <a:solidFill>
                  <a:schemeClr val="bg1"/>
                </a:solidFill>
              </a:rPr>
              <a:t>Body Fluids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6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6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4" grpId="0" build="p"/>
      <p:bldP spid="15667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3" name="Rectangle 3">
            <a:extLst>
              <a:ext uri="{FF2B5EF4-FFF2-40B4-BE49-F238E27FC236}">
                <a16:creationId xmlns:a16="http://schemas.microsoft.com/office/drawing/2014/main" id="{D0F4DC39-17AB-77AA-9854-9B0C8BDF0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1857"/>
            <a:ext cx="8925605" cy="468788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90000"/>
              </a:lnSpc>
              <a:buNone/>
            </a:pPr>
            <a:r>
              <a:rPr lang="en-US" altLang="en-US" sz="2000" dirty="0">
                <a:solidFill>
                  <a:srgbClr val="FF0000"/>
                </a:solidFill>
                <a:cs typeface="Tahoma"/>
              </a:rPr>
              <a:t> </a:t>
            </a:r>
            <a:r>
              <a:rPr lang="en-US" altLang="en-US" sz="2000" dirty="0">
                <a:cs typeface="Tahoma"/>
              </a:rPr>
              <a:t>   </a:t>
            </a:r>
            <a:r>
              <a:rPr lang="en-US" altLang="en-US" sz="2000" b="1">
                <a:cs typeface="Tahoma"/>
              </a:rPr>
              <a:t>1.</a:t>
            </a:r>
            <a:r>
              <a:rPr lang="en-US" altLang="en-US" sz="2000" b="1" dirty="0">
                <a:solidFill>
                  <a:srgbClr val="FF0000"/>
                </a:solidFill>
                <a:cs typeface="Tahoma"/>
              </a:rPr>
              <a:t>  </a:t>
            </a:r>
            <a:r>
              <a:rPr lang="en-US" altLang="en-US" sz="2000" b="1">
                <a:cs typeface="Tahoma"/>
              </a:rPr>
              <a:t>Extracellular fluid (ECF):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400" b="1" dirty="0">
                <a:cs typeface="Tahoma"/>
              </a:rPr>
              <a:t>(</a:t>
            </a:r>
            <a:r>
              <a:rPr lang="en-US" altLang="en-US" sz="1400" b="1" dirty="0"/>
              <a:t>internal environment or the milieu </a:t>
            </a:r>
            <a:r>
              <a:rPr lang="en-US" altLang="en-US" sz="1400" b="1" err="1"/>
              <a:t>int</a:t>
            </a:r>
            <a:r>
              <a:rPr lang="en-US" altLang="en-US" sz="1400" b="1" err="1">
                <a:cs typeface="Times New Roman"/>
              </a:rPr>
              <a:t>é</a:t>
            </a:r>
            <a:r>
              <a:rPr lang="en-US" altLang="en-US" sz="1400" b="1" err="1">
                <a:cs typeface="Tahoma"/>
              </a:rPr>
              <a:t>rieur</a:t>
            </a:r>
            <a:r>
              <a:rPr lang="en-US" altLang="en-US" sz="1400" b="1" dirty="0">
                <a:cs typeface="Tahoma"/>
              </a:rPr>
              <a:t>)</a:t>
            </a:r>
            <a:endParaRPr lang="en-US" altLang="en-US" sz="2000" b="1" dirty="0">
              <a:cs typeface="Tahoma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ahoma"/>
              </a:rPr>
              <a:t>         - fluid outside the cells.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ahoma"/>
                <a:sym typeface="Symbol" panose="05050102010706020507" pitchFamily="18" charset="2"/>
              </a:rPr>
              <a:t>         </a:t>
            </a:r>
            <a:r>
              <a:rPr lang="en-US" altLang="en-US" sz="2000">
                <a:cs typeface="Tahoma"/>
                <a:sym typeface="Symbol" panose="05050102010706020507" pitchFamily="18" charset="2"/>
              </a:rPr>
              <a:t> 1/3 volume of </a:t>
            </a:r>
            <a:r>
              <a:rPr lang="en-US" altLang="en-US" sz="2000">
                <a:cs typeface="Tahoma"/>
              </a:rPr>
              <a:t>fluids in body (</a:t>
            </a:r>
            <a:r>
              <a:rPr lang="en-US" altLang="en-US" sz="2000">
                <a:cs typeface="Tahoma"/>
                <a:sym typeface="Symbol" panose="05050102010706020507" pitchFamily="18" charset="2"/>
              </a:rPr>
              <a:t> 33% of total body water).</a:t>
            </a:r>
            <a:endParaRPr lang="en-US" altLang="en-US" sz="2000">
              <a:cs typeface="Tahoma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ahoma"/>
              </a:rPr>
              <a:t>         - contains ions &amp; nutrients needed for cellular life</a:t>
            </a:r>
            <a:r>
              <a:rPr lang="en-US" altLang="en-US" sz="2000" dirty="0">
                <a:cs typeface="Tahoma"/>
                <a:sym typeface="Symbol" panose="05050102010706020507" pitchFamily="18" charset="2"/>
              </a:rPr>
              <a:t>.</a:t>
            </a:r>
            <a:endParaRPr lang="en-US" altLang="en-US" sz="2000" dirty="0">
              <a:cs typeface="Tahoma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ahoma"/>
                <a:sym typeface="Symbol" panose="05050102010706020507" pitchFamily="18" charset="2"/>
              </a:rPr>
              <a:t>		Extracellular fluid is further divided into </a:t>
            </a:r>
            <a:endParaRPr lang="en-US" altLang="en-US" sz="2000" dirty="0">
              <a:cs typeface="Tahoma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ahoma"/>
                <a:sym typeface="Symbol" panose="05050102010706020507" pitchFamily="18" charset="2"/>
              </a:rPr>
              <a:t>		A. Interstitial Fluid: Fluid between the cells</a:t>
            </a:r>
            <a:endParaRPr lang="en-US" altLang="en-US" sz="2000" dirty="0">
              <a:cs typeface="Tahoma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ahoma"/>
                <a:sym typeface="Symbol" panose="05050102010706020507" pitchFamily="18" charset="2"/>
              </a:rPr>
              <a:t>		B. Plasma: Fluid portion of blood</a:t>
            </a:r>
            <a:endParaRPr lang="en-US" altLang="en-US" sz="2000" dirty="0">
              <a:cs typeface="Tahoma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000"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ahoma"/>
              </a:rPr>
              <a:t>    </a:t>
            </a:r>
            <a:r>
              <a:rPr lang="en-US" altLang="en-US" sz="2000" b="1" dirty="0">
                <a:cs typeface="Tahoma"/>
              </a:rPr>
              <a:t>2.  Intracellular fluid (ICF):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ahoma"/>
                <a:sym typeface="Symbol" panose="05050102010706020507" pitchFamily="18" charset="2"/>
              </a:rPr>
              <a:t>         - fluid inside the cells.</a:t>
            </a:r>
            <a:endParaRPr lang="en-US" altLang="en-US" sz="2000" dirty="0">
              <a:cs typeface="Tahoma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ahoma"/>
                <a:sym typeface="Symbol" panose="05050102010706020507" pitchFamily="18" charset="2"/>
              </a:rPr>
              <a:t>         </a:t>
            </a:r>
            <a:r>
              <a:rPr lang="en-US" altLang="en-US" sz="2000">
                <a:cs typeface="Tahoma"/>
                <a:sym typeface="Symbol" panose="05050102010706020507" pitchFamily="18" charset="2"/>
              </a:rPr>
              <a:t> 2/3 volume of fluids in body ( 67% of total body water).</a:t>
            </a:r>
            <a:endParaRPr lang="en-US" altLang="en-US" sz="2000">
              <a:cs typeface="Tahoma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6B5D78-D59B-6BB3-D1E9-3A80643BE06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GB" dirty="0">
                <a:solidFill>
                  <a:schemeClr val="bg1"/>
                </a:solidFill>
              </a:rPr>
              <a:t>Body Fluids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8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58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8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58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58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58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8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 descr="Wave">
            <a:extLst>
              <a:ext uri="{FF2B5EF4-FFF2-40B4-BE49-F238E27FC236}">
                <a16:creationId xmlns:a16="http://schemas.microsoft.com/office/drawing/2014/main" id="{A562F124-21C1-21C3-D849-A15E723FE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58963" y="762000"/>
            <a:ext cx="5737225" cy="1079500"/>
          </a:xfrm>
          <a:solidFill>
            <a:srgbClr val="002060"/>
          </a:solidFill>
          <a:ln w="28575">
            <a:solidFill>
              <a:schemeClr val="bg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bg1"/>
                </a:solidFill>
              </a:rPr>
              <a:t>Fluid Compartments</a:t>
            </a:r>
            <a:br>
              <a:rPr lang="en-US" altLang="en-US" sz="3200">
                <a:solidFill>
                  <a:schemeClr val="bg1"/>
                </a:solidFill>
              </a:rPr>
            </a:br>
            <a:r>
              <a:rPr lang="en-US" altLang="en-US" sz="3200">
                <a:solidFill>
                  <a:schemeClr val="bg1"/>
                </a:solidFill>
                <a:sym typeface="Symbol" panose="05050102010706020507" pitchFamily="18" charset="2"/>
              </a:rPr>
              <a:t> </a:t>
            </a:r>
            <a:r>
              <a:rPr lang="en-US" altLang="en-US" sz="2400" b="1">
                <a:solidFill>
                  <a:schemeClr val="bg1"/>
                </a:solidFill>
              </a:rPr>
              <a:t>60% of body weight</a:t>
            </a:r>
          </a:p>
        </p:txBody>
      </p:sp>
      <p:sp>
        <p:nvSpPr>
          <p:cNvPr id="159747" name="Rectangle 3" descr="Wave">
            <a:extLst>
              <a:ext uri="{FF2B5EF4-FFF2-40B4-BE49-F238E27FC236}">
                <a16:creationId xmlns:a16="http://schemas.microsoft.com/office/drawing/2014/main" id="{A1257A89-5ED9-34A4-B205-2B9937639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4938" y="2451100"/>
            <a:ext cx="2303462" cy="124618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000">
                <a:solidFill>
                  <a:schemeClr val="bg1"/>
                </a:solidFill>
                <a:latin typeface="Tahoma" pitchFamily="34" charset="0"/>
              </a:rPr>
              <a:t>Extracellular fluid</a:t>
            </a:r>
          </a:p>
          <a:p>
            <a:pPr algn="ctr" eaLnBrk="1" hangingPunct="1">
              <a:defRPr/>
            </a:pPr>
            <a:r>
              <a:rPr lang="en-US" sz="2000">
                <a:solidFill>
                  <a:schemeClr val="bg1"/>
                </a:solidFill>
                <a:latin typeface="Tahoma" pitchFamily="34" charset="0"/>
                <a:sym typeface="Symbol" pitchFamily="18" charset="2"/>
              </a:rPr>
              <a:t>(</a:t>
            </a:r>
            <a:r>
              <a:rPr lang="en-US">
                <a:solidFill>
                  <a:schemeClr val="bg1"/>
                </a:solidFill>
                <a:latin typeface="Tahoma" pitchFamily="34" charset="0"/>
                <a:sym typeface="Symbol" pitchFamily="18" charset="2"/>
              </a:rPr>
              <a:t> </a:t>
            </a:r>
            <a:r>
              <a:rPr lang="en-US" sz="2000">
                <a:solidFill>
                  <a:schemeClr val="bg1"/>
                </a:solidFill>
                <a:latin typeface="Tahoma" pitchFamily="34" charset="0"/>
                <a:sym typeface="Symbol" pitchFamily="18" charset="2"/>
              </a:rPr>
              <a:t>1/3)</a:t>
            </a:r>
          </a:p>
          <a:p>
            <a:pPr algn="ctr" eaLnBrk="1" hangingPunct="1">
              <a:buFont typeface="Symbol" pitchFamily="18" charset="2"/>
              <a:buChar char="»"/>
              <a:defRPr/>
            </a:pPr>
            <a:r>
              <a:rPr lang="en-US">
                <a:solidFill>
                  <a:schemeClr val="bg1"/>
                </a:solidFill>
                <a:sym typeface="Symbol" pitchFamily="18" charset="2"/>
              </a:rPr>
              <a:t> 33% of TBW</a:t>
            </a:r>
            <a:r>
              <a:rPr lang="en-US" sz="1600">
                <a:solidFill>
                  <a:schemeClr val="bg1"/>
                </a:solidFill>
                <a:latin typeface="Tahoma" pitchFamily="34" charset="0"/>
                <a:sym typeface="Symbol" pitchFamily="18" charset="2"/>
              </a:rPr>
              <a:t> </a:t>
            </a:r>
          </a:p>
          <a:p>
            <a:pPr algn="ctr" eaLnBrk="1" hangingPunct="1">
              <a:buFont typeface="Symbol" pitchFamily="18" charset="2"/>
              <a:buChar char="»"/>
              <a:defRPr/>
            </a:pPr>
            <a:r>
              <a:rPr lang="en-US" sz="1600">
                <a:solidFill>
                  <a:schemeClr val="bg1"/>
                </a:solidFill>
                <a:latin typeface="Tahoma" pitchFamily="34" charset="0"/>
                <a:sym typeface="Symbol" pitchFamily="18" charset="2"/>
              </a:rPr>
              <a:t> </a:t>
            </a:r>
            <a:r>
              <a:rPr lang="en-US" sz="1600" b="1">
                <a:solidFill>
                  <a:schemeClr val="bg1"/>
                </a:solidFill>
                <a:latin typeface="Tahoma" pitchFamily="34" charset="0"/>
                <a:sym typeface="Symbol" pitchFamily="18" charset="2"/>
              </a:rPr>
              <a:t>20% of body wt</a:t>
            </a:r>
          </a:p>
        </p:txBody>
      </p:sp>
      <p:sp>
        <p:nvSpPr>
          <p:cNvPr id="159748" name="Rectangle 4" descr="Wave">
            <a:extLst>
              <a:ext uri="{FF2B5EF4-FFF2-40B4-BE49-F238E27FC236}">
                <a16:creationId xmlns:a16="http://schemas.microsoft.com/office/drawing/2014/main" id="{BD8BAE38-ECAE-C4DC-2FAE-B0864065A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446338"/>
            <a:ext cx="2160588" cy="1246187"/>
          </a:xfrm>
          <a:prstGeom prst="rect">
            <a:avLst/>
          </a:prstGeom>
          <a:solidFill>
            <a:schemeClr val="accent6">
              <a:lumMod val="50000"/>
            </a:schemeClr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000">
                <a:solidFill>
                  <a:schemeClr val="bg1"/>
                </a:solidFill>
                <a:latin typeface="Tahoma" pitchFamily="34" charset="0"/>
              </a:rPr>
              <a:t>Intracellular fluid</a:t>
            </a:r>
          </a:p>
          <a:p>
            <a:pPr algn="ctr" eaLnBrk="1" hangingPunct="1">
              <a:defRPr/>
            </a:pPr>
            <a:r>
              <a:rPr lang="en-US" sz="2000">
                <a:solidFill>
                  <a:schemeClr val="bg1"/>
                </a:solidFill>
                <a:latin typeface="Tahoma" pitchFamily="34" charset="0"/>
                <a:sym typeface="Symbol" pitchFamily="18" charset="2"/>
              </a:rPr>
              <a:t>(</a:t>
            </a:r>
            <a:r>
              <a:rPr lang="en-US">
                <a:solidFill>
                  <a:schemeClr val="bg1"/>
                </a:solidFill>
                <a:latin typeface="Tahoma" pitchFamily="34" charset="0"/>
                <a:sym typeface="Symbol" pitchFamily="18" charset="2"/>
              </a:rPr>
              <a:t> </a:t>
            </a:r>
            <a:r>
              <a:rPr lang="en-US" sz="2000">
                <a:solidFill>
                  <a:schemeClr val="bg1"/>
                </a:solidFill>
                <a:latin typeface="Tahoma" pitchFamily="34" charset="0"/>
                <a:sym typeface="Symbol" pitchFamily="18" charset="2"/>
              </a:rPr>
              <a:t>2/3)</a:t>
            </a:r>
          </a:p>
          <a:p>
            <a:pPr algn="ctr" eaLnBrk="1" hangingPunct="1">
              <a:buFont typeface="Symbol" pitchFamily="18" charset="2"/>
              <a:buChar char="»"/>
              <a:defRPr/>
            </a:pPr>
            <a:r>
              <a:rPr lang="en-US">
                <a:solidFill>
                  <a:schemeClr val="bg1"/>
                </a:solidFill>
                <a:latin typeface="Tahoma" pitchFamily="34" charset="0"/>
                <a:sym typeface="Symbol" pitchFamily="18" charset="2"/>
              </a:rPr>
              <a:t> </a:t>
            </a:r>
            <a:r>
              <a:rPr lang="en-US">
                <a:solidFill>
                  <a:schemeClr val="bg1"/>
                </a:solidFill>
                <a:sym typeface="Symbol" pitchFamily="18" charset="2"/>
              </a:rPr>
              <a:t>67% of TBW</a:t>
            </a:r>
            <a:endParaRPr lang="en-US">
              <a:solidFill>
                <a:schemeClr val="bg1"/>
              </a:solidFill>
              <a:latin typeface="Tahoma" pitchFamily="34" charset="0"/>
              <a:sym typeface="Symbol" pitchFamily="18" charset="2"/>
            </a:endParaRPr>
          </a:p>
          <a:p>
            <a:pPr algn="ctr" eaLnBrk="1" hangingPunct="1">
              <a:buFont typeface="Symbol" pitchFamily="18" charset="2"/>
              <a:buChar char="»"/>
              <a:defRPr/>
            </a:pPr>
            <a:r>
              <a:rPr lang="en-US" sz="1600">
                <a:solidFill>
                  <a:schemeClr val="bg1"/>
                </a:solidFill>
                <a:latin typeface="Tahoma" pitchFamily="34" charset="0"/>
                <a:sym typeface="Symbol" pitchFamily="18" charset="2"/>
              </a:rPr>
              <a:t> </a:t>
            </a:r>
            <a:r>
              <a:rPr lang="en-US" sz="1600" b="1">
                <a:solidFill>
                  <a:schemeClr val="bg1"/>
                </a:solidFill>
                <a:latin typeface="Tahoma" pitchFamily="34" charset="0"/>
                <a:sym typeface="Symbol" pitchFamily="18" charset="2"/>
              </a:rPr>
              <a:t>40% of body wt</a:t>
            </a:r>
          </a:p>
        </p:txBody>
      </p:sp>
      <p:sp>
        <p:nvSpPr>
          <p:cNvPr id="159749" name="Rectangle 5" descr="Wave">
            <a:extLst>
              <a:ext uri="{FF2B5EF4-FFF2-40B4-BE49-F238E27FC236}">
                <a16:creationId xmlns:a16="http://schemas.microsoft.com/office/drawing/2014/main" id="{5760F9BE-B28D-956A-0F8B-83C326F59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850" y="4603750"/>
            <a:ext cx="2089150" cy="90487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905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rgbClr val="FF0000"/>
                </a:solidFill>
                <a:latin typeface="Tahoma" pitchFamily="34" charset="0"/>
              </a:rPr>
              <a:t>Interstitial fluid</a:t>
            </a:r>
          </a:p>
          <a:p>
            <a:pPr algn="ctr" eaLnBrk="1" hangingPunct="1">
              <a:buFont typeface="Symbol" pitchFamily="18" charset="2"/>
              <a:buChar char="»"/>
              <a:defRPr/>
            </a:pPr>
            <a:r>
              <a:rPr lang="en-US" sz="16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75% of ECF</a:t>
            </a:r>
          </a:p>
          <a:p>
            <a:pPr algn="ctr" eaLnBrk="1" hangingPunct="1">
              <a:buFont typeface="Symbol" pitchFamily="18" charset="2"/>
              <a:buChar char="»"/>
              <a:defRPr/>
            </a:pPr>
            <a:r>
              <a:rPr lang="en-US" sz="1600" dirty="0">
                <a:solidFill>
                  <a:srgbClr val="FF0000"/>
                </a:solidFill>
                <a:latin typeface="Tahoma" pitchFamily="34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Tahoma" pitchFamily="34" charset="0"/>
              </a:rPr>
              <a:t>15% of body </a:t>
            </a:r>
            <a:r>
              <a:rPr lang="en-US" sz="1600" b="1" dirty="0" err="1">
                <a:solidFill>
                  <a:srgbClr val="FF0000"/>
                </a:solidFill>
                <a:latin typeface="Tahoma" pitchFamily="34" charset="0"/>
              </a:rPr>
              <a:t>wt</a:t>
            </a:r>
            <a:endParaRPr lang="en-US" sz="1600" b="1" dirty="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159750" name="Rectangle 6" descr="Wave">
            <a:extLst>
              <a:ext uri="{FF2B5EF4-FFF2-40B4-BE49-F238E27FC236}">
                <a16:creationId xmlns:a16="http://schemas.microsoft.com/office/drawing/2014/main" id="{599BAC3A-E34C-F023-BE68-4760AFB2A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589463"/>
            <a:ext cx="2016125" cy="935037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905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00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Plasma</a:t>
            </a:r>
          </a:p>
          <a:p>
            <a:pPr algn="ctr" eaLnBrk="1" hangingPunct="1">
              <a:buFont typeface="Symbol" pitchFamily="18" charset="2"/>
              <a:buChar char="»"/>
              <a:defRPr/>
            </a:pPr>
            <a:r>
              <a:rPr lang="en-US">
                <a:solidFill>
                  <a:schemeClr val="bg1"/>
                </a:solidFill>
                <a:latin typeface="Tahoma" pitchFamily="34" charset="0"/>
                <a:cs typeface="Tahoma" pitchFamily="34" charset="0"/>
                <a:sym typeface="Symbol" pitchFamily="18" charset="2"/>
              </a:rPr>
              <a:t> </a:t>
            </a:r>
            <a:r>
              <a:rPr lang="en-US" sz="1600">
                <a:solidFill>
                  <a:schemeClr val="bg1"/>
                </a:solidFill>
                <a:latin typeface="Tahoma" pitchFamily="34" charset="0"/>
                <a:cs typeface="Tahoma" pitchFamily="34" charset="0"/>
                <a:sym typeface="Symbol" pitchFamily="18" charset="2"/>
              </a:rPr>
              <a:t>25% of ECF</a:t>
            </a:r>
          </a:p>
          <a:p>
            <a:pPr algn="ctr" eaLnBrk="1" hangingPunct="1">
              <a:buFont typeface="Symbol" pitchFamily="18" charset="2"/>
              <a:buChar char="»"/>
              <a:defRPr/>
            </a:pPr>
            <a:r>
              <a:rPr lang="en-US" sz="1600">
                <a:solidFill>
                  <a:schemeClr val="bg1"/>
                </a:solidFill>
                <a:latin typeface="Tahoma" pitchFamily="34" charset="0"/>
                <a:sym typeface="Symbol" pitchFamily="18" charset="2"/>
              </a:rPr>
              <a:t> </a:t>
            </a:r>
            <a:r>
              <a:rPr lang="en-US" sz="1600" b="1">
                <a:solidFill>
                  <a:schemeClr val="bg1"/>
                </a:solidFill>
                <a:latin typeface="Tahoma" pitchFamily="34" charset="0"/>
                <a:sym typeface="Symbol" pitchFamily="18" charset="2"/>
              </a:rPr>
              <a:t>5% of body wt</a:t>
            </a:r>
          </a:p>
        </p:txBody>
      </p:sp>
      <p:sp>
        <p:nvSpPr>
          <p:cNvPr id="159755" name="AutoShape 11">
            <a:extLst>
              <a:ext uri="{FF2B5EF4-FFF2-40B4-BE49-F238E27FC236}">
                <a16:creationId xmlns:a16="http://schemas.microsoft.com/office/drawing/2014/main" id="{FD21A8D3-4E0D-BC15-88CF-D7230422E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713" y="1914525"/>
            <a:ext cx="358775" cy="503238"/>
          </a:xfrm>
          <a:prstGeom prst="downArrow">
            <a:avLst>
              <a:gd name="adj1" fmla="val 50000"/>
              <a:gd name="adj2" fmla="val 35066"/>
            </a:avLst>
          </a:prstGeom>
          <a:gradFill rotWithShape="1">
            <a:gsLst>
              <a:gs pos="0">
                <a:srgbClr val="FFFFCC"/>
              </a:gs>
              <a:gs pos="100000">
                <a:schemeClr val="folHlink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ur-PK" altLang="en-US" sz="1800">
              <a:latin typeface="Times New Roman" panose="02020603050405020304" pitchFamily="18" charset="0"/>
            </a:endParaRPr>
          </a:p>
        </p:txBody>
      </p:sp>
      <p:sp>
        <p:nvSpPr>
          <p:cNvPr id="159757" name="Rectangle 13" descr="Wave">
            <a:extLst>
              <a:ext uri="{FF2B5EF4-FFF2-40B4-BE49-F238E27FC236}">
                <a16:creationId xmlns:a16="http://schemas.microsoft.com/office/drawing/2014/main" id="{C406376B-4A5A-ABF8-8C6C-B185A65BE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5" y="4616450"/>
            <a:ext cx="2233613" cy="40957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000">
                <a:solidFill>
                  <a:schemeClr val="bg1"/>
                </a:solidFill>
                <a:latin typeface="Tahoma" pitchFamily="34" charset="0"/>
              </a:rPr>
              <a:t>Transcellular fluid</a:t>
            </a:r>
          </a:p>
        </p:txBody>
      </p:sp>
      <p:sp>
        <p:nvSpPr>
          <p:cNvPr id="159758" name="Line 14">
            <a:extLst>
              <a:ext uri="{FF2B5EF4-FFF2-40B4-BE49-F238E27FC236}">
                <a16:creationId xmlns:a16="http://schemas.microsoft.com/office/drawing/2014/main" id="{713D7E29-6318-9A7F-F587-5FDBC5E5D2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2250" y="4146550"/>
            <a:ext cx="3887788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760" name="Rectangle 16" descr="Wave">
            <a:extLst>
              <a:ext uri="{FF2B5EF4-FFF2-40B4-BE49-F238E27FC236}">
                <a16:creationId xmlns:a16="http://schemas.microsoft.com/office/drawing/2014/main" id="{4324ADFF-A62B-1EA0-D89D-4325F521A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1138" y="5016500"/>
            <a:ext cx="1081087" cy="180657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1400">
                <a:solidFill>
                  <a:schemeClr val="bg1"/>
                </a:solidFill>
                <a:latin typeface="Tahoma" pitchFamily="34" charset="0"/>
              </a:rPr>
              <a:t>CSF</a:t>
            </a:r>
          </a:p>
          <a:p>
            <a:pPr algn="ctr" eaLnBrk="1" hangingPunct="1">
              <a:defRPr/>
            </a:pPr>
            <a:r>
              <a:rPr lang="en-US" sz="1400">
                <a:solidFill>
                  <a:schemeClr val="bg1"/>
                </a:solidFill>
                <a:latin typeface="Tahoma" pitchFamily="34" charset="0"/>
              </a:rPr>
              <a:t>Intraocular</a:t>
            </a:r>
          </a:p>
          <a:p>
            <a:pPr algn="ctr" eaLnBrk="1" hangingPunct="1">
              <a:defRPr/>
            </a:pPr>
            <a:r>
              <a:rPr lang="en-US" sz="1400">
                <a:solidFill>
                  <a:schemeClr val="bg1"/>
                </a:solidFill>
                <a:latin typeface="Tahoma" pitchFamily="34" charset="0"/>
              </a:rPr>
              <a:t>Pleural</a:t>
            </a:r>
          </a:p>
          <a:p>
            <a:pPr algn="ctr" eaLnBrk="1" hangingPunct="1">
              <a:defRPr/>
            </a:pPr>
            <a:r>
              <a:rPr lang="en-US" sz="1400">
                <a:solidFill>
                  <a:schemeClr val="bg1"/>
                </a:solidFill>
                <a:latin typeface="Tahoma" pitchFamily="34" charset="0"/>
              </a:rPr>
              <a:t>Peritoneal</a:t>
            </a:r>
          </a:p>
          <a:p>
            <a:pPr algn="ctr" eaLnBrk="1" hangingPunct="1">
              <a:defRPr/>
            </a:pPr>
            <a:r>
              <a:rPr lang="en-US" sz="1400">
                <a:solidFill>
                  <a:schemeClr val="bg1"/>
                </a:solidFill>
                <a:latin typeface="Tahoma" pitchFamily="34" charset="0"/>
              </a:rPr>
              <a:t>Pericardial</a:t>
            </a:r>
          </a:p>
          <a:p>
            <a:pPr algn="ctr" eaLnBrk="1" hangingPunct="1">
              <a:defRPr/>
            </a:pPr>
            <a:r>
              <a:rPr lang="en-US" sz="1400">
                <a:solidFill>
                  <a:schemeClr val="bg1"/>
                </a:solidFill>
                <a:latin typeface="Tahoma" pitchFamily="34" charset="0"/>
              </a:rPr>
              <a:t>Synovial</a:t>
            </a:r>
          </a:p>
          <a:p>
            <a:pPr algn="ctr" eaLnBrk="1" hangingPunct="1">
              <a:defRPr/>
            </a:pPr>
            <a:r>
              <a:rPr lang="en-US" sz="1400">
                <a:solidFill>
                  <a:schemeClr val="bg1"/>
                </a:solidFill>
                <a:latin typeface="Tahoma" pitchFamily="34" charset="0"/>
              </a:rPr>
              <a:t>Digestive secretions</a:t>
            </a:r>
          </a:p>
        </p:txBody>
      </p:sp>
      <p:sp>
        <p:nvSpPr>
          <p:cNvPr id="159761" name="AutoShape 17">
            <a:extLst>
              <a:ext uri="{FF2B5EF4-FFF2-40B4-BE49-F238E27FC236}">
                <a16:creationId xmlns:a16="http://schemas.microsoft.com/office/drawing/2014/main" id="{C7CE65F9-F13B-929C-2E01-86395B277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1914525"/>
            <a:ext cx="358775" cy="503238"/>
          </a:xfrm>
          <a:prstGeom prst="downArrow">
            <a:avLst>
              <a:gd name="adj1" fmla="val 50000"/>
              <a:gd name="adj2" fmla="val 35066"/>
            </a:avLst>
          </a:prstGeom>
          <a:gradFill rotWithShape="1">
            <a:gsLst>
              <a:gs pos="0">
                <a:srgbClr val="FFFFCC"/>
              </a:gs>
              <a:gs pos="100000">
                <a:schemeClr val="folHlink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ur-PK" altLang="en-US" sz="1800">
              <a:latin typeface="Times New Roman" panose="02020603050405020304" pitchFamily="18" charset="0"/>
            </a:endParaRPr>
          </a:p>
        </p:txBody>
      </p:sp>
      <p:sp>
        <p:nvSpPr>
          <p:cNvPr id="159762" name="AutoShape 18">
            <a:extLst>
              <a:ext uri="{FF2B5EF4-FFF2-40B4-BE49-F238E27FC236}">
                <a16:creationId xmlns:a16="http://schemas.microsoft.com/office/drawing/2014/main" id="{7C2E6D7F-4B97-3AAC-F292-37D67EE5F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3703638"/>
            <a:ext cx="358775" cy="431800"/>
          </a:xfrm>
          <a:prstGeom prst="downArrow">
            <a:avLst>
              <a:gd name="adj1" fmla="val 50000"/>
              <a:gd name="adj2" fmla="val 30088"/>
            </a:avLst>
          </a:prstGeom>
          <a:gradFill rotWithShape="1">
            <a:gsLst>
              <a:gs pos="0">
                <a:srgbClr val="FFFFCC"/>
              </a:gs>
              <a:gs pos="100000">
                <a:schemeClr val="folHlink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ur-PK" altLang="en-US" sz="1800">
              <a:latin typeface="Times New Roman" panose="02020603050405020304" pitchFamily="18" charset="0"/>
            </a:endParaRPr>
          </a:p>
        </p:txBody>
      </p:sp>
      <p:sp>
        <p:nvSpPr>
          <p:cNvPr id="159763" name="AutoShape 19">
            <a:extLst>
              <a:ext uri="{FF2B5EF4-FFF2-40B4-BE49-F238E27FC236}">
                <a16:creationId xmlns:a16="http://schemas.microsoft.com/office/drawing/2014/main" id="{AF1608A5-CD75-5094-1D0B-FCA0E7C0B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146550"/>
            <a:ext cx="358775" cy="431800"/>
          </a:xfrm>
          <a:prstGeom prst="downArrow">
            <a:avLst>
              <a:gd name="adj1" fmla="val 50000"/>
              <a:gd name="adj2" fmla="val 30088"/>
            </a:avLst>
          </a:prstGeom>
          <a:gradFill rotWithShape="1">
            <a:gsLst>
              <a:gs pos="0">
                <a:srgbClr val="FFFFCC"/>
              </a:gs>
              <a:gs pos="100000">
                <a:schemeClr val="folHlink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ur-PK" altLang="en-US" sz="1800">
              <a:latin typeface="Times New Roman" panose="02020603050405020304" pitchFamily="18" charset="0"/>
            </a:endParaRPr>
          </a:p>
        </p:txBody>
      </p:sp>
      <p:sp>
        <p:nvSpPr>
          <p:cNvPr id="159764" name="AutoShape 20">
            <a:extLst>
              <a:ext uri="{FF2B5EF4-FFF2-40B4-BE49-F238E27FC236}">
                <a16:creationId xmlns:a16="http://schemas.microsoft.com/office/drawing/2014/main" id="{214EC86A-FBA7-DCB2-8F7C-6CA6CE465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0163" y="4146550"/>
            <a:ext cx="358775" cy="431800"/>
          </a:xfrm>
          <a:prstGeom prst="downArrow">
            <a:avLst>
              <a:gd name="adj1" fmla="val 50000"/>
              <a:gd name="adj2" fmla="val 30088"/>
            </a:avLst>
          </a:prstGeom>
          <a:gradFill rotWithShape="1">
            <a:gsLst>
              <a:gs pos="0">
                <a:srgbClr val="FFFFCC"/>
              </a:gs>
              <a:gs pos="100000">
                <a:schemeClr val="folHlink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ur-PK" altLang="en-US" sz="1800">
              <a:latin typeface="Times New Roman" panose="02020603050405020304" pitchFamily="18" charset="0"/>
            </a:endParaRPr>
          </a:p>
        </p:txBody>
      </p:sp>
      <p:sp>
        <p:nvSpPr>
          <p:cNvPr id="159765" name="AutoShape 21">
            <a:extLst>
              <a:ext uri="{FF2B5EF4-FFF2-40B4-BE49-F238E27FC236}">
                <a16:creationId xmlns:a16="http://schemas.microsoft.com/office/drawing/2014/main" id="{F5904B31-DAC2-4386-62C9-984C279AC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4146550"/>
            <a:ext cx="358775" cy="431800"/>
          </a:xfrm>
          <a:prstGeom prst="downArrow">
            <a:avLst>
              <a:gd name="adj1" fmla="val 50000"/>
              <a:gd name="adj2" fmla="val 30088"/>
            </a:avLst>
          </a:prstGeom>
          <a:gradFill rotWithShape="1">
            <a:gsLst>
              <a:gs pos="0">
                <a:srgbClr val="FFFFCC"/>
              </a:gs>
              <a:gs pos="100000">
                <a:schemeClr val="folHlink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ur-PK" altLang="en-US" sz="1800">
              <a:latin typeface="Times New Roman" panose="02020603050405020304" pitchFamily="18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45DBFB26-3F02-81CF-A905-8F5A5FB5A1B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GB" dirty="0">
                <a:solidFill>
                  <a:schemeClr val="bg1"/>
                </a:solidFill>
              </a:rPr>
              <a:t>Fluid Compartments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5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59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15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59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5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159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5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159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5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15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6" grpId="0" animBg="1"/>
      <p:bldP spid="159747" grpId="0" animBg="1"/>
      <p:bldP spid="159748" grpId="0" animBg="1"/>
      <p:bldP spid="159749" grpId="0" animBg="1"/>
      <p:bldP spid="159750" grpId="0" animBg="1"/>
      <p:bldP spid="159755" grpId="0" animBg="1"/>
      <p:bldP spid="159757" grpId="0" animBg="1"/>
      <p:bldP spid="159760" grpId="0" animBg="1"/>
      <p:bldP spid="159761" grpId="0" animBg="1"/>
      <p:bldP spid="159762" grpId="0" animBg="1"/>
      <p:bldP spid="159763" grpId="0" animBg="1"/>
      <p:bldP spid="159764" grpId="0" animBg="1"/>
      <p:bldP spid="15976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5A0B69B2-5ECB-BD85-6F62-097413989CD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GB" dirty="0">
                <a:solidFill>
                  <a:schemeClr val="bg1"/>
                </a:solidFill>
              </a:rPr>
              <a:t>Body Fluid Compartments</a:t>
            </a:r>
          </a:p>
        </p:txBody>
      </p:sp>
      <p:pic>
        <p:nvPicPr>
          <p:cNvPr id="13315" name="Picture 16">
            <a:extLst>
              <a:ext uri="{FF2B5EF4-FFF2-40B4-BE49-F238E27FC236}">
                <a16:creationId xmlns:a16="http://schemas.microsoft.com/office/drawing/2014/main" id="{F7CA4D70-9BCA-3992-F3E7-1050C9B6D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" t="1523" r="2272" b="19136"/>
          <a:stretch>
            <a:fillRect/>
          </a:stretch>
        </p:blipFill>
        <p:spPr bwMode="auto">
          <a:xfrm>
            <a:off x="152400" y="990600"/>
            <a:ext cx="8839200" cy="506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1" name="Rectangle 3">
            <a:extLst>
              <a:ext uri="{FF2B5EF4-FFF2-40B4-BE49-F238E27FC236}">
                <a16:creationId xmlns:a16="http://schemas.microsoft.com/office/drawing/2014/main" id="{283212DF-350D-07C5-AD13-EB0E34F2D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19200"/>
            <a:ext cx="8229600" cy="4302125"/>
          </a:xfrm>
        </p:spPr>
        <p:txBody>
          <a:bodyPr>
            <a:normAutofit lnSpcReduction="10000"/>
          </a:bodyPr>
          <a:lstStyle/>
          <a:p>
            <a:pPr marL="720725" indent="-452438" eaLnBrk="1" hangingPunct="1">
              <a:buFont typeface="Wingdings" panose="05000000000000000000" pitchFamily="2" charset="2"/>
              <a:buNone/>
            </a:pPr>
            <a:r>
              <a:rPr lang="en-US" altLang="en-US" u="sng">
                <a:solidFill>
                  <a:srgbClr val="FF0000"/>
                </a:solidFill>
              </a:rPr>
              <a:t>Q.  Calculate TBW for a 70 kg man.</a:t>
            </a:r>
          </a:p>
          <a:p>
            <a:pPr marL="720725" indent="-452438" eaLnBrk="1" hangingPunct="1">
              <a:buFont typeface="Wingdings" panose="05000000000000000000" pitchFamily="2" charset="2"/>
              <a:buNone/>
            </a:pPr>
            <a:endParaRPr lang="en-US" altLang="en-US" sz="1400" u="sng">
              <a:solidFill>
                <a:srgbClr val="FF0000"/>
              </a:solidFill>
            </a:endParaRPr>
          </a:p>
          <a:p>
            <a:pPr marL="720725" indent="-452438" eaLnBrk="1" hangingPunct="1"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u="sng">
                <a:solidFill>
                  <a:srgbClr val="FF0000"/>
                </a:solidFill>
              </a:rPr>
              <a:t> </a:t>
            </a:r>
            <a:r>
              <a:rPr lang="en-US" altLang="en-US"/>
              <a:t>TBW = 60% of body weight</a:t>
            </a:r>
          </a:p>
          <a:p>
            <a:pPr marL="720725" indent="-452438" eaLnBrk="1" hangingPunct="1"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/>
              <a:t> TBW = 60% X 70 = 42 L of water</a:t>
            </a:r>
          </a:p>
          <a:p>
            <a:pPr lvl="2" eaLnBrk="1" hangingPunct="1">
              <a:buClr>
                <a:schemeClr val="accent2"/>
              </a:buClr>
              <a:buFont typeface="Times" panose="02020603050405020304" pitchFamily="18" charset="0"/>
              <a:buChar char="•"/>
            </a:pPr>
            <a:r>
              <a:rPr lang="en-US" altLang="en-US" sz="2800"/>
              <a:t>28 liters intracellular fluid (ICF) – (2/3</a:t>
            </a:r>
            <a:r>
              <a:rPr lang="en-US" altLang="en-US" sz="2800" baseline="30000"/>
              <a:t>rd</a:t>
            </a:r>
            <a:r>
              <a:rPr lang="en-US" altLang="en-US" sz="2800"/>
              <a:t>)</a:t>
            </a:r>
          </a:p>
          <a:p>
            <a:pPr lvl="2" eaLnBrk="1" hangingPunct="1">
              <a:buClr>
                <a:schemeClr val="accent2"/>
              </a:buClr>
              <a:buFont typeface="Times" panose="02020603050405020304" pitchFamily="18" charset="0"/>
              <a:buChar char="•"/>
            </a:pPr>
            <a:r>
              <a:rPr lang="en-US" altLang="en-US" sz="2800"/>
              <a:t>14 liters extracellular fluid (ECF)- (1/3</a:t>
            </a:r>
            <a:r>
              <a:rPr lang="en-US" altLang="en-US" sz="2800" baseline="30000"/>
              <a:t>rd</a:t>
            </a:r>
            <a:r>
              <a:rPr lang="en-US" altLang="en-US" sz="2800"/>
              <a:t>)</a:t>
            </a:r>
          </a:p>
          <a:p>
            <a:pPr lvl="3" eaLnBrk="1" hangingPunct="1">
              <a:buFontTx/>
              <a:buNone/>
            </a:pPr>
            <a:r>
              <a:rPr lang="en-US" altLang="en-US" sz="2400"/>
              <a:t>-3 liters plasma</a:t>
            </a:r>
          </a:p>
          <a:p>
            <a:pPr lvl="3" eaLnBrk="1" hangingPunct="1">
              <a:buFontTx/>
              <a:buNone/>
            </a:pPr>
            <a:r>
              <a:rPr lang="en-US" altLang="en-US" sz="2400"/>
              <a:t>-11 liters interstitial fluid (ISF)</a:t>
            </a:r>
          </a:p>
          <a:p>
            <a:pPr marL="720725" indent="-452438" eaLnBrk="1" hangingPunct="1">
              <a:buFont typeface="Wingdings" panose="05000000000000000000" pitchFamily="2" charset="2"/>
              <a:buBlip>
                <a:blip r:embed="rId2"/>
              </a:buBlip>
            </a:pPr>
            <a:endParaRPr lang="en-US" altLang="en-US" u="sng">
              <a:solidFill>
                <a:srgbClr val="FF0000"/>
              </a:solidFill>
            </a:endParaRPr>
          </a:p>
          <a:p>
            <a:pPr marL="720725" indent="-452438" eaLnBrk="1" hangingPunct="1">
              <a:buFont typeface="Wingdings" panose="05000000000000000000" pitchFamily="2" charset="2"/>
              <a:buNone/>
            </a:pPr>
            <a:r>
              <a:rPr lang="en-US" altLang="en-US" u="sng">
                <a:solidFill>
                  <a:srgbClr val="FF0000"/>
                </a:solidFill>
              </a:rPr>
              <a:t>   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910F815-8310-7652-8DF1-B9F21C1C572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>
            <a:normAutofit fontScale="6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GB" dirty="0">
                <a:solidFill>
                  <a:schemeClr val="bg1"/>
                </a:solidFill>
              </a:rPr>
              <a:t>Example: How to calculate total body water (TBW)?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2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2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2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32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2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2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32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2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2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32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2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32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32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2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2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58" name="Rectangle 42">
            <a:extLst>
              <a:ext uri="{FF2B5EF4-FFF2-40B4-BE49-F238E27FC236}">
                <a16:creationId xmlns:a16="http://schemas.microsoft.com/office/drawing/2014/main" id="{A2AD040F-4DE7-DFC1-2D7B-E1D82578A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" y="4645025"/>
            <a:ext cx="3671888" cy="1295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ur-PK" altLang="en-US" sz="1800">
              <a:latin typeface="Times New Roman" panose="02020603050405020304" pitchFamily="18" charset="0"/>
            </a:endParaRPr>
          </a:p>
        </p:txBody>
      </p:sp>
      <p:sp>
        <p:nvSpPr>
          <p:cNvPr id="162857" name="Rectangle 41">
            <a:extLst>
              <a:ext uri="{FF2B5EF4-FFF2-40B4-BE49-F238E27FC236}">
                <a16:creationId xmlns:a16="http://schemas.microsoft.com/office/drawing/2014/main" id="{E5363FDB-B96F-42D6-E2C7-9DE1D29F7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3621088"/>
            <a:ext cx="3667125" cy="1295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ur-PK" altLang="en-US" sz="1800">
              <a:latin typeface="Times New Roman" panose="02020603050405020304" pitchFamily="18" charset="0"/>
            </a:endParaRPr>
          </a:p>
        </p:txBody>
      </p:sp>
      <p:sp>
        <p:nvSpPr>
          <p:cNvPr id="162856" name="Rectangle 40">
            <a:extLst>
              <a:ext uri="{FF2B5EF4-FFF2-40B4-BE49-F238E27FC236}">
                <a16:creationId xmlns:a16="http://schemas.microsoft.com/office/drawing/2014/main" id="{DF4D3672-1FE0-745F-8113-A585297D0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" y="3338513"/>
            <a:ext cx="3671888" cy="1295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ur-PK" altLang="en-US" sz="1800">
              <a:latin typeface="Times New Roman" panose="02020603050405020304" pitchFamily="18" charset="0"/>
            </a:endParaRPr>
          </a:p>
        </p:txBody>
      </p:sp>
      <p:sp>
        <p:nvSpPr>
          <p:cNvPr id="162855" name="Rectangle 39">
            <a:extLst>
              <a:ext uri="{FF2B5EF4-FFF2-40B4-BE49-F238E27FC236}">
                <a16:creationId xmlns:a16="http://schemas.microsoft.com/office/drawing/2014/main" id="{55364CE8-A20A-221C-2E02-22D8B176C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0" y="1981200"/>
            <a:ext cx="2000250" cy="16287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ur-PK" altLang="en-US" sz="1800">
              <a:latin typeface="Times New Roman" panose="02020603050405020304" pitchFamily="18" charset="0"/>
            </a:endParaRPr>
          </a:p>
        </p:txBody>
      </p:sp>
      <p:sp>
        <p:nvSpPr>
          <p:cNvPr id="162854" name="Rectangle 38">
            <a:extLst>
              <a:ext uri="{FF2B5EF4-FFF2-40B4-BE49-F238E27FC236}">
                <a16:creationId xmlns:a16="http://schemas.microsoft.com/office/drawing/2014/main" id="{0FD682BC-6BC4-84F0-8B3D-AB570964A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1952625"/>
            <a:ext cx="2087562" cy="135731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ur-PK" altLang="en-US" sz="1800">
              <a:latin typeface="Times New Roman" panose="02020603050405020304" pitchFamily="18" charset="0"/>
            </a:endParaRPr>
          </a:p>
        </p:txBody>
      </p:sp>
      <p:sp>
        <p:nvSpPr>
          <p:cNvPr id="162853" name="Rectangle 37">
            <a:extLst>
              <a:ext uri="{FF2B5EF4-FFF2-40B4-BE49-F238E27FC236}">
                <a16:creationId xmlns:a16="http://schemas.microsoft.com/office/drawing/2014/main" id="{4C1B7C71-5EC8-3C86-4C8D-D17F15720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1963738"/>
            <a:ext cx="1655762" cy="16573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ur-PK" altLang="en-US" sz="1800">
              <a:latin typeface="Times New Roman" panose="02020603050405020304" pitchFamily="18" charset="0"/>
            </a:endParaRPr>
          </a:p>
        </p:txBody>
      </p:sp>
      <p:sp>
        <p:nvSpPr>
          <p:cNvPr id="162852" name="Rectangle 36">
            <a:extLst>
              <a:ext uri="{FF2B5EF4-FFF2-40B4-BE49-F238E27FC236}">
                <a16:creationId xmlns:a16="http://schemas.microsoft.com/office/drawing/2014/main" id="{C43D18AF-B24C-CD41-C78F-45091744F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" y="1952625"/>
            <a:ext cx="1584325" cy="136842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ur-PK" altLang="en-US" sz="1800">
              <a:latin typeface="Times New Roman" panose="02020603050405020304" pitchFamily="18" charset="0"/>
            </a:endParaRPr>
          </a:p>
        </p:txBody>
      </p:sp>
      <p:graphicFrame>
        <p:nvGraphicFramePr>
          <p:cNvPr id="162887" name="Group 71">
            <a:extLst>
              <a:ext uri="{FF2B5EF4-FFF2-40B4-BE49-F238E27FC236}">
                <a16:creationId xmlns:a16="http://schemas.microsoft.com/office/drawing/2014/main" id="{DACA0514-D7D1-9F89-722D-5B7F7C8D1E0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89000" y="1304925"/>
          <a:ext cx="3695700" cy="4678363"/>
        </p:xfrm>
        <a:graphic>
          <a:graphicData uri="http://schemas.openxmlformats.org/drawingml/2006/table">
            <a:tbl>
              <a:tblPr rtl="1"/>
              <a:tblGrid>
                <a:gridCol w="2087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0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ECF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38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Anions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Cl</a:t>
                      </a:r>
                      <a:r>
                        <a:rPr kumimoji="0" lang="en-US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-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 (108)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HCO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3</a:t>
                      </a:r>
                      <a:r>
                        <a:rPr kumimoji="0" lang="en-US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-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(24)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Cations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Na</a:t>
                      </a:r>
                      <a:r>
                        <a:rPr kumimoji="0" lang="en-US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+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 (142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mmol/L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K</a:t>
                      </a:r>
                      <a:r>
                        <a:rPr kumimoji="0" lang="en-US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+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 (4.2)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Mg</a:t>
                      </a:r>
                      <a:r>
                        <a:rPr kumimoji="0" lang="en-US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2+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 (0.8)</a:t>
                      </a:r>
                      <a:endParaRPr kumimoji="0" lang="en-US" sz="18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751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Nutrients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O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, glucose, fatty acids, &amp;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  amino acids. 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689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Wastes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CO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Urea, uric acid,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excess water, &amp; ions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.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2888" name="Group 72">
            <a:extLst>
              <a:ext uri="{FF2B5EF4-FFF2-40B4-BE49-F238E27FC236}">
                <a16:creationId xmlns:a16="http://schemas.microsoft.com/office/drawing/2014/main" id="{6913D66E-BF49-B959-032B-3A6D9FA4BC7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894263" y="1295400"/>
          <a:ext cx="3743325" cy="4689476"/>
        </p:xfrm>
        <a:graphic>
          <a:graphicData uri="http://schemas.openxmlformats.org/drawingml/2006/table">
            <a:tbl>
              <a:tblPr rtl="1"/>
              <a:tblGrid>
                <a:gridCol w="202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ICF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9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Anions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Cl</a:t>
                      </a:r>
                      <a:r>
                        <a:rPr kumimoji="0" lang="en-US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-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 (4)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HCO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3</a:t>
                      </a:r>
                      <a:r>
                        <a:rPr kumimoji="0" lang="en-US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-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(10)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Phosphate ions</a:t>
                      </a:r>
                      <a:r>
                        <a:rPr kumimoji="0" lang="ar-SA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  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Cations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: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Na</a:t>
                      </a:r>
                      <a:r>
                        <a:rPr kumimoji="0" lang="en-US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+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(14)</a:t>
                      </a:r>
                      <a:endParaRPr kumimoji="0" lang="en-US" sz="18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K</a:t>
                      </a:r>
                      <a:r>
                        <a:rPr kumimoji="0" lang="en-US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+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 (140)</a:t>
                      </a:r>
                      <a:endParaRPr kumimoji="0" lang="en-US" sz="18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Mg</a:t>
                      </a:r>
                      <a:r>
                        <a:rPr kumimoji="0" lang="en-US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2+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 (20)</a:t>
                      </a:r>
                      <a:endParaRPr kumimoji="0" lang="en-US" sz="18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81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Nutrients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 High concentrations of proteins.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886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07828085-FCA4-030E-2509-5A60A93C084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GB" dirty="0">
                <a:solidFill>
                  <a:schemeClr val="bg1"/>
                </a:solidFill>
              </a:rPr>
              <a:t>Differences between ECF &amp; ICF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2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2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2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6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2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62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58" grpId="0" animBg="1"/>
      <p:bldP spid="162858" grpId="1" animBg="1"/>
      <p:bldP spid="162857" grpId="0" animBg="1"/>
      <p:bldP spid="162857" grpId="1" animBg="1"/>
      <p:bldP spid="162856" grpId="0" animBg="1"/>
      <p:bldP spid="162856" grpId="1" animBg="1"/>
      <p:bldP spid="162855" grpId="0" animBg="1"/>
      <p:bldP spid="162855" grpId="1" animBg="1"/>
      <p:bldP spid="162854" grpId="0" animBg="1"/>
      <p:bldP spid="162854" grpId="1" animBg="1"/>
      <p:bldP spid="162853" grpId="0" animBg="1"/>
      <p:bldP spid="162853" grpId="1" animBg="1"/>
      <p:bldP spid="162852" grpId="0" animBg="1"/>
      <p:bldP spid="162852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D929A07F-BED7-AF93-0822-3E1E32F56EF8}"/>
              </a:ext>
            </a:extLst>
          </p:cNvPr>
          <p:cNvSpPr txBox="1">
            <a:spLocks noChangeArrowheads="1"/>
          </p:cNvSpPr>
          <p:nvPr/>
        </p:nvSpPr>
        <p:spPr>
          <a:xfrm>
            <a:off x="54428" y="0"/>
            <a:ext cx="9035144" cy="126274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How Substances Enter and Leave the Cell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16387" name="Picture 2">
            <a:extLst>
              <a:ext uri="{FF2B5EF4-FFF2-40B4-BE49-F238E27FC236}">
                <a16:creationId xmlns:a16="http://schemas.microsoft.com/office/drawing/2014/main" id="{AB6FB163-F614-84CA-0008-36A67261C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1371600"/>
            <a:ext cx="9010650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C9AB4631-DE83-E2B9-AB44-A620B36DD4D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How Substances Enter and Leave the Cell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17411" name="Picture 1">
            <a:extLst>
              <a:ext uri="{FF2B5EF4-FFF2-40B4-BE49-F238E27FC236}">
                <a16:creationId xmlns:a16="http://schemas.microsoft.com/office/drawing/2014/main" id="{F47C4A4B-5BD1-2305-9A32-6429738D7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114" y="1034143"/>
            <a:ext cx="7162800" cy="582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5D6EAC1F-461C-614C-44A8-2CB4EA85F2B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77288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>
            <a:normAutofit fontScale="6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Passive Transport Processes  (No cellular energy expended) 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8BF9B1C8-9D88-2326-912F-15FC82152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8" y="1338943"/>
            <a:ext cx="8810625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33FAF802-04F9-1EEC-C25D-7BBD16E7F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114800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marL="720725" indent="-452438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-452120"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latin typeface="Calibri"/>
                <a:ea typeface="Calibri"/>
                <a:cs typeface="Arial"/>
              </a:rPr>
              <a:t>Passive transport: Don’t use carrier protein</a:t>
            </a:r>
            <a:endParaRPr lang="en-US" dirty="0">
              <a:latin typeface="Calibri"/>
              <a:ea typeface="Calibri"/>
              <a:cs typeface="Arial"/>
            </a:endParaRPr>
          </a:p>
          <a:p>
            <a:pPr indent="-452120"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latin typeface="Calibri"/>
                <a:ea typeface="Calibri"/>
                <a:cs typeface="Arial"/>
              </a:rPr>
              <a:t>   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BBBD55E-146D-315B-1AE1-0BF60FCABA50}"/>
              </a:ext>
            </a:extLst>
          </p:cNvPr>
          <p:cNvSpPr/>
          <p:nvPr/>
        </p:nvSpPr>
        <p:spPr>
          <a:xfrm>
            <a:off x="1143000" y="1333500"/>
            <a:ext cx="1981200" cy="2057400"/>
          </a:xfrm>
          <a:prstGeom prst="roundRect">
            <a:avLst/>
          </a:prstGeom>
          <a:solidFill>
            <a:srgbClr val="FF0000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D2203F64-1CA7-4D42-629E-A2ECDFB3FF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>
            <a:normAutofit fontScale="6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Diﬀusion is movement driven by concentration diﬀerences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19459" name="Picture 2">
            <a:extLst>
              <a:ext uri="{FF2B5EF4-FFF2-40B4-BE49-F238E27FC236}">
                <a16:creationId xmlns:a16="http://schemas.microsoft.com/office/drawing/2014/main" id="{7118C690-D404-7CDD-2D7D-7A6705981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362200"/>
            <a:ext cx="7964488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1">
            <a:extLst>
              <a:ext uri="{FF2B5EF4-FFF2-40B4-BE49-F238E27FC236}">
                <a16:creationId xmlns:a16="http://schemas.microsoft.com/office/drawing/2014/main" id="{9BB12EF3-3522-A1C1-1733-FE25FE5F2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688975"/>
            <a:ext cx="3362325" cy="2582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4">
            <a:extLst>
              <a:ext uri="{FF2B5EF4-FFF2-40B4-BE49-F238E27FC236}">
                <a16:creationId xmlns:a16="http://schemas.microsoft.com/office/drawing/2014/main" id="{AC1FF555-B15A-3A31-5E3D-A5A1CA885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655638"/>
            <a:ext cx="8763000" cy="620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B6CEC0EA-E3B2-190D-1A68-6FD58FAAB25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>
            <a:normAutofit fontScale="6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Diﬀusion is movement driven by concentration diﬀerences</a:t>
            </a:r>
            <a:endParaRPr lang="en-GB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7D9F13D5-4F66-4BB6-6964-1B3EFDD57E1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</a:rPr>
              <a:t>Passive Transport Processes 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</a:rPr>
              <a:t>(No cellular energy expended) </a:t>
            </a: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21507" name="Picture 1">
            <a:extLst>
              <a:ext uri="{FF2B5EF4-FFF2-40B4-BE49-F238E27FC236}">
                <a16:creationId xmlns:a16="http://schemas.microsoft.com/office/drawing/2014/main" id="{BC5C0F1C-4647-71D8-9D8E-383ED7786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598"/>
          <a:stretch>
            <a:fillRect/>
          </a:stretch>
        </p:blipFill>
        <p:spPr bwMode="auto">
          <a:xfrm>
            <a:off x="157163" y="914400"/>
            <a:ext cx="882967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1">
            <a:extLst>
              <a:ext uri="{FF2B5EF4-FFF2-40B4-BE49-F238E27FC236}">
                <a16:creationId xmlns:a16="http://schemas.microsoft.com/office/drawing/2014/main" id="{366DFA74-40E5-68E6-529B-E9EFA8B4B3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111625"/>
            <a:ext cx="4572000" cy="274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40B4D10-4F20-D35E-EFFB-E4E1CE3EE4A4}"/>
              </a:ext>
            </a:extLst>
          </p:cNvPr>
          <p:cNvSpPr/>
          <p:nvPr/>
        </p:nvSpPr>
        <p:spPr>
          <a:xfrm>
            <a:off x="1076325" y="1028700"/>
            <a:ext cx="1981200" cy="2057400"/>
          </a:xfrm>
          <a:prstGeom prst="roundRect">
            <a:avLst/>
          </a:prstGeom>
          <a:solidFill>
            <a:srgbClr val="FF0000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CDD0575-EC82-C3EC-8D24-98DC795BB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540125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marL="720725" indent="-452438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-452120" algn="ctr" eaLnBrk="1" hangingPunct="1"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alibri"/>
                <a:ea typeface="Calibri"/>
                <a:cs typeface="Arial"/>
              </a:rPr>
              <a:t>Osmosis: Passive transport: Don’t use carrier protein</a:t>
            </a:r>
            <a:endParaRPr lang="en-US" dirty="0">
              <a:latin typeface="Calibri"/>
              <a:ea typeface="Calibri"/>
              <a:cs typeface="Arial"/>
            </a:endParaRPr>
          </a:p>
          <a:p>
            <a:pPr indent="-452120"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solidFill>
                  <a:srgbClr val="FF0000"/>
                </a:solidFill>
                <a:latin typeface="Calibri"/>
                <a:ea typeface="Calibri"/>
                <a:cs typeface="Arial"/>
              </a:rPr>
              <a:t>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7D986D1E-5A8C-7E9D-5DDF-B58CD56A78C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</a:rPr>
              <a:t>Active Transport Processes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</a:rPr>
              <a:t>  (Require ATP or other energy sources) </a:t>
            </a: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22531" name="Picture 2">
            <a:extLst>
              <a:ext uri="{FF2B5EF4-FFF2-40B4-BE49-F238E27FC236}">
                <a16:creationId xmlns:a16="http://schemas.microsoft.com/office/drawing/2014/main" id="{499EDD72-89BF-0CCB-6436-6D6A70C6E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3997325"/>
            <a:ext cx="8953500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1">
            <a:extLst>
              <a:ext uri="{FF2B5EF4-FFF2-40B4-BE49-F238E27FC236}">
                <a16:creationId xmlns:a16="http://schemas.microsoft.com/office/drawing/2014/main" id="{731AF29A-5BE3-147B-902B-98F34986AA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060" b="3748"/>
          <a:stretch>
            <a:fillRect/>
          </a:stretch>
        </p:blipFill>
        <p:spPr bwMode="auto">
          <a:xfrm>
            <a:off x="230188" y="873125"/>
            <a:ext cx="882967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FE7CF386-D1B4-2F7B-EFBB-C472CF5A4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540125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marL="720725" indent="-452438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-452120" algn="ctr" eaLnBrk="1" hangingPunct="1"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alibri"/>
                <a:ea typeface="Calibri"/>
                <a:cs typeface="Arial"/>
              </a:rPr>
              <a:t>Active transport: Use carrier protein</a:t>
            </a:r>
            <a:endParaRPr lang="en-US" dirty="0">
              <a:latin typeface="Calibri"/>
              <a:ea typeface="Calibri"/>
              <a:cs typeface="Arial"/>
            </a:endParaRPr>
          </a:p>
          <a:p>
            <a:pPr indent="-452120"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solidFill>
                  <a:srgbClr val="FF0000"/>
                </a:solidFill>
                <a:latin typeface="Calibri"/>
                <a:ea typeface="Calibri"/>
                <a:cs typeface="Arial"/>
              </a:rPr>
              <a:t>  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7A5DF32-E5D4-9EBD-4BAF-E856F7A37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308725"/>
            <a:ext cx="82296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720725" indent="-452438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400" b="1"/>
              <a:t>Na+ K- pumps 3 Na+ out and 2K+ inside the cell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u="sng">
                <a:solidFill>
                  <a:srgbClr val="FF0000"/>
                </a:solidFill>
              </a:rPr>
              <a:t>   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FC3425E-30FC-BC70-A8DB-C25BF4A20664}"/>
              </a:ext>
            </a:extLst>
          </p:cNvPr>
          <p:cNvSpPr/>
          <p:nvPr/>
        </p:nvSpPr>
        <p:spPr>
          <a:xfrm>
            <a:off x="1447800" y="4378325"/>
            <a:ext cx="2057400" cy="1870075"/>
          </a:xfrm>
          <a:prstGeom prst="roundRect">
            <a:avLst/>
          </a:prstGeom>
          <a:solidFill>
            <a:srgbClr val="FF0000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A13F6687-3F26-B7F1-9E53-0ED16D88AFE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</a:rPr>
              <a:t>Active Transport Processes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</a:rPr>
              <a:t>  (Require ATP or other energy sources) </a:t>
            </a: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23555" name="Picture 1">
            <a:extLst>
              <a:ext uri="{FF2B5EF4-FFF2-40B4-BE49-F238E27FC236}">
                <a16:creationId xmlns:a16="http://schemas.microsoft.com/office/drawing/2014/main" id="{FE65C044-3CA2-B7EB-41E7-F6B777287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3" y="1219200"/>
            <a:ext cx="8905875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F32E96-B1D8-469E-D1DD-5A705C0CA7F5}"/>
              </a:ext>
            </a:extLst>
          </p:cNvPr>
          <p:cNvSpPr/>
          <p:nvPr/>
        </p:nvSpPr>
        <p:spPr>
          <a:xfrm>
            <a:off x="207963" y="1219200"/>
            <a:ext cx="3297237" cy="3352800"/>
          </a:xfrm>
          <a:prstGeom prst="roundRect">
            <a:avLst/>
          </a:prstGeom>
          <a:solidFill>
            <a:srgbClr val="FF0000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D60579EC-4F0D-024B-560E-09626B46DF5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</a:rPr>
              <a:t>Active Transport Processes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</a:rPr>
              <a:t>  (Require ATP or other energy sources) </a:t>
            </a:r>
            <a:endParaRPr lang="en-GB" sz="2400" dirty="0">
              <a:solidFill>
                <a:schemeClr val="bg1"/>
              </a:solidFill>
            </a:endParaRPr>
          </a:p>
        </p:txBody>
      </p:sp>
      <p:grpSp>
        <p:nvGrpSpPr>
          <p:cNvPr id="24579" name="Group 5">
            <a:extLst>
              <a:ext uri="{FF2B5EF4-FFF2-40B4-BE49-F238E27FC236}">
                <a16:creationId xmlns:a16="http://schemas.microsoft.com/office/drawing/2014/main" id="{53BBBA72-6C02-8046-EC32-F79FC589F0B0}"/>
              </a:ext>
            </a:extLst>
          </p:cNvPr>
          <p:cNvGrpSpPr>
            <a:grpSpLocks/>
          </p:cNvGrpSpPr>
          <p:nvPr/>
        </p:nvGrpSpPr>
        <p:grpSpPr bwMode="auto">
          <a:xfrm>
            <a:off x="142875" y="2030413"/>
            <a:ext cx="8858250" cy="3409950"/>
            <a:chOff x="142875" y="1724025"/>
            <a:chExt cx="8858250" cy="3409950"/>
          </a:xfrm>
        </p:grpSpPr>
        <p:pic>
          <p:nvPicPr>
            <p:cNvPr id="24583" name="Picture 2">
              <a:extLst>
                <a:ext uri="{FF2B5EF4-FFF2-40B4-BE49-F238E27FC236}">
                  <a16:creationId xmlns:a16="http://schemas.microsoft.com/office/drawing/2014/main" id="{CEA1F28B-BBFD-8539-06D1-F74A1307F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75" y="1724025"/>
              <a:ext cx="8858250" cy="3409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84" name="Picture 4">
              <a:extLst>
                <a:ext uri="{FF2B5EF4-FFF2-40B4-BE49-F238E27FC236}">
                  <a16:creationId xmlns:a16="http://schemas.microsoft.com/office/drawing/2014/main" id="{D4E494D9-F1BD-D56A-AE07-BF8AABF27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755" y="4487545"/>
              <a:ext cx="3667125" cy="638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Rectangle 3">
            <a:extLst>
              <a:ext uri="{FF2B5EF4-FFF2-40B4-BE49-F238E27FC236}">
                <a16:creationId xmlns:a16="http://schemas.microsoft.com/office/drawing/2014/main" id="{9D6F512E-3BAB-D61B-BE7C-14E1F3D0A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2287588"/>
            <a:ext cx="13049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174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Form vesicle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E185B39-3554-A9AD-3544-732D7E9F1970}"/>
              </a:ext>
            </a:extLst>
          </p:cNvPr>
          <p:cNvSpPr/>
          <p:nvPr/>
        </p:nvSpPr>
        <p:spPr>
          <a:xfrm>
            <a:off x="142875" y="1906588"/>
            <a:ext cx="1304925" cy="1219200"/>
          </a:xfrm>
          <a:prstGeom prst="roundRect">
            <a:avLst/>
          </a:prstGeom>
          <a:solidFill>
            <a:srgbClr val="FF0000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6F427D2-66BD-5338-9E02-87CF43AEE930}"/>
              </a:ext>
            </a:extLst>
          </p:cNvPr>
          <p:cNvSpPr/>
          <p:nvPr/>
        </p:nvSpPr>
        <p:spPr>
          <a:xfrm>
            <a:off x="142875" y="3783013"/>
            <a:ext cx="3286125" cy="1219200"/>
          </a:xfrm>
          <a:prstGeom prst="roundRect">
            <a:avLst/>
          </a:prstGeom>
          <a:solidFill>
            <a:srgbClr val="FF0000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24078A66-596D-DCA8-6E42-966408B807E4}"/>
              </a:ext>
            </a:extLst>
          </p:cNvPr>
          <p:cNvSpPr txBox="1">
            <a:spLocks noChangeArrowheads="1"/>
          </p:cNvSpPr>
          <p:nvPr/>
        </p:nvSpPr>
        <p:spPr>
          <a:xfrm>
            <a:off x="386755" y="79149"/>
            <a:ext cx="4957192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pc="-50" dirty="0"/>
              <a:t>HOMEOSTASIS</a:t>
            </a:r>
          </a:p>
        </p:txBody>
      </p:sp>
      <p:sp>
        <p:nvSpPr>
          <p:cNvPr id="25604" name="Rectangle 1">
            <a:extLst>
              <a:ext uri="{FF2B5EF4-FFF2-40B4-BE49-F238E27FC236}">
                <a16:creationId xmlns:a16="http://schemas.microsoft.com/office/drawing/2014/main" id="{83D22216-E56C-3C68-52AF-060917D32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698" y="1922387"/>
            <a:ext cx="3400536" cy="385497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 lnSpcReduction="10000"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-18288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Tx/>
              <a:buNone/>
            </a:pPr>
            <a:r>
              <a:rPr lang="en-US" altLang="en-US" sz="2000" dirty="0">
                <a:latin typeface="+mn-lt"/>
                <a:cs typeface="+mn-cs"/>
              </a:rPr>
              <a:t>Homeostasis homeo-, the same) is </a:t>
            </a:r>
            <a:r>
              <a:rPr lang="en-US" altLang="en-US" sz="2000" b="1" dirty="0">
                <a:latin typeface="+mn-lt"/>
                <a:cs typeface="+mn-cs"/>
              </a:rPr>
              <a:t>the existence and maintenance of a relatively constant environment within the body despite fluctuations in either the external environment or the internal environment.</a:t>
            </a:r>
          </a:p>
          <a:p>
            <a:pPr indent="-18288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Tx/>
              <a:buNone/>
            </a:pPr>
            <a:endParaRPr lang="en-US" altLang="en-US" sz="2000">
              <a:latin typeface="+mn-lt"/>
              <a:cs typeface="+mn-cs"/>
            </a:endParaRPr>
          </a:p>
          <a:p>
            <a:pPr indent="-18288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Tx/>
              <a:buNone/>
            </a:pPr>
            <a:r>
              <a:rPr lang="en-US" altLang="en-US" sz="2000" dirty="0">
                <a:latin typeface="+mn-lt"/>
                <a:cs typeface="+mn-cs"/>
              </a:rPr>
              <a:t>Walter Cannon coined the term "homeostasis" (1929)</a:t>
            </a:r>
            <a:endParaRPr lang="en-US" altLang="en-US" sz="2000" b="1" dirty="0">
              <a:latin typeface="+mn-lt"/>
              <a:cs typeface="+mn-cs"/>
            </a:endParaRPr>
          </a:p>
          <a:p>
            <a:pPr indent="-18288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Tx/>
              <a:buNone/>
            </a:pPr>
            <a:endParaRPr lang="en-US" altLang="en-US" sz="2000" u="sng">
              <a:latin typeface="+mn-lt"/>
              <a:cs typeface="+mn-cs"/>
            </a:endParaRPr>
          </a:p>
        </p:txBody>
      </p:sp>
      <p:pic>
        <p:nvPicPr>
          <p:cNvPr id="25603" name="Picture 6">
            <a:extLst>
              <a:ext uri="{FF2B5EF4-FFF2-40B4-BE49-F238E27FC236}">
                <a16:creationId xmlns:a16="http://schemas.microsoft.com/office/drawing/2014/main" id="{B3E07688-4846-7A39-441F-AEA28DA9E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24867" y="1409623"/>
            <a:ext cx="3907492" cy="4038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4398A8D1-16BE-BD2A-EBA6-46B1AB85B37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200" dirty="0">
                <a:solidFill>
                  <a:schemeClr val="bg1"/>
                </a:solidFill>
              </a:rPr>
              <a:t>Homeostatic Regulation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B396DA-3A12-D959-E3A8-F82B82E0E751}"/>
              </a:ext>
            </a:extLst>
          </p:cNvPr>
          <p:cNvSpPr/>
          <p:nvPr/>
        </p:nvSpPr>
        <p:spPr>
          <a:xfrm>
            <a:off x="54429" y="838200"/>
            <a:ext cx="8534400" cy="35401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800" dirty="0"/>
              <a:t>This process of adjustment (called homeostatic regulation) involves: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2800" dirty="0"/>
              <a:t>a receptor (which receives information about a change in the environment),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2800" dirty="0"/>
              <a:t>a control center (which receives and processes information from the receptor), and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2800" dirty="0"/>
              <a:t>an effector (which responds to signals from the control center by either opposing or enhancing the stimulus).</a:t>
            </a:r>
          </a:p>
        </p:txBody>
      </p:sp>
      <p:pic>
        <p:nvPicPr>
          <p:cNvPr id="26628" name="Picture 2">
            <a:extLst>
              <a:ext uri="{FF2B5EF4-FFF2-40B4-BE49-F238E27FC236}">
                <a16:creationId xmlns:a16="http://schemas.microsoft.com/office/drawing/2014/main" id="{976C2898-D770-B665-523E-666B80E56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588" y="4532767"/>
            <a:ext cx="4086225" cy="2050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EA91B5F7-9849-86C2-345E-D7EF08C27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3" y="4535488"/>
            <a:ext cx="47005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2794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AutoNum type="arabicPeriod"/>
            </a:pPr>
            <a:r>
              <a:rPr lang="en-US" altLang="en-US" sz="2400" b="1">
                <a:solidFill>
                  <a:srgbClr val="FF0000"/>
                </a:solidFill>
              </a:rPr>
              <a:t>Receptor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AutoNum type="arabicPeriod"/>
            </a:pPr>
            <a:r>
              <a:rPr lang="en-US" altLang="en-US" sz="2400" b="1">
                <a:solidFill>
                  <a:srgbClr val="FF0000"/>
                </a:solidFill>
              </a:rPr>
              <a:t>Afferent Pathway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AutoNum type="arabicPeriod"/>
            </a:pPr>
            <a:r>
              <a:rPr lang="en-US" altLang="en-US" sz="2400" b="1">
                <a:solidFill>
                  <a:srgbClr val="FF0000"/>
                </a:solidFill>
              </a:rPr>
              <a:t>Integrating or control center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AutoNum type="arabicPeriod"/>
            </a:pPr>
            <a:r>
              <a:rPr lang="en-US" altLang="en-US" sz="2400" b="1">
                <a:solidFill>
                  <a:srgbClr val="FF0000"/>
                </a:solidFill>
              </a:rPr>
              <a:t>Efferent Pathway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AutoNum type="arabicPeriod"/>
            </a:pPr>
            <a:r>
              <a:rPr lang="en-US" altLang="en-US" sz="2400" b="1">
                <a:solidFill>
                  <a:srgbClr val="FF0000"/>
                </a:solidFill>
              </a:rPr>
              <a:t>Effector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2089E50-C553-29EA-10D7-477AE448B7E8}"/>
              </a:ext>
            </a:extLst>
          </p:cNvPr>
          <p:cNvSpPr/>
          <p:nvPr/>
        </p:nvSpPr>
        <p:spPr>
          <a:xfrm>
            <a:off x="0" y="1752600"/>
            <a:ext cx="8634413" cy="26257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26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599" y="0"/>
            <a:ext cx="2802142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5C6F88-5E9D-B57C-6AB4-9565B2BFD041}"/>
              </a:ext>
            </a:extLst>
          </p:cNvPr>
          <p:cNvSpPr txBox="1">
            <a:spLocks noChangeArrowheads="1"/>
          </p:cNvSpPr>
          <p:nvPr/>
        </p:nvSpPr>
        <p:spPr>
          <a:xfrm>
            <a:off x="723898" y="643466"/>
            <a:ext cx="2319539" cy="5528734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 spc="-50" dirty="0">
                <a:solidFill>
                  <a:srgbClr val="FFFFFF"/>
                </a:solidFill>
              </a:rPr>
              <a:t>FEEDBACK</a:t>
            </a: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84740" y="0"/>
            <a:ext cx="518488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909E90-B702-B0FB-EC34-FDA7C0BBF224}"/>
              </a:ext>
            </a:extLst>
          </p:cNvPr>
          <p:cNvSpPr/>
          <p:nvPr/>
        </p:nvSpPr>
        <p:spPr>
          <a:xfrm>
            <a:off x="3616423" y="643466"/>
            <a:ext cx="4370604" cy="55710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182880" eaLnBrk="1" hangingPunct="1">
              <a:spcAft>
                <a:spcPts val="600"/>
              </a:spcAft>
              <a:buClr>
                <a:schemeClr val="accent1"/>
              </a:buClr>
              <a:defRPr/>
            </a:pPr>
            <a:r>
              <a:rPr lang="en-US" sz="2100" dirty="0">
                <a:latin typeface="+mn-lt"/>
                <a:cs typeface="+mn-cs"/>
              </a:rPr>
              <a:t>The signal sent by the effector is called feedback; feedback can be either negative or positive.</a:t>
            </a:r>
          </a:p>
          <a:p>
            <a:pPr indent="-182880" eaLnBrk="1" hangingPunct="1">
              <a:spcAft>
                <a:spcPts val="600"/>
              </a:spcAft>
              <a:buClr>
                <a:schemeClr val="accent1"/>
              </a:buClr>
              <a:defRPr/>
            </a:pPr>
            <a:endParaRPr lang="en-US" sz="2100">
              <a:latin typeface="+mn-lt"/>
              <a:cs typeface="+mn-cs"/>
            </a:endParaRPr>
          </a:p>
          <a:p>
            <a:pPr marL="342900" indent="-182880" eaLnBrk="1" hangingPunct="1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sz="2100" b="1" dirty="0">
                <a:latin typeface="+mn-lt"/>
                <a:cs typeface="+mn-cs"/>
              </a:rPr>
              <a:t>Negative feedback: </a:t>
            </a:r>
            <a:r>
              <a:rPr lang="en-US" sz="2100" dirty="0">
                <a:latin typeface="+mn-lt"/>
                <a:cs typeface="+mn-cs"/>
              </a:rPr>
              <a:t>when the effector opposes the stimulus (such as a dropping temperature) and reverses the direction of change (causing </a:t>
            </a:r>
            <a:r>
              <a:rPr lang="en-US" sz="2100">
                <a:latin typeface="+mn-lt"/>
                <a:cs typeface="+mn-cs"/>
              </a:rPr>
              <a:t>the temperature to rise).</a:t>
            </a:r>
          </a:p>
          <a:p>
            <a:pPr marL="342900" indent="-18288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+mn-lt"/>
                <a:cs typeface="+mn-cs"/>
              </a:rPr>
              <a:t> Example: Decrease in Blood Glucose and Blood pressure</a:t>
            </a:r>
            <a:endParaRPr lang="en-US" dirty="0">
              <a:cs typeface="+mn-cs"/>
            </a:endParaRPr>
          </a:p>
          <a:p>
            <a:pPr marL="342900" indent="-182880" eaLnBrk="1" hangingPunct="1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endParaRPr lang="en-US" sz="2100">
              <a:latin typeface="+mn-lt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26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599" y="0"/>
            <a:ext cx="2802142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12EA4B-F651-F7A9-E7D1-944DD31BF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8" y="643466"/>
            <a:ext cx="2319539" cy="5528734"/>
          </a:xfrm>
          <a:noFill/>
        </p:spPr>
        <p:txBody>
          <a:bodyPr anchor="t">
            <a:normAutofit/>
          </a:bodyPr>
          <a:lstStyle/>
          <a:p>
            <a:endParaRPr lang="en-US" sz="2400">
              <a:solidFill>
                <a:srgbClr val="FFFFFF"/>
              </a:solidFill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84740" y="0"/>
            <a:ext cx="518488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7B79A-3C32-8AC4-0928-C1A6A9780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6423" y="643466"/>
            <a:ext cx="4370604" cy="55710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 b="1" dirty="0">
                <a:latin typeface="Times New Roman"/>
                <a:ea typeface="Calibri"/>
                <a:cs typeface="Calibri"/>
              </a:rPr>
              <a:t>Positive feedback: </a:t>
            </a:r>
            <a:endParaRPr lang="en-US" sz="2100" dirty="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US" sz="2100" dirty="0">
                <a:latin typeface="Times New Roman"/>
                <a:ea typeface="Calibri"/>
                <a:cs typeface="Calibri"/>
              </a:rPr>
              <a:t>When the </a:t>
            </a:r>
            <a:r>
              <a:rPr lang="en-US" sz="2100" b="1" dirty="0">
                <a:latin typeface="Times New Roman"/>
                <a:ea typeface="Calibri"/>
                <a:cs typeface="Calibri"/>
              </a:rPr>
              <a:t>effector reinforces the stimulus</a:t>
            </a:r>
            <a:r>
              <a:rPr lang="en-US" sz="2100" dirty="0">
                <a:latin typeface="Times New Roman"/>
                <a:ea typeface="Calibri"/>
                <a:cs typeface="Calibri"/>
              </a:rPr>
              <a:t> (such as uterine contractions during childbirth, which trigger the release of the hormone oxytocin) and </a:t>
            </a:r>
            <a:r>
              <a:rPr lang="en-US" sz="2100" b="1" dirty="0">
                <a:latin typeface="Times New Roman"/>
                <a:ea typeface="Calibri"/>
                <a:cs typeface="Calibri"/>
              </a:rPr>
              <a:t>amplifies the direction of change</a:t>
            </a:r>
            <a:r>
              <a:rPr lang="en-US" sz="2100" dirty="0">
                <a:latin typeface="Times New Roman"/>
                <a:ea typeface="Calibri"/>
                <a:cs typeface="Calibri"/>
              </a:rPr>
              <a:t> (causing even greater contractions and </a:t>
            </a:r>
            <a:r>
              <a:rPr lang="en-US" sz="2100">
                <a:latin typeface="Times New Roman"/>
                <a:ea typeface="Calibri"/>
                <a:cs typeface="Calibri"/>
              </a:rPr>
              <a:t>further release of oxytocin).</a:t>
            </a:r>
            <a:endParaRPr lang="en-US" sz="210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US" sz="2100" dirty="0">
                <a:latin typeface="Times New Roman"/>
                <a:ea typeface="Calibri"/>
                <a:cs typeface="Calibri"/>
              </a:rPr>
              <a:t> Example: Blood clotting, protein digestion, a temperature of 100.2F causes further increase</a:t>
            </a:r>
            <a:endParaRPr lang="en-US" sz="2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4415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">
            <a:extLst>
              <a:ext uri="{FF2B5EF4-FFF2-40B4-BE49-F238E27FC236}">
                <a16:creationId xmlns:a16="http://schemas.microsoft.com/office/drawing/2014/main" id="{4C42BBBB-A5E9-124B-7821-8F53DF47B68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25185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bg1"/>
                </a:solidFill>
              </a:rPr>
              <a:t>Negative Feedback Control of Car Speed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28675" name="Picture 7">
            <a:extLst>
              <a:ext uri="{FF2B5EF4-FFF2-40B4-BE49-F238E27FC236}">
                <a16:creationId xmlns:a16="http://schemas.microsoft.com/office/drawing/2014/main" id="{85CFB6F7-5ADB-19A1-B827-1B77E631F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22" t="6363" r="11363" b="9636"/>
          <a:stretch>
            <a:fillRect/>
          </a:stretch>
        </p:blipFill>
        <p:spPr bwMode="auto">
          <a:xfrm>
            <a:off x="1162050" y="1251857"/>
            <a:ext cx="6819900" cy="519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">
            <a:extLst>
              <a:ext uri="{FF2B5EF4-FFF2-40B4-BE49-F238E27FC236}">
                <a16:creationId xmlns:a16="http://schemas.microsoft.com/office/drawing/2014/main" id="{4EDC79E3-F200-DFEA-25D0-56F152053AF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25185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Negative Feedback – Temp Regulation</a:t>
            </a:r>
          </a:p>
        </p:txBody>
      </p:sp>
      <p:sp>
        <p:nvSpPr>
          <p:cNvPr id="50" name="Rectangle 3">
            <a:extLst>
              <a:ext uri="{FF2B5EF4-FFF2-40B4-BE49-F238E27FC236}">
                <a16:creationId xmlns:a16="http://schemas.microsoft.com/office/drawing/2014/main" id="{1D549327-4CA5-98DB-CA70-F8A2E4AE86C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458686"/>
            <a:ext cx="8371114" cy="4602163"/>
          </a:xfrm>
          <a:prstGeom prst="rect">
            <a:avLst/>
          </a:prstGeom>
        </p:spPr>
        <p:txBody>
          <a:bodyPr lIns="91440" tIns="45720" rIns="91440" bIns="45720" anchor="t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b="1" dirty="0"/>
              <a:t>Response to Heat Stress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" pitchFamily="2" charset="2"/>
              <a:buAutoNum type="arabicPeriod"/>
              <a:defRPr/>
            </a:pPr>
            <a:r>
              <a:rPr lang="en-CA" sz="2800" dirty="0"/>
              <a:t>Thermoreceptors in skin detect a rise in body temperature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" pitchFamily="2" charset="2"/>
              <a:buAutoNum type="arabicPeriod"/>
              <a:defRPr/>
            </a:pPr>
            <a:r>
              <a:rPr lang="en-CA" sz="2800" dirty="0"/>
              <a:t>Nervous system in brain sends message to hypothalamus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" pitchFamily="2" charset="2"/>
              <a:buAutoNum type="arabicPeriod"/>
              <a:defRPr/>
            </a:pPr>
            <a:r>
              <a:rPr lang="en-CA" sz="2800" dirty="0"/>
              <a:t>Hypothalamus response:</a:t>
            </a:r>
          </a:p>
          <a:p>
            <a:pPr marL="457200" lvl="1" indent="0" fontAlgn="auto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CA" b="1" dirty="0"/>
              <a:t>Sweating: </a:t>
            </a:r>
            <a:r>
              <a:rPr lang="en-CA" dirty="0"/>
              <a:t>Sweat glands to initiate sweating – evaporation of sweat cools body</a:t>
            </a:r>
          </a:p>
          <a:p>
            <a:pPr marL="457200" lvl="1" indent="0" fontAlgn="auto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CA" b="1" dirty="0"/>
              <a:t>Vasodilation: </a:t>
            </a:r>
            <a:r>
              <a:rPr lang="en-CA" dirty="0"/>
              <a:t>Blood vessels to dilate – more blood glows to skin, which has been cooled by evaporation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">
            <a:extLst>
              <a:ext uri="{FF2B5EF4-FFF2-40B4-BE49-F238E27FC236}">
                <a16:creationId xmlns:a16="http://schemas.microsoft.com/office/drawing/2014/main" id="{73C8FD43-7168-0FBB-4C9F-FE94EB51CC0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97971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Negative Feedback – Temp Regulation</a:t>
            </a:r>
          </a:p>
        </p:txBody>
      </p:sp>
      <p:pic>
        <p:nvPicPr>
          <p:cNvPr id="2" name="Picture 1" descr="Diagram of a diagram showing the effects of sweat on the body&#10;&#10;AI-generated content may be incorrect.">
            <a:extLst>
              <a:ext uri="{FF2B5EF4-FFF2-40B4-BE49-F238E27FC236}">
                <a16:creationId xmlns:a16="http://schemas.microsoft.com/office/drawing/2014/main" id="{F96DD916-237C-2F65-9A68-DB18BFA88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68" y="976993"/>
            <a:ext cx="721995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26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599" y="0"/>
            <a:ext cx="2802142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">
            <a:extLst>
              <a:ext uri="{FF2B5EF4-FFF2-40B4-BE49-F238E27FC236}">
                <a16:creationId xmlns:a16="http://schemas.microsoft.com/office/drawing/2014/main" id="{225EAD79-6ECE-2666-7E4F-42816D9C8874}"/>
              </a:ext>
            </a:extLst>
          </p:cNvPr>
          <p:cNvSpPr txBox="1">
            <a:spLocks noChangeArrowheads="1"/>
          </p:cNvSpPr>
          <p:nvPr/>
        </p:nvSpPr>
        <p:spPr>
          <a:xfrm>
            <a:off x="723898" y="643466"/>
            <a:ext cx="2319539" cy="5528734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 spc="-50">
                <a:solidFill>
                  <a:srgbClr val="FFFFFF"/>
                </a:solidFill>
              </a:rPr>
              <a:t>Negative Feedback – Temp Regulation</a:t>
            </a:r>
          </a:p>
        </p:txBody>
      </p:sp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84740" y="0"/>
            <a:ext cx="518488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16360C-7083-BB8D-AAFA-641C467E3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6423" y="643466"/>
            <a:ext cx="4370604" cy="557106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-182880" eaLnBrk="1" hangingPunct="1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AutoNum type="arabicPeriod"/>
            </a:pPr>
            <a:r>
              <a:rPr lang="en-US" altLang="en-US" sz="2100" b="1" dirty="0">
                <a:latin typeface="+mn-lt"/>
                <a:cs typeface="+mn-cs"/>
              </a:rPr>
              <a:t>Thermoreceptors</a:t>
            </a:r>
            <a:r>
              <a:rPr lang="en-US" altLang="en-US" sz="2100" dirty="0">
                <a:latin typeface="+mn-lt"/>
                <a:cs typeface="+mn-cs"/>
              </a:rPr>
              <a:t> in the skin send a message to the hypothalamus</a:t>
            </a:r>
          </a:p>
          <a:p>
            <a:pPr indent="-182880" eaLnBrk="1" hangingPunct="1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AutoNum type="arabicPeriod"/>
            </a:pPr>
            <a:r>
              <a:rPr lang="en-US" altLang="en-US" sz="2100" dirty="0">
                <a:latin typeface="+mn-lt"/>
                <a:cs typeface="+mn-cs"/>
              </a:rPr>
              <a:t>Hypothalamus response:</a:t>
            </a:r>
          </a:p>
          <a:p>
            <a:pPr lvl="1" indent="-182880" eaLnBrk="1" hangingPunct="1">
              <a:lnSpc>
                <a:spcPct val="90000"/>
              </a:lnSpc>
              <a:buClr>
                <a:schemeClr val="accent1"/>
              </a:buClr>
            </a:pPr>
            <a:r>
              <a:rPr lang="en-US" altLang="en-US" sz="2100" b="1" dirty="0">
                <a:latin typeface="+mn-lt"/>
                <a:cs typeface="+mn-cs"/>
              </a:rPr>
              <a:t>Vasoconstriction: </a:t>
            </a:r>
            <a:r>
              <a:rPr lang="en-US" altLang="en-US" sz="2100" dirty="0">
                <a:latin typeface="+mn-lt"/>
                <a:cs typeface="+mn-cs"/>
              </a:rPr>
              <a:t>Constricts smooth muscle of arterioles – blood flow is limited, heat loss from skin is reduced</a:t>
            </a:r>
          </a:p>
          <a:p>
            <a:pPr lvl="1" indent="-182880" eaLnBrk="1" hangingPunct="1">
              <a:lnSpc>
                <a:spcPct val="90000"/>
              </a:lnSpc>
              <a:buClr>
                <a:schemeClr val="accent1"/>
              </a:buClr>
            </a:pPr>
            <a:r>
              <a:rPr lang="en-US" altLang="en-US" sz="2100" b="1" dirty="0">
                <a:latin typeface="+mn-lt"/>
                <a:cs typeface="+mn-cs"/>
              </a:rPr>
              <a:t>Piloerection: </a:t>
            </a:r>
            <a:r>
              <a:rPr lang="en-US" altLang="en-US" sz="2100" dirty="0">
                <a:latin typeface="+mn-lt"/>
                <a:cs typeface="+mn-cs"/>
              </a:rPr>
              <a:t>Constricts smooth muscle around hair follicles, causing hair to stand on end – erect hair traps warm air next to skin</a:t>
            </a:r>
          </a:p>
          <a:p>
            <a:pPr lvl="1" indent="-182880" eaLnBrk="1" hangingPunct="1">
              <a:lnSpc>
                <a:spcPct val="90000"/>
              </a:lnSpc>
              <a:buClr>
                <a:schemeClr val="accent1"/>
              </a:buClr>
            </a:pPr>
            <a:r>
              <a:rPr lang="en-US" altLang="en-US" sz="2100" b="1" dirty="0">
                <a:latin typeface="+mn-lt"/>
                <a:cs typeface="+mn-cs"/>
              </a:rPr>
              <a:t>Shivering : </a:t>
            </a:r>
            <a:r>
              <a:rPr lang="en-US" altLang="en-US" sz="2100" dirty="0">
                <a:latin typeface="+mn-lt"/>
                <a:cs typeface="+mn-cs"/>
              </a:rPr>
              <a:t>Skeletal muscles to initiate rhythmic contractions (10 – 20x per minute)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">
            <a:extLst>
              <a:ext uri="{FF2B5EF4-FFF2-40B4-BE49-F238E27FC236}">
                <a16:creationId xmlns:a16="http://schemas.microsoft.com/office/drawing/2014/main" id="{037E7B61-E195-7AFD-63FA-81C013B7090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20831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Negative Feedback – Temp Regulation</a:t>
            </a:r>
          </a:p>
        </p:txBody>
      </p:sp>
      <p:pic>
        <p:nvPicPr>
          <p:cNvPr id="2" name="Picture 1" descr="Diagram of a diagram showing the effects of heat and body temperature&#10;&#10;AI-generated content may be incorrect.">
            <a:extLst>
              <a:ext uri="{FF2B5EF4-FFF2-40B4-BE49-F238E27FC236}">
                <a16:creationId xmlns:a16="http://schemas.microsoft.com/office/drawing/2014/main" id="{2139D704-DCF5-74A7-4297-3F842AE37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" y="1202871"/>
            <a:ext cx="80772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0" name="Rectangle 33799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33802" name="Rectangle 33801">
            <a:extLst>
              <a:ext uri="{FF2B5EF4-FFF2-40B4-BE49-F238E27FC236}">
                <a16:creationId xmlns:a16="http://schemas.microsoft.com/office/drawing/2014/main" id="{D0CDF5D3-7220-42A0-9D37-ECF3BF283B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0"/>
            <a:ext cx="8126730" cy="5105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804" name="Rectangle 33803">
            <a:extLst>
              <a:ext uri="{FF2B5EF4-FFF2-40B4-BE49-F238E27FC236}">
                <a16:creationId xmlns:a16="http://schemas.microsoft.com/office/drawing/2014/main" id="{64BC717F-58B3-4A4E-BC3B-1B11323AD5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5105400"/>
            <a:ext cx="8126730" cy="17526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C8E083-2021-33E5-3142-F64909CF9E5C}"/>
              </a:ext>
            </a:extLst>
          </p:cNvPr>
          <p:cNvSpPr txBox="1">
            <a:spLocks noChangeArrowheads="1"/>
          </p:cNvSpPr>
          <p:nvPr/>
        </p:nvSpPr>
        <p:spPr>
          <a:xfrm>
            <a:off x="708137" y="5181600"/>
            <a:ext cx="7617326" cy="10763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85000"/>
              </a:lnSpc>
              <a:spcAft>
                <a:spcPts val="600"/>
              </a:spcAft>
              <a:defRPr/>
            </a:pPr>
            <a:r>
              <a:rPr lang="en-US" sz="3600" spc="-50">
                <a:solidFill>
                  <a:srgbClr val="FFFFFF"/>
                </a:solidFill>
              </a:rPr>
              <a:t>Positive Feedback during childbirth</a:t>
            </a:r>
          </a:p>
        </p:txBody>
      </p:sp>
      <p:sp>
        <p:nvSpPr>
          <p:cNvPr id="33806" name="Rectangle 33805">
            <a:extLst>
              <a:ext uri="{FF2B5EF4-FFF2-40B4-BE49-F238E27FC236}">
                <a16:creationId xmlns:a16="http://schemas.microsoft.com/office/drawing/2014/main" id="{1EE75710-64C5-4CA8-8A7C-82EE4125C9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08" name="Rectangle 33807">
            <a:extLst>
              <a:ext uri="{FF2B5EF4-FFF2-40B4-BE49-F238E27FC236}">
                <a16:creationId xmlns:a16="http://schemas.microsoft.com/office/drawing/2014/main" id="{435050B1-74E1-4A81-923D-0F5971A3BC0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7437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diagram of a baby in a womb&#10;&#10;AI-generated content may be incorrect.">
            <a:extLst>
              <a:ext uri="{FF2B5EF4-FFF2-40B4-BE49-F238E27FC236}">
                <a16:creationId xmlns:a16="http://schemas.microsoft.com/office/drawing/2014/main" id="{C4CB4775-F83B-29AB-5BF1-EF282707C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8" y="109074"/>
            <a:ext cx="7805060" cy="48654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1030</Words>
  <Application>Microsoft Office PowerPoint</Application>
  <PresentationFormat>On-screen Show (4:3)</PresentationFormat>
  <Paragraphs>204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Calibri</vt:lpstr>
      <vt:lpstr>Century Schoolbook</vt:lpstr>
      <vt:lpstr>Symbol</vt:lpstr>
      <vt:lpstr>Tahoma</vt:lpstr>
      <vt:lpstr>Times</vt:lpstr>
      <vt:lpstr>Times New Roman</vt:lpstr>
      <vt:lpstr>Wingdings</vt:lpstr>
      <vt:lpstr>Wingdings 2</vt:lpstr>
      <vt:lpstr>View</vt:lpstr>
      <vt:lpstr>INTRODUCTION TO PHYSIOLOGY</vt:lpstr>
      <vt:lpstr>PowerPoint Presentation</vt:lpstr>
      <vt:lpstr>PowerPoint Presentation</vt:lpstr>
      <vt:lpstr>PowerPoint Presentation</vt:lpstr>
      <vt:lpstr>PowerPoint Presentation</vt:lpstr>
      <vt:lpstr>All cells depend on organ systems to meet their survival needs.  Organ systems work cooperatively to perform necessary life functions</vt:lpstr>
      <vt:lpstr>PowerPoint Presentation</vt:lpstr>
      <vt:lpstr>PowerPoint Presentation</vt:lpstr>
      <vt:lpstr>Fluid Compartments  60% of body weight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Shahar</dc:creator>
  <cp:lastModifiedBy>Admin</cp:lastModifiedBy>
  <cp:revision>176</cp:revision>
  <dcterms:created xsi:type="dcterms:W3CDTF">2013-02-01T10:21:50Z</dcterms:created>
  <dcterms:modified xsi:type="dcterms:W3CDTF">2025-03-23T10:52:12Z</dcterms:modified>
</cp:coreProperties>
</file>