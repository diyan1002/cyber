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3.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diagrams/colors2.xml" ContentType="application/vnd.openxmlformats-officedocument.drawingml.diagramColors+xml"/>
  <Override PartName="/ppt/diagrams/drawing3.xml" ContentType="application/vnd.ms-office.drawingml.diagramDrawing+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diagrams/drawing1.xml" ContentType="application/vnd.ms-office.drawingml.diagramDrawing+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Default Extension="wdp" ContentType="image/vnd.ms-photo"/>
  <Override PartName="/ppt/slideLayouts/slideLayout10.xml" ContentType="application/vnd.openxmlformats-officedocument.presentationml.slideLayout+xml"/>
  <Override PartName="/ppt/diagrams/layout2.xml" ContentType="application/vnd.openxmlformats-officedocument.drawingml.diagramLayout+xml"/>
  <Override PartName="/ppt/diagrams/data3.xml" ContentType="application/vnd.openxmlformats-officedocument.drawingml.diagramData+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diagrams/data1.xml" ContentType="application/vnd.openxmlformats-officedocument.drawingml.diagramData+xml"/>
  <Override PartName="/ppt/notesSlides/notesSlide4.xml" ContentType="application/vnd.openxmlformats-officedocument.presentationml.notesSlide+xml"/>
  <Override PartName="/ppt/diagrams/colors3.xml" ContentType="application/vnd.openxmlformats-officedocument.drawingml.diagramColors+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5"/>
  </p:notesMasterIdLst>
  <p:sldIdLst>
    <p:sldId id="256" r:id="rId2"/>
    <p:sldId id="286" r:id="rId3"/>
    <p:sldId id="287" r:id="rId4"/>
    <p:sldId id="288" r:id="rId5"/>
    <p:sldId id="289" r:id="rId6"/>
    <p:sldId id="290" r:id="rId7"/>
    <p:sldId id="263" r:id="rId8"/>
    <p:sldId id="292" r:id="rId9"/>
    <p:sldId id="293" r:id="rId10"/>
    <p:sldId id="351" r:id="rId11"/>
    <p:sldId id="352" r:id="rId12"/>
    <p:sldId id="353" r:id="rId13"/>
    <p:sldId id="354" r:id="rId14"/>
    <p:sldId id="355" r:id="rId15"/>
    <p:sldId id="266" r:id="rId16"/>
    <p:sldId id="267" r:id="rId17"/>
    <p:sldId id="268" r:id="rId18"/>
    <p:sldId id="269" r:id="rId19"/>
    <p:sldId id="270" r:id="rId20"/>
    <p:sldId id="271" r:id="rId21"/>
    <p:sldId id="272" r:id="rId22"/>
    <p:sldId id="273" r:id="rId23"/>
    <p:sldId id="299" r:id="rId24"/>
    <p:sldId id="282" r:id="rId25"/>
    <p:sldId id="274" r:id="rId26"/>
    <p:sldId id="275" r:id="rId27"/>
    <p:sldId id="294" r:id="rId28"/>
    <p:sldId id="277" r:id="rId29"/>
    <p:sldId id="279" r:id="rId30"/>
    <p:sldId id="295" r:id="rId31"/>
    <p:sldId id="280" r:id="rId32"/>
    <p:sldId id="296" r:id="rId33"/>
    <p:sldId id="285" r:id="rId34"/>
    <p:sldId id="298" r:id="rId35"/>
    <p:sldId id="297" r:id="rId36"/>
    <p:sldId id="300" r:id="rId37"/>
    <p:sldId id="301" r:id="rId38"/>
    <p:sldId id="257" r:id="rId39"/>
    <p:sldId id="259" r:id="rId40"/>
    <p:sldId id="261" r:id="rId41"/>
    <p:sldId id="264" r:id="rId42"/>
    <p:sldId id="262" r:id="rId43"/>
    <p:sldId id="305" r:id="rId44"/>
    <p:sldId id="306" r:id="rId45"/>
    <p:sldId id="307" r:id="rId46"/>
    <p:sldId id="276" r:id="rId47"/>
    <p:sldId id="308" r:id="rId48"/>
    <p:sldId id="309" r:id="rId49"/>
    <p:sldId id="310" r:id="rId50"/>
    <p:sldId id="347" r:id="rId51"/>
    <p:sldId id="348" r:id="rId52"/>
    <p:sldId id="349" r:id="rId53"/>
    <p:sldId id="350" r:id="rId5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741CE8-2F04-D793-AB45-2AE6B176A869}" v="123" dt="2025-03-19T20:50:15.719"/>
    <p1510:client id="{B9FCDCC8-60DB-3CEC-59F4-59257653C89F}" v="666" dt="2025-03-19T21:44:59.7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79032" autoAdjust="0"/>
  </p:normalViewPr>
  <p:slideViewPr>
    <p:cSldViewPr>
      <p:cViewPr>
        <p:scale>
          <a:sx n="60" d="100"/>
          <a:sy n="60" d="100"/>
        </p:scale>
        <p:origin x="-1656" y="-1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96947D-FCFC-4F73-B55F-BB0BE43191D9}" type="doc">
      <dgm:prSet loTypeId="urn:microsoft.com/office/officeart/2008/layout/LinedList" loCatId="list" qsTypeId="urn:microsoft.com/office/officeart/2005/8/quickstyle/simple1" qsCatId="simple" csTypeId="urn:microsoft.com/office/officeart/2005/8/colors/colorful1#1" csCatId="colorful"/>
      <dgm:spPr/>
      <dgm:t>
        <a:bodyPr/>
        <a:lstStyle/>
        <a:p>
          <a:endParaRPr lang="en-US"/>
        </a:p>
      </dgm:t>
    </dgm:pt>
    <dgm:pt modelId="{E3411C1C-3146-453B-BAFE-66F31DC7C347}">
      <dgm:prSet/>
      <dgm:spPr/>
      <dgm:t>
        <a:bodyPr/>
        <a:lstStyle/>
        <a:p>
          <a:r>
            <a:rPr lang="en-US" b="1" dirty="0"/>
            <a:t>Contraction of </a:t>
          </a:r>
          <a:r>
            <a:rPr lang="en-US" b="1" dirty="0" err="1"/>
            <a:t>Inspiratory</a:t>
          </a:r>
          <a:r>
            <a:rPr lang="en-US" b="1" dirty="0"/>
            <a:t> Muscles</a:t>
          </a:r>
          <a:endParaRPr lang="en-US" dirty="0"/>
        </a:p>
      </dgm:t>
    </dgm:pt>
    <dgm:pt modelId="{E2E1EBE9-6496-457B-9A5C-21179DBEAA8E}" type="parTrans" cxnId="{AE40D9D6-5FE2-46FF-B344-59ABFF53E053}">
      <dgm:prSet/>
      <dgm:spPr/>
      <dgm:t>
        <a:bodyPr/>
        <a:lstStyle/>
        <a:p>
          <a:endParaRPr lang="en-US"/>
        </a:p>
      </dgm:t>
    </dgm:pt>
    <dgm:pt modelId="{1EB37A80-FD6D-4170-8E37-4D198D6C3424}" type="sibTrans" cxnId="{AE40D9D6-5FE2-46FF-B344-59ABFF53E053}">
      <dgm:prSet/>
      <dgm:spPr/>
      <dgm:t>
        <a:bodyPr/>
        <a:lstStyle/>
        <a:p>
          <a:endParaRPr lang="en-US"/>
        </a:p>
      </dgm:t>
    </dgm:pt>
    <dgm:pt modelId="{90500909-7E87-4794-8D93-03079B006667}">
      <dgm:prSet/>
      <dgm:spPr/>
      <dgm:t>
        <a:bodyPr/>
        <a:lstStyle/>
        <a:p>
          <a:r>
            <a:rPr lang="en-US" b="1" dirty="0"/>
            <a:t>Thorax expands</a:t>
          </a:r>
          <a:endParaRPr lang="en-US" dirty="0"/>
        </a:p>
      </dgm:t>
    </dgm:pt>
    <dgm:pt modelId="{7E550E1B-8751-45D1-A2EE-2E9E2E6EA9B8}" type="parTrans" cxnId="{5EF5D3C9-A645-40CF-8ACC-E42A35B0DCCF}">
      <dgm:prSet/>
      <dgm:spPr/>
      <dgm:t>
        <a:bodyPr/>
        <a:lstStyle/>
        <a:p>
          <a:endParaRPr lang="en-US"/>
        </a:p>
      </dgm:t>
    </dgm:pt>
    <dgm:pt modelId="{060D8037-07A4-4857-8019-0FCF78887D31}" type="sibTrans" cxnId="{5EF5D3C9-A645-40CF-8ACC-E42A35B0DCCF}">
      <dgm:prSet/>
      <dgm:spPr/>
      <dgm:t>
        <a:bodyPr/>
        <a:lstStyle/>
        <a:p>
          <a:endParaRPr lang="en-US"/>
        </a:p>
      </dgm:t>
    </dgm:pt>
    <dgm:pt modelId="{D98C761D-5858-4ECB-B6B3-143641429C1C}">
      <dgm:prSet/>
      <dgm:spPr/>
      <dgm:t>
        <a:bodyPr/>
        <a:lstStyle/>
        <a:p>
          <a:r>
            <a:rPr lang="en-US" b="1" dirty="0"/>
            <a:t>P</a:t>
          </a:r>
          <a:r>
            <a:rPr lang="en-US" b="1" baseline="-25000" dirty="0"/>
            <a:t>ip </a:t>
          </a:r>
          <a:r>
            <a:rPr lang="en-US" b="1" dirty="0"/>
            <a:t>becomes more sub atmospheric</a:t>
          </a:r>
          <a:endParaRPr lang="en-US" dirty="0"/>
        </a:p>
      </dgm:t>
    </dgm:pt>
    <dgm:pt modelId="{35F2AF28-E665-42ED-815B-5A57FF45AE03}" type="parTrans" cxnId="{87D312DC-4FCF-428B-80BC-26988D9AD872}">
      <dgm:prSet/>
      <dgm:spPr/>
      <dgm:t>
        <a:bodyPr/>
        <a:lstStyle/>
        <a:p>
          <a:endParaRPr lang="en-US"/>
        </a:p>
      </dgm:t>
    </dgm:pt>
    <dgm:pt modelId="{A2EEB1EA-7095-4DF2-A7D2-B45E73719E7B}" type="sibTrans" cxnId="{87D312DC-4FCF-428B-80BC-26988D9AD872}">
      <dgm:prSet/>
      <dgm:spPr/>
      <dgm:t>
        <a:bodyPr/>
        <a:lstStyle/>
        <a:p>
          <a:endParaRPr lang="en-US"/>
        </a:p>
      </dgm:t>
    </dgm:pt>
    <dgm:pt modelId="{919B35BC-807F-4D0F-AED5-3269E0944E0C}">
      <dgm:prSet/>
      <dgm:spPr/>
      <dgm:t>
        <a:bodyPr/>
        <a:lstStyle/>
        <a:p>
          <a:r>
            <a:rPr lang="en-US" b="1" dirty="0"/>
            <a:t>Increased </a:t>
          </a:r>
          <a:r>
            <a:rPr lang="en-US" b="1" dirty="0" err="1"/>
            <a:t>Transpulmonary</a:t>
          </a:r>
          <a:r>
            <a:rPr lang="en-US" b="1" dirty="0"/>
            <a:t> pressure</a:t>
          </a:r>
          <a:endParaRPr lang="en-US" dirty="0"/>
        </a:p>
      </dgm:t>
    </dgm:pt>
    <dgm:pt modelId="{3B5B5AD6-068B-4DA1-932D-C4F0C8899DF3}" type="parTrans" cxnId="{DA0B7B9B-BDD2-40EB-A31B-0C44D0E9EFDD}">
      <dgm:prSet/>
      <dgm:spPr/>
      <dgm:t>
        <a:bodyPr/>
        <a:lstStyle/>
        <a:p>
          <a:endParaRPr lang="en-US"/>
        </a:p>
      </dgm:t>
    </dgm:pt>
    <dgm:pt modelId="{E5438A9F-5913-40CC-BA8F-C8C57BDBEDA7}" type="sibTrans" cxnId="{DA0B7B9B-BDD2-40EB-A31B-0C44D0E9EFDD}">
      <dgm:prSet/>
      <dgm:spPr/>
      <dgm:t>
        <a:bodyPr/>
        <a:lstStyle/>
        <a:p>
          <a:endParaRPr lang="en-US"/>
        </a:p>
      </dgm:t>
    </dgm:pt>
    <dgm:pt modelId="{4B6DB065-BF1A-42B8-ADA7-A64F217A67D3}">
      <dgm:prSet/>
      <dgm:spPr/>
      <dgm:t>
        <a:bodyPr/>
        <a:lstStyle/>
        <a:p>
          <a:r>
            <a:rPr lang="en-US" b="1" dirty="0"/>
            <a:t>Lungs expand</a:t>
          </a:r>
          <a:endParaRPr lang="en-US" dirty="0"/>
        </a:p>
      </dgm:t>
    </dgm:pt>
    <dgm:pt modelId="{58792069-1D37-4494-803D-DEDA02D3BE54}" type="parTrans" cxnId="{A43F8184-5432-46F2-823C-11CFBE794504}">
      <dgm:prSet/>
      <dgm:spPr/>
      <dgm:t>
        <a:bodyPr/>
        <a:lstStyle/>
        <a:p>
          <a:endParaRPr lang="en-US"/>
        </a:p>
      </dgm:t>
    </dgm:pt>
    <dgm:pt modelId="{4D0AE2D8-C016-4E00-8580-D61388E92B5F}" type="sibTrans" cxnId="{A43F8184-5432-46F2-823C-11CFBE794504}">
      <dgm:prSet/>
      <dgm:spPr/>
      <dgm:t>
        <a:bodyPr/>
        <a:lstStyle/>
        <a:p>
          <a:endParaRPr lang="en-US"/>
        </a:p>
      </dgm:t>
    </dgm:pt>
    <dgm:pt modelId="{40EECC42-DDAA-46B8-A2C2-6E2D696D6D83}">
      <dgm:prSet/>
      <dgm:spPr/>
      <dgm:t>
        <a:bodyPr/>
        <a:lstStyle/>
        <a:p>
          <a:r>
            <a:rPr lang="en-US" b="1"/>
            <a:t>P</a:t>
          </a:r>
          <a:r>
            <a:rPr lang="en-US" b="1" baseline="-25000"/>
            <a:t>alv </a:t>
          </a:r>
          <a:r>
            <a:rPr lang="en-US" b="1"/>
            <a:t>becomes sub atmospheric</a:t>
          </a:r>
          <a:endParaRPr lang="en-US"/>
        </a:p>
      </dgm:t>
    </dgm:pt>
    <dgm:pt modelId="{94E3D1BB-1777-4B22-8EF5-4AE96991A247}" type="parTrans" cxnId="{8C9F5F35-72ED-4E2C-AEE8-D545975A0A02}">
      <dgm:prSet/>
      <dgm:spPr/>
      <dgm:t>
        <a:bodyPr/>
        <a:lstStyle/>
        <a:p>
          <a:endParaRPr lang="en-US"/>
        </a:p>
      </dgm:t>
    </dgm:pt>
    <dgm:pt modelId="{B467FA01-7C97-4A99-8FE9-4205761E0FA6}" type="sibTrans" cxnId="{8C9F5F35-72ED-4E2C-AEE8-D545975A0A02}">
      <dgm:prSet/>
      <dgm:spPr/>
      <dgm:t>
        <a:bodyPr/>
        <a:lstStyle/>
        <a:p>
          <a:endParaRPr lang="en-US"/>
        </a:p>
      </dgm:t>
    </dgm:pt>
    <dgm:pt modelId="{F3AABFD1-8227-4BE9-9946-68FD3283711C}">
      <dgm:prSet/>
      <dgm:spPr/>
      <dgm:t>
        <a:bodyPr/>
        <a:lstStyle/>
        <a:p>
          <a:r>
            <a:rPr lang="en-US" b="1" dirty="0"/>
            <a:t>Air flows into alveoli</a:t>
          </a:r>
          <a:endParaRPr lang="en-US" dirty="0"/>
        </a:p>
      </dgm:t>
    </dgm:pt>
    <dgm:pt modelId="{DE748A0A-8728-4BA1-B4F0-F52FFFBE105B}" type="parTrans" cxnId="{E2FA20DD-0933-4620-943B-4C43D19F0393}">
      <dgm:prSet/>
      <dgm:spPr/>
      <dgm:t>
        <a:bodyPr/>
        <a:lstStyle/>
        <a:p>
          <a:endParaRPr lang="en-US"/>
        </a:p>
      </dgm:t>
    </dgm:pt>
    <dgm:pt modelId="{FC29BA03-B5A1-4B53-9BA1-64C9648ABD0F}" type="sibTrans" cxnId="{E2FA20DD-0933-4620-943B-4C43D19F0393}">
      <dgm:prSet/>
      <dgm:spPr/>
      <dgm:t>
        <a:bodyPr/>
        <a:lstStyle/>
        <a:p>
          <a:endParaRPr lang="en-US"/>
        </a:p>
      </dgm:t>
    </dgm:pt>
    <dgm:pt modelId="{6A9DEC6C-B8C7-4BA9-A657-AF7C179B79D3}" type="pres">
      <dgm:prSet presAssocID="{4C96947D-FCFC-4F73-B55F-BB0BE43191D9}" presName="vert0" presStyleCnt="0">
        <dgm:presLayoutVars>
          <dgm:dir/>
          <dgm:animOne val="branch"/>
          <dgm:animLvl val="lvl"/>
        </dgm:presLayoutVars>
      </dgm:prSet>
      <dgm:spPr/>
      <dgm:t>
        <a:bodyPr/>
        <a:lstStyle/>
        <a:p>
          <a:endParaRPr lang="en-US"/>
        </a:p>
      </dgm:t>
    </dgm:pt>
    <dgm:pt modelId="{41F052FA-6D28-45A7-8E12-6AF62B4FBE06}" type="pres">
      <dgm:prSet presAssocID="{E3411C1C-3146-453B-BAFE-66F31DC7C347}" presName="thickLine" presStyleLbl="alignNode1" presStyleIdx="0" presStyleCnt="7"/>
      <dgm:spPr/>
    </dgm:pt>
    <dgm:pt modelId="{0EF49F3E-5A9A-4E60-95FF-DE826ED4963B}" type="pres">
      <dgm:prSet presAssocID="{E3411C1C-3146-453B-BAFE-66F31DC7C347}" presName="horz1" presStyleCnt="0"/>
      <dgm:spPr/>
    </dgm:pt>
    <dgm:pt modelId="{BB85FFE5-5B22-4A91-9801-762E54EB8294}" type="pres">
      <dgm:prSet presAssocID="{E3411C1C-3146-453B-BAFE-66F31DC7C347}" presName="tx1" presStyleLbl="revTx" presStyleIdx="0" presStyleCnt="7"/>
      <dgm:spPr/>
      <dgm:t>
        <a:bodyPr/>
        <a:lstStyle/>
        <a:p>
          <a:endParaRPr lang="en-US"/>
        </a:p>
      </dgm:t>
    </dgm:pt>
    <dgm:pt modelId="{11F9FAF3-49D6-4264-903B-C2E7E366EBF6}" type="pres">
      <dgm:prSet presAssocID="{E3411C1C-3146-453B-BAFE-66F31DC7C347}" presName="vert1" presStyleCnt="0"/>
      <dgm:spPr/>
    </dgm:pt>
    <dgm:pt modelId="{5F6582A5-4A27-498F-B048-D13E7C3FC236}" type="pres">
      <dgm:prSet presAssocID="{90500909-7E87-4794-8D93-03079B006667}" presName="thickLine" presStyleLbl="alignNode1" presStyleIdx="1" presStyleCnt="7"/>
      <dgm:spPr/>
    </dgm:pt>
    <dgm:pt modelId="{CD2C7FC6-2041-419F-BF34-4F344B7E0AF4}" type="pres">
      <dgm:prSet presAssocID="{90500909-7E87-4794-8D93-03079B006667}" presName="horz1" presStyleCnt="0"/>
      <dgm:spPr/>
    </dgm:pt>
    <dgm:pt modelId="{84A2BC07-A754-4B0F-9EC7-86760C8B3A30}" type="pres">
      <dgm:prSet presAssocID="{90500909-7E87-4794-8D93-03079B006667}" presName="tx1" presStyleLbl="revTx" presStyleIdx="1" presStyleCnt="7"/>
      <dgm:spPr/>
      <dgm:t>
        <a:bodyPr/>
        <a:lstStyle/>
        <a:p>
          <a:endParaRPr lang="en-US"/>
        </a:p>
      </dgm:t>
    </dgm:pt>
    <dgm:pt modelId="{32AEFD21-69DB-414B-B83C-08EF00570E54}" type="pres">
      <dgm:prSet presAssocID="{90500909-7E87-4794-8D93-03079B006667}" presName="vert1" presStyleCnt="0"/>
      <dgm:spPr/>
    </dgm:pt>
    <dgm:pt modelId="{30323FB9-225D-4D7D-8FC7-A184D1C56F7E}" type="pres">
      <dgm:prSet presAssocID="{D98C761D-5858-4ECB-B6B3-143641429C1C}" presName="thickLine" presStyleLbl="alignNode1" presStyleIdx="2" presStyleCnt="7"/>
      <dgm:spPr/>
    </dgm:pt>
    <dgm:pt modelId="{DB01BA55-A6A5-4DDB-AFB0-3B5B5E2B3BD5}" type="pres">
      <dgm:prSet presAssocID="{D98C761D-5858-4ECB-B6B3-143641429C1C}" presName="horz1" presStyleCnt="0"/>
      <dgm:spPr/>
    </dgm:pt>
    <dgm:pt modelId="{93623575-7EF7-4D11-BD8A-78A682AF998F}" type="pres">
      <dgm:prSet presAssocID="{D98C761D-5858-4ECB-B6B3-143641429C1C}" presName="tx1" presStyleLbl="revTx" presStyleIdx="2" presStyleCnt="7"/>
      <dgm:spPr/>
      <dgm:t>
        <a:bodyPr/>
        <a:lstStyle/>
        <a:p>
          <a:endParaRPr lang="en-US"/>
        </a:p>
      </dgm:t>
    </dgm:pt>
    <dgm:pt modelId="{59AB49B6-9169-417B-8384-312BCAE49262}" type="pres">
      <dgm:prSet presAssocID="{D98C761D-5858-4ECB-B6B3-143641429C1C}" presName="vert1" presStyleCnt="0"/>
      <dgm:spPr/>
    </dgm:pt>
    <dgm:pt modelId="{8AAD4E4A-AFB8-43D0-A741-E75815250A71}" type="pres">
      <dgm:prSet presAssocID="{919B35BC-807F-4D0F-AED5-3269E0944E0C}" presName="thickLine" presStyleLbl="alignNode1" presStyleIdx="3" presStyleCnt="7"/>
      <dgm:spPr/>
    </dgm:pt>
    <dgm:pt modelId="{FD522762-11DD-409C-8D5C-71A059B83986}" type="pres">
      <dgm:prSet presAssocID="{919B35BC-807F-4D0F-AED5-3269E0944E0C}" presName="horz1" presStyleCnt="0"/>
      <dgm:spPr/>
    </dgm:pt>
    <dgm:pt modelId="{E71D40E6-C552-4836-9C72-4B04DDD8A6C7}" type="pres">
      <dgm:prSet presAssocID="{919B35BC-807F-4D0F-AED5-3269E0944E0C}" presName="tx1" presStyleLbl="revTx" presStyleIdx="3" presStyleCnt="7"/>
      <dgm:spPr/>
      <dgm:t>
        <a:bodyPr/>
        <a:lstStyle/>
        <a:p>
          <a:endParaRPr lang="en-US"/>
        </a:p>
      </dgm:t>
    </dgm:pt>
    <dgm:pt modelId="{5E2FB715-AB9A-4A71-B1C2-23B6B4A0CFF1}" type="pres">
      <dgm:prSet presAssocID="{919B35BC-807F-4D0F-AED5-3269E0944E0C}" presName="vert1" presStyleCnt="0"/>
      <dgm:spPr/>
    </dgm:pt>
    <dgm:pt modelId="{13A308A2-31D7-451E-9F85-B7F1F470A442}" type="pres">
      <dgm:prSet presAssocID="{4B6DB065-BF1A-42B8-ADA7-A64F217A67D3}" presName="thickLine" presStyleLbl="alignNode1" presStyleIdx="4" presStyleCnt="7"/>
      <dgm:spPr/>
    </dgm:pt>
    <dgm:pt modelId="{91001847-40AA-4B1E-9AB5-F100F49C62A1}" type="pres">
      <dgm:prSet presAssocID="{4B6DB065-BF1A-42B8-ADA7-A64F217A67D3}" presName="horz1" presStyleCnt="0"/>
      <dgm:spPr/>
    </dgm:pt>
    <dgm:pt modelId="{EB349889-AB15-4CA8-AEBB-CB666A6B8DE7}" type="pres">
      <dgm:prSet presAssocID="{4B6DB065-BF1A-42B8-ADA7-A64F217A67D3}" presName="tx1" presStyleLbl="revTx" presStyleIdx="4" presStyleCnt="7"/>
      <dgm:spPr/>
      <dgm:t>
        <a:bodyPr/>
        <a:lstStyle/>
        <a:p>
          <a:endParaRPr lang="en-US"/>
        </a:p>
      </dgm:t>
    </dgm:pt>
    <dgm:pt modelId="{7238796B-1122-414A-8D5B-7FC005D9004C}" type="pres">
      <dgm:prSet presAssocID="{4B6DB065-BF1A-42B8-ADA7-A64F217A67D3}" presName="vert1" presStyleCnt="0"/>
      <dgm:spPr/>
    </dgm:pt>
    <dgm:pt modelId="{7D3292B1-A74F-44CA-A301-A3480D63BE15}" type="pres">
      <dgm:prSet presAssocID="{40EECC42-DDAA-46B8-A2C2-6E2D696D6D83}" presName="thickLine" presStyleLbl="alignNode1" presStyleIdx="5" presStyleCnt="7"/>
      <dgm:spPr/>
    </dgm:pt>
    <dgm:pt modelId="{CB1BE288-0D49-4470-858B-95939427744A}" type="pres">
      <dgm:prSet presAssocID="{40EECC42-DDAA-46B8-A2C2-6E2D696D6D83}" presName="horz1" presStyleCnt="0"/>
      <dgm:spPr/>
    </dgm:pt>
    <dgm:pt modelId="{FF041C44-75E0-4688-A8C3-9D2D33103191}" type="pres">
      <dgm:prSet presAssocID="{40EECC42-DDAA-46B8-A2C2-6E2D696D6D83}" presName="tx1" presStyleLbl="revTx" presStyleIdx="5" presStyleCnt="7"/>
      <dgm:spPr/>
      <dgm:t>
        <a:bodyPr/>
        <a:lstStyle/>
        <a:p>
          <a:endParaRPr lang="en-US"/>
        </a:p>
      </dgm:t>
    </dgm:pt>
    <dgm:pt modelId="{5BBD7EAD-FE51-4450-9F2E-24D288973DA0}" type="pres">
      <dgm:prSet presAssocID="{40EECC42-DDAA-46B8-A2C2-6E2D696D6D83}" presName="vert1" presStyleCnt="0"/>
      <dgm:spPr/>
    </dgm:pt>
    <dgm:pt modelId="{0196D757-43C1-40E8-A645-F560C7052D23}" type="pres">
      <dgm:prSet presAssocID="{F3AABFD1-8227-4BE9-9946-68FD3283711C}" presName="thickLine" presStyleLbl="alignNode1" presStyleIdx="6" presStyleCnt="7"/>
      <dgm:spPr/>
    </dgm:pt>
    <dgm:pt modelId="{89F8E105-0077-4807-BD68-A4D872DB419E}" type="pres">
      <dgm:prSet presAssocID="{F3AABFD1-8227-4BE9-9946-68FD3283711C}" presName="horz1" presStyleCnt="0"/>
      <dgm:spPr/>
    </dgm:pt>
    <dgm:pt modelId="{9B96E122-5D53-4692-8950-DC4063B71B19}" type="pres">
      <dgm:prSet presAssocID="{F3AABFD1-8227-4BE9-9946-68FD3283711C}" presName="tx1" presStyleLbl="revTx" presStyleIdx="6" presStyleCnt="7"/>
      <dgm:spPr/>
      <dgm:t>
        <a:bodyPr/>
        <a:lstStyle/>
        <a:p>
          <a:endParaRPr lang="en-US"/>
        </a:p>
      </dgm:t>
    </dgm:pt>
    <dgm:pt modelId="{C290021E-43EE-4E90-A0C9-3E570E5CBE66}" type="pres">
      <dgm:prSet presAssocID="{F3AABFD1-8227-4BE9-9946-68FD3283711C}" presName="vert1" presStyleCnt="0"/>
      <dgm:spPr/>
    </dgm:pt>
  </dgm:ptLst>
  <dgm:cxnLst>
    <dgm:cxn modelId="{87D312DC-4FCF-428B-80BC-26988D9AD872}" srcId="{4C96947D-FCFC-4F73-B55F-BB0BE43191D9}" destId="{D98C761D-5858-4ECB-B6B3-143641429C1C}" srcOrd="2" destOrd="0" parTransId="{35F2AF28-E665-42ED-815B-5A57FF45AE03}" sibTransId="{A2EEB1EA-7095-4DF2-A7D2-B45E73719E7B}"/>
    <dgm:cxn modelId="{E2FA20DD-0933-4620-943B-4C43D19F0393}" srcId="{4C96947D-FCFC-4F73-B55F-BB0BE43191D9}" destId="{F3AABFD1-8227-4BE9-9946-68FD3283711C}" srcOrd="6" destOrd="0" parTransId="{DE748A0A-8728-4BA1-B4F0-F52FFFBE105B}" sibTransId="{FC29BA03-B5A1-4B53-9BA1-64C9648ABD0F}"/>
    <dgm:cxn modelId="{AE40D9D6-5FE2-46FF-B344-59ABFF53E053}" srcId="{4C96947D-FCFC-4F73-B55F-BB0BE43191D9}" destId="{E3411C1C-3146-453B-BAFE-66F31DC7C347}" srcOrd="0" destOrd="0" parTransId="{E2E1EBE9-6496-457B-9A5C-21179DBEAA8E}" sibTransId="{1EB37A80-FD6D-4170-8E37-4D198D6C3424}"/>
    <dgm:cxn modelId="{1DF7554B-8674-42DE-97D0-E5EA0530FD1C}" type="presOf" srcId="{919B35BC-807F-4D0F-AED5-3269E0944E0C}" destId="{E71D40E6-C552-4836-9C72-4B04DDD8A6C7}" srcOrd="0" destOrd="0" presId="urn:microsoft.com/office/officeart/2008/layout/LinedList"/>
    <dgm:cxn modelId="{A43F8184-5432-46F2-823C-11CFBE794504}" srcId="{4C96947D-FCFC-4F73-B55F-BB0BE43191D9}" destId="{4B6DB065-BF1A-42B8-ADA7-A64F217A67D3}" srcOrd="4" destOrd="0" parTransId="{58792069-1D37-4494-803D-DEDA02D3BE54}" sibTransId="{4D0AE2D8-C016-4E00-8580-D61388E92B5F}"/>
    <dgm:cxn modelId="{23B7651E-D5A2-4167-882D-209D137531D2}" type="presOf" srcId="{4B6DB065-BF1A-42B8-ADA7-A64F217A67D3}" destId="{EB349889-AB15-4CA8-AEBB-CB666A6B8DE7}" srcOrd="0" destOrd="0" presId="urn:microsoft.com/office/officeart/2008/layout/LinedList"/>
    <dgm:cxn modelId="{7DA57E66-6572-430C-92AC-D0B0ED43DDE9}" type="presOf" srcId="{D98C761D-5858-4ECB-B6B3-143641429C1C}" destId="{93623575-7EF7-4D11-BD8A-78A682AF998F}" srcOrd="0" destOrd="0" presId="urn:microsoft.com/office/officeart/2008/layout/LinedList"/>
    <dgm:cxn modelId="{929F7CB6-A872-4C1E-9A1E-082547316CC1}" type="presOf" srcId="{90500909-7E87-4794-8D93-03079B006667}" destId="{84A2BC07-A754-4B0F-9EC7-86760C8B3A30}" srcOrd="0" destOrd="0" presId="urn:microsoft.com/office/officeart/2008/layout/LinedList"/>
    <dgm:cxn modelId="{5EF5D3C9-A645-40CF-8ACC-E42A35B0DCCF}" srcId="{4C96947D-FCFC-4F73-B55F-BB0BE43191D9}" destId="{90500909-7E87-4794-8D93-03079B006667}" srcOrd="1" destOrd="0" parTransId="{7E550E1B-8751-45D1-A2EE-2E9E2E6EA9B8}" sibTransId="{060D8037-07A4-4857-8019-0FCF78887D31}"/>
    <dgm:cxn modelId="{9241B85B-DA8F-4359-87A5-2462E82A3DDF}" type="presOf" srcId="{4C96947D-FCFC-4F73-B55F-BB0BE43191D9}" destId="{6A9DEC6C-B8C7-4BA9-A657-AF7C179B79D3}" srcOrd="0" destOrd="0" presId="urn:microsoft.com/office/officeart/2008/layout/LinedList"/>
    <dgm:cxn modelId="{DA0B7B9B-BDD2-40EB-A31B-0C44D0E9EFDD}" srcId="{4C96947D-FCFC-4F73-B55F-BB0BE43191D9}" destId="{919B35BC-807F-4D0F-AED5-3269E0944E0C}" srcOrd="3" destOrd="0" parTransId="{3B5B5AD6-068B-4DA1-932D-C4F0C8899DF3}" sibTransId="{E5438A9F-5913-40CC-BA8F-C8C57BDBEDA7}"/>
    <dgm:cxn modelId="{108277B4-BA58-4C94-9729-9ECF9E618B81}" type="presOf" srcId="{E3411C1C-3146-453B-BAFE-66F31DC7C347}" destId="{BB85FFE5-5B22-4A91-9801-762E54EB8294}" srcOrd="0" destOrd="0" presId="urn:microsoft.com/office/officeart/2008/layout/LinedList"/>
    <dgm:cxn modelId="{DC5C2967-B8B6-44AD-AFFB-BD6826F4DEB7}" type="presOf" srcId="{F3AABFD1-8227-4BE9-9946-68FD3283711C}" destId="{9B96E122-5D53-4692-8950-DC4063B71B19}" srcOrd="0" destOrd="0" presId="urn:microsoft.com/office/officeart/2008/layout/LinedList"/>
    <dgm:cxn modelId="{8C9F5F35-72ED-4E2C-AEE8-D545975A0A02}" srcId="{4C96947D-FCFC-4F73-B55F-BB0BE43191D9}" destId="{40EECC42-DDAA-46B8-A2C2-6E2D696D6D83}" srcOrd="5" destOrd="0" parTransId="{94E3D1BB-1777-4B22-8EF5-4AE96991A247}" sibTransId="{B467FA01-7C97-4A99-8FE9-4205761E0FA6}"/>
    <dgm:cxn modelId="{3F0BCA5B-4AC7-493E-A981-6C3BCDFF96CF}" type="presOf" srcId="{40EECC42-DDAA-46B8-A2C2-6E2D696D6D83}" destId="{FF041C44-75E0-4688-A8C3-9D2D33103191}" srcOrd="0" destOrd="0" presId="urn:microsoft.com/office/officeart/2008/layout/LinedList"/>
    <dgm:cxn modelId="{2D3D0FEC-E67C-42BD-91B1-30CBD7590EFE}" type="presParOf" srcId="{6A9DEC6C-B8C7-4BA9-A657-AF7C179B79D3}" destId="{41F052FA-6D28-45A7-8E12-6AF62B4FBE06}" srcOrd="0" destOrd="0" presId="urn:microsoft.com/office/officeart/2008/layout/LinedList"/>
    <dgm:cxn modelId="{D855AE70-B389-475C-AE9D-E863BC1406FF}" type="presParOf" srcId="{6A9DEC6C-B8C7-4BA9-A657-AF7C179B79D3}" destId="{0EF49F3E-5A9A-4E60-95FF-DE826ED4963B}" srcOrd="1" destOrd="0" presId="urn:microsoft.com/office/officeart/2008/layout/LinedList"/>
    <dgm:cxn modelId="{B34891CC-7577-4CA4-9C67-1C23E3AA9AB0}" type="presParOf" srcId="{0EF49F3E-5A9A-4E60-95FF-DE826ED4963B}" destId="{BB85FFE5-5B22-4A91-9801-762E54EB8294}" srcOrd="0" destOrd="0" presId="urn:microsoft.com/office/officeart/2008/layout/LinedList"/>
    <dgm:cxn modelId="{773C70E8-5077-4ADA-BC0D-BF26714F5CBF}" type="presParOf" srcId="{0EF49F3E-5A9A-4E60-95FF-DE826ED4963B}" destId="{11F9FAF3-49D6-4264-903B-C2E7E366EBF6}" srcOrd="1" destOrd="0" presId="urn:microsoft.com/office/officeart/2008/layout/LinedList"/>
    <dgm:cxn modelId="{7ACB10C3-62AC-4DB1-AB09-1C8552C963C9}" type="presParOf" srcId="{6A9DEC6C-B8C7-4BA9-A657-AF7C179B79D3}" destId="{5F6582A5-4A27-498F-B048-D13E7C3FC236}" srcOrd="2" destOrd="0" presId="urn:microsoft.com/office/officeart/2008/layout/LinedList"/>
    <dgm:cxn modelId="{0C7FB094-A7F5-4BFE-AF86-047AF2C8D3A3}" type="presParOf" srcId="{6A9DEC6C-B8C7-4BA9-A657-AF7C179B79D3}" destId="{CD2C7FC6-2041-419F-BF34-4F344B7E0AF4}" srcOrd="3" destOrd="0" presId="urn:microsoft.com/office/officeart/2008/layout/LinedList"/>
    <dgm:cxn modelId="{421697AE-5714-4102-BAE6-51094B56A959}" type="presParOf" srcId="{CD2C7FC6-2041-419F-BF34-4F344B7E0AF4}" destId="{84A2BC07-A754-4B0F-9EC7-86760C8B3A30}" srcOrd="0" destOrd="0" presId="urn:microsoft.com/office/officeart/2008/layout/LinedList"/>
    <dgm:cxn modelId="{BA35CA08-7B95-41ED-8180-A624C4ED9683}" type="presParOf" srcId="{CD2C7FC6-2041-419F-BF34-4F344B7E0AF4}" destId="{32AEFD21-69DB-414B-B83C-08EF00570E54}" srcOrd="1" destOrd="0" presId="urn:microsoft.com/office/officeart/2008/layout/LinedList"/>
    <dgm:cxn modelId="{81B0873A-1FD1-491C-B312-634B867E482A}" type="presParOf" srcId="{6A9DEC6C-B8C7-4BA9-A657-AF7C179B79D3}" destId="{30323FB9-225D-4D7D-8FC7-A184D1C56F7E}" srcOrd="4" destOrd="0" presId="urn:microsoft.com/office/officeart/2008/layout/LinedList"/>
    <dgm:cxn modelId="{5EE54388-E055-4D15-BDD6-867DFAC240FA}" type="presParOf" srcId="{6A9DEC6C-B8C7-4BA9-A657-AF7C179B79D3}" destId="{DB01BA55-A6A5-4DDB-AFB0-3B5B5E2B3BD5}" srcOrd="5" destOrd="0" presId="urn:microsoft.com/office/officeart/2008/layout/LinedList"/>
    <dgm:cxn modelId="{46A178B0-6B46-40B9-91E1-417239F99DF2}" type="presParOf" srcId="{DB01BA55-A6A5-4DDB-AFB0-3B5B5E2B3BD5}" destId="{93623575-7EF7-4D11-BD8A-78A682AF998F}" srcOrd="0" destOrd="0" presId="urn:microsoft.com/office/officeart/2008/layout/LinedList"/>
    <dgm:cxn modelId="{A90B9AFB-BA47-4087-8C4C-D1D6061D9338}" type="presParOf" srcId="{DB01BA55-A6A5-4DDB-AFB0-3B5B5E2B3BD5}" destId="{59AB49B6-9169-417B-8384-312BCAE49262}" srcOrd="1" destOrd="0" presId="urn:microsoft.com/office/officeart/2008/layout/LinedList"/>
    <dgm:cxn modelId="{E1BDF4F5-13F4-4BE4-AC37-735553DD3677}" type="presParOf" srcId="{6A9DEC6C-B8C7-4BA9-A657-AF7C179B79D3}" destId="{8AAD4E4A-AFB8-43D0-A741-E75815250A71}" srcOrd="6" destOrd="0" presId="urn:microsoft.com/office/officeart/2008/layout/LinedList"/>
    <dgm:cxn modelId="{2D3E1FE1-5276-453C-A1F2-132F7BBD1D26}" type="presParOf" srcId="{6A9DEC6C-B8C7-4BA9-A657-AF7C179B79D3}" destId="{FD522762-11DD-409C-8D5C-71A059B83986}" srcOrd="7" destOrd="0" presId="urn:microsoft.com/office/officeart/2008/layout/LinedList"/>
    <dgm:cxn modelId="{0258C8C1-4D29-4D49-BAB1-4D66EBEE966C}" type="presParOf" srcId="{FD522762-11DD-409C-8D5C-71A059B83986}" destId="{E71D40E6-C552-4836-9C72-4B04DDD8A6C7}" srcOrd="0" destOrd="0" presId="urn:microsoft.com/office/officeart/2008/layout/LinedList"/>
    <dgm:cxn modelId="{438B4BAB-D5C9-464A-A07C-FEA5F688C447}" type="presParOf" srcId="{FD522762-11DD-409C-8D5C-71A059B83986}" destId="{5E2FB715-AB9A-4A71-B1C2-23B6B4A0CFF1}" srcOrd="1" destOrd="0" presId="urn:microsoft.com/office/officeart/2008/layout/LinedList"/>
    <dgm:cxn modelId="{1FC98B44-B442-4EEE-96DE-717A313CD637}" type="presParOf" srcId="{6A9DEC6C-B8C7-4BA9-A657-AF7C179B79D3}" destId="{13A308A2-31D7-451E-9F85-B7F1F470A442}" srcOrd="8" destOrd="0" presId="urn:microsoft.com/office/officeart/2008/layout/LinedList"/>
    <dgm:cxn modelId="{B9D025EB-804C-432C-8EC9-4D64163278E7}" type="presParOf" srcId="{6A9DEC6C-B8C7-4BA9-A657-AF7C179B79D3}" destId="{91001847-40AA-4B1E-9AB5-F100F49C62A1}" srcOrd="9" destOrd="0" presId="urn:microsoft.com/office/officeart/2008/layout/LinedList"/>
    <dgm:cxn modelId="{D54722F9-B7DC-4C43-87BD-B52C9694A836}" type="presParOf" srcId="{91001847-40AA-4B1E-9AB5-F100F49C62A1}" destId="{EB349889-AB15-4CA8-AEBB-CB666A6B8DE7}" srcOrd="0" destOrd="0" presId="urn:microsoft.com/office/officeart/2008/layout/LinedList"/>
    <dgm:cxn modelId="{8FA713F5-340D-4864-9D3B-FB863ED959E8}" type="presParOf" srcId="{91001847-40AA-4B1E-9AB5-F100F49C62A1}" destId="{7238796B-1122-414A-8D5B-7FC005D9004C}" srcOrd="1" destOrd="0" presId="urn:microsoft.com/office/officeart/2008/layout/LinedList"/>
    <dgm:cxn modelId="{1432AE5D-5D3E-4718-B712-21BBF9CB6219}" type="presParOf" srcId="{6A9DEC6C-B8C7-4BA9-A657-AF7C179B79D3}" destId="{7D3292B1-A74F-44CA-A301-A3480D63BE15}" srcOrd="10" destOrd="0" presId="urn:microsoft.com/office/officeart/2008/layout/LinedList"/>
    <dgm:cxn modelId="{CEC311EC-1685-4FA6-A33F-3C62607AB41E}" type="presParOf" srcId="{6A9DEC6C-B8C7-4BA9-A657-AF7C179B79D3}" destId="{CB1BE288-0D49-4470-858B-95939427744A}" srcOrd="11" destOrd="0" presId="urn:microsoft.com/office/officeart/2008/layout/LinedList"/>
    <dgm:cxn modelId="{F77F0CAC-7822-4D18-8035-9D60F502CBF9}" type="presParOf" srcId="{CB1BE288-0D49-4470-858B-95939427744A}" destId="{FF041C44-75E0-4688-A8C3-9D2D33103191}" srcOrd="0" destOrd="0" presId="urn:microsoft.com/office/officeart/2008/layout/LinedList"/>
    <dgm:cxn modelId="{363F7BB2-4C33-4326-A7EF-B5CB1DCCC94D}" type="presParOf" srcId="{CB1BE288-0D49-4470-858B-95939427744A}" destId="{5BBD7EAD-FE51-4450-9F2E-24D288973DA0}" srcOrd="1" destOrd="0" presId="urn:microsoft.com/office/officeart/2008/layout/LinedList"/>
    <dgm:cxn modelId="{3B810CE7-D8B7-4E5B-A170-7DA8B2D92FF3}" type="presParOf" srcId="{6A9DEC6C-B8C7-4BA9-A657-AF7C179B79D3}" destId="{0196D757-43C1-40E8-A645-F560C7052D23}" srcOrd="12" destOrd="0" presId="urn:microsoft.com/office/officeart/2008/layout/LinedList"/>
    <dgm:cxn modelId="{4F265FA0-38E4-476E-A781-9B01248DD15C}" type="presParOf" srcId="{6A9DEC6C-B8C7-4BA9-A657-AF7C179B79D3}" destId="{89F8E105-0077-4807-BD68-A4D872DB419E}" srcOrd="13" destOrd="0" presId="urn:microsoft.com/office/officeart/2008/layout/LinedList"/>
    <dgm:cxn modelId="{4ED4D13B-F111-4616-8982-0D622D94FCEA}" type="presParOf" srcId="{89F8E105-0077-4807-BD68-A4D872DB419E}" destId="{9B96E122-5D53-4692-8950-DC4063B71B19}" srcOrd="0" destOrd="0" presId="urn:microsoft.com/office/officeart/2008/layout/LinedList"/>
    <dgm:cxn modelId="{F2CF1478-79BD-4F79-A087-17E706881ECA}" type="presParOf" srcId="{89F8E105-0077-4807-BD68-A4D872DB419E}" destId="{C290021E-43EE-4E90-A0C9-3E570E5CBE66}" srcOrd="1" destOrd="0" presId="urn:microsoft.com/office/officeart/2008/layout/LinedList"/>
  </dgm:cxnLst>
  <dgm:bg/>
  <dgm:whole/>
  <dgm:extLst>
    <a:ext uri="http://schemas.microsoft.com/office/drawing/2008/diagram">
      <dsp:dataModelExt xmlns:dsp="http://schemas.microsoft.com/office/drawing/2008/diagram" xmlns=""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37F868-7CE2-44B0-A5FB-FDC40EEAC87E}"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D8BA01EE-44D4-4F1B-AC2F-05D8D79AE1A3}">
      <dgm:prSet/>
      <dgm:spPr/>
      <dgm:t>
        <a:bodyPr/>
        <a:lstStyle/>
        <a:p>
          <a:r>
            <a:rPr lang="en-US" b="1" dirty="0"/>
            <a:t>Relaxation of Inspiratory muscles</a:t>
          </a:r>
          <a:endParaRPr lang="en-US" dirty="0"/>
        </a:p>
      </dgm:t>
    </dgm:pt>
    <dgm:pt modelId="{26F4A999-8DA1-4402-9CCA-617B095A205B}" type="parTrans" cxnId="{D696EE60-CF28-4EA5-BB62-FE7B301DCA84}">
      <dgm:prSet/>
      <dgm:spPr/>
      <dgm:t>
        <a:bodyPr/>
        <a:lstStyle/>
        <a:p>
          <a:endParaRPr lang="en-US"/>
        </a:p>
      </dgm:t>
    </dgm:pt>
    <dgm:pt modelId="{A1FF279E-0084-42B5-BC2E-50BFD045D2B9}" type="sibTrans" cxnId="{D696EE60-CF28-4EA5-BB62-FE7B301DCA84}">
      <dgm:prSet/>
      <dgm:spPr/>
      <dgm:t>
        <a:bodyPr/>
        <a:lstStyle/>
        <a:p>
          <a:endParaRPr lang="en-US"/>
        </a:p>
      </dgm:t>
    </dgm:pt>
    <dgm:pt modelId="{D5CE90A6-0B3F-4894-85B2-7D3C3CBB90F7}">
      <dgm:prSet/>
      <dgm:spPr/>
      <dgm:t>
        <a:bodyPr/>
        <a:lstStyle/>
        <a:p>
          <a:r>
            <a:rPr lang="en-US" b="1"/>
            <a:t>Chest wall moves inwards</a:t>
          </a:r>
          <a:endParaRPr lang="en-US"/>
        </a:p>
      </dgm:t>
    </dgm:pt>
    <dgm:pt modelId="{D14DA953-2C43-45F8-AAB3-F4AE6B0CC3CD}" type="parTrans" cxnId="{5FBB5F27-699A-4EF9-B0CF-47C24E253D29}">
      <dgm:prSet/>
      <dgm:spPr/>
      <dgm:t>
        <a:bodyPr/>
        <a:lstStyle/>
        <a:p>
          <a:endParaRPr lang="en-US"/>
        </a:p>
      </dgm:t>
    </dgm:pt>
    <dgm:pt modelId="{2A3595A0-9F90-4553-8569-561759D88E7A}" type="sibTrans" cxnId="{5FBB5F27-699A-4EF9-B0CF-47C24E253D29}">
      <dgm:prSet/>
      <dgm:spPr/>
      <dgm:t>
        <a:bodyPr/>
        <a:lstStyle/>
        <a:p>
          <a:endParaRPr lang="en-US"/>
        </a:p>
      </dgm:t>
    </dgm:pt>
    <dgm:pt modelId="{162A4FAF-C6CA-4908-B757-AADE9320A624}">
      <dgm:prSet/>
      <dgm:spPr/>
      <dgm:t>
        <a:bodyPr/>
        <a:lstStyle/>
        <a:p>
          <a:r>
            <a:rPr lang="en-US" b="1" dirty="0"/>
            <a:t>P</a:t>
          </a:r>
          <a:r>
            <a:rPr lang="en-US" b="1" baseline="-25000" dirty="0"/>
            <a:t>ip </a:t>
          </a:r>
          <a:r>
            <a:rPr lang="en-US" b="1" dirty="0"/>
            <a:t>backs towards pre Inspiratory value</a:t>
          </a:r>
          <a:endParaRPr lang="en-US" dirty="0"/>
        </a:p>
      </dgm:t>
    </dgm:pt>
    <dgm:pt modelId="{E401CB3A-5A7F-4E32-A1A1-B14AC39DBD97}" type="parTrans" cxnId="{9087A4B9-B8B7-4DD6-B865-97753A1F0286}">
      <dgm:prSet/>
      <dgm:spPr/>
      <dgm:t>
        <a:bodyPr/>
        <a:lstStyle/>
        <a:p>
          <a:endParaRPr lang="en-US"/>
        </a:p>
      </dgm:t>
    </dgm:pt>
    <dgm:pt modelId="{B9D3FB76-C6CB-438A-8587-C456BBDBF374}" type="sibTrans" cxnId="{9087A4B9-B8B7-4DD6-B865-97753A1F0286}">
      <dgm:prSet/>
      <dgm:spPr/>
      <dgm:t>
        <a:bodyPr/>
        <a:lstStyle/>
        <a:p>
          <a:endParaRPr lang="en-US"/>
        </a:p>
      </dgm:t>
    </dgm:pt>
    <dgm:pt modelId="{01BD86A2-1AD5-4DCE-B168-79BE6221C11C}">
      <dgm:prSet/>
      <dgm:spPr/>
      <dgm:t>
        <a:bodyPr/>
        <a:lstStyle/>
        <a:p>
          <a:r>
            <a:rPr lang="en-US" b="1"/>
            <a:t>Transpulmonary pressure back towards pre Inspiratory value</a:t>
          </a:r>
          <a:endParaRPr lang="en-US"/>
        </a:p>
      </dgm:t>
    </dgm:pt>
    <dgm:pt modelId="{EA4A20B3-A128-40D1-9E80-0B4347480BC0}" type="parTrans" cxnId="{0D4B16A7-AF6B-44AE-9496-DC205BBC6DC2}">
      <dgm:prSet/>
      <dgm:spPr/>
      <dgm:t>
        <a:bodyPr/>
        <a:lstStyle/>
        <a:p>
          <a:endParaRPr lang="en-US"/>
        </a:p>
      </dgm:t>
    </dgm:pt>
    <dgm:pt modelId="{A5D35B4F-E274-4CC0-B817-261D06628B4B}" type="sibTrans" cxnId="{0D4B16A7-AF6B-44AE-9496-DC205BBC6DC2}">
      <dgm:prSet/>
      <dgm:spPr/>
      <dgm:t>
        <a:bodyPr/>
        <a:lstStyle/>
        <a:p>
          <a:endParaRPr lang="en-US"/>
        </a:p>
      </dgm:t>
    </dgm:pt>
    <dgm:pt modelId="{115D94BF-0A8E-4969-894B-5DDF25557DDA}">
      <dgm:prSet/>
      <dgm:spPr/>
      <dgm:t>
        <a:bodyPr/>
        <a:lstStyle/>
        <a:p>
          <a:r>
            <a:rPr lang="en-US" b="1" dirty="0"/>
            <a:t>Lungs recoil </a:t>
          </a:r>
          <a:r>
            <a:rPr lang="en-US" b="1" dirty="0" smtClean="0"/>
            <a:t>to </a:t>
          </a:r>
          <a:r>
            <a:rPr lang="en-US" b="1" dirty="0"/>
            <a:t>pre Inspiratory size</a:t>
          </a:r>
          <a:endParaRPr lang="en-US" dirty="0"/>
        </a:p>
      </dgm:t>
    </dgm:pt>
    <dgm:pt modelId="{70D8C976-EC35-4E49-A9FE-F9B0A512AC54}" type="parTrans" cxnId="{B5CB253D-D6EE-4B06-9B60-393F4DF23B75}">
      <dgm:prSet/>
      <dgm:spPr/>
      <dgm:t>
        <a:bodyPr/>
        <a:lstStyle/>
        <a:p>
          <a:endParaRPr lang="en-US"/>
        </a:p>
      </dgm:t>
    </dgm:pt>
    <dgm:pt modelId="{AB86DC38-9E21-4E84-A4F2-1AD55895628A}" type="sibTrans" cxnId="{B5CB253D-D6EE-4B06-9B60-393F4DF23B75}">
      <dgm:prSet/>
      <dgm:spPr/>
      <dgm:t>
        <a:bodyPr/>
        <a:lstStyle/>
        <a:p>
          <a:endParaRPr lang="en-US"/>
        </a:p>
      </dgm:t>
    </dgm:pt>
    <dgm:pt modelId="{9A4C45EA-0B19-4707-BCEE-84C2EB5B8EA5}">
      <dgm:prSet/>
      <dgm:spPr/>
      <dgm:t>
        <a:bodyPr/>
        <a:lstStyle/>
        <a:p>
          <a:r>
            <a:rPr lang="en-US" b="1"/>
            <a:t>Alveolar air compressed</a:t>
          </a:r>
          <a:endParaRPr lang="en-US"/>
        </a:p>
      </dgm:t>
    </dgm:pt>
    <dgm:pt modelId="{3238A9E8-3282-46FE-AF1B-572AF7E2B457}" type="parTrans" cxnId="{291FA0D2-1B82-4565-ACAE-6995AA67D39D}">
      <dgm:prSet/>
      <dgm:spPr/>
      <dgm:t>
        <a:bodyPr/>
        <a:lstStyle/>
        <a:p>
          <a:endParaRPr lang="en-US"/>
        </a:p>
      </dgm:t>
    </dgm:pt>
    <dgm:pt modelId="{8A3F0B4A-81B6-440D-ABBA-26B78BBB3C64}" type="sibTrans" cxnId="{291FA0D2-1B82-4565-ACAE-6995AA67D39D}">
      <dgm:prSet/>
      <dgm:spPr/>
      <dgm:t>
        <a:bodyPr/>
        <a:lstStyle/>
        <a:p>
          <a:endParaRPr lang="en-US"/>
        </a:p>
      </dgm:t>
    </dgm:pt>
    <dgm:pt modelId="{D9BEBB9C-9714-44ED-B714-4C1E887CD337}">
      <dgm:prSet/>
      <dgm:spPr/>
      <dgm:t>
        <a:bodyPr/>
        <a:lstStyle/>
        <a:p>
          <a:r>
            <a:rPr lang="en-US" b="1"/>
            <a:t>P</a:t>
          </a:r>
          <a:r>
            <a:rPr lang="en-US" b="1" baseline="-25000"/>
            <a:t>alv </a:t>
          </a:r>
          <a:r>
            <a:rPr lang="en-US" b="1"/>
            <a:t>becomes greater than</a:t>
          </a:r>
          <a:r>
            <a:rPr lang="en-US" b="1" baseline="-25000"/>
            <a:t> </a:t>
          </a:r>
          <a:r>
            <a:rPr lang="en-US" b="1"/>
            <a:t>P</a:t>
          </a:r>
          <a:r>
            <a:rPr lang="en-US" b="1" baseline="-25000"/>
            <a:t> atm</a:t>
          </a:r>
          <a:endParaRPr lang="en-US"/>
        </a:p>
      </dgm:t>
    </dgm:pt>
    <dgm:pt modelId="{0A1CBAA1-2912-4A10-9A19-43A020B0F567}" type="parTrans" cxnId="{3E8FF02D-DF14-4367-816B-C60DD16DD769}">
      <dgm:prSet/>
      <dgm:spPr/>
      <dgm:t>
        <a:bodyPr/>
        <a:lstStyle/>
        <a:p>
          <a:endParaRPr lang="en-US"/>
        </a:p>
      </dgm:t>
    </dgm:pt>
    <dgm:pt modelId="{D733D639-567E-440F-AB8E-EC6163E38BFC}" type="sibTrans" cxnId="{3E8FF02D-DF14-4367-816B-C60DD16DD769}">
      <dgm:prSet/>
      <dgm:spPr/>
      <dgm:t>
        <a:bodyPr/>
        <a:lstStyle/>
        <a:p>
          <a:endParaRPr lang="en-US"/>
        </a:p>
      </dgm:t>
    </dgm:pt>
    <dgm:pt modelId="{94562D4E-E549-4C85-A383-47ADC53291EE}">
      <dgm:prSet/>
      <dgm:spPr/>
      <dgm:t>
        <a:bodyPr/>
        <a:lstStyle/>
        <a:p>
          <a:r>
            <a:rPr lang="en-US" b="1"/>
            <a:t>Air flow out of lungs</a:t>
          </a:r>
          <a:endParaRPr lang="en-US"/>
        </a:p>
      </dgm:t>
    </dgm:pt>
    <dgm:pt modelId="{328A4A8F-C8B6-4797-93C4-54F47D4E4BB7}" type="parTrans" cxnId="{FDD4A55D-5F11-4DB8-B1D1-8041B49624BC}">
      <dgm:prSet/>
      <dgm:spPr/>
      <dgm:t>
        <a:bodyPr/>
        <a:lstStyle/>
        <a:p>
          <a:endParaRPr lang="en-US"/>
        </a:p>
      </dgm:t>
    </dgm:pt>
    <dgm:pt modelId="{0600228E-72B2-4D66-8384-0A4EDBFBE0BB}" type="sibTrans" cxnId="{FDD4A55D-5F11-4DB8-B1D1-8041B49624BC}">
      <dgm:prSet/>
      <dgm:spPr/>
      <dgm:t>
        <a:bodyPr/>
        <a:lstStyle/>
        <a:p>
          <a:endParaRPr lang="en-US"/>
        </a:p>
      </dgm:t>
    </dgm:pt>
    <dgm:pt modelId="{9459C40F-4F31-4DF3-89D3-B42697E444C0}" type="pres">
      <dgm:prSet presAssocID="{0637F868-7CE2-44B0-A5FB-FDC40EEAC87E}" presName="linear" presStyleCnt="0">
        <dgm:presLayoutVars>
          <dgm:animLvl val="lvl"/>
          <dgm:resizeHandles val="exact"/>
        </dgm:presLayoutVars>
      </dgm:prSet>
      <dgm:spPr/>
      <dgm:t>
        <a:bodyPr/>
        <a:lstStyle/>
        <a:p>
          <a:endParaRPr lang="en-US"/>
        </a:p>
      </dgm:t>
    </dgm:pt>
    <dgm:pt modelId="{7A83E7BD-139A-4CC7-8253-DBF60E2F081F}" type="pres">
      <dgm:prSet presAssocID="{D8BA01EE-44D4-4F1B-AC2F-05D8D79AE1A3}" presName="parentText" presStyleLbl="node1" presStyleIdx="0" presStyleCnt="8">
        <dgm:presLayoutVars>
          <dgm:chMax val="0"/>
          <dgm:bulletEnabled val="1"/>
        </dgm:presLayoutVars>
      </dgm:prSet>
      <dgm:spPr/>
      <dgm:t>
        <a:bodyPr/>
        <a:lstStyle/>
        <a:p>
          <a:endParaRPr lang="en-US"/>
        </a:p>
      </dgm:t>
    </dgm:pt>
    <dgm:pt modelId="{08CC2EF0-7135-4572-8F6B-E01342D812E3}" type="pres">
      <dgm:prSet presAssocID="{A1FF279E-0084-42B5-BC2E-50BFD045D2B9}" presName="spacer" presStyleCnt="0"/>
      <dgm:spPr/>
    </dgm:pt>
    <dgm:pt modelId="{D1A9C26E-948A-415D-9867-0754F6ED6AA0}" type="pres">
      <dgm:prSet presAssocID="{D5CE90A6-0B3F-4894-85B2-7D3C3CBB90F7}" presName="parentText" presStyleLbl="node1" presStyleIdx="1" presStyleCnt="8">
        <dgm:presLayoutVars>
          <dgm:chMax val="0"/>
          <dgm:bulletEnabled val="1"/>
        </dgm:presLayoutVars>
      </dgm:prSet>
      <dgm:spPr/>
      <dgm:t>
        <a:bodyPr/>
        <a:lstStyle/>
        <a:p>
          <a:endParaRPr lang="en-US"/>
        </a:p>
      </dgm:t>
    </dgm:pt>
    <dgm:pt modelId="{C0314F5E-2453-4C78-9B19-109166B72A6C}" type="pres">
      <dgm:prSet presAssocID="{2A3595A0-9F90-4553-8569-561759D88E7A}" presName="spacer" presStyleCnt="0"/>
      <dgm:spPr/>
    </dgm:pt>
    <dgm:pt modelId="{4CF9E0C8-2D89-4B53-98C6-C3AD387A445D}" type="pres">
      <dgm:prSet presAssocID="{162A4FAF-C6CA-4908-B757-AADE9320A624}" presName="parentText" presStyleLbl="node1" presStyleIdx="2" presStyleCnt="8">
        <dgm:presLayoutVars>
          <dgm:chMax val="0"/>
          <dgm:bulletEnabled val="1"/>
        </dgm:presLayoutVars>
      </dgm:prSet>
      <dgm:spPr/>
      <dgm:t>
        <a:bodyPr/>
        <a:lstStyle/>
        <a:p>
          <a:endParaRPr lang="en-US"/>
        </a:p>
      </dgm:t>
    </dgm:pt>
    <dgm:pt modelId="{4553435C-E1C9-44FE-9D42-4462D82CF0AA}" type="pres">
      <dgm:prSet presAssocID="{B9D3FB76-C6CB-438A-8587-C456BBDBF374}" presName="spacer" presStyleCnt="0"/>
      <dgm:spPr/>
    </dgm:pt>
    <dgm:pt modelId="{8B723B91-9A5D-4160-9E2C-4E5CCCBB1384}" type="pres">
      <dgm:prSet presAssocID="{01BD86A2-1AD5-4DCE-B168-79BE6221C11C}" presName="parentText" presStyleLbl="node1" presStyleIdx="3" presStyleCnt="8">
        <dgm:presLayoutVars>
          <dgm:chMax val="0"/>
          <dgm:bulletEnabled val="1"/>
        </dgm:presLayoutVars>
      </dgm:prSet>
      <dgm:spPr/>
      <dgm:t>
        <a:bodyPr/>
        <a:lstStyle/>
        <a:p>
          <a:endParaRPr lang="en-US"/>
        </a:p>
      </dgm:t>
    </dgm:pt>
    <dgm:pt modelId="{E7E4848F-D796-424F-AC9C-32CC459A0F42}" type="pres">
      <dgm:prSet presAssocID="{A5D35B4F-E274-4CC0-B817-261D06628B4B}" presName="spacer" presStyleCnt="0"/>
      <dgm:spPr/>
    </dgm:pt>
    <dgm:pt modelId="{66B58EB3-A0B6-4591-BBD3-40E2CC907112}" type="pres">
      <dgm:prSet presAssocID="{115D94BF-0A8E-4969-894B-5DDF25557DDA}" presName="parentText" presStyleLbl="node1" presStyleIdx="4" presStyleCnt="8">
        <dgm:presLayoutVars>
          <dgm:chMax val="0"/>
          <dgm:bulletEnabled val="1"/>
        </dgm:presLayoutVars>
      </dgm:prSet>
      <dgm:spPr/>
      <dgm:t>
        <a:bodyPr/>
        <a:lstStyle/>
        <a:p>
          <a:endParaRPr lang="en-US"/>
        </a:p>
      </dgm:t>
    </dgm:pt>
    <dgm:pt modelId="{E11BD9AC-4376-4562-9133-3B5F5996259D}" type="pres">
      <dgm:prSet presAssocID="{AB86DC38-9E21-4E84-A4F2-1AD55895628A}" presName="spacer" presStyleCnt="0"/>
      <dgm:spPr/>
    </dgm:pt>
    <dgm:pt modelId="{FFA89489-F111-4529-BB41-C4FF4FED850A}" type="pres">
      <dgm:prSet presAssocID="{9A4C45EA-0B19-4707-BCEE-84C2EB5B8EA5}" presName="parentText" presStyleLbl="node1" presStyleIdx="5" presStyleCnt="8">
        <dgm:presLayoutVars>
          <dgm:chMax val="0"/>
          <dgm:bulletEnabled val="1"/>
        </dgm:presLayoutVars>
      </dgm:prSet>
      <dgm:spPr/>
      <dgm:t>
        <a:bodyPr/>
        <a:lstStyle/>
        <a:p>
          <a:endParaRPr lang="en-US"/>
        </a:p>
      </dgm:t>
    </dgm:pt>
    <dgm:pt modelId="{BBAF5663-DC49-495C-A3B3-1BBDD641FC87}" type="pres">
      <dgm:prSet presAssocID="{8A3F0B4A-81B6-440D-ABBA-26B78BBB3C64}" presName="spacer" presStyleCnt="0"/>
      <dgm:spPr/>
    </dgm:pt>
    <dgm:pt modelId="{9F7F17FF-F246-40C9-97FB-0AE74B8F6AB1}" type="pres">
      <dgm:prSet presAssocID="{D9BEBB9C-9714-44ED-B714-4C1E887CD337}" presName="parentText" presStyleLbl="node1" presStyleIdx="6" presStyleCnt="8">
        <dgm:presLayoutVars>
          <dgm:chMax val="0"/>
          <dgm:bulletEnabled val="1"/>
        </dgm:presLayoutVars>
      </dgm:prSet>
      <dgm:spPr/>
      <dgm:t>
        <a:bodyPr/>
        <a:lstStyle/>
        <a:p>
          <a:endParaRPr lang="en-US"/>
        </a:p>
      </dgm:t>
    </dgm:pt>
    <dgm:pt modelId="{B88007F2-925F-4ED5-B86B-A67CD310B840}" type="pres">
      <dgm:prSet presAssocID="{D733D639-567E-440F-AB8E-EC6163E38BFC}" presName="spacer" presStyleCnt="0"/>
      <dgm:spPr/>
    </dgm:pt>
    <dgm:pt modelId="{F7F62116-6EE3-4C48-8839-CFCFA857010E}" type="pres">
      <dgm:prSet presAssocID="{94562D4E-E549-4C85-A383-47ADC53291EE}" presName="parentText" presStyleLbl="node1" presStyleIdx="7" presStyleCnt="8">
        <dgm:presLayoutVars>
          <dgm:chMax val="0"/>
          <dgm:bulletEnabled val="1"/>
        </dgm:presLayoutVars>
      </dgm:prSet>
      <dgm:spPr/>
      <dgm:t>
        <a:bodyPr/>
        <a:lstStyle/>
        <a:p>
          <a:endParaRPr lang="en-US"/>
        </a:p>
      </dgm:t>
    </dgm:pt>
  </dgm:ptLst>
  <dgm:cxnLst>
    <dgm:cxn modelId="{178D9D28-24FB-4BBC-8DF5-34B96FC2429C}" type="presOf" srcId="{0637F868-7CE2-44B0-A5FB-FDC40EEAC87E}" destId="{9459C40F-4F31-4DF3-89D3-B42697E444C0}" srcOrd="0" destOrd="0" presId="urn:microsoft.com/office/officeart/2005/8/layout/vList2"/>
    <dgm:cxn modelId="{B5CB253D-D6EE-4B06-9B60-393F4DF23B75}" srcId="{0637F868-7CE2-44B0-A5FB-FDC40EEAC87E}" destId="{115D94BF-0A8E-4969-894B-5DDF25557DDA}" srcOrd="4" destOrd="0" parTransId="{70D8C976-EC35-4E49-A9FE-F9B0A512AC54}" sibTransId="{AB86DC38-9E21-4E84-A4F2-1AD55895628A}"/>
    <dgm:cxn modelId="{A72B5CEE-F785-4DA0-A822-77199E7117C9}" type="presOf" srcId="{115D94BF-0A8E-4969-894B-5DDF25557DDA}" destId="{66B58EB3-A0B6-4591-BBD3-40E2CC907112}" srcOrd="0" destOrd="0" presId="urn:microsoft.com/office/officeart/2005/8/layout/vList2"/>
    <dgm:cxn modelId="{5FBB5F27-699A-4EF9-B0CF-47C24E253D29}" srcId="{0637F868-7CE2-44B0-A5FB-FDC40EEAC87E}" destId="{D5CE90A6-0B3F-4894-85B2-7D3C3CBB90F7}" srcOrd="1" destOrd="0" parTransId="{D14DA953-2C43-45F8-AAB3-F4AE6B0CC3CD}" sibTransId="{2A3595A0-9F90-4553-8569-561759D88E7A}"/>
    <dgm:cxn modelId="{FDD4A55D-5F11-4DB8-B1D1-8041B49624BC}" srcId="{0637F868-7CE2-44B0-A5FB-FDC40EEAC87E}" destId="{94562D4E-E549-4C85-A383-47ADC53291EE}" srcOrd="7" destOrd="0" parTransId="{328A4A8F-C8B6-4797-93C4-54F47D4E4BB7}" sibTransId="{0600228E-72B2-4D66-8384-0A4EDBFBE0BB}"/>
    <dgm:cxn modelId="{0A4221B7-8571-4A29-A979-AC4E39409BDB}" type="presOf" srcId="{D8BA01EE-44D4-4F1B-AC2F-05D8D79AE1A3}" destId="{7A83E7BD-139A-4CC7-8253-DBF60E2F081F}" srcOrd="0" destOrd="0" presId="urn:microsoft.com/office/officeart/2005/8/layout/vList2"/>
    <dgm:cxn modelId="{0D4B16A7-AF6B-44AE-9496-DC205BBC6DC2}" srcId="{0637F868-7CE2-44B0-A5FB-FDC40EEAC87E}" destId="{01BD86A2-1AD5-4DCE-B168-79BE6221C11C}" srcOrd="3" destOrd="0" parTransId="{EA4A20B3-A128-40D1-9E80-0B4347480BC0}" sibTransId="{A5D35B4F-E274-4CC0-B817-261D06628B4B}"/>
    <dgm:cxn modelId="{322942CB-ED0F-417E-AE94-B1FA6B5C72B2}" type="presOf" srcId="{9A4C45EA-0B19-4707-BCEE-84C2EB5B8EA5}" destId="{FFA89489-F111-4529-BB41-C4FF4FED850A}" srcOrd="0" destOrd="0" presId="urn:microsoft.com/office/officeart/2005/8/layout/vList2"/>
    <dgm:cxn modelId="{3E8FF02D-DF14-4367-816B-C60DD16DD769}" srcId="{0637F868-7CE2-44B0-A5FB-FDC40EEAC87E}" destId="{D9BEBB9C-9714-44ED-B714-4C1E887CD337}" srcOrd="6" destOrd="0" parTransId="{0A1CBAA1-2912-4A10-9A19-43A020B0F567}" sibTransId="{D733D639-567E-440F-AB8E-EC6163E38BFC}"/>
    <dgm:cxn modelId="{4BB31B32-6D55-4A32-B01F-47783BF3EEF2}" type="presOf" srcId="{01BD86A2-1AD5-4DCE-B168-79BE6221C11C}" destId="{8B723B91-9A5D-4160-9E2C-4E5CCCBB1384}" srcOrd="0" destOrd="0" presId="urn:microsoft.com/office/officeart/2005/8/layout/vList2"/>
    <dgm:cxn modelId="{FCDFBD89-3180-4CF1-B2D7-7A0D2FE5E260}" type="presOf" srcId="{94562D4E-E549-4C85-A383-47ADC53291EE}" destId="{F7F62116-6EE3-4C48-8839-CFCFA857010E}" srcOrd="0" destOrd="0" presId="urn:microsoft.com/office/officeart/2005/8/layout/vList2"/>
    <dgm:cxn modelId="{D696EE60-CF28-4EA5-BB62-FE7B301DCA84}" srcId="{0637F868-7CE2-44B0-A5FB-FDC40EEAC87E}" destId="{D8BA01EE-44D4-4F1B-AC2F-05D8D79AE1A3}" srcOrd="0" destOrd="0" parTransId="{26F4A999-8DA1-4402-9CCA-617B095A205B}" sibTransId="{A1FF279E-0084-42B5-BC2E-50BFD045D2B9}"/>
    <dgm:cxn modelId="{291FA0D2-1B82-4565-ACAE-6995AA67D39D}" srcId="{0637F868-7CE2-44B0-A5FB-FDC40EEAC87E}" destId="{9A4C45EA-0B19-4707-BCEE-84C2EB5B8EA5}" srcOrd="5" destOrd="0" parTransId="{3238A9E8-3282-46FE-AF1B-572AF7E2B457}" sibTransId="{8A3F0B4A-81B6-440D-ABBA-26B78BBB3C64}"/>
    <dgm:cxn modelId="{EB800028-99AA-43DD-96A8-59F02A6953AA}" type="presOf" srcId="{162A4FAF-C6CA-4908-B757-AADE9320A624}" destId="{4CF9E0C8-2D89-4B53-98C6-C3AD387A445D}" srcOrd="0" destOrd="0" presId="urn:microsoft.com/office/officeart/2005/8/layout/vList2"/>
    <dgm:cxn modelId="{6884969B-6E2D-40C7-AF98-1BD2C15B3C3E}" type="presOf" srcId="{D9BEBB9C-9714-44ED-B714-4C1E887CD337}" destId="{9F7F17FF-F246-40C9-97FB-0AE74B8F6AB1}" srcOrd="0" destOrd="0" presId="urn:microsoft.com/office/officeart/2005/8/layout/vList2"/>
    <dgm:cxn modelId="{9087A4B9-B8B7-4DD6-B865-97753A1F0286}" srcId="{0637F868-7CE2-44B0-A5FB-FDC40EEAC87E}" destId="{162A4FAF-C6CA-4908-B757-AADE9320A624}" srcOrd="2" destOrd="0" parTransId="{E401CB3A-5A7F-4E32-A1A1-B14AC39DBD97}" sibTransId="{B9D3FB76-C6CB-438A-8587-C456BBDBF374}"/>
    <dgm:cxn modelId="{39CE1411-AFA7-4F8E-B7BA-839282A20AA4}" type="presOf" srcId="{D5CE90A6-0B3F-4894-85B2-7D3C3CBB90F7}" destId="{D1A9C26E-948A-415D-9867-0754F6ED6AA0}" srcOrd="0" destOrd="0" presId="urn:microsoft.com/office/officeart/2005/8/layout/vList2"/>
    <dgm:cxn modelId="{FFC673A5-4577-4EDE-897C-AEF5EA5EC59E}" type="presParOf" srcId="{9459C40F-4F31-4DF3-89D3-B42697E444C0}" destId="{7A83E7BD-139A-4CC7-8253-DBF60E2F081F}" srcOrd="0" destOrd="0" presId="urn:microsoft.com/office/officeart/2005/8/layout/vList2"/>
    <dgm:cxn modelId="{5385D42E-563F-4D87-B399-0E30FE6602B9}" type="presParOf" srcId="{9459C40F-4F31-4DF3-89D3-B42697E444C0}" destId="{08CC2EF0-7135-4572-8F6B-E01342D812E3}" srcOrd="1" destOrd="0" presId="urn:microsoft.com/office/officeart/2005/8/layout/vList2"/>
    <dgm:cxn modelId="{28ECB47B-BFD9-476D-9CFE-0334A57103DC}" type="presParOf" srcId="{9459C40F-4F31-4DF3-89D3-B42697E444C0}" destId="{D1A9C26E-948A-415D-9867-0754F6ED6AA0}" srcOrd="2" destOrd="0" presId="urn:microsoft.com/office/officeart/2005/8/layout/vList2"/>
    <dgm:cxn modelId="{8E4E552D-8D48-4157-A149-EEDF5FFA97D0}" type="presParOf" srcId="{9459C40F-4F31-4DF3-89D3-B42697E444C0}" destId="{C0314F5E-2453-4C78-9B19-109166B72A6C}" srcOrd="3" destOrd="0" presId="urn:microsoft.com/office/officeart/2005/8/layout/vList2"/>
    <dgm:cxn modelId="{1D05AE7F-3059-45D4-B0F9-958751A08AF0}" type="presParOf" srcId="{9459C40F-4F31-4DF3-89D3-B42697E444C0}" destId="{4CF9E0C8-2D89-4B53-98C6-C3AD387A445D}" srcOrd="4" destOrd="0" presId="urn:microsoft.com/office/officeart/2005/8/layout/vList2"/>
    <dgm:cxn modelId="{C39CAD0A-321F-4616-B4FB-BB42E3C9EC95}" type="presParOf" srcId="{9459C40F-4F31-4DF3-89D3-B42697E444C0}" destId="{4553435C-E1C9-44FE-9D42-4462D82CF0AA}" srcOrd="5" destOrd="0" presId="urn:microsoft.com/office/officeart/2005/8/layout/vList2"/>
    <dgm:cxn modelId="{66A827AE-D882-49D2-B591-D5788EE809D2}" type="presParOf" srcId="{9459C40F-4F31-4DF3-89D3-B42697E444C0}" destId="{8B723B91-9A5D-4160-9E2C-4E5CCCBB1384}" srcOrd="6" destOrd="0" presId="urn:microsoft.com/office/officeart/2005/8/layout/vList2"/>
    <dgm:cxn modelId="{383CD15E-9439-4549-8729-564E6861AFBC}" type="presParOf" srcId="{9459C40F-4F31-4DF3-89D3-B42697E444C0}" destId="{E7E4848F-D796-424F-AC9C-32CC459A0F42}" srcOrd="7" destOrd="0" presId="urn:microsoft.com/office/officeart/2005/8/layout/vList2"/>
    <dgm:cxn modelId="{ABDF214A-FC52-4E84-8E3E-31F3AC1B2583}" type="presParOf" srcId="{9459C40F-4F31-4DF3-89D3-B42697E444C0}" destId="{66B58EB3-A0B6-4591-BBD3-40E2CC907112}" srcOrd="8" destOrd="0" presId="urn:microsoft.com/office/officeart/2005/8/layout/vList2"/>
    <dgm:cxn modelId="{7AF8EEDC-0182-4C6C-B361-C71C54969BB8}" type="presParOf" srcId="{9459C40F-4F31-4DF3-89D3-B42697E444C0}" destId="{E11BD9AC-4376-4562-9133-3B5F5996259D}" srcOrd="9" destOrd="0" presId="urn:microsoft.com/office/officeart/2005/8/layout/vList2"/>
    <dgm:cxn modelId="{ED1E8E94-FC52-4A2B-8A9E-85AFB72DB5E6}" type="presParOf" srcId="{9459C40F-4F31-4DF3-89D3-B42697E444C0}" destId="{FFA89489-F111-4529-BB41-C4FF4FED850A}" srcOrd="10" destOrd="0" presId="urn:microsoft.com/office/officeart/2005/8/layout/vList2"/>
    <dgm:cxn modelId="{1ABC5543-7D34-4923-9778-8947C1B9739E}" type="presParOf" srcId="{9459C40F-4F31-4DF3-89D3-B42697E444C0}" destId="{BBAF5663-DC49-495C-A3B3-1BBDD641FC87}" srcOrd="11" destOrd="0" presId="urn:microsoft.com/office/officeart/2005/8/layout/vList2"/>
    <dgm:cxn modelId="{BF03D536-B4C6-46C7-A301-3CD49D8D9FB5}" type="presParOf" srcId="{9459C40F-4F31-4DF3-89D3-B42697E444C0}" destId="{9F7F17FF-F246-40C9-97FB-0AE74B8F6AB1}" srcOrd="12" destOrd="0" presId="urn:microsoft.com/office/officeart/2005/8/layout/vList2"/>
    <dgm:cxn modelId="{C4BB8492-1F70-4986-B71A-2C2D0688DE86}" type="presParOf" srcId="{9459C40F-4F31-4DF3-89D3-B42697E444C0}" destId="{B88007F2-925F-4ED5-B86B-A67CD310B840}" srcOrd="13" destOrd="0" presId="urn:microsoft.com/office/officeart/2005/8/layout/vList2"/>
    <dgm:cxn modelId="{C65F1022-E1E5-4CA8-8407-69BFF2EEB565}" type="presParOf" srcId="{9459C40F-4F31-4DF3-89D3-B42697E444C0}" destId="{F7F62116-6EE3-4C48-8839-CFCFA857010E}" srcOrd="14" destOrd="0" presId="urn:microsoft.com/office/officeart/2005/8/layout/vList2"/>
  </dgm:cxnLst>
  <dgm:bg/>
  <dgm:whole/>
  <dgm:extLst>
    <a:ext uri="http://schemas.microsoft.com/office/drawing/2008/diagram">
      <dsp:dataModelExt xmlns:dsp="http://schemas.microsoft.com/office/drawing/2008/diagram" xmlns=""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3D1DFFF-EF6F-45CE-B0EE-1F61175E1773}" type="doc">
      <dgm:prSet loTypeId="urn:microsoft.com/office/officeart/2005/8/layout/vProcess5" loCatId="process" qsTypeId="urn:microsoft.com/office/officeart/2005/8/quickstyle/simple1" qsCatId="simple" csTypeId="urn:microsoft.com/office/officeart/2005/8/colors/accent0_3" csCatId="mainScheme" phldr="1"/>
      <dgm:spPr/>
      <dgm:t>
        <a:bodyPr/>
        <a:lstStyle/>
        <a:p>
          <a:endParaRPr lang="en-US"/>
        </a:p>
      </dgm:t>
    </dgm:pt>
    <dgm:pt modelId="{5D62BB66-D765-4793-A377-2E731D25EB69}">
      <dgm:prSet/>
      <dgm:spPr/>
      <dgm:t>
        <a:bodyPr/>
        <a:lstStyle/>
        <a:p>
          <a:r>
            <a:rPr lang="en-US" dirty="0">
              <a:latin typeface="Rockwell"/>
            </a:rPr>
            <a:t>Deep inspiration (2.5 L)</a:t>
          </a:r>
        </a:p>
      </dgm:t>
    </dgm:pt>
    <dgm:pt modelId="{454EC714-E2D8-4812-980E-8DDAAF3BFFC1}" type="parTrans" cxnId="{C931DB99-FB5C-4351-B719-6109DD52F756}">
      <dgm:prSet/>
      <dgm:spPr/>
      <dgm:t>
        <a:bodyPr/>
        <a:lstStyle/>
        <a:p>
          <a:endParaRPr lang="en-US"/>
        </a:p>
      </dgm:t>
    </dgm:pt>
    <dgm:pt modelId="{EFF6C667-ED9D-46E4-B99D-366FF38F2CB3}" type="sibTrans" cxnId="{C931DB99-FB5C-4351-B719-6109DD52F756}">
      <dgm:prSet/>
      <dgm:spPr/>
      <dgm:t>
        <a:bodyPr/>
        <a:lstStyle/>
        <a:p>
          <a:endParaRPr lang="en-US"/>
        </a:p>
      </dgm:t>
    </dgm:pt>
    <dgm:pt modelId="{AB298A7A-25FA-4283-9A59-0E8071830ED8}">
      <dgm:prSet/>
      <dgm:spPr/>
      <dgm:t>
        <a:bodyPr/>
        <a:lstStyle/>
        <a:p>
          <a:r>
            <a:rPr lang="en-US" dirty="0">
              <a:latin typeface="Rockwell"/>
            </a:rPr>
            <a:t>Forced expiration against a closed glottis</a:t>
          </a:r>
        </a:p>
      </dgm:t>
    </dgm:pt>
    <dgm:pt modelId="{9BE6125B-D414-4F90-9EFA-3D5126FAEFE4}" type="parTrans" cxnId="{68C26694-DC93-475A-8C0C-B8CD9DD36ECE}">
      <dgm:prSet/>
      <dgm:spPr/>
      <dgm:t>
        <a:bodyPr/>
        <a:lstStyle/>
        <a:p>
          <a:endParaRPr lang="en-US"/>
        </a:p>
      </dgm:t>
    </dgm:pt>
    <dgm:pt modelId="{781A0619-DE20-4B6F-B96A-8D259927A912}" type="sibTrans" cxnId="{68C26694-DC93-475A-8C0C-B8CD9DD36ECE}">
      <dgm:prSet/>
      <dgm:spPr/>
      <dgm:t>
        <a:bodyPr/>
        <a:lstStyle/>
        <a:p>
          <a:endParaRPr lang="en-US"/>
        </a:p>
      </dgm:t>
    </dgm:pt>
    <dgm:pt modelId="{D0B30428-F0F6-4C0E-AB72-C72CE989729A}">
      <dgm:prSet/>
      <dgm:spPr/>
      <dgm:t>
        <a:bodyPr/>
        <a:lstStyle/>
        <a:p>
          <a:r>
            <a:rPr lang="en-US" dirty="0">
              <a:latin typeface="Rockwell"/>
            </a:rPr>
            <a:t>Intrathoracic pressure increases to 100 mm Hg or more</a:t>
          </a:r>
        </a:p>
      </dgm:t>
    </dgm:pt>
    <dgm:pt modelId="{6751975F-CADF-433A-897E-293234D770AA}" type="parTrans" cxnId="{83095A5B-A26D-4725-8AE1-370BC716E27E}">
      <dgm:prSet/>
      <dgm:spPr/>
      <dgm:t>
        <a:bodyPr/>
        <a:lstStyle/>
        <a:p>
          <a:endParaRPr lang="en-US"/>
        </a:p>
      </dgm:t>
    </dgm:pt>
    <dgm:pt modelId="{22440FBB-A8F9-485C-9E77-6AB8A1832412}" type="sibTrans" cxnId="{83095A5B-A26D-4725-8AE1-370BC716E27E}">
      <dgm:prSet/>
      <dgm:spPr/>
      <dgm:t>
        <a:bodyPr/>
        <a:lstStyle/>
        <a:p>
          <a:endParaRPr lang="en-US"/>
        </a:p>
      </dgm:t>
    </dgm:pt>
    <dgm:pt modelId="{AF74A6D9-B8C4-4A82-A0A2-FE0296A20250}">
      <dgm:prSet/>
      <dgm:spPr/>
      <dgm:t>
        <a:bodyPr/>
        <a:lstStyle/>
        <a:p>
          <a:pPr rtl="0"/>
          <a:r>
            <a:rPr lang="en-US" dirty="0">
              <a:latin typeface="Rockwell"/>
            </a:rPr>
            <a:t>Glottis opened</a:t>
          </a:r>
        </a:p>
      </dgm:t>
    </dgm:pt>
    <dgm:pt modelId="{34407348-464A-4708-9C31-6D7E413919D7}" type="parTrans" cxnId="{A0C74661-FCD3-4E73-A349-D1C4AB265398}">
      <dgm:prSet/>
      <dgm:spPr/>
      <dgm:t>
        <a:bodyPr/>
        <a:lstStyle/>
        <a:p>
          <a:endParaRPr lang="en-US"/>
        </a:p>
      </dgm:t>
    </dgm:pt>
    <dgm:pt modelId="{47AF85E5-AAB4-4A7E-905B-2AA68EBFDF0C}" type="sibTrans" cxnId="{A0C74661-FCD3-4E73-A349-D1C4AB265398}">
      <dgm:prSet/>
      <dgm:spPr/>
      <dgm:t>
        <a:bodyPr/>
        <a:lstStyle/>
        <a:p>
          <a:endParaRPr lang="en-US"/>
        </a:p>
      </dgm:t>
    </dgm:pt>
    <dgm:pt modelId="{C0E7733A-6F11-4F77-93AF-5B020EF7F393}">
      <dgm:prSet/>
      <dgm:spPr/>
      <dgm:t>
        <a:bodyPr/>
        <a:lstStyle/>
        <a:p>
          <a:endParaRPr lang="en-US"/>
        </a:p>
      </dgm:t>
    </dgm:pt>
    <dgm:pt modelId="{FAEB5D91-5F77-46B8-9116-593BFCFFBECF}" type="parTrans" cxnId="{618EF96D-1684-4CF9-AFCF-25836CA30CD1}">
      <dgm:prSet/>
      <dgm:spPr/>
      <dgm:t>
        <a:bodyPr/>
        <a:lstStyle/>
        <a:p>
          <a:endParaRPr lang="en-US"/>
        </a:p>
      </dgm:t>
    </dgm:pt>
    <dgm:pt modelId="{231BFAD6-5692-46D6-9ED0-0B2A0313641E}" type="sibTrans" cxnId="{618EF96D-1684-4CF9-AFCF-25836CA30CD1}">
      <dgm:prSet/>
      <dgm:spPr/>
      <dgm:t>
        <a:bodyPr/>
        <a:lstStyle/>
        <a:p>
          <a:endParaRPr lang="en-US"/>
        </a:p>
      </dgm:t>
    </dgm:pt>
    <dgm:pt modelId="{19D7F2E3-DB47-4C06-835A-81AE03DF93D9}">
      <dgm:prSet phldr="0"/>
      <dgm:spPr/>
      <dgm:t>
        <a:bodyPr/>
        <a:lstStyle/>
        <a:p>
          <a:r>
            <a:rPr lang="en-US" dirty="0">
              <a:latin typeface="Rockwell"/>
            </a:rPr>
            <a:t>Explosive outflow of air (75-100 miles/</a:t>
          </a:r>
          <a:r>
            <a:rPr lang="en-US" dirty="0" err="1">
              <a:latin typeface="Rockwell"/>
            </a:rPr>
            <a:t>hr</a:t>
          </a:r>
          <a:r>
            <a:rPr lang="en-US" dirty="0">
              <a:latin typeface="Rockwell"/>
            </a:rPr>
            <a:t>)</a:t>
          </a:r>
        </a:p>
      </dgm:t>
    </dgm:pt>
    <dgm:pt modelId="{6DF08641-1422-4061-A419-961ABCCBC7C2}" type="parTrans" cxnId="{EFF05FDE-0576-4EA1-B188-6C8AA6C043EA}">
      <dgm:prSet/>
      <dgm:spPr/>
    </dgm:pt>
    <dgm:pt modelId="{5743A911-C5FB-4015-B823-604372AFB220}" type="sibTrans" cxnId="{EFF05FDE-0576-4EA1-B188-6C8AA6C043EA}">
      <dgm:prSet/>
      <dgm:spPr/>
    </dgm:pt>
    <dgm:pt modelId="{739016C9-0867-482E-9AE1-D5A7D9BB59DF}" type="pres">
      <dgm:prSet presAssocID="{C3D1DFFF-EF6F-45CE-B0EE-1F61175E1773}" presName="outerComposite" presStyleCnt="0">
        <dgm:presLayoutVars>
          <dgm:chMax val="5"/>
          <dgm:dir/>
          <dgm:resizeHandles val="exact"/>
        </dgm:presLayoutVars>
      </dgm:prSet>
      <dgm:spPr/>
      <dgm:t>
        <a:bodyPr/>
        <a:lstStyle/>
        <a:p>
          <a:endParaRPr lang="en-US"/>
        </a:p>
      </dgm:t>
    </dgm:pt>
    <dgm:pt modelId="{5D42C073-C055-4B93-B4D4-8A1722D2C460}" type="pres">
      <dgm:prSet presAssocID="{C3D1DFFF-EF6F-45CE-B0EE-1F61175E1773}" presName="dummyMaxCanvas" presStyleCnt="0">
        <dgm:presLayoutVars/>
      </dgm:prSet>
      <dgm:spPr/>
    </dgm:pt>
    <dgm:pt modelId="{DBE999F0-F337-4E6F-8DCD-0D6600DB8534}" type="pres">
      <dgm:prSet presAssocID="{C3D1DFFF-EF6F-45CE-B0EE-1F61175E1773}" presName="FiveNodes_1" presStyleLbl="node1" presStyleIdx="0" presStyleCnt="5">
        <dgm:presLayoutVars>
          <dgm:bulletEnabled val="1"/>
        </dgm:presLayoutVars>
      </dgm:prSet>
      <dgm:spPr/>
      <dgm:t>
        <a:bodyPr/>
        <a:lstStyle/>
        <a:p>
          <a:endParaRPr lang="en-US"/>
        </a:p>
      </dgm:t>
    </dgm:pt>
    <dgm:pt modelId="{249AE3C0-EBCB-4208-8CF2-6FDC210F0913}" type="pres">
      <dgm:prSet presAssocID="{C3D1DFFF-EF6F-45CE-B0EE-1F61175E1773}" presName="FiveNodes_2" presStyleLbl="node1" presStyleIdx="1" presStyleCnt="5">
        <dgm:presLayoutVars>
          <dgm:bulletEnabled val="1"/>
        </dgm:presLayoutVars>
      </dgm:prSet>
      <dgm:spPr/>
      <dgm:t>
        <a:bodyPr/>
        <a:lstStyle/>
        <a:p>
          <a:endParaRPr lang="en-US"/>
        </a:p>
      </dgm:t>
    </dgm:pt>
    <dgm:pt modelId="{8CC2A0B7-B691-4E1C-8D9A-73349BC4B491}" type="pres">
      <dgm:prSet presAssocID="{C3D1DFFF-EF6F-45CE-B0EE-1F61175E1773}" presName="FiveNodes_3" presStyleLbl="node1" presStyleIdx="2" presStyleCnt="5">
        <dgm:presLayoutVars>
          <dgm:bulletEnabled val="1"/>
        </dgm:presLayoutVars>
      </dgm:prSet>
      <dgm:spPr/>
      <dgm:t>
        <a:bodyPr/>
        <a:lstStyle/>
        <a:p>
          <a:endParaRPr lang="en-US"/>
        </a:p>
      </dgm:t>
    </dgm:pt>
    <dgm:pt modelId="{E5F51610-3AFB-4542-8566-536A5BFB8BCB}" type="pres">
      <dgm:prSet presAssocID="{C3D1DFFF-EF6F-45CE-B0EE-1F61175E1773}" presName="FiveNodes_4" presStyleLbl="node1" presStyleIdx="3" presStyleCnt="5">
        <dgm:presLayoutVars>
          <dgm:bulletEnabled val="1"/>
        </dgm:presLayoutVars>
      </dgm:prSet>
      <dgm:spPr/>
      <dgm:t>
        <a:bodyPr/>
        <a:lstStyle/>
        <a:p>
          <a:endParaRPr lang="en-US"/>
        </a:p>
      </dgm:t>
    </dgm:pt>
    <dgm:pt modelId="{258BAD2E-8121-4395-B4D7-7C4C5C9DAE23}" type="pres">
      <dgm:prSet presAssocID="{C3D1DFFF-EF6F-45CE-B0EE-1F61175E1773}" presName="FiveNodes_5" presStyleLbl="node1" presStyleIdx="4" presStyleCnt="5">
        <dgm:presLayoutVars>
          <dgm:bulletEnabled val="1"/>
        </dgm:presLayoutVars>
      </dgm:prSet>
      <dgm:spPr/>
      <dgm:t>
        <a:bodyPr/>
        <a:lstStyle/>
        <a:p>
          <a:endParaRPr lang="en-US"/>
        </a:p>
      </dgm:t>
    </dgm:pt>
    <dgm:pt modelId="{29635EF3-EC14-4CD8-8300-0F7DF470CDCE}" type="pres">
      <dgm:prSet presAssocID="{C3D1DFFF-EF6F-45CE-B0EE-1F61175E1773}" presName="FiveConn_1-2" presStyleLbl="fgAccFollowNode1" presStyleIdx="0" presStyleCnt="4">
        <dgm:presLayoutVars>
          <dgm:bulletEnabled val="1"/>
        </dgm:presLayoutVars>
      </dgm:prSet>
      <dgm:spPr/>
      <dgm:t>
        <a:bodyPr/>
        <a:lstStyle/>
        <a:p>
          <a:endParaRPr lang="en-US"/>
        </a:p>
      </dgm:t>
    </dgm:pt>
    <dgm:pt modelId="{D772DC6C-D25B-46F4-A067-942B27ECCBC3}" type="pres">
      <dgm:prSet presAssocID="{C3D1DFFF-EF6F-45CE-B0EE-1F61175E1773}" presName="FiveConn_2-3" presStyleLbl="fgAccFollowNode1" presStyleIdx="1" presStyleCnt="4">
        <dgm:presLayoutVars>
          <dgm:bulletEnabled val="1"/>
        </dgm:presLayoutVars>
      </dgm:prSet>
      <dgm:spPr/>
      <dgm:t>
        <a:bodyPr/>
        <a:lstStyle/>
        <a:p>
          <a:endParaRPr lang="en-US"/>
        </a:p>
      </dgm:t>
    </dgm:pt>
    <dgm:pt modelId="{CA0DCF0F-F03F-4308-9C70-7DCB191A2A83}" type="pres">
      <dgm:prSet presAssocID="{C3D1DFFF-EF6F-45CE-B0EE-1F61175E1773}" presName="FiveConn_3-4" presStyleLbl="fgAccFollowNode1" presStyleIdx="2" presStyleCnt="4">
        <dgm:presLayoutVars>
          <dgm:bulletEnabled val="1"/>
        </dgm:presLayoutVars>
      </dgm:prSet>
      <dgm:spPr/>
      <dgm:t>
        <a:bodyPr/>
        <a:lstStyle/>
        <a:p>
          <a:endParaRPr lang="en-US"/>
        </a:p>
      </dgm:t>
    </dgm:pt>
    <dgm:pt modelId="{436708EE-FAF4-48D9-84DA-411A53788647}" type="pres">
      <dgm:prSet presAssocID="{C3D1DFFF-EF6F-45CE-B0EE-1F61175E1773}" presName="FiveConn_4-5" presStyleLbl="fgAccFollowNode1" presStyleIdx="3" presStyleCnt="4">
        <dgm:presLayoutVars>
          <dgm:bulletEnabled val="1"/>
        </dgm:presLayoutVars>
      </dgm:prSet>
      <dgm:spPr/>
      <dgm:t>
        <a:bodyPr/>
        <a:lstStyle/>
        <a:p>
          <a:endParaRPr lang="en-US"/>
        </a:p>
      </dgm:t>
    </dgm:pt>
    <dgm:pt modelId="{EB4AD78D-3229-4CFF-AEFD-CFEF187691BC}" type="pres">
      <dgm:prSet presAssocID="{C3D1DFFF-EF6F-45CE-B0EE-1F61175E1773}" presName="FiveNodes_1_text" presStyleLbl="node1" presStyleIdx="4" presStyleCnt="5">
        <dgm:presLayoutVars>
          <dgm:bulletEnabled val="1"/>
        </dgm:presLayoutVars>
      </dgm:prSet>
      <dgm:spPr/>
      <dgm:t>
        <a:bodyPr/>
        <a:lstStyle/>
        <a:p>
          <a:endParaRPr lang="en-US"/>
        </a:p>
      </dgm:t>
    </dgm:pt>
    <dgm:pt modelId="{168EA7FA-0868-44B6-9089-B104E2A2170A}" type="pres">
      <dgm:prSet presAssocID="{C3D1DFFF-EF6F-45CE-B0EE-1F61175E1773}" presName="FiveNodes_2_text" presStyleLbl="node1" presStyleIdx="4" presStyleCnt="5">
        <dgm:presLayoutVars>
          <dgm:bulletEnabled val="1"/>
        </dgm:presLayoutVars>
      </dgm:prSet>
      <dgm:spPr/>
      <dgm:t>
        <a:bodyPr/>
        <a:lstStyle/>
        <a:p>
          <a:endParaRPr lang="en-US"/>
        </a:p>
      </dgm:t>
    </dgm:pt>
    <dgm:pt modelId="{CA9CC223-A0D7-44D3-A09F-45E133D8891D}" type="pres">
      <dgm:prSet presAssocID="{C3D1DFFF-EF6F-45CE-B0EE-1F61175E1773}" presName="FiveNodes_3_text" presStyleLbl="node1" presStyleIdx="4" presStyleCnt="5">
        <dgm:presLayoutVars>
          <dgm:bulletEnabled val="1"/>
        </dgm:presLayoutVars>
      </dgm:prSet>
      <dgm:spPr/>
      <dgm:t>
        <a:bodyPr/>
        <a:lstStyle/>
        <a:p>
          <a:endParaRPr lang="en-US"/>
        </a:p>
      </dgm:t>
    </dgm:pt>
    <dgm:pt modelId="{3BCCED69-9BA2-4653-B475-34C4F5FA2AAB}" type="pres">
      <dgm:prSet presAssocID="{C3D1DFFF-EF6F-45CE-B0EE-1F61175E1773}" presName="FiveNodes_4_text" presStyleLbl="node1" presStyleIdx="4" presStyleCnt="5">
        <dgm:presLayoutVars>
          <dgm:bulletEnabled val="1"/>
        </dgm:presLayoutVars>
      </dgm:prSet>
      <dgm:spPr/>
      <dgm:t>
        <a:bodyPr/>
        <a:lstStyle/>
        <a:p>
          <a:endParaRPr lang="en-US"/>
        </a:p>
      </dgm:t>
    </dgm:pt>
    <dgm:pt modelId="{19528452-9E0F-4AF1-B1BD-AFB7FCFDF49F}" type="pres">
      <dgm:prSet presAssocID="{C3D1DFFF-EF6F-45CE-B0EE-1F61175E1773}" presName="FiveNodes_5_text" presStyleLbl="node1" presStyleIdx="4" presStyleCnt="5">
        <dgm:presLayoutVars>
          <dgm:bulletEnabled val="1"/>
        </dgm:presLayoutVars>
      </dgm:prSet>
      <dgm:spPr/>
      <dgm:t>
        <a:bodyPr/>
        <a:lstStyle/>
        <a:p>
          <a:endParaRPr lang="en-US"/>
        </a:p>
      </dgm:t>
    </dgm:pt>
  </dgm:ptLst>
  <dgm:cxnLst>
    <dgm:cxn modelId="{C931DB99-FB5C-4351-B719-6109DD52F756}" srcId="{C3D1DFFF-EF6F-45CE-B0EE-1F61175E1773}" destId="{5D62BB66-D765-4793-A377-2E731D25EB69}" srcOrd="0" destOrd="0" parTransId="{454EC714-E2D8-4812-980E-8DDAAF3BFFC1}" sibTransId="{EFF6C667-ED9D-46E4-B99D-366FF38F2CB3}"/>
    <dgm:cxn modelId="{AE02267F-0F38-47A7-A953-E460C235A660}" type="presOf" srcId="{5D62BB66-D765-4793-A377-2E731D25EB69}" destId="{DBE999F0-F337-4E6F-8DCD-0D6600DB8534}" srcOrd="0" destOrd="0" presId="urn:microsoft.com/office/officeart/2005/8/layout/vProcess5"/>
    <dgm:cxn modelId="{9963CCD8-BF29-4505-B897-BF7DE5DF5B81}" type="presOf" srcId="{22440FBB-A8F9-485C-9E77-6AB8A1832412}" destId="{CA0DCF0F-F03F-4308-9C70-7DCB191A2A83}" srcOrd="0" destOrd="0" presId="urn:microsoft.com/office/officeart/2005/8/layout/vProcess5"/>
    <dgm:cxn modelId="{EFF05FDE-0576-4EA1-B188-6C8AA6C043EA}" srcId="{C3D1DFFF-EF6F-45CE-B0EE-1F61175E1773}" destId="{19D7F2E3-DB47-4C06-835A-81AE03DF93D9}" srcOrd="4" destOrd="0" parTransId="{6DF08641-1422-4061-A419-961ABCCBC7C2}" sibTransId="{5743A911-C5FB-4015-B823-604372AFB220}"/>
    <dgm:cxn modelId="{83095A5B-A26D-4725-8AE1-370BC716E27E}" srcId="{C3D1DFFF-EF6F-45CE-B0EE-1F61175E1773}" destId="{D0B30428-F0F6-4C0E-AB72-C72CE989729A}" srcOrd="2" destOrd="0" parTransId="{6751975F-CADF-433A-897E-293234D770AA}" sibTransId="{22440FBB-A8F9-485C-9E77-6AB8A1832412}"/>
    <dgm:cxn modelId="{68C26694-DC93-475A-8C0C-B8CD9DD36ECE}" srcId="{C3D1DFFF-EF6F-45CE-B0EE-1F61175E1773}" destId="{AB298A7A-25FA-4283-9A59-0E8071830ED8}" srcOrd="1" destOrd="0" parTransId="{9BE6125B-D414-4F90-9EFA-3D5126FAEFE4}" sibTransId="{781A0619-DE20-4B6F-B96A-8D259927A912}"/>
    <dgm:cxn modelId="{AB2ACE22-6B1E-43B3-8410-CAFD89DF45B8}" type="presOf" srcId="{AB298A7A-25FA-4283-9A59-0E8071830ED8}" destId="{168EA7FA-0868-44B6-9089-B104E2A2170A}" srcOrd="1" destOrd="0" presId="urn:microsoft.com/office/officeart/2005/8/layout/vProcess5"/>
    <dgm:cxn modelId="{A0C74661-FCD3-4E73-A349-D1C4AB265398}" srcId="{C3D1DFFF-EF6F-45CE-B0EE-1F61175E1773}" destId="{AF74A6D9-B8C4-4A82-A0A2-FE0296A20250}" srcOrd="3" destOrd="0" parTransId="{34407348-464A-4708-9C31-6D7E413919D7}" sibTransId="{47AF85E5-AAB4-4A7E-905B-2AA68EBFDF0C}"/>
    <dgm:cxn modelId="{66C8C1E9-306A-4C62-890A-9E821F228973}" type="presOf" srcId="{19D7F2E3-DB47-4C06-835A-81AE03DF93D9}" destId="{19528452-9E0F-4AF1-B1BD-AFB7FCFDF49F}" srcOrd="1" destOrd="0" presId="urn:microsoft.com/office/officeart/2005/8/layout/vProcess5"/>
    <dgm:cxn modelId="{B4CD2582-84EB-42A6-81EF-15C230277EBC}" type="presOf" srcId="{47AF85E5-AAB4-4A7E-905B-2AA68EBFDF0C}" destId="{436708EE-FAF4-48D9-84DA-411A53788647}" srcOrd="0" destOrd="0" presId="urn:microsoft.com/office/officeart/2005/8/layout/vProcess5"/>
    <dgm:cxn modelId="{618EF96D-1684-4CF9-AFCF-25836CA30CD1}" srcId="{C3D1DFFF-EF6F-45CE-B0EE-1F61175E1773}" destId="{C0E7733A-6F11-4F77-93AF-5B020EF7F393}" srcOrd="5" destOrd="0" parTransId="{FAEB5D91-5F77-46B8-9116-593BFCFFBECF}" sibTransId="{231BFAD6-5692-46D6-9ED0-0B2A0313641E}"/>
    <dgm:cxn modelId="{CAAB92F9-FB9A-46AC-A4AF-73BF99F39DEF}" type="presOf" srcId="{C3D1DFFF-EF6F-45CE-B0EE-1F61175E1773}" destId="{739016C9-0867-482E-9AE1-D5A7D9BB59DF}" srcOrd="0" destOrd="0" presId="urn:microsoft.com/office/officeart/2005/8/layout/vProcess5"/>
    <dgm:cxn modelId="{FD4466D5-E998-40E1-B19D-7EFBEFA80F58}" type="presOf" srcId="{AB298A7A-25FA-4283-9A59-0E8071830ED8}" destId="{249AE3C0-EBCB-4208-8CF2-6FDC210F0913}" srcOrd="0" destOrd="0" presId="urn:microsoft.com/office/officeart/2005/8/layout/vProcess5"/>
    <dgm:cxn modelId="{1FE60725-D9CD-46E3-81B3-EBA1CFF0845C}" type="presOf" srcId="{AF74A6D9-B8C4-4A82-A0A2-FE0296A20250}" destId="{E5F51610-3AFB-4542-8566-536A5BFB8BCB}" srcOrd="0" destOrd="0" presId="urn:microsoft.com/office/officeart/2005/8/layout/vProcess5"/>
    <dgm:cxn modelId="{AFF3B262-0455-40E8-B68C-C8ED14ECE3F2}" type="presOf" srcId="{19D7F2E3-DB47-4C06-835A-81AE03DF93D9}" destId="{258BAD2E-8121-4395-B4D7-7C4C5C9DAE23}" srcOrd="0" destOrd="0" presId="urn:microsoft.com/office/officeart/2005/8/layout/vProcess5"/>
    <dgm:cxn modelId="{93409888-EC76-403B-A87D-A11E14EE769E}" type="presOf" srcId="{D0B30428-F0F6-4C0E-AB72-C72CE989729A}" destId="{CA9CC223-A0D7-44D3-A09F-45E133D8891D}" srcOrd="1" destOrd="0" presId="urn:microsoft.com/office/officeart/2005/8/layout/vProcess5"/>
    <dgm:cxn modelId="{B663F194-B7BB-4D50-B734-7FAE91A415BF}" type="presOf" srcId="{D0B30428-F0F6-4C0E-AB72-C72CE989729A}" destId="{8CC2A0B7-B691-4E1C-8D9A-73349BC4B491}" srcOrd="0" destOrd="0" presId="urn:microsoft.com/office/officeart/2005/8/layout/vProcess5"/>
    <dgm:cxn modelId="{7E3BEEEC-86A6-43ED-82C3-3E77D971DEBF}" type="presOf" srcId="{5D62BB66-D765-4793-A377-2E731D25EB69}" destId="{EB4AD78D-3229-4CFF-AEFD-CFEF187691BC}" srcOrd="1" destOrd="0" presId="urn:microsoft.com/office/officeart/2005/8/layout/vProcess5"/>
    <dgm:cxn modelId="{5DBE5FA5-2D01-4280-8B53-ADA4C20D1A21}" type="presOf" srcId="{AF74A6D9-B8C4-4A82-A0A2-FE0296A20250}" destId="{3BCCED69-9BA2-4653-B475-34C4F5FA2AAB}" srcOrd="1" destOrd="0" presId="urn:microsoft.com/office/officeart/2005/8/layout/vProcess5"/>
    <dgm:cxn modelId="{CA561D85-1AA0-418A-853B-BF85C4B349C4}" type="presOf" srcId="{781A0619-DE20-4B6F-B96A-8D259927A912}" destId="{D772DC6C-D25B-46F4-A067-942B27ECCBC3}" srcOrd="0" destOrd="0" presId="urn:microsoft.com/office/officeart/2005/8/layout/vProcess5"/>
    <dgm:cxn modelId="{9F9B05E8-3C94-4461-8DAA-24171DE4C118}" type="presOf" srcId="{EFF6C667-ED9D-46E4-B99D-366FF38F2CB3}" destId="{29635EF3-EC14-4CD8-8300-0F7DF470CDCE}" srcOrd="0" destOrd="0" presId="urn:microsoft.com/office/officeart/2005/8/layout/vProcess5"/>
    <dgm:cxn modelId="{E9056569-C380-4994-8FEF-907E9A3C22BA}" type="presParOf" srcId="{739016C9-0867-482E-9AE1-D5A7D9BB59DF}" destId="{5D42C073-C055-4B93-B4D4-8A1722D2C460}" srcOrd="0" destOrd="0" presId="urn:microsoft.com/office/officeart/2005/8/layout/vProcess5"/>
    <dgm:cxn modelId="{3EA3EC8C-61EA-4443-B9E7-C040B7984D84}" type="presParOf" srcId="{739016C9-0867-482E-9AE1-D5A7D9BB59DF}" destId="{DBE999F0-F337-4E6F-8DCD-0D6600DB8534}" srcOrd="1" destOrd="0" presId="urn:microsoft.com/office/officeart/2005/8/layout/vProcess5"/>
    <dgm:cxn modelId="{32A1E130-F49D-4ECF-BF35-9C40F37AFD65}" type="presParOf" srcId="{739016C9-0867-482E-9AE1-D5A7D9BB59DF}" destId="{249AE3C0-EBCB-4208-8CF2-6FDC210F0913}" srcOrd="2" destOrd="0" presId="urn:microsoft.com/office/officeart/2005/8/layout/vProcess5"/>
    <dgm:cxn modelId="{FA583A6F-5EC0-4FD8-9CA8-CEEF118D2A54}" type="presParOf" srcId="{739016C9-0867-482E-9AE1-D5A7D9BB59DF}" destId="{8CC2A0B7-B691-4E1C-8D9A-73349BC4B491}" srcOrd="3" destOrd="0" presId="urn:microsoft.com/office/officeart/2005/8/layout/vProcess5"/>
    <dgm:cxn modelId="{BF53DC91-D5F5-45EE-8B4F-B1AD308D3FC5}" type="presParOf" srcId="{739016C9-0867-482E-9AE1-D5A7D9BB59DF}" destId="{E5F51610-3AFB-4542-8566-536A5BFB8BCB}" srcOrd="4" destOrd="0" presId="urn:microsoft.com/office/officeart/2005/8/layout/vProcess5"/>
    <dgm:cxn modelId="{D4E17693-D764-4A42-94C5-3E2251328599}" type="presParOf" srcId="{739016C9-0867-482E-9AE1-D5A7D9BB59DF}" destId="{258BAD2E-8121-4395-B4D7-7C4C5C9DAE23}" srcOrd="5" destOrd="0" presId="urn:microsoft.com/office/officeart/2005/8/layout/vProcess5"/>
    <dgm:cxn modelId="{A66E286B-E142-49D3-B65E-2613BD1079A0}" type="presParOf" srcId="{739016C9-0867-482E-9AE1-D5A7D9BB59DF}" destId="{29635EF3-EC14-4CD8-8300-0F7DF470CDCE}" srcOrd="6" destOrd="0" presId="urn:microsoft.com/office/officeart/2005/8/layout/vProcess5"/>
    <dgm:cxn modelId="{C6C7EB1E-3F14-48F9-9F8E-7BF407F59CD8}" type="presParOf" srcId="{739016C9-0867-482E-9AE1-D5A7D9BB59DF}" destId="{D772DC6C-D25B-46F4-A067-942B27ECCBC3}" srcOrd="7" destOrd="0" presId="urn:microsoft.com/office/officeart/2005/8/layout/vProcess5"/>
    <dgm:cxn modelId="{966D4AFD-F037-4883-8A5A-0AD8E81713B5}" type="presParOf" srcId="{739016C9-0867-482E-9AE1-D5A7D9BB59DF}" destId="{CA0DCF0F-F03F-4308-9C70-7DCB191A2A83}" srcOrd="8" destOrd="0" presId="urn:microsoft.com/office/officeart/2005/8/layout/vProcess5"/>
    <dgm:cxn modelId="{F365FF61-7842-445E-BECD-8526EB43CC45}" type="presParOf" srcId="{739016C9-0867-482E-9AE1-D5A7D9BB59DF}" destId="{436708EE-FAF4-48D9-84DA-411A53788647}" srcOrd="9" destOrd="0" presId="urn:microsoft.com/office/officeart/2005/8/layout/vProcess5"/>
    <dgm:cxn modelId="{5B5EA7AE-8A26-47BD-A2F9-7EBE8D529A85}" type="presParOf" srcId="{739016C9-0867-482E-9AE1-D5A7D9BB59DF}" destId="{EB4AD78D-3229-4CFF-AEFD-CFEF187691BC}" srcOrd="10" destOrd="0" presId="urn:microsoft.com/office/officeart/2005/8/layout/vProcess5"/>
    <dgm:cxn modelId="{6939D9C9-6560-48B3-909B-9A21AB038178}" type="presParOf" srcId="{739016C9-0867-482E-9AE1-D5A7D9BB59DF}" destId="{168EA7FA-0868-44B6-9089-B104E2A2170A}" srcOrd="11" destOrd="0" presId="urn:microsoft.com/office/officeart/2005/8/layout/vProcess5"/>
    <dgm:cxn modelId="{412D7A68-7F94-4F83-A968-A4DAB22D25FB}" type="presParOf" srcId="{739016C9-0867-482E-9AE1-D5A7D9BB59DF}" destId="{CA9CC223-A0D7-44D3-A09F-45E133D8891D}" srcOrd="12" destOrd="0" presId="urn:microsoft.com/office/officeart/2005/8/layout/vProcess5"/>
    <dgm:cxn modelId="{311A5CE8-AF09-4A4F-9C17-AA7552609B91}" type="presParOf" srcId="{739016C9-0867-482E-9AE1-D5A7D9BB59DF}" destId="{3BCCED69-9BA2-4653-B475-34C4F5FA2AAB}" srcOrd="13" destOrd="0" presId="urn:microsoft.com/office/officeart/2005/8/layout/vProcess5"/>
    <dgm:cxn modelId="{61B8058D-5C1B-4A8B-8EE1-BD0B69AAC4ED}" type="presParOf" srcId="{739016C9-0867-482E-9AE1-D5A7D9BB59DF}" destId="{19528452-9E0F-4AF1-B1BD-AFB7FCFDF49F}" srcOrd="14" destOrd="0" presId="urn:microsoft.com/office/officeart/2005/8/layout/vProcess5"/>
  </dgm:cxnLst>
  <dgm:bg/>
  <dgm:whole/>
  <dgm:extLst>
    <a:ext uri="http://schemas.microsoft.com/office/drawing/2008/diagram">
      <dsp:dataModelExt xmlns:dsp="http://schemas.microsoft.com/office/drawing/2008/diagram" xmlns=""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F052FA-6D28-45A7-8E12-6AF62B4FBE06}">
      <dsp:nvSpPr>
        <dsp:cNvPr id="0" name=""/>
        <dsp:cNvSpPr/>
      </dsp:nvSpPr>
      <dsp:spPr>
        <a:xfrm>
          <a:off x="0" y="660"/>
          <a:ext cx="385643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B85FFE5-5B22-4A91-9801-762E54EB8294}">
      <dsp:nvSpPr>
        <dsp:cNvPr id="0" name=""/>
        <dsp:cNvSpPr/>
      </dsp:nvSpPr>
      <dsp:spPr>
        <a:xfrm>
          <a:off x="0" y="660"/>
          <a:ext cx="3856434" cy="772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n-US" sz="2200" b="1" kern="1200"/>
            <a:t>Contraction of Inspiratory Muscles</a:t>
          </a:r>
          <a:endParaRPr lang="en-US" sz="2200" kern="1200"/>
        </a:p>
      </dsp:txBody>
      <dsp:txXfrm>
        <a:off x="0" y="660"/>
        <a:ext cx="3856434" cy="772243"/>
      </dsp:txXfrm>
    </dsp:sp>
    <dsp:sp modelId="{5F6582A5-4A27-498F-B048-D13E7C3FC236}">
      <dsp:nvSpPr>
        <dsp:cNvPr id="0" name=""/>
        <dsp:cNvSpPr/>
      </dsp:nvSpPr>
      <dsp:spPr>
        <a:xfrm>
          <a:off x="0" y="772903"/>
          <a:ext cx="3856434"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4A2BC07-A754-4B0F-9EC7-86760C8B3A30}">
      <dsp:nvSpPr>
        <dsp:cNvPr id="0" name=""/>
        <dsp:cNvSpPr/>
      </dsp:nvSpPr>
      <dsp:spPr>
        <a:xfrm>
          <a:off x="0" y="772903"/>
          <a:ext cx="3856434" cy="772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n-US" sz="2200" b="1" kern="1200"/>
            <a:t>Thorax expands</a:t>
          </a:r>
          <a:endParaRPr lang="en-US" sz="2200" kern="1200"/>
        </a:p>
      </dsp:txBody>
      <dsp:txXfrm>
        <a:off x="0" y="772903"/>
        <a:ext cx="3856434" cy="772243"/>
      </dsp:txXfrm>
    </dsp:sp>
    <dsp:sp modelId="{30323FB9-225D-4D7D-8FC7-A184D1C56F7E}">
      <dsp:nvSpPr>
        <dsp:cNvPr id="0" name=""/>
        <dsp:cNvSpPr/>
      </dsp:nvSpPr>
      <dsp:spPr>
        <a:xfrm>
          <a:off x="0" y="1545147"/>
          <a:ext cx="3856434"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3623575-7EF7-4D11-BD8A-78A682AF998F}">
      <dsp:nvSpPr>
        <dsp:cNvPr id="0" name=""/>
        <dsp:cNvSpPr/>
      </dsp:nvSpPr>
      <dsp:spPr>
        <a:xfrm>
          <a:off x="0" y="1545147"/>
          <a:ext cx="3856434" cy="772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n-US" sz="2200" b="1" kern="1200"/>
            <a:t>P</a:t>
          </a:r>
          <a:r>
            <a:rPr lang="en-US" sz="2200" b="1" kern="1200" baseline="-25000"/>
            <a:t>ip </a:t>
          </a:r>
          <a:r>
            <a:rPr lang="en-US" sz="2200" b="1" kern="1200"/>
            <a:t>becomes more sub atmospheric</a:t>
          </a:r>
          <a:endParaRPr lang="en-US" sz="2200" kern="1200"/>
        </a:p>
      </dsp:txBody>
      <dsp:txXfrm>
        <a:off x="0" y="1545147"/>
        <a:ext cx="3856434" cy="772243"/>
      </dsp:txXfrm>
    </dsp:sp>
    <dsp:sp modelId="{8AAD4E4A-AFB8-43D0-A741-E75815250A71}">
      <dsp:nvSpPr>
        <dsp:cNvPr id="0" name=""/>
        <dsp:cNvSpPr/>
      </dsp:nvSpPr>
      <dsp:spPr>
        <a:xfrm>
          <a:off x="0" y="2317390"/>
          <a:ext cx="3856434"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1D40E6-C552-4836-9C72-4B04DDD8A6C7}">
      <dsp:nvSpPr>
        <dsp:cNvPr id="0" name=""/>
        <dsp:cNvSpPr/>
      </dsp:nvSpPr>
      <dsp:spPr>
        <a:xfrm>
          <a:off x="0" y="2317390"/>
          <a:ext cx="3856434" cy="772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n-US" sz="2200" b="1" kern="1200"/>
            <a:t>Increased Transpulmonary pressure</a:t>
          </a:r>
          <a:endParaRPr lang="en-US" sz="2200" kern="1200"/>
        </a:p>
      </dsp:txBody>
      <dsp:txXfrm>
        <a:off x="0" y="2317390"/>
        <a:ext cx="3856434" cy="772243"/>
      </dsp:txXfrm>
    </dsp:sp>
    <dsp:sp modelId="{13A308A2-31D7-451E-9F85-B7F1F470A442}">
      <dsp:nvSpPr>
        <dsp:cNvPr id="0" name=""/>
        <dsp:cNvSpPr/>
      </dsp:nvSpPr>
      <dsp:spPr>
        <a:xfrm>
          <a:off x="0" y="3089634"/>
          <a:ext cx="3856434"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349889-AB15-4CA8-AEBB-CB666A6B8DE7}">
      <dsp:nvSpPr>
        <dsp:cNvPr id="0" name=""/>
        <dsp:cNvSpPr/>
      </dsp:nvSpPr>
      <dsp:spPr>
        <a:xfrm>
          <a:off x="0" y="3089634"/>
          <a:ext cx="3856434" cy="772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n-US" sz="2200" b="1" kern="1200"/>
            <a:t>Lungs expand</a:t>
          </a:r>
          <a:endParaRPr lang="en-US" sz="2200" kern="1200"/>
        </a:p>
      </dsp:txBody>
      <dsp:txXfrm>
        <a:off x="0" y="3089634"/>
        <a:ext cx="3856434" cy="772243"/>
      </dsp:txXfrm>
    </dsp:sp>
    <dsp:sp modelId="{7D3292B1-A74F-44CA-A301-A3480D63BE15}">
      <dsp:nvSpPr>
        <dsp:cNvPr id="0" name=""/>
        <dsp:cNvSpPr/>
      </dsp:nvSpPr>
      <dsp:spPr>
        <a:xfrm>
          <a:off x="0" y="3861877"/>
          <a:ext cx="385643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041C44-75E0-4688-A8C3-9D2D33103191}">
      <dsp:nvSpPr>
        <dsp:cNvPr id="0" name=""/>
        <dsp:cNvSpPr/>
      </dsp:nvSpPr>
      <dsp:spPr>
        <a:xfrm>
          <a:off x="0" y="3861877"/>
          <a:ext cx="3856434" cy="772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n-US" sz="2200" b="1" kern="1200"/>
            <a:t>P</a:t>
          </a:r>
          <a:r>
            <a:rPr lang="en-US" sz="2200" b="1" kern="1200" baseline="-25000"/>
            <a:t>alv </a:t>
          </a:r>
          <a:r>
            <a:rPr lang="en-US" sz="2200" b="1" kern="1200"/>
            <a:t>becomes sub atmospheric</a:t>
          </a:r>
          <a:endParaRPr lang="en-US" sz="2200" kern="1200"/>
        </a:p>
      </dsp:txBody>
      <dsp:txXfrm>
        <a:off x="0" y="3861877"/>
        <a:ext cx="3856434" cy="772243"/>
      </dsp:txXfrm>
    </dsp:sp>
    <dsp:sp modelId="{0196D757-43C1-40E8-A645-F560C7052D23}">
      <dsp:nvSpPr>
        <dsp:cNvPr id="0" name=""/>
        <dsp:cNvSpPr/>
      </dsp:nvSpPr>
      <dsp:spPr>
        <a:xfrm>
          <a:off x="0" y="4634121"/>
          <a:ext cx="3856434"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96E122-5D53-4692-8950-DC4063B71B19}">
      <dsp:nvSpPr>
        <dsp:cNvPr id="0" name=""/>
        <dsp:cNvSpPr/>
      </dsp:nvSpPr>
      <dsp:spPr>
        <a:xfrm>
          <a:off x="0" y="4634121"/>
          <a:ext cx="3856434" cy="772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n-US" sz="2200" b="1" kern="1200"/>
            <a:t>Air flows into alveoli</a:t>
          </a:r>
          <a:endParaRPr lang="en-US" sz="2200" kern="1200"/>
        </a:p>
      </dsp:txBody>
      <dsp:txXfrm>
        <a:off x="0" y="4634121"/>
        <a:ext cx="3856434" cy="7722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83E7BD-139A-4CC7-8253-DBF60E2F081F}">
      <dsp:nvSpPr>
        <dsp:cNvPr id="0" name=""/>
        <dsp:cNvSpPr/>
      </dsp:nvSpPr>
      <dsp:spPr>
        <a:xfrm>
          <a:off x="0" y="25305"/>
          <a:ext cx="4909804" cy="73636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l" defTabSz="844550">
            <a:lnSpc>
              <a:spcPct val="90000"/>
            </a:lnSpc>
            <a:spcBef>
              <a:spcPct val="0"/>
            </a:spcBef>
            <a:spcAft>
              <a:spcPct val="35000"/>
            </a:spcAft>
          </a:pPr>
          <a:r>
            <a:rPr lang="en-US" sz="1900" b="1" kern="1200" dirty="0"/>
            <a:t>Relaxation of Inspiratory muscles</a:t>
          </a:r>
          <a:endParaRPr lang="en-US" sz="1900" kern="1200" dirty="0"/>
        </a:p>
      </dsp:txBody>
      <dsp:txXfrm>
        <a:off x="35947" y="61252"/>
        <a:ext cx="4837910" cy="664474"/>
      </dsp:txXfrm>
    </dsp:sp>
    <dsp:sp modelId="{D1A9C26E-948A-415D-9867-0754F6ED6AA0}">
      <dsp:nvSpPr>
        <dsp:cNvPr id="0" name=""/>
        <dsp:cNvSpPr/>
      </dsp:nvSpPr>
      <dsp:spPr>
        <a:xfrm>
          <a:off x="0" y="816393"/>
          <a:ext cx="4909804" cy="736368"/>
        </a:xfrm>
        <a:prstGeom prst="roundRect">
          <a:avLst/>
        </a:prstGeom>
        <a:solidFill>
          <a:schemeClr val="accent2">
            <a:hueOff val="272541"/>
            <a:satOff val="-6218"/>
            <a:lumOff val="229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l" defTabSz="844550">
            <a:lnSpc>
              <a:spcPct val="90000"/>
            </a:lnSpc>
            <a:spcBef>
              <a:spcPct val="0"/>
            </a:spcBef>
            <a:spcAft>
              <a:spcPct val="35000"/>
            </a:spcAft>
          </a:pPr>
          <a:r>
            <a:rPr lang="en-US" sz="1900" b="1" kern="1200"/>
            <a:t>Chest wall moves inwards</a:t>
          </a:r>
          <a:endParaRPr lang="en-US" sz="1900" kern="1200"/>
        </a:p>
      </dsp:txBody>
      <dsp:txXfrm>
        <a:off x="35947" y="852340"/>
        <a:ext cx="4837910" cy="664474"/>
      </dsp:txXfrm>
    </dsp:sp>
    <dsp:sp modelId="{4CF9E0C8-2D89-4B53-98C6-C3AD387A445D}">
      <dsp:nvSpPr>
        <dsp:cNvPr id="0" name=""/>
        <dsp:cNvSpPr/>
      </dsp:nvSpPr>
      <dsp:spPr>
        <a:xfrm>
          <a:off x="0" y="1607482"/>
          <a:ext cx="4909804" cy="736368"/>
        </a:xfrm>
        <a:prstGeom prst="roundRect">
          <a:avLst/>
        </a:prstGeom>
        <a:solidFill>
          <a:schemeClr val="accent2">
            <a:hueOff val="545083"/>
            <a:satOff val="-12437"/>
            <a:lumOff val="4594"/>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l" defTabSz="844550">
            <a:lnSpc>
              <a:spcPct val="90000"/>
            </a:lnSpc>
            <a:spcBef>
              <a:spcPct val="0"/>
            </a:spcBef>
            <a:spcAft>
              <a:spcPct val="35000"/>
            </a:spcAft>
          </a:pPr>
          <a:r>
            <a:rPr lang="en-US" sz="1900" b="1" kern="1200" dirty="0"/>
            <a:t>P</a:t>
          </a:r>
          <a:r>
            <a:rPr lang="en-US" sz="1900" b="1" kern="1200" baseline="-25000" dirty="0"/>
            <a:t>ip </a:t>
          </a:r>
          <a:r>
            <a:rPr lang="en-US" sz="1900" b="1" kern="1200" dirty="0"/>
            <a:t>backs towards pre Inspiratory value</a:t>
          </a:r>
          <a:endParaRPr lang="en-US" sz="1900" kern="1200" dirty="0"/>
        </a:p>
      </dsp:txBody>
      <dsp:txXfrm>
        <a:off x="35947" y="1643429"/>
        <a:ext cx="4837910" cy="664474"/>
      </dsp:txXfrm>
    </dsp:sp>
    <dsp:sp modelId="{8B723B91-9A5D-4160-9E2C-4E5CCCBB1384}">
      <dsp:nvSpPr>
        <dsp:cNvPr id="0" name=""/>
        <dsp:cNvSpPr/>
      </dsp:nvSpPr>
      <dsp:spPr>
        <a:xfrm>
          <a:off x="0" y="2398571"/>
          <a:ext cx="4909804" cy="736368"/>
        </a:xfrm>
        <a:prstGeom prst="roundRect">
          <a:avLst/>
        </a:prstGeom>
        <a:solidFill>
          <a:schemeClr val="accent2">
            <a:hueOff val="817624"/>
            <a:satOff val="-18655"/>
            <a:lumOff val="6891"/>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l" defTabSz="844550">
            <a:lnSpc>
              <a:spcPct val="90000"/>
            </a:lnSpc>
            <a:spcBef>
              <a:spcPct val="0"/>
            </a:spcBef>
            <a:spcAft>
              <a:spcPct val="35000"/>
            </a:spcAft>
          </a:pPr>
          <a:r>
            <a:rPr lang="en-US" sz="1900" b="1" kern="1200"/>
            <a:t>Transpulmonary pressure back towards pre Inspiratory value</a:t>
          </a:r>
          <a:endParaRPr lang="en-US" sz="1900" kern="1200"/>
        </a:p>
      </dsp:txBody>
      <dsp:txXfrm>
        <a:off x="35947" y="2434518"/>
        <a:ext cx="4837910" cy="664474"/>
      </dsp:txXfrm>
    </dsp:sp>
    <dsp:sp modelId="{66B58EB3-A0B6-4591-BBD3-40E2CC907112}">
      <dsp:nvSpPr>
        <dsp:cNvPr id="0" name=""/>
        <dsp:cNvSpPr/>
      </dsp:nvSpPr>
      <dsp:spPr>
        <a:xfrm>
          <a:off x="0" y="3189659"/>
          <a:ext cx="4909804" cy="736368"/>
        </a:xfrm>
        <a:prstGeom prst="roundRect">
          <a:avLst/>
        </a:prstGeom>
        <a:solidFill>
          <a:schemeClr val="accent2">
            <a:hueOff val="1090165"/>
            <a:satOff val="-24873"/>
            <a:lumOff val="9188"/>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l" defTabSz="844550">
            <a:lnSpc>
              <a:spcPct val="90000"/>
            </a:lnSpc>
            <a:spcBef>
              <a:spcPct val="0"/>
            </a:spcBef>
            <a:spcAft>
              <a:spcPct val="35000"/>
            </a:spcAft>
          </a:pPr>
          <a:r>
            <a:rPr lang="en-US" sz="1900" b="1" kern="1200" dirty="0"/>
            <a:t>Lungs recoil </a:t>
          </a:r>
          <a:r>
            <a:rPr lang="en-US" sz="1900" b="1" kern="1200" dirty="0" smtClean="0"/>
            <a:t>to </a:t>
          </a:r>
          <a:r>
            <a:rPr lang="en-US" sz="1900" b="1" kern="1200" dirty="0"/>
            <a:t>pre Inspiratory size</a:t>
          </a:r>
          <a:endParaRPr lang="en-US" sz="1900" kern="1200" dirty="0"/>
        </a:p>
      </dsp:txBody>
      <dsp:txXfrm>
        <a:off x="35947" y="3225606"/>
        <a:ext cx="4837910" cy="664474"/>
      </dsp:txXfrm>
    </dsp:sp>
    <dsp:sp modelId="{FFA89489-F111-4529-BB41-C4FF4FED850A}">
      <dsp:nvSpPr>
        <dsp:cNvPr id="0" name=""/>
        <dsp:cNvSpPr/>
      </dsp:nvSpPr>
      <dsp:spPr>
        <a:xfrm>
          <a:off x="0" y="3980748"/>
          <a:ext cx="4909804" cy="736368"/>
        </a:xfrm>
        <a:prstGeom prst="roundRect">
          <a:avLst/>
        </a:prstGeom>
        <a:solidFill>
          <a:schemeClr val="accent2">
            <a:hueOff val="1362707"/>
            <a:satOff val="-31091"/>
            <a:lumOff val="11485"/>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l" defTabSz="844550">
            <a:lnSpc>
              <a:spcPct val="90000"/>
            </a:lnSpc>
            <a:spcBef>
              <a:spcPct val="0"/>
            </a:spcBef>
            <a:spcAft>
              <a:spcPct val="35000"/>
            </a:spcAft>
          </a:pPr>
          <a:r>
            <a:rPr lang="en-US" sz="1900" b="1" kern="1200"/>
            <a:t>Alveolar air compressed</a:t>
          </a:r>
          <a:endParaRPr lang="en-US" sz="1900" kern="1200"/>
        </a:p>
      </dsp:txBody>
      <dsp:txXfrm>
        <a:off x="35947" y="4016695"/>
        <a:ext cx="4837910" cy="664474"/>
      </dsp:txXfrm>
    </dsp:sp>
    <dsp:sp modelId="{9F7F17FF-F246-40C9-97FB-0AE74B8F6AB1}">
      <dsp:nvSpPr>
        <dsp:cNvPr id="0" name=""/>
        <dsp:cNvSpPr/>
      </dsp:nvSpPr>
      <dsp:spPr>
        <a:xfrm>
          <a:off x="0" y="4771837"/>
          <a:ext cx="4909804" cy="736368"/>
        </a:xfrm>
        <a:prstGeom prst="roundRect">
          <a:avLst/>
        </a:prstGeom>
        <a:solidFill>
          <a:schemeClr val="accent2">
            <a:hueOff val="1635248"/>
            <a:satOff val="-37310"/>
            <a:lumOff val="13782"/>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l" defTabSz="844550">
            <a:lnSpc>
              <a:spcPct val="90000"/>
            </a:lnSpc>
            <a:spcBef>
              <a:spcPct val="0"/>
            </a:spcBef>
            <a:spcAft>
              <a:spcPct val="35000"/>
            </a:spcAft>
          </a:pPr>
          <a:r>
            <a:rPr lang="en-US" sz="1900" b="1" kern="1200"/>
            <a:t>P</a:t>
          </a:r>
          <a:r>
            <a:rPr lang="en-US" sz="1900" b="1" kern="1200" baseline="-25000"/>
            <a:t>alv </a:t>
          </a:r>
          <a:r>
            <a:rPr lang="en-US" sz="1900" b="1" kern="1200"/>
            <a:t>becomes greater than</a:t>
          </a:r>
          <a:r>
            <a:rPr lang="en-US" sz="1900" b="1" kern="1200" baseline="-25000"/>
            <a:t> </a:t>
          </a:r>
          <a:r>
            <a:rPr lang="en-US" sz="1900" b="1" kern="1200"/>
            <a:t>P</a:t>
          </a:r>
          <a:r>
            <a:rPr lang="en-US" sz="1900" b="1" kern="1200" baseline="-25000"/>
            <a:t> atm</a:t>
          </a:r>
          <a:endParaRPr lang="en-US" sz="1900" kern="1200"/>
        </a:p>
      </dsp:txBody>
      <dsp:txXfrm>
        <a:off x="35947" y="4807784"/>
        <a:ext cx="4837910" cy="664474"/>
      </dsp:txXfrm>
    </dsp:sp>
    <dsp:sp modelId="{F7F62116-6EE3-4C48-8839-CFCFA857010E}">
      <dsp:nvSpPr>
        <dsp:cNvPr id="0" name=""/>
        <dsp:cNvSpPr/>
      </dsp:nvSpPr>
      <dsp:spPr>
        <a:xfrm>
          <a:off x="0" y="5562926"/>
          <a:ext cx="4909804" cy="736368"/>
        </a:xfrm>
        <a:prstGeom prst="roundRect">
          <a:avLst/>
        </a:prstGeom>
        <a:solidFill>
          <a:schemeClr val="accent2">
            <a:hueOff val="1907789"/>
            <a:satOff val="-43528"/>
            <a:lumOff val="1607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l" defTabSz="844550">
            <a:lnSpc>
              <a:spcPct val="90000"/>
            </a:lnSpc>
            <a:spcBef>
              <a:spcPct val="0"/>
            </a:spcBef>
            <a:spcAft>
              <a:spcPct val="35000"/>
            </a:spcAft>
          </a:pPr>
          <a:r>
            <a:rPr lang="en-US" sz="1900" b="1" kern="1200"/>
            <a:t>Air flow out of lungs</a:t>
          </a:r>
          <a:endParaRPr lang="en-US" sz="1900" kern="1200"/>
        </a:p>
      </dsp:txBody>
      <dsp:txXfrm>
        <a:off x="35947" y="5598873"/>
        <a:ext cx="4837910" cy="6644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E999F0-F337-4E6F-8DCD-0D6600DB8534}">
      <dsp:nvSpPr>
        <dsp:cNvPr id="0" name=""/>
        <dsp:cNvSpPr/>
      </dsp:nvSpPr>
      <dsp:spPr>
        <a:xfrm>
          <a:off x="0" y="0"/>
          <a:ext cx="5808726" cy="65121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kern="1200" dirty="0">
              <a:latin typeface="Rockwell"/>
            </a:rPr>
            <a:t>Deep inspiration (2.5 L)</a:t>
          </a:r>
        </a:p>
      </dsp:txBody>
      <dsp:txXfrm>
        <a:off x="19073" y="19073"/>
        <a:ext cx="5029826" cy="613066"/>
      </dsp:txXfrm>
    </dsp:sp>
    <dsp:sp modelId="{249AE3C0-EBCB-4208-8CF2-6FDC210F0913}">
      <dsp:nvSpPr>
        <dsp:cNvPr id="0" name=""/>
        <dsp:cNvSpPr/>
      </dsp:nvSpPr>
      <dsp:spPr>
        <a:xfrm>
          <a:off x="433768" y="741658"/>
          <a:ext cx="5808726" cy="65121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kern="1200" dirty="0">
              <a:latin typeface="Rockwell"/>
            </a:rPr>
            <a:t>Forced expiration against a closed glottis</a:t>
          </a:r>
        </a:p>
      </dsp:txBody>
      <dsp:txXfrm>
        <a:off x="452841" y="760731"/>
        <a:ext cx="4913523" cy="613066"/>
      </dsp:txXfrm>
    </dsp:sp>
    <dsp:sp modelId="{8CC2A0B7-B691-4E1C-8D9A-73349BC4B491}">
      <dsp:nvSpPr>
        <dsp:cNvPr id="0" name=""/>
        <dsp:cNvSpPr/>
      </dsp:nvSpPr>
      <dsp:spPr>
        <a:xfrm>
          <a:off x="867536" y="1483316"/>
          <a:ext cx="5808726" cy="65121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kern="1200" dirty="0">
              <a:latin typeface="Rockwell"/>
            </a:rPr>
            <a:t>Intrathoracic pressure increases to 100 mm Hg or more</a:t>
          </a:r>
        </a:p>
      </dsp:txBody>
      <dsp:txXfrm>
        <a:off x="886609" y="1502389"/>
        <a:ext cx="4913523" cy="613066"/>
      </dsp:txXfrm>
    </dsp:sp>
    <dsp:sp modelId="{E5F51610-3AFB-4542-8566-536A5BFB8BCB}">
      <dsp:nvSpPr>
        <dsp:cNvPr id="0" name=""/>
        <dsp:cNvSpPr/>
      </dsp:nvSpPr>
      <dsp:spPr>
        <a:xfrm>
          <a:off x="1301305" y="2224974"/>
          <a:ext cx="5808726" cy="65121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dirty="0">
              <a:latin typeface="Rockwell"/>
            </a:rPr>
            <a:t>Glottis opened</a:t>
          </a:r>
        </a:p>
      </dsp:txBody>
      <dsp:txXfrm>
        <a:off x="1320378" y="2244047"/>
        <a:ext cx="4913523" cy="613066"/>
      </dsp:txXfrm>
    </dsp:sp>
    <dsp:sp modelId="{258BAD2E-8121-4395-B4D7-7C4C5C9DAE23}">
      <dsp:nvSpPr>
        <dsp:cNvPr id="0" name=""/>
        <dsp:cNvSpPr/>
      </dsp:nvSpPr>
      <dsp:spPr>
        <a:xfrm>
          <a:off x="1735073" y="2966632"/>
          <a:ext cx="5808726" cy="65121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kern="1200" dirty="0">
              <a:latin typeface="Rockwell"/>
            </a:rPr>
            <a:t>Explosive outflow of air (75-100 miles/</a:t>
          </a:r>
          <a:r>
            <a:rPr lang="en-US" sz="1700" kern="1200" dirty="0" err="1">
              <a:latin typeface="Rockwell"/>
            </a:rPr>
            <a:t>hr</a:t>
          </a:r>
          <a:r>
            <a:rPr lang="en-US" sz="1700" kern="1200" dirty="0">
              <a:latin typeface="Rockwell"/>
            </a:rPr>
            <a:t>)</a:t>
          </a:r>
        </a:p>
      </dsp:txBody>
      <dsp:txXfrm>
        <a:off x="1754146" y="2985705"/>
        <a:ext cx="4913523" cy="613066"/>
      </dsp:txXfrm>
    </dsp:sp>
    <dsp:sp modelId="{29635EF3-EC14-4CD8-8300-0F7DF470CDCE}">
      <dsp:nvSpPr>
        <dsp:cNvPr id="0" name=""/>
        <dsp:cNvSpPr/>
      </dsp:nvSpPr>
      <dsp:spPr>
        <a:xfrm>
          <a:off x="5385438" y="475746"/>
          <a:ext cx="423287" cy="423287"/>
        </a:xfrm>
        <a:prstGeom prst="downArrow">
          <a:avLst>
            <a:gd name="adj1" fmla="val 55000"/>
            <a:gd name="adj2" fmla="val 45000"/>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endParaRPr lang="en-US" sz="1900" kern="1200"/>
        </a:p>
      </dsp:txBody>
      <dsp:txXfrm>
        <a:off x="5480678" y="475746"/>
        <a:ext cx="232807" cy="318523"/>
      </dsp:txXfrm>
    </dsp:sp>
    <dsp:sp modelId="{D772DC6C-D25B-46F4-A067-942B27ECCBC3}">
      <dsp:nvSpPr>
        <dsp:cNvPr id="0" name=""/>
        <dsp:cNvSpPr/>
      </dsp:nvSpPr>
      <dsp:spPr>
        <a:xfrm>
          <a:off x="5819206" y="1217404"/>
          <a:ext cx="423287" cy="423287"/>
        </a:xfrm>
        <a:prstGeom prst="downArrow">
          <a:avLst>
            <a:gd name="adj1" fmla="val 55000"/>
            <a:gd name="adj2" fmla="val 45000"/>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endParaRPr lang="en-US" sz="1900" kern="1200"/>
        </a:p>
      </dsp:txBody>
      <dsp:txXfrm>
        <a:off x="5914446" y="1217404"/>
        <a:ext cx="232807" cy="318523"/>
      </dsp:txXfrm>
    </dsp:sp>
    <dsp:sp modelId="{CA0DCF0F-F03F-4308-9C70-7DCB191A2A83}">
      <dsp:nvSpPr>
        <dsp:cNvPr id="0" name=""/>
        <dsp:cNvSpPr/>
      </dsp:nvSpPr>
      <dsp:spPr>
        <a:xfrm>
          <a:off x="6252975" y="1948209"/>
          <a:ext cx="423287" cy="423287"/>
        </a:xfrm>
        <a:prstGeom prst="downArrow">
          <a:avLst>
            <a:gd name="adj1" fmla="val 55000"/>
            <a:gd name="adj2" fmla="val 45000"/>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endParaRPr lang="en-US" sz="1900" kern="1200"/>
        </a:p>
      </dsp:txBody>
      <dsp:txXfrm>
        <a:off x="6348215" y="1948209"/>
        <a:ext cx="232807" cy="318523"/>
      </dsp:txXfrm>
    </dsp:sp>
    <dsp:sp modelId="{436708EE-FAF4-48D9-84DA-411A53788647}">
      <dsp:nvSpPr>
        <dsp:cNvPr id="0" name=""/>
        <dsp:cNvSpPr/>
      </dsp:nvSpPr>
      <dsp:spPr>
        <a:xfrm>
          <a:off x="6686743" y="2697103"/>
          <a:ext cx="423287" cy="423287"/>
        </a:xfrm>
        <a:prstGeom prst="downArrow">
          <a:avLst>
            <a:gd name="adj1" fmla="val 55000"/>
            <a:gd name="adj2" fmla="val 45000"/>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endParaRPr lang="en-US" sz="1900" kern="1200"/>
        </a:p>
      </dsp:txBody>
      <dsp:txXfrm>
        <a:off x="6781983" y="2697103"/>
        <a:ext cx="232807" cy="31852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C970AB2-AB83-4B7E-A5C4-C3616DE4E482}" type="datetimeFigureOut">
              <a:rPr lang="en-US" smtClean="0"/>
              <a:pPr/>
              <a:t>4/4/2026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ADEAB7C-228B-4AFD-AB48-0892EFD3886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physioweb.org/respiration/respire_mechanics.html?utm_source=chatgpt.com" TargetMode="External"/><Relationship Id="rId2" Type="http://schemas.openxmlformats.org/officeDocument/2006/relationships/slide" Target="../slides/slide27.xml"/><Relationship Id="rId1" Type="http://schemas.openxmlformats.org/officeDocument/2006/relationships/notesMaster" Target="../notesMasters/notesMaster1.xml"/><Relationship Id="rId6" Type="http://schemas.openxmlformats.org/officeDocument/2006/relationships/hyperlink" Target="https://training.seer.cancer.gov/anatomy/respiratory/mechanics.html?utm_source=chatgpt.com" TargetMode="External"/><Relationship Id="rId5" Type="http://schemas.openxmlformats.org/officeDocument/2006/relationships/hyperlink" Target="https://derangedphysiology.com/main/cicm-primary-exam/respiratory-system/Chapter-030/expiratory-and-inspiratory-process?utm_source=chatgpt.com" TargetMode="External"/><Relationship Id="rId4" Type="http://schemas.openxmlformats.org/officeDocument/2006/relationships/hyperlink" Target="https://teachmephysiology.com/respiratory-system/ventilation/mechanics-of-breathing/boyles-law/?utm_source=chatgpt.com"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dirty="0" smtClean="0"/>
              <a:t>Great—</a:t>
            </a:r>
            <a:r>
              <a:rPr lang="en-US" b="1" dirty="0" smtClean="0"/>
              <a:t>Alveolar Cells (</a:t>
            </a:r>
            <a:r>
              <a:rPr lang="en-US" b="1" dirty="0" err="1" smtClean="0"/>
              <a:t>Pneumocytes</a:t>
            </a:r>
            <a:r>
              <a:rPr lang="en-US" b="1" dirty="0" smtClean="0"/>
              <a:t>)</a:t>
            </a:r>
            <a:r>
              <a:rPr lang="en-US" dirty="0" smtClean="0"/>
              <a:t> is a very important respiratory physiology topic. Let’s make it </a:t>
            </a:r>
            <a:r>
              <a:rPr lang="en-US" b="1" dirty="0" smtClean="0"/>
              <a:t>simple, structured, and exam-ready</a:t>
            </a:r>
            <a:r>
              <a:rPr lang="en-US" dirty="0" smtClean="0"/>
              <a:t> 😊</a:t>
            </a:r>
          </a:p>
          <a:p>
            <a:r>
              <a:rPr lang="en-US" b="1" dirty="0" smtClean="0"/>
              <a:t>🫁 Alveolar Cells (</a:t>
            </a:r>
            <a:r>
              <a:rPr lang="en-US" b="1" dirty="0" err="1" smtClean="0"/>
              <a:t>Pneumocytes</a:t>
            </a:r>
            <a:r>
              <a:rPr lang="en-US" b="1" dirty="0" smtClean="0"/>
              <a:t>)</a:t>
            </a:r>
          </a:p>
          <a:p>
            <a:r>
              <a:rPr lang="en-US" b="1" dirty="0" smtClean="0"/>
              <a:t>🔹 Definition</a:t>
            </a:r>
          </a:p>
          <a:p>
            <a:r>
              <a:rPr lang="en-US" dirty="0" smtClean="0"/>
              <a:t>Alveolar cells are the </a:t>
            </a:r>
            <a:r>
              <a:rPr lang="en-US" b="1" dirty="0" smtClean="0"/>
              <a:t>cells lining the alveoli (air sacs) of the lungs</a:t>
            </a:r>
            <a:r>
              <a:rPr lang="en-US" dirty="0" smtClean="0"/>
              <a:t>, where </a:t>
            </a:r>
            <a:r>
              <a:rPr lang="en-US" b="1" dirty="0" smtClean="0"/>
              <a:t>gas exchange occurs</a:t>
            </a:r>
            <a:r>
              <a:rPr lang="en-US" dirty="0" smtClean="0"/>
              <a:t>.</a:t>
            </a:r>
          </a:p>
          <a:p>
            <a:r>
              <a:rPr lang="en-US" dirty="0" smtClean="0"/>
              <a:t>👉 Main function: </a:t>
            </a:r>
            <a:r>
              <a:rPr lang="en-US" b="1" dirty="0" smtClean="0"/>
              <a:t>exchange of O₂ and CO₂</a:t>
            </a:r>
            <a:endParaRPr lang="en-US" dirty="0" smtClean="0"/>
          </a:p>
          <a:p>
            <a:r>
              <a:rPr lang="en-US" b="1" dirty="0" smtClean="0"/>
              <a:t>🧩 Types of Alveolar Cells</a:t>
            </a:r>
          </a:p>
          <a:p>
            <a:r>
              <a:rPr lang="en-US" b="1" dirty="0" smtClean="0"/>
              <a:t>1️⃣ Type I </a:t>
            </a:r>
            <a:r>
              <a:rPr lang="en-US" b="1" dirty="0" err="1" smtClean="0"/>
              <a:t>Pneumocytes</a:t>
            </a:r>
            <a:endParaRPr lang="en-US" b="1" dirty="0" smtClean="0"/>
          </a:p>
          <a:p>
            <a:r>
              <a:rPr lang="en-US" b="1" dirty="0" smtClean="0"/>
              <a:t>🔬 Structure:</a:t>
            </a:r>
          </a:p>
          <a:p>
            <a:r>
              <a:rPr lang="en-US" dirty="0" smtClean="0"/>
              <a:t>Thin, flat cells</a:t>
            </a:r>
          </a:p>
          <a:p>
            <a:r>
              <a:rPr lang="en-US" dirty="0" smtClean="0"/>
              <a:t>Cover about </a:t>
            </a:r>
            <a:r>
              <a:rPr lang="en-US" b="1" dirty="0" smtClean="0"/>
              <a:t>95% of alveolar surface</a:t>
            </a:r>
            <a:endParaRPr lang="en-US" dirty="0" smtClean="0"/>
          </a:p>
          <a:p>
            <a:r>
              <a:rPr lang="en-US" b="1" dirty="0" smtClean="0"/>
              <a:t>⚙️ Function:</a:t>
            </a:r>
          </a:p>
          <a:p>
            <a:r>
              <a:rPr lang="en-US" dirty="0" smtClean="0"/>
              <a:t>Main site of </a:t>
            </a:r>
            <a:r>
              <a:rPr lang="en-US" b="1" dirty="0" smtClean="0"/>
              <a:t>gas exchange</a:t>
            </a:r>
            <a:endParaRPr lang="en-US" dirty="0" smtClean="0"/>
          </a:p>
          <a:p>
            <a:r>
              <a:rPr lang="en-US" dirty="0" smtClean="0"/>
              <a:t>Allows:</a:t>
            </a:r>
          </a:p>
          <a:p>
            <a:pPr lvl="1"/>
            <a:r>
              <a:rPr lang="en-US" dirty="0" smtClean="0"/>
              <a:t>Oxygen → into blood</a:t>
            </a:r>
          </a:p>
          <a:p>
            <a:pPr lvl="1"/>
            <a:r>
              <a:rPr lang="en-US" dirty="0" smtClean="0"/>
              <a:t>Carbon dioxide → out</a:t>
            </a:r>
          </a:p>
          <a:p>
            <a:r>
              <a:rPr lang="en-US" dirty="0" smtClean="0"/>
              <a:t>👉 Very important for </a:t>
            </a:r>
            <a:r>
              <a:rPr lang="en-US" b="1" dirty="0" smtClean="0"/>
              <a:t>diffusion</a:t>
            </a:r>
            <a:endParaRPr lang="en-US" dirty="0" smtClean="0"/>
          </a:p>
          <a:p>
            <a:r>
              <a:rPr lang="en-US" b="1" dirty="0" smtClean="0"/>
              <a:t>2️⃣ Type II </a:t>
            </a:r>
            <a:r>
              <a:rPr lang="en-US" b="1" dirty="0" err="1" smtClean="0"/>
              <a:t>Pneumocytes</a:t>
            </a:r>
            <a:endParaRPr lang="en-US" b="1" dirty="0" smtClean="0"/>
          </a:p>
          <a:p>
            <a:r>
              <a:rPr lang="en-US" b="1" dirty="0" smtClean="0"/>
              <a:t>🔬 Structure:</a:t>
            </a:r>
          </a:p>
          <a:p>
            <a:r>
              <a:rPr lang="en-US" dirty="0" smtClean="0"/>
              <a:t>Round/</a:t>
            </a:r>
            <a:r>
              <a:rPr lang="en-US" dirty="0" err="1" smtClean="0"/>
              <a:t>cuboidal</a:t>
            </a:r>
            <a:r>
              <a:rPr lang="en-US" dirty="0" smtClean="0"/>
              <a:t> cells</a:t>
            </a:r>
          </a:p>
          <a:p>
            <a:r>
              <a:rPr lang="en-US" dirty="0" smtClean="0"/>
              <a:t>Fewer in number</a:t>
            </a:r>
          </a:p>
          <a:p>
            <a:r>
              <a:rPr lang="en-US" b="1" dirty="0" smtClean="0"/>
              <a:t>⚙️ Functions:</a:t>
            </a:r>
          </a:p>
          <a:p>
            <a:r>
              <a:rPr lang="en-US" b="1" dirty="0" smtClean="0"/>
              <a:t>🫧 a. Surfactant Secretion</a:t>
            </a:r>
          </a:p>
          <a:p>
            <a:r>
              <a:rPr lang="en-US" dirty="0" smtClean="0"/>
              <a:t>Produces </a:t>
            </a:r>
            <a:r>
              <a:rPr lang="en-US" b="1" dirty="0" smtClean="0"/>
              <a:t>surfactant</a:t>
            </a:r>
            <a:r>
              <a:rPr lang="en-US" dirty="0" smtClean="0"/>
              <a:t/>
            </a:r>
            <a:br>
              <a:rPr lang="en-US" dirty="0" smtClean="0"/>
            </a:br>
            <a:r>
              <a:rPr lang="en-US" dirty="0" smtClean="0"/>
              <a:t>👉 Reduces surface tension</a:t>
            </a:r>
            <a:br>
              <a:rPr lang="en-US" dirty="0" smtClean="0"/>
            </a:br>
            <a:r>
              <a:rPr lang="en-US" dirty="0" smtClean="0"/>
              <a:t>👉 Prevents alveoli from collapsing</a:t>
            </a:r>
          </a:p>
          <a:p>
            <a:r>
              <a:rPr lang="en-US" b="1" dirty="0" smtClean="0"/>
              <a:t>🔄 b. Repair Function</a:t>
            </a:r>
          </a:p>
          <a:p>
            <a:r>
              <a:rPr lang="en-US" dirty="0" smtClean="0"/>
              <a:t>Can divide and replace:</a:t>
            </a:r>
          </a:p>
          <a:p>
            <a:pPr lvl="1"/>
            <a:r>
              <a:rPr lang="en-US" dirty="0" smtClean="0"/>
              <a:t>Type I cells</a:t>
            </a:r>
          </a:p>
          <a:p>
            <a:pPr lvl="1"/>
            <a:r>
              <a:rPr lang="en-US" dirty="0" smtClean="0"/>
              <a:t>Damaged alveolar cells</a:t>
            </a:r>
          </a:p>
          <a:p>
            <a:r>
              <a:rPr lang="en-US" b="1" dirty="0" smtClean="0"/>
              <a:t>3️⃣ Alveolar Macrophages (Dust Cells)</a:t>
            </a:r>
          </a:p>
          <a:p>
            <a:r>
              <a:rPr lang="en-US" b="1" dirty="0" smtClean="0"/>
              <a:t>⚙️ Function:</a:t>
            </a:r>
          </a:p>
          <a:p>
            <a:r>
              <a:rPr lang="en-US" dirty="0" smtClean="0"/>
              <a:t>Engulf:</a:t>
            </a:r>
          </a:p>
          <a:p>
            <a:pPr lvl="1"/>
            <a:r>
              <a:rPr lang="en-US" dirty="0" smtClean="0"/>
              <a:t>Dust</a:t>
            </a:r>
          </a:p>
          <a:p>
            <a:pPr lvl="1"/>
            <a:r>
              <a:rPr lang="en-US" dirty="0" smtClean="0"/>
              <a:t>Bacteria</a:t>
            </a:r>
          </a:p>
          <a:p>
            <a:r>
              <a:rPr lang="en-US" dirty="0" smtClean="0"/>
              <a:t>👉 Important for </a:t>
            </a:r>
            <a:r>
              <a:rPr lang="en-US" b="1" dirty="0" smtClean="0"/>
              <a:t>lung defense</a:t>
            </a:r>
            <a:endParaRPr lang="en-US" dirty="0" smtClean="0"/>
          </a:p>
          <a:p>
            <a:r>
              <a:rPr lang="en-US" b="1" dirty="0" smtClean="0"/>
              <a:t>⚖️ Summary Table</a:t>
            </a:r>
          </a:p>
          <a:p>
            <a:r>
              <a:rPr lang="en-US" dirty="0" smtClean="0"/>
              <a:t>Cell </a:t>
            </a:r>
            <a:r>
              <a:rPr lang="en-US" dirty="0" err="1" smtClean="0"/>
              <a:t>TypeFunctionType</a:t>
            </a:r>
            <a:r>
              <a:rPr lang="en-US" dirty="0" smtClean="0"/>
              <a:t> </a:t>
            </a:r>
            <a:r>
              <a:rPr lang="en-US" dirty="0" err="1" smtClean="0"/>
              <a:t>IGas</a:t>
            </a:r>
            <a:r>
              <a:rPr lang="en-US" dirty="0" smtClean="0"/>
              <a:t> </a:t>
            </a:r>
            <a:r>
              <a:rPr lang="en-US" dirty="0" err="1" smtClean="0"/>
              <a:t>exchangeType</a:t>
            </a:r>
            <a:r>
              <a:rPr lang="en-US" dirty="0" smtClean="0"/>
              <a:t> </a:t>
            </a:r>
            <a:r>
              <a:rPr lang="en-US" dirty="0" err="1" smtClean="0"/>
              <a:t>IISurfactant</a:t>
            </a:r>
            <a:r>
              <a:rPr lang="en-US" dirty="0" smtClean="0"/>
              <a:t> + </a:t>
            </a:r>
            <a:r>
              <a:rPr lang="en-US" dirty="0" err="1" smtClean="0"/>
              <a:t>repairMacrophagesDefense</a:t>
            </a:r>
            <a:r>
              <a:rPr lang="en-US" b="1" dirty="0" smtClean="0"/>
              <a:t>🧠 Short Exam Answer (Write This!)</a:t>
            </a:r>
          </a:p>
          <a:p>
            <a:r>
              <a:rPr lang="en-US" dirty="0" smtClean="0"/>
              <a:t>Alveolar cells, or </a:t>
            </a:r>
            <a:r>
              <a:rPr lang="en-US" dirty="0" err="1" smtClean="0"/>
              <a:t>pneumocytes</a:t>
            </a:r>
            <a:r>
              <a:rPr lang="en-US" dirty="0" smtClean="0"/>
              <a:t>, line the alveoli and are of two main types. Type I </a:t>
            </a:r>
            <a:r>
              <a:rPr lang="en-US" dirty="0" err="1" smtClean="0"/>
              <a:t>pneumocytes</a:t>
            </a:r>
            <a:r>
              <a:rPr lang="en-US" dirty="0" smtClean="0"/>
              <a:t> are thin cells responsible for gas exchange, while Type II </a:t>
            </a:r>
            <a:r>
              <a:rPr lang="en-US" dirty="0" err="1" smtClean="0"/>
              <a:t>pneumocytes</a:t>
            </a:r>
            <a:r>
              <a:rPr lang="en-US" dirty="0" smtClean="0"/>
              <a:t> secrete surfactant and help in repair. Alveolar macrophages provide immune defense.</a:t>
            </a:r>
          </a:p>
          <a:p>
            <a:r>
              <a:rPr lang="en-US" b="1" dirty="0" smtClean="0"/>
              <a:t>⚡ Memory Trick</a:t>
            </a:r>
          </a:p>
          <a:p>
            <a:r>
              <a:rPr lang="en-US" b="1" dirty="0" smtClean="0"/>
              <a:t>“1 = Exchange, 2 = Surfactant, M = Macrophage (defense)”</a:t>
            </a:r>
            <a:endParaRPr lang="en-US" dirty="0" smtClean="0"/>
          </a:p>
          <a:p>
            <a:r>
              <a:rPr lang="en-US" dirty="0" smtClean="0"/>
              <a:t>If you want, I can next explain </a:t>
            </a:r>
            <a:r>
              <a:rPr lang="en-US" b="1" dirty="0" smtClean="0"/>
              <a:t>surfactant in detail + neonatal respiratory distress (very common exam question)</a:t>
            </a:r>
            <a:r>
              <a:rPr lang="en-US" dirty="0" smtClean="0"/>
              <a:t> 🔥</a:t>
            </a:r>
          </a:p>
          <a:p>
            <a:endParaRPr lang="en-US" dirty="0"/>
          </a:p>
        </p:txBody>
      </p:sp>
      <p:sp>
        <p:nvSpPr>
          <p:cNvPr id="4" name="Slide Number Placeholder 3"/>
          <p:cNvSpPr>
            <a:spLocks noGrp="1"/>
          </p:cNvSpPr>
          <p:nvPr>
            <p:ph type="sldNum" sz="quarter" idx="10"/>
          </p:nvPr>
        </p:nvSpPr>
        <p:spPr/>
        <p:txBody>
          <a:bodyPr/>
          <a:lstStyle/>
          <a:p>
            <a:fld id="{1ADEAB7C-228B-4AFD-AB48-0892EFD3886B}" type="slidenum">
              <a:rPr lang="en-US" smtClean="0"/>
              <a:pPr/>
              <a:t>8</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dirty="0" smtClean="0"/>
              <a:t>Great — this slide is </a:t>
            </a:r>
            <a:r>
              <a:rPr lang="en-US" sz="1200" b="1" dirty="0" smtClean="0"/>
              <a:t>VERY important</a:t>
            </a:r>
            <a:r>
              <a:rPr lang="en-US" sz="1200" dirty="0" smtClean="0"/>
              <a:t> (mechanism of inspiration). I’ll explain it step-by-step exactly like your slide so you can </a:t>
            </a:r>
            <a:r>
              <a:rPr lang="en-US" sz="1200" b="1" dirty="0" smtClean="0"/>
              <a:t>understand + explain in presentation easily</a:t>
            </a:r>
            <a:r>
              <a:rPr lang="en-US" sz="1200" dirty="0" smtClean="0"/>
              <a:t>.</a:t>
            </a:r>
          </a:p>
          <a:p>
            <a:r>
              <a:rPr lang="en-US" sz="1200" b="1" dirty="0" smtClean="0"/>
              <a:t>🌬️ MECHANISM OF INSPIRATION (Line by Line Explanation)</a:t>
            </a:r>
          </a:p>
          <a:p>
            <a:r>
              <a:rPr lang="en-US" sz="1200" b="1" dirty="0" smtClean="0"/>
              <a:t>1. Contraction of </a:t>
            </a:r>
            <a:r>
              <a:rPr lang="en-US" sz="1200" b="1" dirty="0" err="1" smtClean="0"/>
              <a:t>Inspiratory</a:t>
            </a:r>
            <a:r>
              <a:rPr lang="en-US" sz="1200" b="1" dirty="0" smtClean="0"/>
              <a:t> Muscles</a:t>
            </a:r>
          </a:p>
          <a:p>
            <a:r>
              <a:rPr lang="en-US" sz="1200" dirty="0" smtClean="0"/>
              <a:t>👉 Muscles involved:</a:t>
            </a:r>
          </a:p>
          <a:p>
            <a:r>
              <a:rPr lang="en-US" sz="1200" dirty="0" smtClean="0"/>
              <a:t>Diaphragm</a:t>
            </a:r>
          </a:p>
          <a:p>
            <a:r>
              <a:rPr lang="en-US" sz="1200" dirty="0" smtClean="0"/>
              <a:t>External intercostals</a:t>
            </a:r>
          </a:p>
          <a:p>
            <a:r>
              <a:rPr lang="en-US" sz="1200" dirty="0" smtClean="0"/>
              <a:t>✔ When they contract:</a:t>
            </a:r>
          </a:p>
          <a:p>
            <a:r>
              <a:rPr lang="en-US" sz="1200" dirty="0" smtClean="0"/>
              <a:t>Diaphragm moves </a:t>
            </a:r>
            <a:r>
              <a:rPr lang="en-US" sz="1200" b="1" dirty="0" smtClean="0"/>
              <a:t>down</a:t>
            </a:r>
            <a:endParaRPr lang="en-US" sz="1200" dirty="0" smtClean="0"/>
          </a:p>
          <a:p>
            <a:r>
              <a:rPr lang="en-US" sz="1200" dirty="0" smtClean="0"/>
              <a:t>Ribs move </a:t>
            </a:r>
            <a:r>
              <a:rPr lang="en-US" sz="1200" b="1" dirty="0" smtClean="0"/>
              <a:t>up and out</a:t>
            </a:r>
            <a:endParaRPr lang="en-US" sz="1200" dirty="0" smtClean="0"/>
          </a:p>
          <a:p>
            <a:r>
              <a:rPr lang="en-US" sz="1200" dirty="0" smtClean="0"/>
              <a:t>👉 This increases chest size (</a:t>
            </a:r>
            <a:r>
              <a:rPr lang="en-US" sz="1200" dirty="0" smtClean="0">
                <a:hlinkClick r:id="rId3" tooltip="Mechanics of Respiration"/>
              </a:rPr>
              <a:t>Physiology</a:t>
            </a:r>
            <a:r>
              <a:rPr lang="en-US" sz="1200" dirty="0" smtClean="0"/>
              <a:t>)</a:t>
            </a:r>
          </a:p>
          <a:p>
            <a:r>
              <a:rPr lang="en-US" sz="1200" b="1" dirty="0" smtClean="0"/>
              <a:t>2. Thorax expands</a:t>
            </a:r>
          </a:p>
          <a:p>
            <a:r>
              <a:rPr lang="en-US" sz="1200" dirty="0" smtClean="0"/>
              <a:t>👉 Chest cavity becomes </a:t>
            </a:r>
            <a:r>
              <a:rPr lang="en-US" sz="1200" b="1" dirty="0" smtClean="0"/>
              <a:t>bigger in all directions</a:t>
            </a:r>
            <a:endParaRPr lang="en-US" sz="1200" dirty="0" smtClean="0"/>
          </a:p>
          <a:p>
            <a:r>
              <a:rPr lang="en-US" sz="1200" dirty="0" smtClean="0"/>
              <a:t>✔ Result:</a:t>
            </a:r>
          </a:p>
          <a:p>
            <a:r>
              <a:rPr lang="en-US" sz="1200" dirty="0" smtClean="0"/>
              <a:t>Volume ↑</a:t>
            </a:r>
          </a:p>
          <a:p>
            <a:r>
              <a:rPr lang="en-US" sz="1200" dirty="0" smtClean="0"/>
              <a:t>According to Boyle’s law:</a:t>
            </a:r>
            <a:br>
              <a:rPr lang="en-US" sz="1200" dirty="0" smtClean="0"/>
            </a:br>
            <a:r>
              <a:rPr lang="en-US" sz="1200" dirty="0" smtClean="0"/>
              <a:t>👉 </a:t>
            </a:r>
            <a:r>
              <a:rPr lang="en-US" sz="1200" b="1" dirty="0" smtClean="0"/>
              <a:t>Volume ↑ → Pressure ↓</a:t>
            </a:r>
            <a:r>
              <a:rPr lang="en-US" sz="1200" dirty="0" smtClean="0"/>
              <a:t> (</a:t>
            </a:r>
            <a:r>
              <a:rPr lang="en-US" sz="1200" dirty="0" err="1" smtClean="0">
                <a:hlinkClick r:id="rId4" tooltip="Mechanics of Breathing - Inspiration - Expiration - TeachMePhysiology"/>
              </a:rPr>
              <a:t>TeachMePhysiology</a:t>
            </a:r>
            <a:r>
              <a:rPr lang="en-US" sz="1200" dirty="0" smtClean="0"/>
              <a:t>)</a:t>
            </a:r>
          </a:p>
          <a:p>
            <a:r>
              <a:rPr lang="en-US" sz="1000" b="1" dirty="0" smtClean="0"/>
              <a:t>3. Pip becomes more sub-atmospheric (more negative)</a:t>
            </a:r>
          </a:p>
          <a:p>
            <a:r>
              <a:rPr lang="en-US" sz="1000" dirty="0" smtClean="0"/>
              <a:t>👉 Pip = Pleural pressure</a:t>
            </a:r>
          </a:p>
          <a:p>
            <a:r>
              <a:rPr lang="en-US" sz="1000" dirty="0" smtClean="0"/>
              <a:t>✔ Normally: -5 cm H₂O</a:t>
            </a:r>
            <a:br>
              <a:rPr lang="en-US" sz="1000" dirty="0" smtClean="0"/>
            </a:br>
            <a:r>
              <a:rPr lang="en-US" sz="1000" dirty="0" smtClean="0"/>
              <a:t>✔ During inspiration: becomes more negative (-8)</a:t>
            </a:r>
          </a:p>
          <a:p>
            <a:r>
              <a:rPr lang="en-US" sz="1000" dirty="0" smtClean="0"/>
              <a:t>👉 Why?</a:t>
            </a:r>
          </a:p>
          <a:p>
            <a:r>
              <a:rPr lang="en-US" sz="1000" dirty="0" smtClean="0"/>
              <a:t>Thorax expands → pulls lungs outward</a:t>
            </a:r>
          </a:p>
          <a:p>
            <a:r>
              <a:rPr lang="en-US" sz="1000" dirty="0" smtClean="0"/>
              <a:t>👉 This negative pressure keeps lungs expanded (</a:t>
            </a:r>
            <a:r>
              <a:rPr lang="en-US" sz="1000" dirty="0" smtClean="0">
                <a:hlinkClick r:id="rId5" tooltip="The expiratory and inspiratory process | Deranged Physiology"/>
              </a:rPr>
              <a:t>Deranged Physiology</a:t>
            </a:r>
            <a:r>
              <a:rPr lang="en-US" sz="1000" dirty="0" smtClean="0"/>
              <a:t>)</a:t>
            </a:r>
          </a:p>
          <a:p>
            <a:r>
              <a:rPr lang="en-US" sz="1000" b="1" dirty="0" smtClean="0"/>
              <a:t>4. Increased </a:t>
            </a:r>
            <a:r>
              <a:rPr lang="en-US" sz="1000" b="1" dirty="0" err="1" smtClean="0"/>
              <a:t>Transpulmonary</a:t>
            </a:r>
            <a:r>
              <a:rPr lang="en-US" sz="1000" b="1" dirty="0" smtClean="0"/>
              <a:t> Pressure</a:t>
            </a:r>
          </a:p>
          <a:p>
            <a:r>
              <a:rPr lang="en-US" sz="1000" dirty="0" smtClean="0"/>
              <a:t>👉 Formula:</a:t>
            </a:r>
            <a:br>
              <a:rPr lang="en-US" sz="1000" dirty="0" smtClean="0"/>
            </a:br>
            <a:r>
              <a:rPr lang="en-US" sz="1000" b="1" dirty="0" err="1" smtClean="0"/>
              <a:t>Transpulmonary</a:t>
            </a:r>
            <a:r>
              <a:rPr lang="en-US" sz="1000" b="1" dirty="0" smtClean="0"/>
              <a:t> = </a:t>
            </a:r>
            <a:r>
              <a:rPr lang="en-US" sz="1000" b="1" dirty="0" err="1" smtClean="0"/>
              <a:t>Palv</a:t>
            </a:r>
            <a:r>
              <a:rPr lang="en-US" sz="1000" b="1" dirty="0" smtClean="0"/>
              <a:t> − Pip</a:t>
            </a:r>
            <a:endParaRPr lang="en-US" sz="1000" dirty="0" smtClean="0"/>
          </a:p>
          <a:p>
            <a:r>
              <a:rPr lang="en-US" sz="1000" dirty="0" smtClean="0"/>
              <a:t>✔ Pip becomes more negative → difference increases</a:t>
            </a:r>
            <a:br>
              <a:rPr lang="en-US" sz="1000" dirty="0" smtClean="0"/>
            </a:br>
            <a:r>
              <a:rPr lang="en-US" sz="1000" dirty="0" smtClean="0"/>
              <a:t>✔ So </a:t>
            </a:r>
            <a:r>
              <a:rPr lang="en-US" sz="1000" dirty="0" err="1" smtClean="0"/>
              <a:t>transpulmonary</a:t>
            </a:r>
            <a:r>
              <a:rPr lang="en-US" sz="1000" dirty="0" smtClean="0"/>
              <a:t> pressure ↑</a:t>
            </a:r>
          </a:p>
          <a:p>
            <a:r>
              <a:rPr lang="en-US" sz="1000" dirty="0" smtClean="0"/>
              <a:t>👉 Meaning:</a:t>
            </a:r>
          </a:p>
          <a:p>
            <a:r>
              <a:rPr lang="en-US" sz="1000" dirty="0" smtClean="0"/>
              <a:t>More force to expand lungs</a:t>
            </a:r>
          </a:p>
          <a:p>
            <a:r>
              <a:rPr lang="en-US" sz="1000" b="1" dirty="0" smtClean="0"/>
              <a:t>5. Lungs expand</a:t>
            </a:r>
          </a:p>
          <a:p>
            <a:r>
              <a:rPr lang="en-US" sz="1000" dirty="0" smtClean="0"/>
              <a:t>👉 Because:</a:t>
            </a:r>
          </a:p>
          <a:p>
            <a:r>
              <a:rPr lang="en-US" sz="1000" dirty="0" smtClean="0"/>
              <a:t>Pleural pressure pulls lungs outward</a:t>
            </a:r>
          </a:p>
          <a:p>
            <a:r>
              <a:rPr lang="en-US" sz="1000" dirty="0" smtClean="0"/>
              <a:t>✔ Lungs follow thorax movement (they are attached)</a:t>
            </a:r>
          </a:p>
          <a:p>
            <a:r>
              <a:rPr lang="en-US" sz="1000" b="1" dirty="0" smtClean="0"/>
              <a:t>6. </a:t>
            </a:r>
            <a:r>
              <a:rPr lang="en-US" sz="1000" b="1" dirty="0" err="1" smtClean="0"/>
              <a:t>Palv</a:t>
            </a:r>
            <a:r>
              <a:rPr lang="en-US" sz="1000" b="1" dirty="0" smtClean="0"/>
              <a:t> becomes sub-atmospheric</a:t>
            </a:r>
          </a:p>
          <a:p>
            <a:r>
              <a:rPr lang="en-US" sz="1000" dirty="0" smtClean="0"/>
              <a:t>👉 </a:t>
            </a:r>
            <a:r>
              <a:rPr lang="en-US" sz="1000" dirty="0" err="1" smtClean="0"/>
              <a:t>Palv</a:t>
            </a:r>
            <a:r>
              <a:rPr lang="en-US" sz="1000" dirty="0" smtClean="0"/>
              <a:t> = Alveolar pressure</a:t>
            </a:r>
          </a:p>
          <a:p>
            <a:r>
              <a:rPr lang="en-US" sz="1000" dirty="0" smtClean="0"/>
              <a:t>✔ When lungs expand:</a:t>
            </a:r>
          </a:p>
          <a:p>
            <a:r>
              <a:rPr lang="en-US" sz="1000" dirty="0" smtClean="0"/>
              <a:t>Pressure inside alveoli ↓</a:t>
            </a:r>
          </a:p>
          <a:p>
            <a:r>
              <a:rPr lang="en-US" sz="1000" dirty="0" smtClean="0"/>
              <a:t>👉 It becomes slightly negative (below atmospheric) (</a:t>
            </a:r>
            <a:r>
              <a:rPr lang="en-US" sz="1000" dirty="0" smtClean="0">
                <a:hlinkClick r:id="rId6" tooltip="Mechanics of Ventilation | SEER Training"/>
              </a:rPr>
              <a:t>SEER Training</a:t>
            </a:r>
            <a:r>
              <a:rPr lang="en-US" sz="1000" dirty="0" smtClean="0"/>
              <a:t>)</a:t>
            </a:r>
          </a:p>
          <a:p>
            <a:r>
              <a:rPr lang="en-US" sz="1000" b="1" dirty="0" smtClean="0"/>
              <a:t>7. Air flows into alveoli</a:t>
            </a:r>
          </a:p>
          <a:p>
            <a:r>
              <a:rPr lang="en-US" sz="1000" dirty="0" smtClean="0"/>
              <a:t>👉 Golden rule:</a:t>
            </a:r>
            <a:br>
              <a:rPr lang="en-US" sz="1000" dirty="0" smtClean="0"/>
            </a:br>
            <a:r>
              <a:rPr lang="en-US" sz="1000" dirty="0" smtClean="0"/>
              <a:t>👉 Air moves </a:t>
            </a:r>
            <a:r>
              <a:rPr lang="en-US" sz="1000" b="1" dirty="0" smtClean="0"/>
              <a:t>high pressure → low pressure</a:t>
            </a:r>
            <a:endParaRPr lang="en-US" sz="1000" dirty="0" smtClean="0"/>
          </a:p>
          <a:p>
            <a:r>
              <a:rPr lang="en-US" sz="1000" dirty="0" smtClean="0"/>
              <a:t>✔ Outside air pressure &gt; alveolar pressure</a:t>
            </a:r>
            <a:br>
              <a:rPr lang="en-US" sz="1000" dirty="0" smtClean="0"/>
            </a:br>
            <a:r>
              <a:rPr lang="en-US" sz="1000" dirty="0" smtClean="0"/>
              <a:t>➡ Air enters lungs</a:t>
            </a:r>
          </a:p>
          <a:p>
            <a:r>
              <a:rPr lang="en-US" sz="1000" b="1" dirty="0" smtClean="0"/>
              <a:t>🔁 FULL FLOW (MEMORIZE THIS FOR EXAM)</a:t>
            </a:r>
          </a:p>
          <a:p>
            <a:r>
              <a:rPr lang="en-US" sz="1000" dirty="0" smtClean="0"/>
              <a:t>👉 Muscle contraction</a:t>
            </a:r>
            <a:br>
              <a:rPr lang="en-US" sz="1000" dirty="0" smtClean="0"/>
            </a:br>
            <a:r>
              <a:rPr lang="en-US" sz="1000" dirty="0" smtClean="0"/>
              <a:t>➡ Thorax expands</a:t>
            </a:r>
            <a:br>
              <a:rPr lang="en-US" sz="1000" dirty="0" smtClean="0"/>
            </a:br>
            <a:r>
              <a:rPr lang="en-US" sz="1000" dirty="0" smtClean="0"/>
              <a:t>➡ Pleural pressure ↓ (more negative)</a:t>
            </a:r>
            <a:br>
              <a:rPr lang="en-US" sz="1000" dirty="0" smtClean="0"/>
            </a:br>
            <a:r>
              <a:rPr lang="en-US" sz="1000" dirty="0" smtClean="0"/>
              <a:t>➡ </a:t>
            </a:r>
            <a:r>
              <a:rPr lang="en-US" sz="1000" dirty="0" err="1" smtClean="0"/>
              <a:t>Transpulmonary</a:t>
            </a:r>
            <a:r>
              <a:rPr lang="en-US" sz="1000" dirty="0" smtClean="0"/>
              <a:t> pressure ↑</a:t>
            </a:r>
            <a:br>
              <a:rPr lang="en-US" sz="1000" dirty="0" smtClean="0"/>
            </a:br>
            <a:r>
              <a:rPr lang="en-US" sz="1000" dirty="0" smtClean="0"/>
              <a:t>➡ Lungs expand</a:t>
            </a:r>
            <a:br>
              <a:rPr lang="en-US" sz="1000" dirty="0" smtClean="0"/>
            </a:br>
            <a:r>
              <a:rPr lang="en-US" sz="1000" dirty="0" smtClean="0"/>
              <a:t>➡ Alveolar pressure ↓</a:t>
            </a:r>
            <a:br>
              <a:rPr lang="en-US" sz="1000" dirty="0" smtClean="0"/>
            </a:br>
            <a:r>
              <a:rPr lang="en-US" sz="1000" dirty="0" smtClean="0"/>
              <a:t>➡ Air enters lungs</a:t>
            </a:r>
          </a:p>
          <a:p>
            <a:r>
              <a:rPr lang="en-US" sz="1000" b="1" dirty="0" smtClean="0"/>
              <a:t>🎯 SUPER SIMPLE SHORT VERSION (FOR PRESENTATION)</a:t>
            </a:r>
          </a:p>
          <a:p>
            <a:r>
              <a:rPr lang="en-US" sz="1000" dirty="0" smtClean="0"/>
              <a:t>You can say this:</a:t>
            </a:r>
          </a:p>
          <a:p>
            <a:r>
              <a:rPr lang="en-US" sz="1000" dirty="0" smtClean="0"/>
              <a:t>“During inspiration, the diaphragm and </a:t>
            </a:r>
            <a:r>
              <a:rPr lang="en-US" sz="1000" dirty="0" err="1" smtClean="0"/>
              <a:t>intercostal</a:t>
            </a:r>
            <a:r>
              <a:rPr lang="en-US" sz="1000" dirty="0" smtClean="0"/>
              <a:t> muscles contract, which expands the thoracic cavity. This makes pleural pressure more negative, increasing </a:t>
            </a:r>
            <a:r>
              <a:rPr lang="en-US" sz="1000" dirty="0" err="1" smtClean="0"/>
              <a:t>transpulmonary</a:t>
            </a:r>
            <a:r>
              <a:rPr lang="en-US" sz="1000" dirty="0" smtClean="0"/>
              <a:t> pressure and causing the lungs to expand. As the lungs expand, alveolar pressure falls below atmospheric pressure, so air flows into the lungs.”</a:t>
            </a:r>
          </a:p>
          <a:p>
            <a:endParaRPr lang="en-US" sz="1000" dirty="0" smtClean="0"/>
          </a:p>
          <a:p>
            <a:endParaRPr lang="en-US" dirty="0"/>
          </a:p>
        </p:txBody>
      </p:sp>
      <p:sp>
        <p:nvSpPr>
          <p:cNvPr id="4" name="Slide Number Placeholder 3"/>
          <p:cNvSpPr>
            <a:spLocks noGrp="1"/>
          </p:cNvSpPr>
          <p:nvPr>
            <p:ph type="sldNum" sz="quarter" idx="10"/>
          </p:nvPr>
        </p:nvSpPr>
        <p:spPr/>
        <p:txBody>
          <a:bodyPr/>
          <a:lstStyle/>
          <a:p>
            <a:fld id="{1ADEAB7C-228B-4AFD-AB48-0892EFD3886B}" type="slidenum">
              <a:rPr lang="en-US" smtClean="0"/>
              <a:pPr/>
              <a:t>27</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“When the diaphragm contracts, it moves downward, increasing the vertical size of the thoracic cavity. This allows the lungs to expand and air to enter. It is responsible for about 75% of air intake during quiet breathing.”</a:t>
            </a:r>
          </a:p>
          <a:p>
            <a:r>
              <a:rPr lang="en-US" b="1" dirty="0" smtClean="0"/>
              <a:t>⚡ EASY MEMORY TRICK</a:t>
            </a:r>
          </a:p>
          <a:p>
            <a:r>
              <a:rPr lang="en-US" dirty="0" smtClean="0"/>
              <a:t>👉 </a:t>
            </a:r>
            <a:r>
              <a:rPr lang="en-US" b="1" dirty="0" smtClean="0"/>
              <a:t>Down → Space ↑ → Air In</a:t>
            </a:r>
            <a:endParaRPr lang="en-US" dirty="0" smtClean="0"/>
          </a:p>
          <a:p>
            <a:endParaRPr lang="en-US" dirty="0"/>
          </a:p>
        </p:txBody>
      </p:sp>
      <p:sp>
        <p:nvSpPr>
          <p:cNvPr id="4" name="Slide Number Placeholder 3"/>
          <p:cNvSpPr>
            <a:spLocks noGrp="1"/>
          </p:cNvSpPr>
          <p:nvPr>
            <p:ph type="sldNum" sz="quarter" idx="10"/>
          </p:nvPr>
        </p:nvSpPr>
        <p:spPr/>
        <p:txBody>
          <a:bodyPr/>
          <a:lstStyle/>
          <a:p>
            <a:fld id="{1ADEAB7C-228B-4AFD-AB48-0892EFD3886B}" type="slidenum">
              <a:rPr lang="en-US" smtClean="0"/>
              <a:pPr/>
              <a:t>28</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err="1" smtClean="0"/>
              <a:t>wo</a:t>
            </a:r>
            <a:r>
              <a:rPr lang="en-US" b="1" dirty="0" smtClean="0"/>
              <a:t> movements:</a:t>
            </a:r>
          </a:p>
          <a:p>
            <a:r>
              <a:rPr lang="en-US" dirty="0" smtClean="0"/>
              <a:t>👉 </a:t>
            </a:r>
            <a:r>
              <a:rPr lang="en-US" b="1" dirty="0" smtClean="0"/>
              <a:t>Pump handle movement</a:t>
            </a:r>
            <a:endParaRPr lang="en-US" dirty="0" smtClean="0"/>
          </a:p>
          <a:p>
            <a:r>
              <a:rPr lang="en-US" dirty="0" smtClean="0"/>
              <a:t>Sternum moves </a:t>
            </a:r>
            <a:r>
              <a:rPr lang="en-US" b="1" dirty="0" smtClean="0"/>
              <a:t>up &amp; forward</a:t>
            </a:r>
            <a:r>
              <a:rPr lang="en-US" dirty="0" smtClean="0"/>
              <a:t> </a:t>
            </a:r>
          </a:p>
          <a:p>
            <a:r>
              <a:rPr lang="en-US" dirty="0" smtClean="0"/>
              <a:t>Increases </a:t>
            </a:r>
            <a:r>
              <a:rPr lang="en-US" b="1" dirty="0" smtClean="0"/>
              <a:t>front-to-back (AP) diameter</a:t>
            </a:r>
            <a:r>
              <a:rPr lang="en-US" dirty="0" smtClean="0"/>
              <a:t> </a:t>
            </a:r>
          </a:p>
          <a:p>
            <a:r>
              <a:rPr lang="en-US" dirty="0" smtClean="0"/>
              <a:t>👉 </a:t>
            </a:r>
            <a:r>
              <a:rPr lang="en-US" b="1" dirty="0" smtClean="0"/>
              <a:t>Bucket handle movement</a:t>
            </a:r>
            <a:endParaRPr lang="en-US" dirty="0" smtClean="0"/>
          </a:p>
          <a:p>
            <a:r>
              <a:rPr lang="en-US" dirty="0" smtClean="0"/>
              <a:t>Ribs move </a:t>
            </a:r>
            <a:r>
              <a:rPr lang="en-US" b="1" dirty="0" smtClean="0"/>
              <a:t>outward</a:t>
            </a:r>
            <a:r>
              <a:rPr lang="en-US" dirty="0" smtClean="0"/>
              <a:t> </a:t>
            </a:r>
          </a:p>
          <a:p>
            <a:r>
              <a:rPr lang="en-US" dirty="0" smtClean="0"/>
              <a:t>Increases </a:t>
            </a:r>
            <a:r>
              <a:rPr lang="en-US" b="1" dirty="0" smtClean="0"/>
              <a:t>side-to-side (transverse) diameter</a:t>
            </a:r>
            <a:r>
              <a:rPr lang="en-US" dirty="0" smtClean="0"/>
              <a:t> </a:t>
            </a:r>
          </a:p>
          <a:p>
            <a:endParaRPr lang="en-US" dirty="0" smtClean="0"/>
          </a:p>
          <a:p>
            <a:r>
              <a:rPr lang="en-US" dirty="0" smtClean="0"/>
              <a:t>Found between </a:t>
            </a:r>
            <a:r>
              <a:rPr lang="en-US" b="1" dirty="0" smtClean="0"/>
              <a:t>adjacent ribs</a:t>
            </a:r>
            <a:r>
              <a:rPr lang="en-US" dirty="0" smtClean="0"/>
              <a:t> </a:t>
            </a:r>
          </a:p>
          <a:p>
            <a:r>
              <a:rPr lang="en-US" dirty="0" smtClean="0"/>
              <a:t>Run from: </a:t>
            </a:r>
          </a:p>
          <a:p>
            <a:pPr lvl="1"/>
            <a:r>
              <a:rPr lang="en-US" b="1" dirty="0" smtClean="0"/>
              <a:t>Lower border of upper rib</a:t>
            </a:r>
            <a:r>
              <a:rPr lang="en-US" dirty="0" smtClean="0"/>
              <a:t> </a:t>
            </a:r>
          </a:p>
          <a:p>
            <a:pPr lvl="1"/>
            <a:r>
              <a:rPr lang="en-US" dirty="0" smtClean="0"/>
              <a:t>To </a:t>
            </a:r>
            <a:r>
              <a:rPr lang="en-US" b="1" dirty="0" smtClean="0"/>
              <a:t>upper border of lower rib</a:t>
            </a:r>
            <a:r>
              <a:rPr lang="en-US" dirty="0" smtClean="0"/>
              <a:t> </a:t>
            </a:r>
          </a:p>
          <a:p>
            <a:r>
              <a:rPr lang="en-US" dirty="0" smtClean="0"/>
              <a:t>👉 Direction:</a:t>
            </a:r>
          </a:p>
          <a:p>
            <a:r>
              <a:rPr lang="en-US" dirty="0" smtClean="0"/>
              <a:t>Fibers run </a:t>
            </a:r>
            <a:r>
              <a:rPr lang="en-US" b="1" dirty="0" smtClean="0"/>
              <a:t>downward and forward</a:t>
            </a:r>
            <a:r>
              <a:rPr lang="en-US" dirty="0" smtClean="0"/>
              <a:t> (like putting hands in pockets) </a:t>
            </a:r>
          </a:p>
          <a:p>
            <a:endParaRPr lang="en-US" dirty="0"/>
          </a:p>
        </p:txBody>
      </p:sp>
      <p:sp>
        <p:nvSpPr>
          <p:cNvPr id="4" name="Slide Number Placeholder 3"/>
          <p:cNvSpPr>
            <a:spLocks noGrp="1"/>
          </p:cNvSpPr>
          <p:nvPr>
            <p:ph type="sldNum" sz="quarter" idx="10"/>
          </p:nvPr>
        </p:nvSpPr>
        <p:spPr/>
        <p:txBody>
          <a:bodyPr/>
          <a:lstStyle/>
          <a:p>
            <a:fld id="{1ADEAB7C-228B-4AFD-AB48-0892EFD3886B}" type="slidenum">
              <a:rPr lang="en-US" smtClean="0"/>
              <a:pPr/>
              <a:t>29</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“Forceful expiration is an active process in which internal </a:t>
            </a:r>
            <a:r>
              <a:rPr lang="en-US" dirty="0" err="1" smtClean="0"/>
              <a:t>intercostal</a:t>
            </a:r>
            <a:r>
              <a:rPr lang="en-US" dirty="0" smtClean="0"/>
              <a:t> and abdominal muscles contract. This decreases the </a:t>
            </a:r>
            <a:r>
              <a:rPr lang="en-US" dirty="0" err="1" smtClean="0"/>
              <a:t>anteroposterior</a:t>
            </a:r>
            <a:r>
              <a:rPr lang="en-US" dirty="0" smtClean="0"/>
              <a:t> and transverse diameters of the thoracic cavity, increasing pressure and forcing air out of the lungs.”</a:t>
            </a:r>
          </a:p>
          <a:p>
            <a:r>
              <a:rPr lang="en-US" b="1" dirty="0" smtClean="0"/>
              <a:t>⚡ EASY MEMORY</a:t>
            </a:r>
          </a:p>
          <a:p>
            <a:r>
              <a:rPr lang="en-US" dirty="0" smtClean="0"/>
              <a:t>👉 </a:t>
            </a:r>
            <a:r>
              <a:rPr lang="en-US" b="1" dirty="0" smtClean="0"/>
              <a:t>Down + In = Air Out</a:t>
            </a:r>
            <a:endParaRPr lang="en-US" dirty="0" smtClean="0"/>
          </a:p>
          <a:p>
            <a:endParaRPr lang="en-US" dirty="0"/>
          </a:p>
        </p:txBody>
      </p:sp>
      <p:sp>
        <p:nvSpPr>
          <p:cNvPr id="4" name="Slide Number Placeholder 3"/>
          <p:cNvSpPr>
            <a:spLocks noGrp="1"/>
          </p:cNvSpPr>
          <p:nvPr>
            <p:ph type="sldNum" sz="quarter" idx="10"/>
          </p:nvPr>
        </p:nvSpPr>
        <p:spPr/>
        <p:txBody>
          <a:bodyPr/>
          <a:lstStyle/>
          <a:p>
            <a:fld id="{1ADEAB7C-228B-4AFD-AB48-0892EFD3886B}" type="slidenum">
              <a:rPr lang="en-US" smtClean="0"/>
              <a:pPr/>
              <a:t>33</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ADEAB7C-228B-4AFD-AB48-0892EFD3886B}" type="slidenum">
              <a:rPr lang="en-US" smtClean="0"/>
              <a:pPr/>
              <a:t>53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xmlns="">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076227A-A6DA-4CEC-917D-A47716F99B39}" type="datetimeFigureOut">
              <a:rPr lang="en-US" smtClean="0"/>
              <a:pPr/>
              <a:t>4/4/2026</a:t>
            </a:fld>
            <a:endParaRPr lang="en-US"/>
          </a:p>
        </p:txBody>
      </p:sp>
      <p:sp>
        <p:nvSpPr>
          <p:cNvPr id="5" name="Footer Placeholder 4"/>
          <p:cNvSpPr>
            <a:spLocks noGrp="1"/>
          </p:cNvSpPr>
          <p:nvPr>
            <p:ph type="ftr" sz="quarter" idx="11"/>
          </p:nvPr>
        </p:nvSpPr>
        <p:spPr>
          <a:xfrm>
            <a:off x="812805" y="6272785"/>
            <a:ext cx="4745736" cy="365125"/>
          </a:xfrm>
        </p:spPr>
        <p:txBody>
          <a:bodyPr/>
          <a:lstStyle/>
          <a:p>
            <a:endParaRPr lang="en-US"/>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577E2A69-47DC-472D-9C6D-BA5D2255D950}" type="slidenum">
              <a:rPr lang="en-US" smtClean="0"/>
              <a:pPr/>
              <a:t>‹#›</a:t>
            </a:fld>
            <a:endParaRPr lang="en-US"/>
          </a:p>
        </p:txBody>
      </p:sp>
    </p:spTree>
    <p:extLst>
      <p:ext uri="{BB962C8B-B14F-4D97-AF65-F5344CB8AC3E}">
        <p14:creationId xmlns:p14="http://schemas.microsoft.com/office/powerpoint/2010/main" xmlns="" val="3266031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76227A-A6DA-4CEC-917D-A47716F99B39}" type="datetimeFigureOut">
              <a:rPr lang="en-US" smtClean="0"/>
              <a:pPr/>
              <a:t>4/4/2026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7E2A69-47DC-472D-9C6D-BA5D2255D950}" type="slidenum">
              <a:rPr lang="en-US" smtClean="0"/>
              <a:pPr/>
              <a:t>‹#›</a:t>
            </a:fld>
            <a:endParaRPr lang="en-US"/>
          </a:p>
        </p:txBody>
      </p:sp>
    </p:spTree>
    <p:extLst>
      <p:ext uri="{BB962C8B-B14F-4D97-AF65-F5344CB8AC3E}">
        <p14:creationId xmlns:p14="http://schemas.microsoft.com/office/powerpoint/2010/main" xmlns="" val="70164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C076227A-A6DA-4CEC-917D-A47716F99B39}" type="datetimeFigureOut">
              <a:rPr lang="en-US" smtClean="0"/>
              <a:pPr/>
              <a:t>4/4/2026</a:t>
            </a:fld>
            <a:endParaRPr lang="en-US"/>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xmlns="">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577E2A69-47DC-472D-9C6D-BA5D2255D950}" type="slidenum">
              <a:rPr lang="en-US" smtClean="0"/>
              <a:pPr/>
              <a:t>‹#›</a:t>
            </a:fld>
            <a:endParaRPr lang="en-US"/>
          </a:p>
        </p:txBody>
      </p:sp>
    </p:spTree>
    <p:extLst>
      <p:ext uri="{BB962C8B-B14F-4D97-AF65-F5344CB8AC3E}">
        <p14:creationId xmlns:p14="http://schemas.microsoft.com/office/powerpoint/2010/main" xmlns="" val="3836220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076227A-A6DA-4CEC-917D-A47716F99B39}" type="datetimeFigureOut">
              <a:rPr lang="en-US" smtClean="0"/>
              <a:pPr/>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7E2A69-47DC-472D-9C6D-BA5D2255D950}" type="slidenum">
              <a:rPr lang="en-US" smtClean="0"/>
              <a:pPr/>
              <a:t>‹#›</a:t>
            </a:fld>
            <a:endParaRPr lang="en-US"/>
          </a:p>
        </p:txBody>
      </p:sp>
    </p:spTree>
    <p:extLst>
      <p:ext uri="{BB962C8B-B14F-4D97-AF65-F5344CB8AC3E}">
        <p14:creationId xmlns:p14="http://schemas.microsoft.com/office/powerpoint/2010/main" xmlns="" val="318641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76227A-A6DA-4CEC-917D-A47716F99B39}" type="datetimeFigureOut">
              <a:rPr lang="en-US" smtClean="0"/>
              <a:pPr/>
              <a:t>4/4/2026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7E2A69-47DC-472D-9C6D-BA5D2255D950}" type="slidenum">
              <a:rPr lang="en-US" smtClean="0"/>
              <a:pPr/>
              <a:t>‹#›</a:t>
            </a:fld>
            <a:endParaRPr lang="en-US"/>
          </a:p>
        </p:txBody>
      </p:sp>
    </p:spTree>
    <p:extLst>
      <p:ext uri="{BB962C8B-B14F-4D97-AF65-F5344CB8AC3E}">
        <p14:creationId xmlns:p14="http://schemas.microsoft.com/office/powerpoint/2010/main" xmlns="" val="2739678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C076227A-A6DA-4CEC-917D-A47716F99B39}" type="datetimeFigureOut">
              <a:rPr lang="en-US" smtClean="0"/>
              <a:pPr/>
              <a:t>4/4/2026</a:t>
            </a:fld>
            <a:endParaRPr lang="en-US"/>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a:p>
        </p:txBody>
      </p:sp>
      <p:sp>
        <p:nvSpPr>
          <p:cNvPr id="5" name="Slide Number Placeholder 4"/>
          <p:cNvSpPr>
            <a:spLocks noGrp="1"/>
          </p:cNvSpPr>
          <p:nvPr>
            <p:ph type="sldNum" sz="quarter" idx="12"/>
          </p:nvPr>
        </p:nvSpPr>
        <p:spPr/>
        <p:txBody>
          <a:bodyPr/>
          <a:lstStyle/>
          <a:p>
            <a:fld id="{577E2A69-47DC-472D-9C6D-BA5D2255D950}" type="slidenum">
              <a:rPr lang="en-US" smtClean="0"/>
              <a:pPr/>
              <a:t>‹#›</a:t>
            </a:fld>
            <a:endParaRPr lang="en-US"/>
          </a:p>
        </p:txBody>
      </p:sp>
    </p:spTree>
    <p:extLst>
      <p:ext uri="{BB962C8B-B14F-4D97-AF65-F5344CB8AC3E}">
        <p14:creationId xmlns:p14="http://schemas.microsoft.com/office/powerpoint/2010/main" xmlns="" val="1111732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76227A-A6DA-4CEC-917D-A47716F99B39}" type="datetimeFigureOut">
              <a:rPr lang="en-US" smtClean="0"/>
              <a:pPr/>
              <a:t>4/4/2026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7E2A69-47DC-472D-9C6D-BA5D2255D950}" type="slidenum">
              <a:rPr lang="en-US" smtClean="0"/>
              <a:pPr/>
              <a:t>‹#›</a:t>
            </a:fld>
            <a:endParaRPr lang="en-US"/>
          </a:p>
        </p:txBody>
      </p:sp>
    </p:spTree>
    <p:extLst>
      <p:ext uri="{BB962C8B-B14F-4D97-AF65-F5344CB8AC3E}">
        <p14:creationId xmlns:p14="http://schemas.microsoft.com/office/powerpoint/2010/main" xmlns="" val="649828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xmlns="">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C076227A-A6DA-4CEC-917D-A47716F99B39}" type="datetimeFigureOut">
              <a:rPr lang="en-US" smtClean="0"/>
              <a:pPr/>
              <a:t>4/4/2026</a:t>
            </a:fld>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577E2A69-47DC-472D-9C6D-BA5D2255D950}" type="slidenum">
              <a:rPr lang="en-US" smtClean="0"/>
              <a:pPr/>
              <a:t>‹#›</a:t>
            </a:fld>
            <a:endParaRPr lang="en-US"/>
          </a:p>
        </p:txBody>
      </p:sp>
    </p:spTree>
    <p:extLst>
      <p:ext uri="{BB962C8B-B14F-4D97-AF65-F5344CB8AC3E}">
        <p14:creationId xmlns:p14="http://schemas.microsoft.com/office/powerpoint/2010/main" xmlns="" val="1414933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xmlns="">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C076227A-A6DA-4CEC-917D-A47716F99B39}" type="datetimeFigureOut">
              <a:rPr lang="en-US" smtClean="0"/>
              <a:pPr/>
              <a:t>4/4/2026</a:t>
            </a:fld>
            <a:endParaRPr lang="en-US"/>
          </a:p>
        </p:txBody>
      </p:sp>
      <p:sp>
        <p:nvSpPr>
          <p:cNvPr id="10" name="Slide Number Placeholder 9"/>
          <p:cNvSpPr>
            <a:spLocks noGrp="1"/>
          </p:cNvSpPr>
          <p:nvPr>
            <p:ph type="sldNum" sz="quarter" idx="12"/>
          </p:nvPr>
        </p:nvSpPr>
        <p:spPr/>
        <p:txBody>
          <a:bodyPr/>
          <a:lstStyle/>
          <a:p>
            <a:fld id="{577E2A69-47DC-472D-9C6D-BA5D2255D950}" type="slidenum">
              <a:rPr lang="en-US" smtClean="0"/>
              <a:pPr/>
              <a:t>‹#›</a:t>
            </a:fld>
            <a:endParaRPr lang="en-US"/>
          </a:p>
        </p:txBody>
      </p:sp>
    </p:spTree>
    <p:extLst>
      <p:ext uri="{BB962C8B-B14F-4D97-AF65-F5344CB8AC3E}">
        <p14:creationId xmlns:p14="http://schemas.microsoft.com/office/powerpoint/2010/main" xmlns="" val="2874103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76227A-A6DA-4CEC-917D-A47716F99B39}" type="datetimeFigureOut">
              <a:rPr lang="en-US" smtClean="0"/>
              <a:pPr/>
              <a:t>4/4/2026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7E2A69-47DC-472D-9C6D-BA5D2255D950}" type="slidenum">
              <a:rPr lang="en-US" smtClean="0"/>
              <a:pPr/>
              <a:t>‹#›</a:t>
            </a:fld>
            <a:endParaRPr lang="en-US"/>
          </a:p>
        </p:txBody>
      </p:sp>
    </p:spTree>
    <p:extLst>
      <p:ext uri="{BB962C8B-B14F-4D97-AF65-F5344CB8AC3E}">
        <p14:creationId xmlns:p14="http://schemas.microsoft.com/office/powerpoint/2010/main" xmlns="" val="3703372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76227A-A6DA-4CEC-917D-A47716F99B39}" type="datetimeFigureOut">
              <a:rPr lang="en-US" smtClean="0"/>
              <a:pPr/>
              <a:t>4/4/2026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7E2A69-47DC-472D-9C6D-BA5D2255D950}" type="slidenum">
              <a:rPr lang="en-US" smtClean="0"/>
              <a:pPr/>
              <a:t>‹#›</a:t>
            </a:fld>
            <a:endParaRPr lang="en-US"/>
          </a:p>
        </p:txBody>
      </p:sp>
    </p:spTree>
    <p:extLst>
      <p:ext uri="{BB962C8B-B14F-4D97-AF65-F5344CB8AC3E}">
        <p14:creationId xmlns:p14="http://schemas.microsoft.com/office/powerpoint/2010/main" xmlns="" val="973690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xmlns="">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C076227A-A6DA-4CEC-917D-A47716F99B39}" type="datetimeFigureOut">
              <a:rPr lang="en-US" smtClean="0"/>
              <a:pPr/>
              <a:t>4/4/2026</a:t>
            </a:fld>
            <a:endParaRPr lang="en-US"/>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577E2A69-47DC-472D-9C6D-BA5D2255D950}" type="slidenum">
              <a:rPr lang="en-US" smtClean="0"/>
              <a:pPr/>
              <a:t>‹#›</a:t>
            </a:fld>
            <a:endParaRPr lang="en-US"/>
          </a:p>
        </p:txBody>
      </p:sp>
    </p:spTree>
    <p:extLst>
      <p:ext uri="{BB962C8B-B14F-4D97-AF65-F5344CB8AC3E}">
        <p14:creationId xmlns:p14="http://schemas.microsoft.com/office/powerpoint/2010/main" xmlns="" val="288720349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xmlns=""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1.jpeg"/></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image" Target="../media/image8.png"/><Relationship Id="rId7" Type="http://schemas.openxmlformats.org/officeDocument/2006/relationships/diagramData" Target="../diagrams/data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2.wdp"/><Relationship Id="rId11" Type="http://schemas.microsoft.com/office/2007/relationships/diagramDrawing" Target="../diagrams/drawing1.xml"/><Relationship Id="rId5" Type="http://schemas.openxmlformats.org/officeDocument/2006/relationships/image" Target="../media/image4.png"/><Relationship Id="rId10" Type="http://schemas.openxmlformats.org/officeDocument/2006/relationships/diagramColors" Target="../diagrams/colors1.xml"/><Relationship Id="rId4" Type="http://schemas.microsoft.com/office/2007/relationships/hdphoto" Target="../media/hdphoto3.wdp"/><Relationship Id="rId9" Type="http://schemas.openxmlformats.org/officeDocument/2006/relationships/diagramQuickStyle" Target="../diagrams/quickStyle1.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3.wdp"/></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2.wdp"/></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32.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microsoft.com/office/2007/relationships/hdphoto" Target="../media/hdphoto3.wdp"/><Relationship Id="rId7" Type="http://schemas.openxmlformats.org/officeDocument/2006/relationships/diagramLayout" Target="../diagrams/layout2.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Data" Target="../diagrams/data2.xml"/><Relationship Id="rId5" Type="http://schemas.microsoft.com/office/2007/relationships/hdphoto" Target="../media/hdphoto2.wdp"/><Relationship Id="rId10" Type="http://schemas.microsoft.com/office/2007/relationships/diagramDrawing" Target="../diagrams/drawing2.xml"/><Relationship Id="rId4" Type="http://schemas.openxmlformats.org/officeDocument/2006/relationships/image" Target="../media/image4.png"/><Relationship Id="rId9" Type="http://schemas.openxmlformats.org/officeDocument/2006/relationships/diagramColors" Target="../diagrams/colors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4.xml"/><Relationship Id="rId5" Type="http://schemas.microsoft.com/office/2007/relationships/hdphoto" Target="../media/hdphoto2.wdp"/><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3.jpeg"/></Relationships>
</file>

<file path=ppt/slides/_rels/slide5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4.png"/></Relationships>
</file>

<file path=ppt/slides/_rels/slide51.xml.rels><?xml version="1.0" encoding="UTF-8" standalone="yes"?>
<Relationships xmlns="http://schemas.openxmlformats.org/package/2006/relationships"><Relationship Id="rId8" Type="http://schemas.microsoft.com/office/2007/relationships/diagramDrawing" Target="../diagrams/drawing3.xml"/><Relationship Id="rId3" Type="http://schemas.microsoft.com/office/2007/relationships/hdphoto" Target="../media/hdphoto2.wdp"/><Relationship Id="rId7" Type="http://schemas.openxmlformats.org/officeDocument/2006/relationships/diagramColors" Target="../diagrams/colors3.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5.jpe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219200"/>
            <a:ext cx="7772400" cy="3124200"/>
          </a:xfrm>
        </p:spPr>
        <p:txBody>
          <a:bodyPr>
            <a:normAutofit/>
          </a:bodyPr>
          <a:lstStyle/>
          <a:p>
            <a:pPr algn="ctr"/>
            <a:r>
              <a:rPr lang="en-US" sz="3600" b="1" dirty="0"/>
              <a:t>Introduction to Respiration </a:t>
            </a:r>
            <a:br>
              <a:rPr lang="en-US" sz="3600" b="1" dirty="0"/>
            </a:br>
            <a:r>
              <a:rPr lang="en-US" sz="3600" b="1" dirty="0"/>
              <a:t>and</a:t>
            </a:r>
            <a:br>
              <a:rPr lang="en-US" sz="3600" b="1" dirty="0"/>
            </a:br>
            <a:r>
              <a:rPr lang="en-US" sz="3600" b="1" dirty="0"/>
              <a:t>Mechanics of Ventilation</a:t>
            </a:r>
          </a:p>
        </p:txBody>
      </p:sp>
      <p:sp>
        <p:nvSpPr>
          <p:cNvPr id="4" name="TextBox 3">
            <a:extLst>
              <a:ext uri="{FF2B5EF4-FFF2-40B4-BE49-F238E27FC236}">
                <a16:creationId xmlns:a16="http://schemas.microsoft.com/office/drawing/2014/main" xmlns="" id="{7F0581B5-4307-09DE-EF2F-E094F7F65948}"/>
              </a:ext>
            </a:extLst>
          </p:cNvPr>
          <p:cNvSpPr txBox="1"/>
          <p:nvPr/>
        </p:nvSpPr>
        <p:spPr>
          <a:xfrm>
            <a:off x="762000" y="5105400"/>
            <a:ext cx="3505200" cy="369332"/>
          </a:xfrm>
          <a:prstGeom prst="rect">
            <a:avLst/>
          </a:prstGeom>
          <a:noFill/>
        </p:spPr>
        <p:txBody>
          <a:bodyPr wrap="square" rtlCol="0">
            <a:spAutoFit/>
          </a:bodyPr>
          <a:lstStyle/>
          <a:p>
            <a:r>
              <a:rPr lang="en-US" b="1" dirty="0"/>
              <a:t>Dr. Tabish Masood Ranjha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4FCA88C2-C73C-4062-A097-8FBCE3090BE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83981C21-E132-4402-B31B-D725C1CE77D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1203" y="653241"/>
            <a:ext cx="818159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6A685C77-4E84-486A-9AE5-F3635BE98EF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1201" y="822324"/>
            <a:ext cx="3862197" cy="5228279"/>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5200" y="1465790"/>
            <a:ext cx="2895599" cy="3941345"/>
          </a:xfrm>
        </p:spPr>
        <p:txBody>
          <a:bodyPr>
            <a:normAutofit/>
          </a:bodyPr>
          <a:lstStyle/>
          <a:p>
            <a:r>
              <a:rPr lang="en-US" sz="4000"/>
              <a:t>INTRODUCTION</a:t>
            </a:r>
          </a:p>
        </p:txBody>
      </p:sp>
      <p:sp>
        <p:nvSpPr>
          <p:cNvPr id="3" name="Content Placeholder 2"/>
          <p:cNvSpPr>
            <a:spLocks noGrp="1"/>
          </p:cNvSpPr>
          <p:nvPr>
            <p:ph idx="1"/>
          </p:nvPr>
        </p:nvSpPr>
        <p:spPr>
          <a:xfrm>
            <a:off x="4813299" y="1359090"/>
            <a:ext cx="3849499" cy="4048046"/>
          </a:xfrm>
        </p:spPr>
        <p:txBody>
          <a:bodyPr vert="horz" lIns="91440" tIns="45720" rIns="91440" bIns="45720" rtlCol="0" anchor="ctr">
            <a:normAutofit/>
          </a:bodyPr>
          <a:lstStyle/>
          <a:p>
            <a:pPr marL="0" indent="0">
              <a:buNone/>
            </a:pPr>
            <a:r>
              <a:rPr lang="en-US"/>
              <a:t>Respiration is the process by which oxygen is taken in and carbon dioxide is given out</a:t>
            </a:r>
            <a:r>
              <a:rPr lang="en-US" dirty="0"/>
              <a:t>.</a:t>
            </a:r>
            <a:endParaRPr lang="en-US"/>
          </a:p>
        </p:txBody>
      </p:sp>
      <p:sp>
        <p:nvSpPr>
          <p:cNvPr id="14" name="Rectangle 13">
            <a:extLst>
              <a:ext uri="{FF2B5EF4-FFF2-40B4-BE49-F238E27FC236}">
                <a16:creationId xmlns:a16="http://schemas.microsoft.com/office/drawing/2014/main" xmlns="" id="{E55C1C3E-5158-47F3-8FD9-14B22C3E6E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1203" y="6121662"/>
            <a:ext cx="818159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3280379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4FCA88C2-C73C-4062-A097-8FBCE3090BE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83981C21-E132-4402-B31B-D725C1CE77D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1203" y="653241"/>
            <a:ext cx="818159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6A685C77-4E84-486A-9AE5-F3635BE98EF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1201" y="822324"/>
            <a:ext cx="3862197" cy="5228279"/>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5200" y="1465790"/>
            <a:ext cx="2895599" cy="3941345"/>
          </a:xfrm>
        </p:spPr>
        <p:txBody>
          <a:bodyPr>
            <a:normAutofit/>
          </a:bodyPr>
          <a:lstStyle/>
          <a:p>
            <a:r>
              <a:rPr lang="en-US" sz="4800"/>
              <a:t>TYPES OF RESPIRATION</a:t>
            </a:r>
          </a:p>
        </p:txBody>
      </p:sp>
      <p:sp>
        <p:nvSpPr>
          <p:cNvPr id="3" name="Content Placeholder 2"/>
          <p:cNvSpPr>
            <a:spLocks noGrp="1"/>
          </p:cNvSpPr>
          <p:nvPr>
            <p:ph idx="1"/>
          </p:nvPr>
        </p:nvSpPr>
        <p:spPr>
          <a:xfrm>
            <a:off x="4813299" y="1359090"/>
            <a:ext cx="3849499" cy="4048046"/>
          </a:xfrm>
        </p:spPr>
        <p:txBody>
          <a:bodyPr vert="horz" lIns="91440" tIns="45720" rIns="91440" bIns="45720" rtlCol="0" anchor="ctr">
            <a:normAutofit/>
          </a:bodyPr>
          <a:lstStyle/>
          <a:p>
            <a:r>
              <a:rPr lang="en-US" dirty="0"/>
              <a:t>Respiration is classified into two types:</a:t>
            </a:r>
          </a:p>
          <a:p>
            <a:pPr marL="0" indent="0">
              <a:buNone/>
            </a:pPr>
            <a:r>
              <a:rPr lang="en-US" dirty="0"/>
              <a:t>1</a:t>
            </a:r>
            <a:r>
              <a:rPr lang="en-US" b="1" dirty="0"/>
              <a:t>. External respiration</a:t>
            </a:r>
            <a:r>
              <a:rPr lang="en-US" dirty="0"/>
              <a:t> </a:t>
            </a:r>
          </a:p>
          <a:p>
            <a:pPr marL="0" indent="0">
              <a:buNone/>
            </a:pPr>
            <a:r>
              <a:rPr lang="en-US" dirty="0"/>
              <a:t>            It involves exchange of respiratory gases, i.e. oxygen and carbon dioxide between lungs and blood.</a:t>
            </a:r>
          </a:p>
          <a:p>
            <a:pPr marL="0" indent="0">
              <a:buNone/>
            </a:pPr>
            <a:r>
              <a:rPr lang="en-US" dirty="0"/>
              <a:t>2.</a:t>
            </a:r>
            <a:r>
              <a:rPr lang="en-US" b="1" dirty="0"/>
              <a:t> Internal respiration </a:t>
            </a:r>
          </a:p>
          <a:p>
            <a:pPr marL="0" indent="0">
              <a:buNone/>
            </a:pPr>
            <a:r>
              <a:rPr lang="en-US" dirty="0"/>
              <a:t>             It involves exchange of gases between blood and tissues.</a:t>
            </a:r>
          </a:p>
        </p:txBody>
      </p:sp>
      <p:sp>
        <p:nvSpPr>
          <p:cNvPr id="14" name="Rectangle 13">
            <a:extLst>
              <a:ext uri="{FF2B5EF4-FFF2-40B4-BE49-F238E27FC236}">
                <a16:creationId xmlns:a16="http://schemas.microsoft.com/office/drawing/2014/main" xmlns="" id="{E55C1C3E-5158-47F3-8FD9-14B22C3E6E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1203" y="6121662"/>
            <a:ext cx="818159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24695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E009DD9B-5EE2-4C0D-8B2B-351C8C10220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E720DB99-7745-4E75-9D96-AAB6D55C531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xmlns="" id="{D68803C4-E159-4360-B7BB-74205C8F782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xmlns="" id="{504B0465-3B07-49BF-BEA7-D8147624629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2386" y="484632"/>
            <a:ext cx="7543800" cy="1609344"/>
          </a:xfrm>
        </p:spPr>
        <p:txBody>
          <a:bodyPr>
            <a:normAutofit/>
          </a:bodyPr>
          <a:lstStyle/>
          <a:p>
            <a:r>
              <a:rPr lang="en-US" dirty="0"/>
              <a:t>PHASES OF RESPIRATION</a:t>
            </a:r>
          </a:p>
        </p:txBody>
      </p:sp>
      <p:sp>
        <p:nvSpPr>
          <p:cNvPr id="3" name="Content Placeholder 2"/>
          <p:cNvSpPr>
            <a:spLocks noGrp="1"/>
          </p:cNvSpPr>
          <p:nvPr>
            <p:ph idx="1"/>
          </p:nvPr>
        </p:nvSpPr>
        <p:spPr>
          <a:xfrm>
            <a:off x="802386" y="2320412"/>
            <a:ext cx="7543800" cy="3851787"/>
          </a:xfrm>
        </p:spPr>
        <p:txBody>
          <a:bodyPr vert="horz" lIns="91440" tIns="45720" rIns="91440" bIns="45720" rtlCol="0" anchor="t">
            <a:normAutofit/>
          </a:bodyPr>
          <a:lstStyle/>
          <a:p>
            <a:pPr marL="0" indent="0">
              <a:buNone/>
            </a:pPr>
            <a:r>
              <a:rPr lang="en-US" dirty="0"/>
              <a:t>Respiration occurs in two phases:</a:t>
            </a:r>
            <a:endParaRPr lang="en-US"/>
          </a:p>
          <a:p>
            <a:pPr marL="0" indent="0">
              <a:buNone/>
            </a:pPr>
            <a:r>
              <a:rPr lang="en-US" b="1" dirty="0"/>
              <a:t>Inspiration </a:t>
            </a:r>
            <a:r>
              <a:rPr lang="en-US" dirty="0"/>
              <a:t>during which air enters the lungs from atmosphere.</a:t>
            </a:r>
          </a:p>
          <a:p>
            <a:pPr marL="0" indent="0">
              <a:buNone/>
            </a:pPr>
            <a:r>
              <a:rPr lang="en-US" dirty="0"/>
              <a:t> </a:t>
            </a:r>
            <a:r>
              <a:rPr lang="en-US" b="1" dirty="0"/>
              <a:t>Expiration</a:t>
            </a:r>
            <a:r>
              <a:rPr lang="en-US" dirty="0"/>
              <a:t> during which air leaves the lungs.</a:t>
            </a:r>
          </a:p>
          <a:p>
            <a:pPr marL="0" indent="0">
              <a:buNone/>
            </a:pPr>
            <a:endParaRPr lang="en-US" dirty="0"/>
          </a:p>
          <a:p>
            <a:pPr marL="0" indent="0">
              <a:buNone/>
            </a:pPr>
            <a:r>
              <a:rPr lang="en-US" dirty="0"/>
              <a:t>During normal breathing, </a:t>
            </a:r>
            <a:r>
              <a:rPr lang="en-US" b="1" dirty="0"/>
              <a:t>inspiration is an active</a:t>
            </a:r>
          </a:p>
          <a:p>
            <a:pPr marL="0" indent="0">
              <a:buNone/>
            </a:pPr>
            <a:r>
              <a:rPr lang="en-US" b="1" dirty="0"/>
              <a:t>process and expiration is a passive process</a:t>
            </a:r>
            <a:r>
              <a:rPr lang="en-US" dirty="0"/>
              <a:t>.</a:t>
            </a:r>
          </a:p>
        </p:txBody>
      </p:sp>
      <p:sp>
        <p:nvSpPr>
          <p:cNvPr id="16" name="Oval 15">
            <a:extLst>
              <a:ext uri="{FF2B5EF4-FFF2-40B4-BE49-F238E27FC236}">
                <a16:creationId xmlns:a16="http://schemas.microsoft.com/office/drawing/2014/main" xmlns="" id="{49B7FFA5-14CB-4A4F-9BCC-CA3AA5D9D27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xmlns="" id="{04E48745-7512-4EC2-9E20-9092D12150C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xmlns="" val="2843805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0000"/>
                </a:solidFill>
              </a:rPr>
              <a:t>Upper and Lower Respiratory Tracts</a:t>
            </a:r>
          </a:p>
        </p:txBody>
      </p:sp>
      <p:sp>
        <p:nvSpPr>
          <p:cNvPr id="3" name="Content Placeholder 2"/>
          <p:cNvSpPr>
            <a:spLocks noGrp="1"/>
          </p:cNvSpPr>
          <p:nvPr>
            <p:ph idx="1"/>
          </p:nvPr>
        </p:nvSpPr>
        <p:spPr>
          <a:xfrm>
            <a:off x="54428" y="2090056"/>
            <a:ext cx="4474029" cy="3156858"/>
          </a:xfrm>
        </p:spPr>
        <p:txBody>
          <a:bodyPr vert="horz" lIns="91440" tIns="45720" rIns="91440" bIns="45720" rtlCol="0" anchor="t">
            <a:normAutofit fontScale="92500" lnSpcReduction="10000"/>
          </a:bodyPr>
          <a:lstStyle/>
          <a:p>
            <a:r>
              <a:rPr lang="en-US" dirty="0"/>
              <a:t>Respiratory tract is divided into two parts:</a:t>
            </a:r>
          </a:p>
          <a:p>
            <a:pPr marL="0" indent="0">
              <a:buNone/>
            </a:pPr>
            <a:r>
              <a:rPr lang="en-US" dirty="0"/>
              <a:t>1.  </a:t>
            </a:r>
            <a:r>
              <a:rPr lang="en-US" b="1" dirty="0"/>
              <a:t>Upper respiratory tract</a:t>
            </a:r>
            <a:r>
              <a:rPr lang="en-US" dirty="0">
                <a:solidFill>
                  <a:srgbClr val="7030A0"/>
                </a:solidFill>
              </a:rPr>
              <a:t> </a:t>
            </a:r>
            <a:r>
              <a:rPr lang="en-US" dirty="0"/>
              <a:t>that includes all the</a:t>
            </a:r>
          </a:p>
          <a:p>
            <a:r>
              <a:rPr lang="en-US" dirty="0"/>
              <a:t>structures from nose up to vocal cords; vocal cords are the folds of mucous membrane within larynx that vibrates to produce the voice</a:t>
            </a:r>
          </a:p>
          <a:p>
            <a:r>
              <a:rPr lang="en-US" dirty="0"/>
              <a:t>2. </a:t>
            </a:r>
            <a:r>
              <a:rPr lang="en-US" b="1" dirty="0"/>
              <a:t>Lower respiratory tract, </a:t>
            </a:r>
            <a:r>
              <a:rPr lang="en-US" dirty="0"/>
              <a:t>which includes Larynx, trachea, bronchi and lungs.</a:t>
            </a:r>
          </a:p>
        </p:txBody>
      </p:sp>
      <p:pic>
        <p:nvPicPr>
          <p:cNvPr id="5" name="Picture 2" descr="A diagram of the internal organs of a person&#10;&#10;AI-generated content may be incorrect.">
            <a:extLst>
              <a:ext uri="{FF2B5EF4-FFF2-40B4-BE49-F238E27FC236}">
                <a16:creationId xmlns:a16="http://schemas.microsoft.com/office/drawing/2014/main" xmlns="" id="{B1524B34-174D-7F43-D1F8-E75499489B6C}"/>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708752" y="1715181"/>
            <a:ext cx="3884840" cy="49516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222857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E009DD9B-5EE2-4C0D-8B2B-351C8C10220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E720DB99-7745-4E75-9D96-AAB6D55C531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xmlns="" id="{D68803C4-E159-4360-B7BB-74205C8F782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xmlns="" id="{504B0465-3B07-49BF-BEA7-D8147624629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xmlns="" id="{0D0F648F-1763-C11A-32D8-6B225F53D80C}"/>
              </a:ext>
            </a:extLst>
          </p:cNvPr>
          <p:cNvSpPr>
            <a:spLocks noGrp="1"/>
          </p:cNvSpPr>
          <p:nvPr>
            <p:ph type="title"/>
          </p:nvPr>
        </p:nvSpPr>
        <p:spPr>
          <a:xfrm>
            <a:off x="802386" y="484632"/>
            <a:ext cx="7543800" cy="1609344"/>
          </a:xfrm>
        </p:spPr>
        <p:txBody>
          <a:bodyPr>
            <a:normAutofit/>
          </a:bodyPr>
          <a:lstStyle/>
          <a:p>
            <a:r>
              <a:rPr lang="en-US" dirty="0"/>
              <a:t>RESPIRATORY UNIT</a:t>
            </a:r>
          </a:p>
        </p:txBody>
      </p:sp>
      <p:sp>
        <p:nvSpPr>
          <p:cNvPr id="3" name="Content Placeholder 2"/>
          <p:cNvSpPr>
            <a:spLocks noGrp="1"/>
          </p:cNvSpPr>
          <p:nvPr>
            <p:ph idx="1"/>
          </p:nvPr>
        </p:nvSpPr>
        <p:spPr>
          <a:xfrm>
            <a:off x="802386" y="2320412"/>
            <a:ext cx="7543800" cy="3851787"/>
          </a:xfrm>
        </p:spPr>
        <p:txBody>
          <a:bodyPr vert="horz" lIns="91440" tIns="45720" rIns="91440" bIns="45720" rtlCol="0">
            <a:normAutofit/>
          </a:bodyPr>
          <a:lstStyle/>
          <a:p>
            <a:pPr marL="0" indent="0">
              <a:buNone/>
            </a:pPr>
            <a:r>
              <a:rPr lang="en-US" sz="1900" b="1"/>
              <a:t>   “The structural and functional unit of lung”.</a:t>
            </a:r>
            <a:r>
              <a:rPr lang="en-US" sz="1900"/>
              <a:t> </a:t>
            </a:r>
          </a:p>
          <a:p>
            <a:pPr marL="0" indent="0">
              <a:buNone/>
            </a:pPr>
            <a:r>
              <a:rPr lang="en-US" sz="1900"/>
              <a:t>Exchange of gases occurs only in this part of the respiratory tract.</a:t>
            </a:r>
          </a:p>
          <a:p>
            <a:pPr marL="0" indent="0">
              <a:buNone/>
            </a:pPr>
            <a:endParaRPr lang="en-US" sz="1900"/>
          </a:p>
          <a:p>
            <a:pPr marL="0" indent="0">
              <a:buNone/>
            </a:pPr>
            <a:r>
              <a:rPr lang="en-US" sz="1900" b="1" dirty="0"/>
              <a:t>STRUCTURE OF RESPIRATORY UNIT</a:t>
            </a:r>
          </a:p>
          <a:p>
            <a:pPr marL="0" indent="0">
              <a:buNone/>
            </a:pPr>
            <a:r>
              <a:rPr lang="en-US" sz="1900"/>
              <a:t>   1. Respiratory bronchioles</a:t>
            </a:r>
          </a:p>
          <a:p>
            <a:pPr marL="0" indent="0">
              <a:buNone/>
            </a:pPr>
            <a:r>
              <a:rPr lang="en-US" sz="1900"/>
              <a:t>   2. Alveolar ducts</a:t>
            </a:r>
          </a:p>
          <a:p>
            <a:pPr marL="0" indent="0">
              <a:buNone/>
            </a:pPr>
            <a:r>
              <a:rPr lang="en-US" sz="1900"/>
              <a:t>   3. Alveolar sacs</a:t>
            </a:r>
          </a:p>
          <a:p>
            <a:pPr marL="0" indent="0">
              <a:buNone/>
            </a:pPr>
            <a:r>
              <a:rPr lang="en-US" sz="1900"/>
              <a:t>   4. Antrum</a:t>
            </a:r>
          </a:p>
          <a:p>
            <a:pPr marL="0" indent="0">
              <a:buNone/>
            </a:pPr>
            <a:r>
              <a:rPr lang="en-US" sz="1900"/>
              <a:t>   5. Alveoli</a:t>
            </a:r>
          </a:p>
        </p:txBody>
      </p:sp>
      <p:sp>
        <p:nvSpPr>
          <p:cNvPr id="16" name="Oval 15">
            <a:extLst>
              <a:ext uri="{FF2B5EF4-FFF2-40B4-BE49-F238E27FC236}">
                <a16:creationId xmlns:a16="http://schemas.microsoft.com/office/drawing/2014/main" xmlns="" id="{49B7FFA5-14CB-4A4F-9BCC-CA3AA5D9D27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xmlns="" id="{04E48745-7512-4EC2-9E20-9092D12150C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xmlns="" val="917612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1C7FF924-8DA0-4BE9-8C7E-095B0EC13A4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549876" y="0"/>
            <a:ext cx="4594123" cy="6857999"/>
          </a:xfrm>
          <a:prstGeom prst="rect">
            <a:avLst/>
          </a:prstGeom>
          <a:blipFill dpi="0" rotWithShape="1">
            <a:blip r:embed="rId2">
              <a:alphaModFix amt="6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Diagram of a diagram of the respiratory system&#10;&#10;AI-generated content may be incorrect.">
            <a:extLst>
              <a:ext uri="{FF2B5EF4-FFF2-40B4-BE49-F238E27FC236}">
                <a16:creationId xmlns:a16="http://schemas.microsoft.com/office/drawing/2014/main" xmlns="" id="{50DEBE82-6709-9BB0-0F5C-B94F094C7535}"/>
              </a:ext>
            </a:extLst>
          </p:cNvPr>
          <p:cNvPicPr>
            <a:picLocks noChangeAspect="1"/>
          </p:cNvPicPr>
          <p:nvPr/>
        </p:nvPicPr>
        <p:blipFill>
          <a:blip r:embed="rId4"/>
          <a:stretch>
            <a:fillRect/>
          </a:stretch>
        </p:blipFill>
        <p:spPr>
          <a:xfrm>
            <a:off x="-3472" y="1503713"/>
            <a:ext cx="4454831" cy="4448662"/>
          </a:xfrm>
          <a:prstGeom prst="rect">
            <a:avLst/>
          </a:prstGeom>
        </p:spPr>
      </p:pic>
      <p:sp>
        <p:nvSpPr>
          <p:cNvPr id="3" name="Content Placeholder 2"/>
          <p:cNvSpPr>
            <a:spLocks noGrp="1"/>
          </p:cNvSpPr>
          <p:nvPr>
            <p:ph idx="1"/>
          </p:nvPr>
        </p:nvSpPr>
        <p:spPr>
          <a:xfrm>
            <a:off x="4746171" y="510323"/>
            <a:ext cx="3974689" cy="4050792"/>
          </a:xfrm>
        </p:spPr>
        <p:txBody>
          <a:bodyPr vert="horz" lIns="91440" tIns="45720" rIns="91440" bIns="45720" rtlCol="0" anchor="t">
            <a:noAutofit/>
          </a:bodyPr>
          <a:lstStyle/>
          <a:p>
            <a:r>
              <a:rPr lang="en-US" sz="1800" dirty="0"/>
              <a:t>Between the trachea and alveoli airways divide 23 times</a:t>
            </a:r>
          </a:p>
          <a:p>
            <a:endParaRPr lang="en-US" sz="1800" dirty="0"/>
          </a:p>
          <a:p>
            <a:r>
              <a:rPr lang="en-US" sz="1800" dirty="0"/>
              <a:t>Out of 23 divisions first 16 are just to conduct air and these divisions of airways are up to terminal bronchioles. </a:t>
            </a:r>
          </a:p>
          <a:p>
            <a:endParaRPr lang="en-US" sz="1800" dirty="0"/>
          </a:p>
          <a:p>
            <a:r>
              <a:rPr lang="en-US" sz="1800" dirty="0"/>
              <a:t>The last 7 divisions are for the exchange of gases and these divisions which are for exchange of gases includes respiratory bronchioles, alveolar ducts and alveoli.</a:t>
            </a:r>
          </a:p>
          <a:p>
            <a:endParaRPr lang="en-US" sz="1800" dirty="0"/>
          </a:p>
          <a:p>
            <a:r>
              <a:rPr lang="en-US" sz="1800" dirty="0"/>
              <a:t>There are 300 million alveoli in the lungs and the alveolar surface </a:t>
            </a:r>
            <a:r>
              <a:rPr lang="en-US" sz="1800" err="1"/>
              <a:t>form s</a:t>
            </a:r>
            <a:r>
              <a:rPr lang="en-US" sz="1800" dirty="0"/>
              <a:t> an area of 70-100 square meters</a:t>
            </a:r>
          </a:p>
        </p:txBody>
      </p:sp>
      <p:grpSp>
        <p:nvGrpSpPr>
          <p:cNvPr id="10" name="Group 9">
            <a:extLst>
              <a:ext uri="{FF2B5EF4-FFF2-40B4-BE49-F238E27FC236}">
                <a16:creationId xmlns:a16="http://schemas.microsoft.com/office/drawing/2014/main" xmlns="" id="{5029B4A8-2CF0-48DC-B29E-F3B62EDDC445}"/>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8551293" y="6229681"/>
            <a:ext cx="342900" cy="457200"/>
            <a:chOff x="11361456" y="6195813"/>
            <a:chExt cx="548640" cy="548640"/>
          </a:xfrm>
        </p:grpSpPr>
        <p:sp>
          <p:nvSpPr>
            <p:cNvPr id="11" name="Oval 10">
              <a:extLst>
                <a:ext uri="{FF2B5EF4-FFF2-40B4-BE49-F238E27FC236}">
                  <a16:creationId xmlns:a16="http://schemas.microsoft.com/office/drawing/2014/main" xmlns="" id="{F71DA811-F7AE-460D-9891-57F221994B9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a:extLst>
                <a:ext uri="{FF2B5EF4-FFF2-40B4-BE49-F238E27FC236}">
                  <a16:creationId xmlns:a16="http://schemas.microsoft.com/office/drawing/2014/main" xmlns="" id="{3747795E-BBFD-44B4-892D-2054745A841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0000"/>
                </a:solidFill>
              </a:rPr>
              <a:t>Alveolar Cells or Pneumocytes</a:t>
            </a:r>
          </a:p>
        </p:txBody>
      </p:sp>
      <p:sp>
        <p:nvSpPr>
          <p:cNvPr id="3" name="Text Placeholder 2"/>
          <p:cNvSpPr>
            <a:spLocks noGrp="1"/>
          </p:cNvSpPr>
          <p:nvPr>
            <p:ph type="body" idx="1"/>
          </p:nvPr>
        </p:nvSpPr>
        <p:spPr>
          <a:xfrm>
            <a:off x="914400" y="2200656"/>
            <a:ext cx="3657600" cy="640080"/>
          </a:xfrm>
        </p:spPr>
        <p:txBody>
          <a:bodyPr/>
          <a:lstStyle/>
          <a:p>
            <a:r>
              <a:rPr lang="en-US" dirty="0">
                <a:solidFill>
                  <a:srgbClr val="0070C0"/>
                </a:solidFill>
              </a:rPr>
              <a:t>Type I alveolar cells</a:t>
            </a:r>
          </a:p>
        </p:txBody>
      </p:sp>
      <p:sp>
        <p:nvSpPr>
          <p:cNvPr id="4" name="Content Placeholder 3"/>
          <p:cNvSpPr>
            <a:spLocks noGrp="1"/>
          </p:cNvSpPr>
          <p:nvPr>
            <p:ph sz="half" idx="2"/>
          </p:nvPr>
        </p:nvSpPr>
        <p:spPr/>
        <p:txBody>
          <a:bodyPr/>
          <a:lstStyle/>
          <a:p>
            <a:r>
              <a:rPr lang="en-US" dirty="0"/>
              <a:t>Type I alveolar cells are the squamous epithelial cells</a:t>
            </a:r>
          </a:p>
          <a:p>
            <a:r>
              <a:rPr lang="en-US" dirty="0"/>
              <a:t>They are about 95% of the total number of cells. </a:t>
            </a:r>
          </a:p>
          <a:p>
            <a:r>
              <a:rPr lang="en-US" dirty="0"/>
              <a:t>These cells form the site of gaseous exchange between the alveolus and blood.</a:t>
            </a:r>
          </a:p>
        </p:txBody>
      </p:sp>
      <p:sp>
        <p:nvSpPr>
          <p:cNvPr id="5" name="Text Placeholder 4"/>
          <p:cNvSpPr>
            <a:spLocks noGrp="1"/>
          </p:cNvSpPr>
          <p:nvPr>
            <p:ph type="body" sz="quarter" idx="3"/>
          </p:nvPr>
        </p:nvSpPr>
        <p:spPr>
          <a:xfrm>
            <a:off x="5071164" y="2102685"/>
            <a:ext cx="3657600" cy="640080"/>
          </a:xfrm>
        </p:spPr>
        <p:txBody>
          <a:bodyPr/>
          <a:lstStyle/>
          <a:p>
            <a:r>
              <a:rPr lang="en-US" dirty="0">
                <a:solidFill>
                  <a:srgbClr val="0070C0"/>
                </a:solidFill>
              </a:rPr>
              <a:t>Type II alveolar cells</a:t>
            </a:r>
          </a:p>
        </p:txBody>
      </p:sp>
      <p:sp>
        <p:nvSpPr>
          <p:cNvPr id="6" name="Content Placeholder 5"/>
          <p:cNvSpPr>
            <a:spLocks noGrp="1"/>
          </p:cNvSpPr>
          <p:nvPr>
            <p:ph sz="quarter" idx="4"/>
          </p:nvPr>
        </p:nvSpPr>
        <p:spPr>
          <a:xfrm>
            <a:off x="4820793" y="2667000"/>
            <a:ext cx="3657600" cy="3368040"/>
          </a:xfrm>
        </p:spPr>
        <p:txBody>
          <a:bodyPr/>
          <a:lstStyle/>
          <a:p>
            <a:r>
              <a:rPr lang="en-US" dirty="0"/>
              <a:t>Type II alveolar cells are cuboidal in nature.</a:t>
            </a:r>
          </a:p>
          <a:p>
            <a:r>
              <a:rPr lang="en-US" dirty="0"/>
              <a:t>They are about 5% of alveolar cells. </a:t>
            </a:r>
          </a:p>
          <a:p>
            <a:r>
              <a:rPr lang="en-US" dirty="0"/>
              <a:t>These cells are also called granular pneumocytes. </a:t>
            </a:r>
          </a:p>
          <a:p>
            <a:r>
              <a:rPr lang="en-US" dirty="0"/>
              <a:t>Type II alveolar cells secrete alveolar ﬂuid and surfactant</a:t>
            </a:r>
          </a:p>
        </p:txBody>
      </p:sp>
    </p:spTree>
    <p:extLst>
      <p:ext uri="{BB962C8B-B14F-4D97-AF65-F5344CB8AC3E}">
        <p14:creationId xmlns:p14="http://schemas.microsoft.com/office/powerpoint/2010/main" xmlns="" val="231412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151572-A4B7-B8B0-8909-5F9B93505D43}"/>
              </a:ext>
            </a:extLst>
          </p:cNvPr>
          <p:cNvSpPr>
            <a:spLocks noGrp="1"/>
          </p:cNvSpPr>
          <p:nvPr>
            <p:ph type="title"/>
          </p:nvPr>
        </p:nvSpPr>
        <p:spPr/>
        <p:txBody>
          <a:bodyPr/>
          <a:lstStyle/>
          <a:p>
            <a:endParaRPr lang="en-US"/>
          </a:p>
        </p:txBody>
      </p:sp>
      <p:pic>
        <p:nvPicPr>
          <p:cNvPr id="7" name="Content Placeholder 6" descr="4">
            <a:extLst>
              <a:ext uri="{FF2B5EF4-FFF2-40B4-BE49-F238E27FC236}">
                <a16:creationId xmlns:a16="http://schemas.microsoft.com/office/drawing/2014/main" xmlns="" id="{DD3551A7-217C-0FCF-61A6-E12639D533BE}"/>
              </a:ext>
            </a:extLst>
          </p:cNvPr>
          <p:cNvPicPr>
            <a:picLocks noGrp="1" noChangeAspect="1"/>
          </p:cNvPicPr>
          <p:nvPr>
            <p:ph idx="1"/>
          </p:nvPr>
        </p:nvPicPr>
        <p:blipFill>
          <a:blip r:embed="rId2"/>
          <a:stretch>
            <a:fillRect/>
          </a:stretch>
        </p:blipFill>
        <p:spPr>
          <a:xfrm>
            <a:off x="260386" y="74894"/>
            <a:ext cx="8884484" cy="6717791"/>
          </a:xfrm>
        </p:spPr>
      </p:pic>
    </p:spTree>
    <p:extLst>
      <p:ext uri="{BB962C8B-B14F-4D97-AF65-F5344CB8AC3E}">
        <p14:creationId xmlns:p14="http://schemas.microsoft.com/office/powerpoint/2010/main" xmlns="" val="657529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Functions of lungs</a:t>
            </a:r>
            <a:endParaRPr lang="en-US" dirty="0"/>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xmlns="" val="1752741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 Respiratory functions</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Besides primary function of gaseous exchange, the respiratory system is involved in several non-respiratory functions of the body</a:t>
            </a:r>
          </a:p>
          <a:p>
            <a:pPr marL="617220" lvl="1" indent="-342900">
              <a:buFont typeface="+mj-lt"/>
              <a:buAutoNum type="arabicPeriod"/>
            </a:pPr>
            <a:r>
              <a:rPr lang="en-US" sz="2000" dirty="0" smtClean="0"/>
              <a:t>Olfaction</a:t>
            </a:r>
          </a:p>
          <a:p>
            <a:pPr marL="617220" lvl="1" indent="-342900">
              <a:buFont typeface="+mj-lt"/>
              <a:buAutoNum type="arabicPeriod"/>
            </a:pPr>
            <a:r>
              <a:rPr lang="en-US" sz="2000" dirty="0" smtClean="0"/>
              <a:t>Vocalization</a:t>
            </a:r>
          </a:p>
          <a:p>
            <a:pPr marL="617220" lvl="1" indent="-342900">
              <a:buFont typeface="+mj-lt"/>
              <a:buAutoNum type="arabicPeriod"/>
            </a:pPr>
            <a:r>
              <a:rPr lang="en-US" sz="2000" dirty="0" smtClean="0"/>
              <a:t>Filtration of dust particles</a:t>
            </a:r>
          </a:p>
          <a:p>
            <a:pPr marL="617220" lvl="1" indent="-342900">
              <a:buFont typeface="+mj-lt"/>
              <a:buAutoNum type="arabicPeriod"/>
            </a:pPr>
            <a:r>
              <a:rPr lang="en-US" sz="2000" dirty="0" smtClean="0"/>
              <a:t>Immunological defense system</a:t>
            </a:r>
          </a:p>
          <a:p>
            <a:pPr marL="617220" lvl="1" indent="-342900">
              <a:buFont typeface="+mj-lt"/>
              <a:buAutoNum type="arabicPeriod"/>
            </a:pPr>
            <a:r>
              <a:rPr lang="en-US" sz="2000" dirty="0" smtClean="0"/>
              <a:t>Maintenance of water balance</a:t>
            </a:r>
          </a:p>
          <a:p>
            <a:pPr marL="617220" lvl="1" indent="-342900">
              <a:buFont typeface="+mj-lt"/>
              <a:buAutoNum type="arabicPeriod"/>
            </a:pPr>
            <a:r>
              <a:rPr lang="en-US" sz="2000" dirty="0" smtClean="0"/>
              <a:t>Regulation of body temperature</a:t>
            </a:r>
          </a:p>
          <a:p>
            <a:pPr marL="617220" lvl="1" indent="-342900">
              <a:buFont typeface="+mj-lt"/>
              <a:buAutoNum type="arabicPeriod"/>
            </a:pPr>
            <a:r>
              <a:rPr lang="en-US" sz="2000" dirty="0" smtClean="0"/>
              <a:t>Regulation of acid-base balance</a:t>
            </a:r>
          </a:p>
          <a:p>
            <a:pPr marL="617220" lvl="1" indent="-342900">
              <a:buFont typeface="+mj-lt"/>
              <a:buAutoNum type="arabicPeriod"/>
            </a:pPr>
            <a:r>
              <a:rPr lang="en-US" sz="2000" dirty="0" smtClean="0"/>
              <a:t>Anti-coagulant function</a:t>
            </a:r>
          </a:p>
          <a:p>
            <a:pPr marL="617220" lvl="1" indent="-342900">
              <a:buFont typeface="+mj-lt"/>
              <a:buAutoNum type="arabicPeriod"/>
            </a:pPr>
            <a:r>
              <a:rPr lang="en-US" sz="2000" dirty="0" smtClean="0"/>
              <a:t>Secretion of angiotensin converting enzyme</a:t>
            </a:r>
            <a:endParaRPr lang="en-US" sz="2000" dirty="0"/>
          </a:p>
        </p:txBody>
      </p:sp>
    </p:spTree>
    <p:extLst>
      <p:ext uri="{BB962C8B-B14F-4D97-AF65-F5344CB8AC3E}">
        <p14:creationId xmlns:p14="http://schemas.microsoft.com/office/powerpoint/2010/main" xmlns="" val="4025760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Non-respiratory functions</a:t>
            </a:r>
            <a:endParaRPr lang="en-US" dirty="0"/>
          </a:p>
        </p:txBody>
      </p:sp>
      <p:sp>
        <p:nvSpPr>
          <p:cNvPr id="3" name="Content Placeholder 2"/>
          <p:cNvSpPr>
            <a:spLocks noGrp="1"/>
          </p:cNvSpPr>
          <p:nvPr>
            <p:ph idx="1"/>
          </p:nvPr>
        </p:nvSpPr>
        <p:spPr/>
        <p:txBody>
          <a:bodyPr/>
          <a:lstStyle/>
          <a:p>
            <a:pPr marL="0" indent="0">
              <a:buNone/>
            </a:pPr>
            <a:r>
              <a:rPr lang="en-US" b="1" dirty="0" smtClean="0"/>
              <a:t>OLFACTION</a:t>
            </a:r>
          </a:p>
          <a:p>
            <a:pPr marL="274320" lvl="1" indent="0">
              <a:buNone/>
            </a:pPr>
            <a:r>
              <a:rPr lang="en-US" dirty="0" smtClean="0"/>
              <a:t>Olfactory receptors present in mucus membranes of the nostrils are responsible for olfactory sensation</a:t>
            </a:r>
          </a:p>
          <a:p>
            <a:pPr marL="0" indent="0">
              <a:buNone/>
            </a:pPr>
            <a:r>
              <a:rPr lang="en-US" b="1" dirty="0" smtClean="0"/>
              <a:t>VOCALIZATION</a:t>
            </a:r>
          </a:p>
          <a:p>
            <a:pPr marL="274320" lvl="1" indent="0">
              <a:buNone/>
            </a:pPr>
            <a:r>
              <a:rPr lang="en-US" dirty="0" smtClean="0"/>
              <a:t>Larynx alone plays a major role in the process of vocalization. Therefore its also called </a:t>
            </a:r>
            <a:r>
              <a:rPr lang="en-US" b="1" dirty="0" smtClean="0"/>
              <a:t>sound box.</a:t>
            </a:r>
          </a:p>
          <a:p>
            <a:pPr marL="0" indent="0">
              <a:buNone/>
            </a:pPr>
            <a:r>
              <a:rPr lang="en-US" b="1" dirty="0" smtClean="0"/>
              <a:t> REMOVAL OF DUST PARTICLES</a:t>
            </a:r>
          </a:p>
          <a:p>
            <a:pPr marL="274320" lvl="1" indent="0">
              <a:buNone/>
            </a:pPr>
            <a:r>
              <a:rPr lang="en-US" dirty="0" smtClean="0"/>
              <a:t>Particles which escape the protective mechanisms in nose and alveoli are thrown out by cough reflex and sneeze reflex.</a:t>
            </a:r>
          </a:p>
          <a:p>
            <a:pPr marL="274320" lvl="1" indent="0">
              <a:buNone/>
            </a:pPr>
            <a:endParaRPr lang="en-US" dirty="0"/>
          </a:p>
        </p:txBody>
      </p:sp>
    </p:spTree>
    <p:extLst>
      <p:ext uri="{BB962C8B-B14F-4D97-AF65-F5344CB8AC3E}">
        <p14:creationId xmlns:p14="http://schemas.microsoft.com/office/powerpoint/2010/main" xmlns="" val="1455814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533400"/>
            <a:ext cx="7772400" cy="5638800"/>
          </a:xfrm>
        </p:spPr>
        <p:txBody>
          <a:bodyPr/>
          <a:lstStyle/>
          <a:p>
            <a:pPr marL="0" indent="0">
              <a:buNone/>
            </a:pPr>
            <a:r>
              <a:rPr lang="en-US" b="1" dirty="0" smtClean="0"/>
              <a:t>DEFENSE MECHANISM</a:t>
            </a:r>
          </a:p>
          <a:p>
            <a:pPr marL="274320" lvl="1" indent="0">
              <a:buNone/>
            </a:pPr>
            <a:r>
              <a:rPr lang="en-US" dirty="0" smtClean="0"/>
              <a:t>Lungs play an important role in the immunological defense system of the body. This function is performed by the presence of various cells lining the membrane of alveoli. These  cells are</a:t>
            </a:r>
            <a:r>
              <a:rPr lang="en-US" dirty="0"/>
              <a:t> </a:t>
            </a:r>
            <a:r>
              <a:rPr lang="en-US" b="1" dirty="0" smtClean="0">
                <a:solidFill>
                  <a:srgbClr val="FF0000"/>
                </a:solidFill>
              </a:rPr>
              <a:t>leucocytes, macrophages, mast cells, natural killer cells, dendritic cells.</a:t>
            </a:r>
          </a:p>
          <a:p>
            <a:pPr marL="0" indent="0">
              <a:buNone/>
            </a:pPr>
            <a:r>
              <a:rPr lang="en-US" b="1" dirty="0" smtClean="0"/>
              <a:t>MAINTENANCE OF WATER BALANCE</a:t>
            </a:r>
          </a:p>
          <a:p>
            <a:pPr marL="274320" lvl="1" indent="0">
              <a:buNone/>
            </a:pPr>
            <a:r>
              <a:rPr lang="en-US" dirty="0" smtClean="0"/>
              <a:t>Respiratory tract plays a role in water loss mechanism. During expiration, water evaporates through the expired air and some amount of body water is lost by this process.</a:t>
            </a:r>
          </a:p>
          <a:p>
            <a:pPr marL="0" indent="0">
              <a:buNone/>
            </a:pPr>
            <a:r>
              <a:rPr lang="en-US" b="1" dirty="0" smtClean="0"/>
              <a:t>REGULATION OF BODY TEMPERATURE</a:t>
            </a:r>
          </a:p>
          <a:p>
            <a:pPr marL="274320" lvl="1" indent="0">
              <a:buNone/>
            </a:pPr>
            <a:r>
              <a:rPr lang="en-US" dirty="0" smtClean="0"/>
              <a:t>As water evaporated during expiration, so does heat from the body. Hence, body temperature maybe regulated by respiration.</a:t>
            </a:r>
            <a:endParaRPr lang="en-US" b="1" dirty="0"/>
          </a:p>
          <a:p>
            <a:pPr marL="0" indent="0">
              <a:buNone/>
            </a:pPr>
            <a:r>
              <a:rPr lang="en-US" b="1" dirty="0" smtClean="0"/>
              <a:t>REGULATION OF ACID BASE BALANCE</a:t>
            </a:r>
          </a:p>
          <a:p>
            <a:pPr marL="274320" lvl="1" indent="0">
              <a:buNone/>
            </a:pPr>
            <a:r>
              <a:rPr lang="en-US" dirty="0" smtClean="0"/>
              <a:t>Acid base balance is maintained by regulating the </a:t>
            </a:r>
            <a:r>
              <a:rPr lang="en-US" b="1" dirty="0" smtClean="0">
                <a:solidFill>
                  <a:srgbClr val="FF0000"/>
                </a:solidFill>
              </a:rPr>
              <a:t>carbon dioxide content</a:t>
            </a:r>
            <a:r>
              <a:rPr lang="en-US" dirty="0" smtClean="0"/>
              <a:t> in the blood.</a:t>
            </a:r>
          </a:p>
        </p:txBody>
      </p:sp>
    </p:spTree>
    <p:extLst>
      <p:ext uri="{BB962C8B-B14F-4D97-AF65-F5344CB8AC3E}">
        <p14:creationId xmlns:p14="http://schemas.microsoft.com/office/powerpoint/2010/main" xmlns="" val="2464587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447800"/>
            <a:ext cx="7772400" cy="5791200"/>
          </a:xfrm>
        </p:spPr>
        <p:txBody>
          <a:bodyPr/>
          <a:lstStyle/>
          <a:p>
            <a:pPr marL="0" indent="0">
              <a:buNone/>
            </a:pPr>
            <a:r>
              <a:rPr lang="en-US" b="1" dirty="0" smtClean="0"/>
              <a:t>ANTICOAGULANT FUNCTION</a:t>
            </a:r>
          </a:p>
          <a:p>
            <a:pPr marL="274320" lvl="1" indent="0">
              <a:buNone/>
            </a:pPr>
            <a:r>
              <a:rPr lang="en-US" dirty="0" smtClean="0"/>
              <a:t>Mast cells in the lungs secrete </a:t>
            </a:r>
            <a:r>
              <a:rPr lang="en-US" b="1" dirty="0" smtClean="0"/>
              <a:t>Heparin</a:t>
            </a:r>
            <a:r>
              <a:rPr lang="en-US" dirty="0" smtClean="0"/>
              <a:t>. Heparin is an anti coagulant and </a:t>
            </a:r>
            <a:r>
              <a:rPr lang="en-US" b="1" dirty="0" smtClean="0"/>
              <a:t>prevents intravascular clotting</a:t>
            </a:r>
            <a:r>
              <a:rPr lang="en-US" dirty="0" smtClean="0"/>
              <a:t>.</a:t>
            </a:r>
          </a:p>
          <a:p>
            <a:pPr marL="274320" lvl="1" indent="0">
              <a:buNone/>
            </a:pPr>
            <a:endParaRPr lang="en-US" dirty="0"/>
          </a:p>
          <a:p>
            <a:pPr marL="0" indent="0">
              <a:buNone/>
            </a:pPr>
            <a:r>
              <a:rPr lang="en-US" b="1" dirty="0" smtClean="0"/>
              <a:t>SECRETION OF ACE</a:t>
            </a:r>
          </a:p>
          <a:p>
            <a:pPr marL="274320" lvl="1" indent="0">
              <a:buNone/>
            </a:pPr>
            <a:r>
              <a:rPr lang="en-US" dirty="0" smtClean="0"/>
              <a:t>Endothelial cells of the pulmonary capillaries secrete the angiotensin converting enzyme (ACE). It converts </a:t>
            </a:r>
            <a:r>
              <a:rPr lang="en-US" dirty="0" err="1" smtClean="0"/>
              <a:t>Angiotenisin</a:t>
            </a:r>
            <a:r>
              <a:rPr lang="en-US" dirty="0" smtClean="0"/>
              <a:t> I to active </a:t>
            </a:r>
            <a:r>
              <a:rPr lang="en-US" b="1" dirty="0" smtClean="0"/>
              <a:t>Angiotensin II</a:t>
            </a:r>
            <a:r>
              <a:rPr lang="en-US" dirty="0" smtClean="0"/>
              <a:t>, which plays an important role in </a:t>
            </a:r>
            <a:r>
              <a:rPr lang="en-US" b="1" dirty="0" smtClean="0"/>
              <a:t>regulation of ECF volume and blood pressure.</a:t>
            </a:r>
          </a:p>
        </p:txBody>
      </p:sp>
    </p:spTree>
    <p:extLst>
      <p:ext uri="{BB962C8B-B14F-4D97-AF65-F5344CB8AC3E}">
        <p14:creationId xmlns:p14="http://schemas.microsoft.com/office/powerpoint/2010/main" xmlns="" val="3881611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1295401"/>
            <a:ext cx="6248400" cy="2819399"/>
          </a:xfrm>
        </p:spPr>
        <p:txBody>
          <a:bodyPr/>
          <a:lstStyle/>
          <a:p>
            <a:r>
              <a:rPr lang="en-US" dirty="0">
                <a:solidFill>
                  <a:srgbClr val="000000"/>
                </a:solidFill>
              </a:rPr>
              <a:t>Mechanics of Pulmonary Ventilation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00"/>
                </a:solidFill>
              </a:rPr>
              <a:t>Pressures in the Thorax</a:t>
            </a:r>
          </a:p>
        </p:txBody>
      </p:sp>
      <p:sp>
        <p:nvSpPr>
          <p:cNvPr id="3" name="Content Placeholder 2"/>
          <p:cNvSpPr>
            <a:spLocks noGrp="1"/>
          </p:cNvSpPr>
          <p:nvPr>
            <p:ph idx="1"/>
          </p:nvPr>
        </p:nvSpPr>
        <p:spPr/>
        <p:txBody>
          <a:bodyPr/>
          <a:lstStyle/>
          <a:p>
            <a:r>
              <a:rPr lang="en-US" dirty="0"/>
              <a:t>Pleural Pressure</a:t>
            </a:r>
          </a:p>
          <a:p>
            <a:r>
              <a:rPr lang="en-US" dirty="0"/>
              <a:t>Alveolar Pressure</a:t>
            </a:r>
          </a:p>
          <a:p>
            <a:r>
              <a:rPr lang="en-US" dirty="0"/>
              <a:t>Transpulmunary Pressure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xmlns="" id="{5118BA95-03E7-41B7-B442-0AF8C0A7FF6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white">
          <a:xfrm>
            <a:off x="2286" y="0"/>
            <a:ext cx="914171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21" name="Group 20">
            <a:extLst>
              <a:ext uri="{FF2B5EF4-FFF2-40B4-BE49-F238E27FC236}">
                <a16:creationId xmlns:a16="http://schemas.microsoft.com/office/drawing/2014/main" xmlns="" id="{E799C3D5-7D55-4046-808C-F290F456D6EF}"/>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795776" y="1679569"/>
            <a:ext cx="2624148" cy="3498858"/>
            <a:chOff x="1061035" y="1679569"/>
            <a:chExt cx="3498864" cy="3498858"/>
          </a:xfrm>
        </p:grpSpPr>
        <p:sp>
          <p:nvSpPr>
            <p:cNvPr id="22" name="Oval 21">
              <a:extLst>
                <a:ext uri="{FF2B5EF4-FFF2-40B4-BE49-F238E27FC236}">
                  <a16:creationId xmlns:a16="http://schemas.microsoft.com/office/drawing/2014/main" xmlns="" id="{059D8741-EAD6-41B1-A882-70D70FC3582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061035" y="1679569"/>
              <a:ext cx="3498864" cy="3498858"/>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xmlns="">
                      <a14:imgLayer r:embed="rId3">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3" name="Oval 22">
              <a:extLst>
                <a:ext uri="{FF2B5EF4-FFF2-40B4-BE49-F238E27FC236}">
                  <a16:creationId xmlns:a16="http://schemas.microsoft.com/office/drawing/2014/main" xmlns="" id="{45444F36-3103-4D11-A25F-C054D4606DA4}"/>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246134" y="1864667"/>
              <a:ext cx="3128666" cy="312866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title"/>
          </p:nvPr>
        </p:nvSpPr>
        <p:spPr>
          <a:xfrm>
            <a:off x="1117608" y="2376862"/>
            <a:ext cx="1980485" cy="2104273"/>
          </a:xfrm>
          <a:noFill/>
        </p:spPr>
        <p:txBody>
          <a:bodyPr>
            <a:normAutofit/>
          </a:bodyPr>
          <a:lstStyle/>
          <a:p>
            <a:pPr algn="ctr"/>
            <a:r>
              <a:rPr lang="en-US" sz="2600">
                <a:solidFill>
                  <a:srgbClr val="FFFFFF"/>
                </a:solidFill>
              </a:rPr>
              <a:t>Pleural Pressure</a:t>
            </a:r>
          </a:p>
        </p:txBody>
      </p:sp>
      <p:sp>
        <p:nvSpPr>
          <p:cNvPr id="25" name="Rectangle 24">
            <a:extLst>
              <a:ext uri="{FF2B5EF4-FFF2-40B4-BE49-F238E27FC236}">
                <a16:creationId xmlns:a16="http://schemas.microsoft.com/office/drawing/2014/main" xmlns="" id="{AD9B3EAD-A2B3-42C4-927C-3455E3E69EE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2169508" y="3398744"/>
            <a:ext cx="3657600" cy="60512"/>
          </a:xfrm>
          <a:prstGeom prst="rect">
            <a:avLst/>
          </a:prstGeom>
          <a:blipFill dpi="0" rotWithShape="1">
            <a:blip r:embed="rId4">
              <a:alphaModFix amt="85000"/>
              <a:lum bright="70000" contrast="-70000"/>
              <a:extLst>
                <a:ext uri="{BEBA8EAE-BF5A-486C-A8C5-ECC9F3942E4B}">
                  <a14:imgProps xmlns:a14="http://schemas.microsoft.com/office/drawing/2010/main" xmlns="">
                    <a14:imgLayer r:embed="rId5">
                      <a14:imgEffect>
                        <a14:sharpenSoften amount="61000"/>
                      </a14:imgEffect>
                    </a14:imgLayer>
                  </a14:imgProps>
                </a:ext>
                <a:ext uri="{28A0092B-C50C-407E-A947-70E740481C1C}">
                  <a14:useLocalDpi xmlns:a14="http://schemas.microsoft.com/office/drawing/2010/main" xmlns=""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p:cNvSpPr>
            <a:spLocks noGrp="1"/>
          </p:cNvSpPr>
          <p:nvPr>
            <p:ph idx="1"/>
          </p:nvPr>
        </p:nvSpPr>
        <p:spPr>
          <a:xfrm>
            <a:off x="4027415" y="-3947"/>
            <a:ext cx="5293908" cy="6865895"/>
          </a:xfrm>
        </p:spPr>
        <p:txBody>
          <a:bodyPr anchor="ctr">
            <a:normAutofit/>
          </a:bodyPr>
          <a:lstStyle/>
          <a:p>
            <a:r>
              <a:rPr lang="en-US" sz="1900" dirty="0"/>
              <a:t>Pressure in the pleural cavity.</a:t>
            </a:r>
            <a:endParaRPr lang="en-US" dirty="0"/>
          </a:p>
          <a:p>
            <a:pPr>
              <a:buClr>
                <a:srgbClr val="9E3611"/>
              </a:buClr>
            </a:pPr>
            <a:r>
              <a:rPr lang="en-US" sz="1900" dirty="0"/>
              <a:t> Two types of pleura i.e. </a:t>
            </a:r>
            <a:r>
              <a:rPr lang="en-US" sz="1900" b="1" dirty="0"/>
              <a:t>visceral and parietal</a:t>
            </a:r>
            <a:r>
              <a:rPr lang="en-US" sz="1900" dirty="0"/>
              <a:t>. A potential space is present in between them. </a:t>
            </a:r>
            <a:endParaRPr lang="en-US" dirty="0"/>
          </a:p>
          <a:p>
            <a:r>
              <a:rPr lang="en-US" sz="1900" dirty="0"/>
              <a:t>The pressure in this space is usually</a:t>
            </a:r>
            <a:r>
              <a:rPr lang="en-US" sz="1900" b="1" dirty="0"/>
              <a:t> negative which causes lung expansion and is called pleural pressure.</a:t>
            </a:r>
            <a:r>
              <a:rPr lang="en-US" sz="1900" dirty="0"/>
              <a:t>  When this pressure becomes positive lungs are collapsed.</a:t>
            </a:r>
          </a:p>
          <a:p>
            <a:endParaRPr lang="en-US" sz="1900"/>
          </a:p>
          <a:p>
            <a:pPr marL="0" indent="0">
              <a:buNone/>
            </a:pPr>
            <a:r>
              <a:rPr lang="en-US" sz="1900" b="1" dirty="0"/>
              <a:t>Generation of Pleural pressure: </a:t>
            </a:r>
          </a:p>
          <a:p>
            <a:pPr marL="0" indent="0">
              <a:buNone/>
            </a:pPr>
            <a:r>
              <a:rPr lang="en-US" sz="1900" dirty="0"/>
              <a:t>   Lungs are collapsed in intrauterine life. During birth baby cries very strongly as a result of which thoracic wall expands and negative pleural pressure is produced.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14354" y="228600"/>
            <a:ext cx="6647673" cy="6095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888841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02386" y="798394"/>
            <a:ext cx="3547838" cy="1637730"/>
          </a:xfrm>
        </p:spPr>
        <p:txBody>
          <a:bodyPr>
            <a:normAutofit/>
          </a:bodyPr>
          <a:lstStyle/>
          <a:p>
            <a:r>
              <a:rPr lang="en-US" sz="3800"/>
              <a:t>Pleural Pressure</a:t>
            </a:r>
          </a:p>
        </p:txBody>
      </p:sp>
      <p:sp>
        <p:nvSpPr>
          <p:cNvPr id="3" name="Content Placeholder 2"/>
          <p:cNvSpPr>
            <a:spLocks noGrp="1"/>
          </p:cNvSpPr>
          <p:nvPr>
            <p:ph idx="1"/>
          </p:nvPr>
        </p:nvSpPr>
        <p:spPr>
          <a:xfrm>
            <a:off x="802386" y="2578608"/>
            <a:ext cx="3547838" cy="3593592"/>
          </a:xfrm>
        </p:spPr>
        <p:txBody>
          <a:bodyPr>
            <a:normAutofit/>
          </a:bodyPr>
          <a:lstStyle/>
          <a:p>
            <a:r>
              <a:rPr lang="en-US" sz="1600"/>
              <a:t>Pleural pressure normally:</a:t>
            </a:r>
          </a:p>
          <a:p>
            <a:pPr lvl="1"/>
            <a:r>
              <a:rPr lang="en-US" sz="1600"/>
              <a:t>At the start of quiet inspiration is -5 cm of H2O</a:t>
            </a:r>
          </a:p>
          <a:p>
            <a:pPr lvl="1"/>
            <a:r>
              <a:rPr lang="en-US" sz="1600"/>
              <a:t>At the end of quiet inspiration is -8 cm of H2O</a:t>
            </a:r>
          </a:p>
          <a:p>
            <a:pPr lvl="1"/>
            <a:r>
              <a:rPr lang="en-US" sz="1600"/>
              <a:t>At the end of maximal deep inspiration it may becomes equal to – 30 mm of Hg</a:t>
            </a:r>
          </a:p>
          <a:p>
            <a:endParaRPr lang="en-US" sz="1600"/>
          </a:p>
        </p:txBody>
      </p:sp>
      <p:sp>
        <p:nvSpPr>
          <p:cNvPr id="1031" name="Freeform: Shape 1030">
            <a:extLst>
              <a:ext uri="{FF2B5EF4-FFF2-40B4-BE49-F238E27FC236}">
                <a16:creationId xmlns:a16="http://schemas.microsoft.com/office/drawing/2014/main" xmlns="" id="{B16070FD-9EB8-4AC8-A8E2-267228385B7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434843" y="0"/>
            <a:ext cx="4709157" cy="6858000"/>
          </a:xfrm>
          <a:custGeom>
            <a:avLst/>
            <a:gdLst>
              <a:gd name="connsiteX0" fmla="*/ 45571 w 6278877"/>
              <a:gd name="connsiteY0" fmla="*/ 0 h 6858000"/>
              <a:gd name="connsiteX1" fmla="*/ 6278877 w 6278877"/>
              <a:gd name="connsiteY1" fmla="*/ 0 h 6858000"/>
              <a:gd name="connsiteX2" fmla="*/ 6278877 w 6278877"/>
              <a:gd name="connsiteY2" fmla="*/ 6858000 h 6858000"/>
              <a:gd name="connsiteX3" fmla="*/ 3292307 w 6278877"/>
              <a:gd name="connsiteY3" fmla="*/ 6858000 h 6858000"/>
              <a:gd name="connsiteX4" fmla="*/ 3181525 w 6278877"/>
              <a:gd name="connsiteY4" fmla="*/ 6786980 h 6858000"/>
              <a:gd name="connsiteX5" fmla="*/ 0 w 6278877"/>
              <a:gd name="connsiteY5" fmla="*/ 803252 h 6858000"/>
              <a:gd name="connsiteX6" fmla="*/ 37255 w 6278877"/>
              <a:gd name="connsiteY6" fmla="*/ 654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8877" h="6858000">
                <a:moveTo>
                  <a:pt x="45571" y="0"/>
                </a:moveTo>
                <a:lnTo>
                  <a:pt x="6278877" y="0"/>
                </a:lnTo>
                <a:lnTo>
                  <a:pt x="6278877" y="6858000"/>
                </a:lnTo>
                <a:lnTo>
                  <a:pt x="3292307" y="6858000"/>
                </a:lnTo>
                <a:lnTo>
                  <a:pt x="3181525" y="6786980"/>
                </a:lnTo>
                <a:cubicBezTo>
                  <a:pt x="1262020" y="5490189"/>
                  <a:pt x="0" y="3294101"/>
                  <a:pt x="0" y="803252"/>
                </a:cubicBezTo>
                <a:cubicBezTo>
                  <a:pt x="0" y="554167"/>
                  <a:pt x="12619" y="308030"/>
                  <a:pt x="37255" y="65445"/>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4"/>
          <p:cNvPicPr>
            <a:picLocks noChangeAspect="1" noChangeArrowheads="1"/>
          </p:cNvPicPr>
          <p:nvPr/>
        </p:nvPicPr>
        <p:blipFill>
          <a:blip r:embed="rId2" cstate="print"/>
          <a:stretch>
            <a:fillRect/>
          </a:stretch>
        </p:blipFill>
        <p:spPr bwMode="auto">
          <a:xfrm>
            <a:off x="4876420" y="2216338"/>
            <a:ext cx="4263320" cy="1212977"/>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xmlns="" id="{1C7FF924-8DA0-4BE9-8C7E-095B0EC13A4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549876" y="0"/>
            <a:ext cx="4594123" cy="6857999"/>
          </a:xfrm>
          <a:prstGeom prst="rect">
            <a:avLst/>
          </a:prstGeom>
          <a:blipFill dpi="0" rotWithShape="1">
            <a:blip r:embed="rId2">
              <a:alphaModFix amt="6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0600" y="484632"/>
            <a:ext cx="3974689" cy="1609344"/>
          </a:xfrm>
          <a:ln>
            <a:noFill/>
          </a:ln>
        </p:spPr>
        <p:txBody>
          <a:bodyPr>
            <a:normAutofit/>
          </a:bodyPr>
          <a:lstStyle/>
          <a:p>
            <a:r>
              <a:rPr lang="en-US" sz="3500"/>
              <a:t>Alveolar Pressure</a:t>
            </a:r>
          </a:p>
        </p:txBody>
      </p:sp>
      <p:pic>
        <p:nvPicPr>
          <p:cNvPr id="5" name="Picture 4" descr="A diagram of a lungs&#10;&#10;AI-generated content may be incorrect.">
            <a:extLst>
              <a:ext uri="{FF2B5EF4-FFF2-40B4-BE49-F238E27FC236}">
                <a16:creationId xmlns:a16="http://schemas.microsoft.com/office/drawing/2014/main" xmlns="" id="{936BF542-1AB5-44CB-8CF9-DC561146908D}"/>
              </a:ext>
            </a:extLst>
          </p:cNvPr>
          <p:cNvPicPr>
            <a:picLocks noChangeAspect="1"/>
          </p:cNvPicPr>
          <p:nvPr/>
        </p:nvPicPr>
        <p:blipFill>
          <a:blip r:embed="rId4" cstate="print"/>
          <a:stretch>
            <a:fillRect/>
          </a:stretch>
        </p:blipFill>
        <p:spPr>
          <a:xfrm>
            <a:off x="-3472" y="1487222"/>
            <a:ext cx="4552803" cy="4035330"/>
          </a:xfrm>
          <a:prstGeom prst="rect">
            <a:avLst/>
          </a:prstGeom>
        </p:spPr>
      </p:pic>
      <p:sp>
        <p:nvSpPr>
          <p:cNvPr id="3" name="Content Placeholder 2"/>
          <p:cNvSpPr>
            <a:spLocks noGrp="1"/>
          </p:cNvSpPr>
          <p:nvPr>
            <p:ph idx="1"/>
          </p:nvPr>
        </p:nvSpPr>
        <p:spPr>
          <a:xfrm>
            <a:off x="4800599" y="2121408"/>
            <a:ext cx="3974689" cy="4050792"/>
          </a:xfrm>
        </p:spPr>
        <p:txBody>
          <a:bodyPr vert="horz" lIns="91440" tIns="45720" rIns="91440" bIns="45720" rtlCol="0">
            <a:normAutofit/>
          </a:bodyPr>
          <a:lstStyle/>
          <a:p>
            <a:pPr marL="0" indent="0">
              <a:buNone/>
            </a:pPr>
            <a:r>
              <a:rPr lang="en-US" sz="1600"/>
              <a:t> </a:t>
            </a:r>
            <a:r>
              <a:rPr lang="en-US" sz="1600">
                <a:latin typeface="Times New Roman"/>
                <a:cs typeface="Times New Roman"/>
              </a:rPr>
              <a:t>Pressure inside the alveoli</a:t>
            </a:r>
            <a:endParaRPr lang="en-US" sz="1600"/>
          </a:p>
          <a:p>
            <a:r>
              <a:rPr lang="en-US" sz="1600">
                <a:latin typeface="Times New Roman" panose="02020603050405020304" pitchFamily="18" charset="0"/>
                <a:cs typeface="Times New Roman" panose="02020603050405020304" pitchFamily="18" charset="0"/>
              </a:rPr>
              <a:t>Alveolar pressure normally:</a:t>
            </a:r>
          </a:p>
          <a:p>
            <a:pPr lvl="1"/>
            <a:r>
              <a:rPr lang="en-US" sz="1600">
                <a:latin typeface="Times New Roman" panose="02020603050405020304" pitchFamily="18" charset="0"/>
                <a:cs typeface="Times New Roman" panose="02020603050405020304" pitchFamily="18" charset="0"/>
              </a:rPr>
              <a:t>At the start of quiet inspiration is 0 cm of H2O</a:t>
            </a:r>
          </a:p>
          <a:p>
            <a:pPr marL="274320" lvl="1" indent="0">
              <a:buNone/>
            </a:pPr>
            <a:endParaRPr lang="en-US" sz="1600">
              <a:latin typeface="Times New Roman" panose="02020603050405020304" pitchFamily="18" charset="0"/>
              <a:cs typeface="Times New Roman" panose="02020603050405020304" pitchFamily="18" charset="0"/>
            </a:endParaRPr>
          </a:p>
          <a:p>
            <a:r>
              <a:rPr lang="en-US" sz="1600">
                <a:latin typeface="Times New Roman" panose="02020603050405020304" pitchFamily="18" charset="0"/>
                <a:cs typeface="Times New Roman" panose="02020603050405020304" pitchFamily="18" charset="0"/>
              </a:rPr>
              <a:t> It becomes negative during inspiration and positive during expiration. </a:t>
            </a:r>
          </a:p>
          <a:p>
            <a:r>
              <a:rPr lang="en-US" sz="1600">
                <a:latin typeface="Times New Roman" panose="02020603050405020304" pitchFamily="18" charset="0"/>
                <a:cs typeface="Times New Roman" panose="02020603050405020304" pitchFamily="18" charset="0"/>
              </a:rPr>
              <a:t>During maximal deep inspiration it may becomes equal to - 100 mm of Hg</a:t>
            </a:r>
          </a:p>
          <a:p>
            <a:r>
              <a:rPr lang="en-US" sz="1600">
                <a:latin typeface="Times New Roman" panose="02020603050405020304" pitchFamily="18" charset="0"/>
                <a:cs typeface="Times New Roman" panose="02020603050405020304" pitchFamily="18" charset="0"/>
              </a:rPr>
              <a:t>During maximal forceful expiration with glottis closed it may becomes equal to +140 mm of Hg</a:t>
            </a:r>
          </a:p>
          <a:p>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endParaRPr lang="en-US" sz="1600">
              <a:latin typeface="Times New Roman" panose="02020603050405020304" pitchFamily="18" charset="0"/>
              <a:cs typeface="Times New Roman" panose="02020603050405020304" pitchFamily="18" charset="0"/>
            </a:endParaRPr>
          </a:p>
        </p:txBody>
      </p:sp>
      <p:grpSp>
        <p:nvGrpSpPr>
          <p:cNvPr id="26" name="Group 25">
            <a:extLst>
              <a:ext uri="{FF2B5EF4-FFF2-40B4-BE49-F238E27FC236}">
                <a16:creationId xmlns:a16="http://schemas.microsoft.com/office/drawing/2014/main" xmlns="" id="{5029B4A8-2CF0-48DC-B29E-F3B62EDDC445}"/>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8551293" y="6229681"/>
            <a:ext cx="342900" cy="457200"/>
            <a:chOff x="11361456" y="6195813"/>
            <a:chExt cx="548640" cy="548640"/>
          </a:xfrm>
        </p:grpSpPr>
        <p:sp>
          <p:nvSpPr>
            <p:cNvPr id="27" name="Oval 26">
              <a:extLst>
                <a:ext uri="{FF2B5EF4-FFF2-40B4-BE49-F238E27FC236}">
                  <a16:creationId xmlns:a16="http://schemas.microsoft.com/office/drawing/2014/main" xmlns="" id="{F71DA811-F7AE-460D-9891-57F221994B9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8" name="Oval 27">
              <a:extLst>
                <a:ext uri="{FF2B5EF4-FFF2-40B4-BE49-F238E27FC236}">
                  <a16:creationId xmlns:a16="http://schemas.microsoft.com/office/drawing/2014/main" xmlns="" id="{3747795E-BBFD-44B4-892D-2054745A841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7"/>
          <p:cNvPicPr>
            <a:picLocks noChangeAspect="1" noChangeArrowheads="1"/>
          </p:cNvPicPr>
          <p:nvPr/>
        </p:nvPicPr>
        <p:blipFill>
          <a:blip r:embed="rId2" cstate="print"/>
          <a:srcRect/>
          <a:stretch>
            <a:fillRect/>
          </a:stretch>
        </p:blipFill>
        <p:spPr bwMode="auto">
          <a:xfrm>
            <a:off x="1371600" y="1696044"/>
            <a:ext cx="7614888" cy="2647356"/>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362E11DD-B54B-4751-9C17-39DAF9EF46E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7999"/>
          </a:xfrm>
          <a:prstGeom prst="rect">
            <a:avLst/>
          </a:prstGeom>
          <a:blipFill dpi="0" rotWithShape="1">
            <a:blip r:embed="rId2">
              <a:alphaModFix amt="6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86710" y="484632"/>
            <a:ext cx="5057883" cy="1609344"/>
          </a:xfrm>
        </p:spPr>
        <p:txBody>
          <a:bodyPr>
            <a:normAutofit/>
          </a:bodyPr>
          <a:lstStyle/>
          <a:p>
            <a:r>
              <a:rPr lang="en-US"/>
              <a:t>Transpulmunary Pressure</a:t>
            </a:r>
          </a:p>
        </p:txBody>
      </p:sp>
      <p:sp>
        <p:nvSpPr>
          <p:cNvPr id="3" name="Content Placeholder 2"/>
          <p:cNvSpPr>
            <a:spLocks noGrp="1"/>
          </p:cNvSpPr>
          <p:nvPr>
            <p:ph idx="1"/>
          </p:nvPr>
        </p:nvSpPr>
        <p:spPr>
          <a:xfrm>
            <a:off x="286709" y="2121408"/>
            <a:ext cx="5057884" cy="4050792"/>
          </a:xfrm>
        </p:spPr>
        <p:txBody>
          <a:bodyPr vert="horz" lIns="91440" tIns="45720" rIns="91440" bIns="45720" rtlCol="0" anchor="t">
            <a:normAutofit/>
          </a:bodyPr>
          <a:lstStyle/>
          <a:p>
            <a:r>
              <a:rPr lang="en-US" sz="1600" dirty="0"/>
              <a:t>Difference between alveolar pressure and pleural pressure.</a:t>
            </a:r>
          </a:p>
          <a:p>
            <a:r>
              <a:rPr lang="en-US" sz="1600" dirty="0"/>
              <a:t>This is actually recoil pressure i.e. the pressure with which lungs tend to recoil back or shorten back. This is the recoil tendency of lungs. </a:t>
            </a:r>
          </a:p>
          <a:p>
            <a:endParaRPr lang="en-US" sz="1600" b="1" dirty="0"/>
          </a:p>
          <a:p>
            <a:r>
              <a:rPr lang="en-US" sz="1600" b="1" dirty="0"/>
              <a:t>MECHANISM OF RECOIL TENDENCY:</a:t>
            </a:r>
          </a:p>
          <a:p>
            <a:endParaRPr lang="en-US" sz="1600"/>
          </a:p>
          <a:p>
            <a:pPr lvl="0"/>
            <a:r>
              <a:rPr lang="en-US" sz="1600" dirty="0"/>
              <a:t>Lungs contain elastic tissue which tends to shorten back</a:t>
            </a:r>
          </a:p>
          <a:p>
            <a:pPr lvl="0"/>
            <a:r>
              <a:rPr lang="en-US" sz="1600" dirty="0"/>
              <a:t>On the inner surface of alveoli, a thin layer of fluid is present which has got surface tension which contributes to recoil tendency.</a:t>
            </a:r>
          </a:p>
          <a:p>
            <a:endParaRPr lang="en-US" sz="1600"/>
          </a:p>
        </p:txBody>
      </p:sp>
      <p:grpSp>
        <p:nvGrpSpPr>
          <p:cNvPr id="11" name="Group 10">
            <a:extLst>
              <a:ext uri="{FF2B5EF4-FFF2-40B4-BE49-F238E27FC236}">
                <a16:creationId xmlns:a16="http://schemas.microsoft.com/office/drawing/2014/main" xmlns="" id="{B55DE4E1-F219-45A4-96D9-9A86D0E4DBD2}"/>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8551293" y="6229681"/>
            <a:ext cx="342900" cy="457200"/>
            <a:chOff x="11361456" y="6195813"/>
            <a:chExt cx="548640" cy="548640"/>
          </a:xfrm>
        </p:grpSpPr>
        <p:sp>
          <p:nvSpPr>
            <p:cNvPr id="12" name="Oval 11">
              <a:extLst>
                <a:ext uri="{FF2B5EF4-FFF2-40B4-BE49-F238E27FC236}">
                  <a16:creationId xmlns:a16="http://schemas.microsoft.com/office/drawing/2014/main" xmlns="" id="{3601C3FF-4A5D-437C-B3DB-A53B99D30804}"/>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xmlns="" id="{61B1BDC9-B583-4F65-8FE9-E2CBE71D93E2}"/>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the lungs&#10;&#10;AI-generated content may be incorrect.">
            <a:extLst>
              <a:ext uri="{FF2B5EF4-FFF2-40B4-BE49-F238E27FC236}">
                <a16:creationId xmlns:a16="http://schemas.microsoft.com/office/drawing/2014/main" xmlns="" id="{ECE4789B-141B-E630-009F-2866A2883034}"/>
              </a:ext>
            </a:extLst>
          </p:cNvPr>
          <p:cNvPicPr>
            <a:picLocks noGrp="1" noChangeAspect="1"/>
          </p:cNvPicPr>
          <p:nvPr>
            <p:ph idx="1"/>
          </p:nvPr>
        </p:nvPicPr>
        <p:blipFill>
          <a:blip r:embed="rId2"/>
          <a:stretch>
            <a:fillRect/>
          </a:stretch>
        </p:blipFill>
        <p:spPr>
          <a:xfrm>
            <a:off x="914400" y="-175985"/>
            <a:ext cx="6988762" cy="7033985"/>
          </a:xfrm>
        </p:spPr>
      </p:pic>
    </p:spTree>
    <p:extLst>
      <p:ext uri="{BB962C8B-B14F-4D97-AF65-F5344CB8AC3E}">
        <p14:creationId xmlns:p14="http://schemas.microsoft.com/office/powerpoint/2010/main" xmlns="" val="16171991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4" descr="5">
            <a:extLst>
              <a:ext uri="{FF2B5EF4-FFF2-40B4-BE49-F238E27FC236}">
                <a16:creationId xmlns:a16="http://schemas.microsoft.com/office/drawing/2014/main" xmlns="" id="{39FEE9DE-CE68-A257-3476-CE0B1D1DC637}"/>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1"/>
          <p:cNvPicPr>
            <a:picLocks noChangeAspect="1" noChangeArrowheads="1"/>
          </p:cNvPicPr>
          <p:nvPr/>
        </p:nvPicPr>
        <p:blipFill>
          <a:blip r:embed="rId2" cstate="print"/>
          <a:srcRect/>
          <a:stretch>
            <a:fillRect/>
          </a:stretch>
        </p:blipFill>
        <p:spPr bwMode="auto">
          <a:xfrm>
            <a:off x="1905000" y="-28562"/>
            <a:ext cx="4800600" cy="6886562"/>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3C06EAFD-0C69-4B3B-BEA7-E7E11DDF9C4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A4066C89-42FB-4624-9AFE-3A31B36491B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508" y="0"/>
            <a:ext cx="3486126" cy="6858000"/>
          </a:xfrm>
          <a:prstGeom prst="rect">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xmlns="">
                    <a14:imgLayer r:embed="rId3">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algn="ctr" defTabSz="914400"/>
            <a:endParaRPr lang="en-US" sz="2000" kern="0">
              <a:solidFill>
                <a:prstClr val="white"/>
              </a:solidFill>
              <a:latin typeface="Rockwell Extra Bold" pitchFamily="18" charset="0"/>
            </a:endParaRPr>
          </a:p>
        </p:txBody>
      </p:sp>
      <p:sp>
        <p:nvSpPr>
          <p:cNvPr id="2" name="Title 1"/>
          <p:cNvSpPr>
            <a:spLocks noGrp="1"/>
          </p:cNvSpPr>
          <p:nvPr>
            <p:ph type="title"/>
          </p:nvPr>
        </p:nvSpPr>
        <p:spPr>
          <a:xfrm>
            <a:off x="482601" y="643466"/>
            <a:ext cx="2764734" cy="5528734"/>
          </a:xfrm>
        </p:spPr>
        <p:txBody>
          <a:bodyPr>
            <a:normAutofit/>
          </a:bodyPr>
          <a:lstStyle/>
          <a:p>
            <a:pPr algn="r"/>
            <a:r>
              <a:rPr lang="en-US">
                <a:solidFill>
                  <a:srgbClr val="FFFFFF"/>
                </a:solidFill>
              </a:rPr>
              <a:t>MECHANICS OF PULMUNORY VENTILATION</a:t>
            </a:r>
          </a:p>
        </p:txBody>
      </p:sp>
      <p:sp>
        <p:nvSpPr>
          <p:cNvPr id="3" name="Content Placeholder 2"/>
          <p:cNvSpPr>
            <a:spLocks noGrp="1"/>
          </p:cNvSpPr>
          <p:nvPr>
            <p:ph idx="1"/>
          </p:nvPr>
        </p:nvSpPr>
        <p:spPr>
          <a:xfrm>
            <a:off x="3790335" y="599768"/>
            <a:ext cx="4555850" cy="5572432"/>
          </a:xfrm>
        </p:spPr>
        <p:txBody>
          <a:bodyPr anchor="ctr">
            <a:normAutofit/>
          </a:bodyPr>
          <a:lstStyle/>
          <a:p>
            <a:r>
              <a:rPr lang="en-US" dirty="0"/>
              <a:t>Movement of air into and out of the lungs is pulmonary ventilation i.e. inspiration and expiration which are brought about by the changes in the size and volume of the thoracic cavity with the lungs following these changes passively.</a:t>
            </a:r>
          </a:p>
          <a:p>
            <a:endParaRPr lang="en-US" dirty="0"/>
          </a:p>
          <a:p>
            <a:pPr lvl="1"/>
            <a:r>
              <a:rPr lang="en-US" dirty="0"/>
              <a:t>Inspiration</a:t>
            </a:r>
          </a:p>
          <a:p>
            <a:pPr lvl="1"/>
            <a:r>
              <a:rPr lang="en-US" dirty="0"/>
              <a:t>Expiration</a:t>
            </a:r>
          </a:p>
          <a:p>
            <a:endParaRPr lang="en-US" dirty="0"/>
          </a:p>
        </p:txBody>
      </p:sp>
      <p:sp>
        <p:nvSpPr>
          <p:cNvPr id="12" name="Oval 11">
            <a:extLst>
              <a:ext uri="{FF2B5EF4-FFF2-40B4-BE49-F238E27FC236}">
                <a16:creationId xmlns:a16="http://schemas.microsoft.com/office/drawing/2014/main" xmlns="" id="{BA218FBC-B2D6-48CA-9289-C4110162ED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xmlns="" id="{2DED9084-49DA-4911-ACB7-5F9E4DEFA0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5118BA95-03E7-41B7-B442-0AF8C0A7FF6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white">
          <a:xfrm>
            <a:off x="2286" y="0"/>
            <a:ext cx="914171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Oval 10">
            <a:extLst>
              <a:ext uri="{FF2B5EF4-FFF2-40B4-BE49-F238E27FC236}">
                <a16:creationId xmlns:a16="http://schemas.microsoft.com/office/drawing/2014/main" xmlns="" id="{059D8741-EAD6-41B1-A882-70D70FC3582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95776" y="1679569"/>
            <a:ext cx="2624148" cy="3498858"/>
          </a:xfrm>
          <a:prstGeom prst="ellipse">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xmlns="">
                    <a14:imgLayer r:embed="rId4">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xmlns="" id="{45444F36-3103-4D11-A25F-C054D4606DA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934600" y="1864667"/>
            <a:ext cx="2346500" cy="312866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xmlns="" id="{3677883E-104D-09C5-EAA1-51C946833E1A}"/>
              </a:ext>
            </a:extLst>
          </p:cNvPr>
          <p:cNvSpPr>
            <a:spLocks noGrp="1"/>
          </p:cNvSpPr>
          <p:nvPr>
            <p:ph type="title"/>
          </p:nvPr>
        </p:nvSpPr>
        <p:spPr>
          <a:xfrm>
            <a:off x="1117608" y="2376862"/>
            <a:ext cx="1980485" cy="2104273"/>
          </a:xfrm>
          <a:noFill/>
        </p:spPr>
        <p:txBody>
          <a:bodyPr>
            <a:normAutofit/>
          </a:bodyPr>
          <a:lstStyle/>
          <a:p>
            <a:pPr algn="ctr"/>
            <a:r>
              <a:rPr lang="en-US" sz="2600" smtClean="0">
                <a:solidFill>
                  <a:srgbClr val="FFFFFF"/>
                </a:solidFill>
              </a:rPr>
              <a:t>MECHANICS OF INSPIRATION</a:t>
            </a:r>
            <a:endParaRPr lang="en-US" sz="2600">
              <a:solidFill>
                <a:srgbClr val="FFFFFF"/>
              </a:solidFill>
            </a:endParaRPr>
          </a:p>
        </p:txBody>
      </p:sp>
      <p:sp>
        <p:nvSpPr>
          <p:cNvPr id="15" name="Rectangle 14">
            <a:extLst>
              <a:ext uri="{FF2B5EF4-FFF2-40B4-BE49-F238E27FC236}">
                <a16:creationId xmlns:a16="http://schemas.microsoft.com/office/drawing/2014/main" xmlns="" id="{AD9B3EAD-A2B3-42C4-927C-3455E3E69EE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2169508" y="3398744"/>
            <a:ext cx="3657600" cy="60512"/>
          </a:xfrm>
          <a:prstGeom prst="rect">
            <a:avLst/>
          </a:prstGeom>
          <a:blipFill dpi="0" rotWithShape="1">
            <a:blip r:embed="rId5">
              <a:alphaModFix amt="85000"/>
              <a:lum bright="70000" contrast="-70000"/>
              <a:extLst>
                <a:ext uri="{BEBA8EAE-BF5A-486C-A8C5-ECC9F3942E4B}">
                  <a14:imgProps xmlns:a14="http://schemas.microsoft.com/office/drawing/2010/main" xmlns="">
                    <a14:imgLayer r:embed="rId6">
                      <a14:imgEffect>
                        <a14:sharpenSoften amount="61000"/>
                      </a14:imgEffect>
                    </a14:imgLayer>
                  </a14:imgProps>
                </a:ext>
                <a:ext uri="{28A0092B-C50C-407E-A947-70E740481C1C}">
                  <a14:useLocalDpi xmlns:a14="http://schemas.microsoft.com/office/drawing/2010/main" xmlns=""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5" name="Content Placeholder 2">
            <a:extLst>
              <a:ext uri="{FF2B5EF4-FFF2-40B4-BE49-F238E27FC236}">
                <a16:creationId xmlns:a16="http://schemas.microsoft.com/office/drawing/2014/main" xmlns="" id="{688A6273-84D8-DD08-353A-D48D56182590}"/>
              </a:ext>
            </a:extLst>
          </p:cNvPr>
          <p:cNvGraphicFramePr>
            <a:graphicFrameLocks noGrp="1"/>
          </p:cNvGraphicFramePr>
          <p:nvPr>
            <p:ph idx="1"/>
            <p:extLst>
              <p:ext uri="{D42A27DB-BD31-4B8C-83A1-F6EECF244321}">
                <p14:modId xmlns:p14="http://schemas.microsoft.com/office/powerpoint/2010/main" xmlns="" val="3038246871"/>
              </p:ext>
            </p:extLst>
          </p:nvPr>
        </p:nvGraphicFramePr>
        <p:xfrm>
          <a:off x="4561284" y="725488"/>
          <a:ext cx="3856434" cy="54070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xmlns="" val="1785976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5118BA95-03E7-41B7-B442-0AF8C0A7FF6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white">
          <a:xfrm>
            <a:off x="2286" y="0"/>
            <a:ext cx="914171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0" name="Group 9">
            <a:extLst>
              <a:ext uri="{FF2B5EF4-FFF2-40B4-BE49-F238E27FC236}">
                <a16:creationId xmlns:a16="http://schemas.microsoft.com/office/drawing/2014/main" xmlns="" id="{E799C3D5-7D55-4046-808C-F290F456D6EF}"/>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795776" y="1679569"/>
            <a:ext cx="2624148" cy="3498858"/>
            <a:chOff x="1061035" y="1679569"/>
            <a:chExt cx="3498864" cy="3498858"/>
          </a:xfrm>
        </p:grpSpPr>
        <p:sp>
          <p:nvSpPr>
            <p:cNvPr id="11" name="Oval 10">
              <a:extLst>
                <a:ext uri="{FF2B5EF4-FFF2-40B4-BE49-F238E27FC236}">
                  <a16:creationId xmlns:a16="http://schemas.microsoft.com/office/drawing/2014/main" xmlns="" id="{059D8741-EAD6-41B1-A882-70D70FC3582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061035" y="1679569"/>
              <a:ext cx="3498864" cy="3498858"/>
            </a:xfrm>
            <a:prstGeom prst="ellipse">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xmlns="">
                      <a14:imgLayer r:embed="rId4">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a:extLst>
                <a:ext uri="{FF2B5EF4-FFF2-40B4-BE49-F238E27FC236}">
                  <a16:creationId xmlns:a16="http://schemas.microsoft.com/office/drawing/2014/main" xmlns="" id="{45444F36-3103-4D11-A25F-C054D4606DA4}"/>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246134" y="1864667"/>
              <a:ext cx="3128666" cy="312866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title"/>
          </p:nvPr>
        </p:nvSpPr>
        <p:spPr>
          <a:xfrm>
            <a:off x="1117608" y="2376862"/>
            <a:ext cx="1980485" cy="2104273"/>
          </a:xfrm>
          <a:noFill/>
        </p:spPr>
        <p:txBody>
          <a:bodyPr>
            <a:normAutofit/>
          </a:bodyPr>
          <a:lstStyle/>
          <a:p>
            <a:pPr algn="ctr"/>
            <a:r>
              <a:rPr lang="en-US" sz="2600">
                <a:solidFill>
                  <a:srgbClr val="FFFFFF"/>
                </a:solidFill>
              </a:rPr>
              <a:t>MUSCLES OF QUIET INSPIRATION</a:t>
            </a:r>
          </a:p>
        </p:txBody>
      </p:sp>
      <p:sp>
        <p:nvSpPr>
          <p:cNvPr id="14" name="Rectangle 13">
            <a:extLst>
              <a:ext uri="{FF2B5EF4-FFF2-40B4-BE49-F238E27FC236}">
                <a16:creationId xmlns:a16="http://schemas.microsoft.com/office/drawing/2014/main" xmlns="" id="{AD9B3EAD-A2B3-42C4-927C-3455E3E69EE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2169508" y="3398744"/>
            <a:ext cx="3657600" cy="60512"/>
          </a:xfrm>
          <a:prstGeom prst="rect">
            <a:avLst/>
          </a:prstGeom>
          <a:blipFill dpi="0" rotWithShape="1">
            <a:blip r:embed="rId5">
              <a:alphaModFix amt="85000"/>
              <a:lum bright="70000" contrast="-70000"/>
              <a:extLst>
                <a:ext uri="{BEBA8EAE-BF5A-486C-A8C5-ECC9F3942E4B}">
                  <a14:imgProps xmlns:a14="http://schemas.microsoft.com/office/drawing/2010/main" xmlns="">
                    <a14:imgLayer r:embed="rId6">
                      <a14:imgEffect>
                        <a14:sharpenSoften amount="61000"/>
                      </a14:imgEffect>
                    </a14:imgLayer>
                  </a14:imgProps>
                </a:ext>
                <a:ext uri="{28A0092B-C50C-407E-A947-70E740481C1C}">
                  <a14:useLocalDpi xmlns:a14="http://schemas.microsoft.com/office/drawing/2010/main" xmlns=""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p:cNvSpPr>
            <a:spLocks noGrp="1"/>
          </p:cNvSpPr>
          <p:nvPr>
            <p:ph idx="1"/>
          </p:nvPr>
        </p:nvSpPr>
        <p:spPr>
          <a:xfrm>
            <a:off x="4560816" y="725394"/>
            <a:ext cx="3856994" cy="5407212"/>
          </a:xfrm>
        </p:spPr>
        <p:txBody>
          <a:bodyPr vert="horz" lIns="91440" tIns="45720" rIns="91440" bIns="45720" rtlCol="0" anchor="ctr">
            <a:normAutofit/>
          </a:bodyPr>
          <a:lstStyle/>
          <a:p>
            <a:pPr marL="0" lvl="1" indent="0">
              <a:buNone/>
            </a:pPr>
            <a:r>
              <a:rPr lang="en-US" dirty="0"/>
              <a:t>   </a:t>
            </a:r>
            <a:r>
              <a:rPr lang="en-US" b="1" dirty="0"/>
              <a:t>Diaphragm:</a:t>
            </a:r>
          </a:p>
          <a:p>
            <a:pPr marL="342900" lvl="1" indent="-342900"/>
            <a:r>
              <a:rPr lang="en-US" dirty="0"/>
              <a:t> Increases the vertical dimension of the thoracic cavity.</a:t>
            </a:r>
          </a:p>
          <a:p>
            <a:pPr marL="342900" lvl="1" indent="-342900">
              <a:buClr>
                <a:srgbClr val="9E3611"/>
              </a:buClr>
            </a:pPr>
            <a:r>
              <a:rPr lang="en-US" dirty="0"/>
              <a:t> Responsible for 75% increase in the size of thoracic cavity during quiet inspiration.  </a:t>
            </a:r>
          </a:p>
          <a:p>
            <a:r>
              <a:rPr lang="en-US" dirty="0"/>
              <a:t>During quiet inspiration descent of diaphragm is 1-1.5 cm and during forceful inspiration it is 7-10cm. </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E009DD9B-5EE2-4C0D-8B2B-351C8C10220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E720DB99-7745-4E75-9D96-AAB6D55C531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464119"/>
            <a:ext cx="7667244" cy="80683"/>
          </a:xfrm>
          <a:prstGeom prst="rect">
            <a:avLst/>
          </a:prstGeom>
          <a:blipFill dpi="0" rotWithShape="1">
            <a:blip r:embed="rId3">
              <a:alphaModFix amt="85000"/>
              <a:lum bright="70000" contrast="-70000"/>
              <a:extLst>
                <a:ext uri="{BEBA8EAE-BF5A-486C-A8C5-ECC9F3942E4B}">
                  <a14:imgProps xmlns:a14="http://schemas.microsoft.com/office/drawing/2010/main" xmlns="">
                    <a14:imgLayer r:embed="rId4">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xmlns="" id="{D68803C4-E159-4360-B7BB-74205C8F782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601952"/>
            <a:ext cx="7667244" cy="1385874"/>
          </a:xfrm>
          <a:prstGeom prst="rect">
            <a:avLst/>
          </a:prstGeom>
          <a:blipFill dpi="0" rotWithShape="1">
            <a:blip r:embed="rId3">
              <a:alphaModFix amt="85000"/>
              <a:lum bright="70000" contrast="-70000"/>
              <a:extLst>
                <a:ext uri="{BEBA8EAE-BF5A-486C-A8C5-ECC9F3942E4B}">
                  <a14:imgProps xmlns:a14="http://schemas.microsoft.com/office/drawing/2010/main" xmlns="">
                    <a14:imgLayer r:embed="rId4">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xmlns="" id="{504B0465-3B07-49BF-BEA7-D8147624629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2038655"/>
            <a:ext cx="7667244" cy="80683"/>
          </a:xfrm>
          <a:prstGeom prst="rect">
            <a:avLst/>
          </a:prstGeom>
          <a:blipFill dpi="0" rotWithShape="1">
            <a:blip r:embed="rId3">
              <a:alphaModFix amt="85000"/>
              <a:lum bright="70000" contrast="-70000"/>
              <a:extLst>
                <a:ext uri="{BEBA8EAE-BF5A-486C-A8C5-ECC9F3942E4B}">
                  <a14:imgProps xmlns:a14="http://schemas.microsoft.com/office/drawing/2010/main" xmlns="">
                    <a14:imgLayer r:embed="rId4">
                      <a14:imgEffect>
                        <a14:sharpenSoften amount="61000"/>
                      </a14:imgEffect>
                    </a14:imgLayer>
                  </a14:imgProps>
                </a:ext>
                <a:ext uri="{28A0092B-C50C-407E-A947-70E740481C1C}">
                  <a14:useLocalDpi xmlns:a14="http://schemas.microsoft.com/office/drawing/2010/main" xmlns=""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2386" y="484632"/>
            <a:ext cx="7543800" cy="1609344"/>
          </a:xfrm>
        </p:spPr>
        <p:txBody>
          <a:bodyPr>
            <a:normAutofit/>
          </a:bodyPr>
          <a:lstStyle/>
          <a:p>
            <a:r>
              <a:rPr lang="en-US"/>
              <a:t>MUSCLES OF QUIET INSPIRATION</a:t>
            </a:r>
          </a:p>
        </p:txBody>
      </p:sp>
      <p:sp>
        <p:nvSpPr>
          <p:cNvPr id="3" name="Content Placeholder 2"/>
          <p:cNvSpPr>
            <a:spLocks noGrp="1"/>
          </p:cNvSpPr>
          <p:nvPr>
            <p:ph idx="1"/>
          </p:nvPr>
        </p:nvSpPr>
        <p:spPr>
          <a:xfrm>
            <a:off x="802386" y="2320412"/>
            <a:ext cx="7543800" cy="3851787"/>
          </a:xfrm>
        </p:spPr>
        <p:txBody>
          <a:bodyPr vert="horz" lIns="91440" tIns="45720" rIns="91440" bIns="45720" rtlCol="0">
            <a:normAutofit/>
          </a:bodyPr>
          <a:lstStyle/>
          <a:p>
            <a:pPr marL="0" indent="0">
              <a:buNone/>
            </a:pPr>
            <a:r>
              <a:rPr lang="en-US" sz="1400" b="1"/>
              <a:t>External Intercostal:</a:t>
            </a:r>
            <a:endParaRPr lang="en-US" sz="1400"/>
          </a:p>
          <a:p>
            <a:pPr marL="0" indent="0">
              <a:buClr>
                <a:srgbClr val="9E3611"/>
              </a:buClr>
              <a:buNone/>
            </a:pPr>
            <a:r>
              <a:rPr lang="en-US" sz="1400"/>
              <a:t> They arise from the lower border of rib above and descend down to be inserted on the upper border of lower rib.</a:t>
            </a:r>
          </a:p>
          <a:p>
            <a:pPr>
              <a:buNone/>
            </a:pPr>
            <a:r>
              <a:rPr lang="en-US" sz="1400"/>
              <a:t>When these muscles contract 2 types of movements occur:</a:t>
            </a:r>
          </a:p>
          <a:p>
            <a:pPr>
              <a:buNone/>
            </a:pPr>
            <a:endParaRPr lang="en-US" sz="1400"/>
          </a:p>
          <a:p>
            <a:r>
              <a:rPr lang="en-US" sz="1400"/>
              <a:t>Sternum and anterior part of ribs move up in </a:t>
            </a:r>
            <a:r>
              <a:rPr lang="en-US" sz="1400" b="1"/>
              <a:t>pump handle movements</a:t>
            </a:r>
            <a:r>
              <a:rPr lang="en-US" sz="1400"/>
              <a:t> which will </a:t>
            </a:r>
            <a:r>
              <a:rPr lang="en-US" sz="1400" b="1"/>
              <a:t>increase the anteroposterior </a:t>
            </a:r>
            <a:r>
              <a:rPr lang="en-US" sz="1400"/>
              <a:t>part of thoracic cavity</a:t>
            </a:r>
          </a:p>
          <a:p>
            <a:endParaRPr lang="en-US" sz="1400"/>
          </a:p>
          <a:p>
            <a:r>
              <a:rPr lang="en-US" sz="1400"/>
              <a:t>Middle parts of the rib moves up and outwards which</a:t>
            </a:r>
            <a:r>
              <a:rPr lang="en-US" sz="1400" b="1"/>
              <a:t> increases the transverse diameter </a:t>
            </a:r>
            <a:r>
              <a:rPr lang="en-US" sz="1400"/>
              <a:t>of thoracic cavity. These movements are called </a:t>
            </a:r>
            <a:r>
              <a:rPr lang="en-US" sz="1400" b="1"/>
              <a:t>bucket handle movements</a:t>
            </a:r>
          </a:p>
          <a:p>
            <a:endParaRPr lang="en-US" sz="1400" b="1"/>
          </a:p>
          <a:p>
            <a:r>
              <a:rPr lang="en-US" sz="1400" b="1"/>
              <a:t>So by the use of diaphragm and external intercostal muscles, thoracic cavity is increased in all dimensions.</a:t>
            </a:r>
          </a:p>
          <a:p>
            <a:endParaRPr lang="en-US" sz="1400"/>
          </a:p>
        </p:txBody>
      </p:sp>
      <p:sp>
        <p:nvSpPr>
          <p:cNvPr id="16" name="Oval 15">
            <a:extLst>
              <a:ext uri="{FF2B5EF4-FFF2-40B4-BE49-F238E27FC236}">
                <a16:creationId xmlns:a16="http://schemas.microsoft.com/office/drawing/2014/main" xmlns="" id="{49B7FFA5-14CB-4A4F-9BCC-CA3AA5D9D27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551293" y="6229681"/>
            <a:ext cx="3429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xmlns="" id="{04E48745-7512-4EC2-9E20-9092D12150C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27A0CC-2913-30F1-6D43-5FB845FF9F3F}"/>
              </a:ext>
            </a:extLst>
          </p:cNvPr>
          <p:cNvSpPr>
            <a:spLocks noGrp="1"/>
          </p:cNvSpPr>
          <p:nvPr>
            <p:ph type="title"/>
          </p:nvPr>
        </p:nvSpPr>
        <p:spPr/>
        <p:txBody>
          <a:bodyPr/>
          <a:lstStyle/>
          <a:p>
            <a:endParaRPr lang="en-US"/>
          </a:p>
        </p:txBody>
      </p:sp>
      <p:pic>
        <p:nvPicPr>
          <p:cNvPr id="4" name="Content Placeholder 3" descr="10">
            <a:extLst>
              <a:ext uri="{FF2B5EF4-FFF2-40B4-BE49-F238E27FC236}">
                <a16:creationId xmlns:a16="http://schemas.microsoft.com/office/drawing/2014/main" xmlns="" id="{696DBDBB-763F-D1BA-4054-8FAEA9B9C381}"/>
              </a:ext>
            </a:extLst>
          </p:cNvPr>
          <p:cNvPicPr>
            <a:picLocks noGrp="1" noChangeAspect="1"/>
          </p:cNvPicPr>
          <p:nvPr>
            <p:ph idx="1"/>
          </p:nvPr>
        </p:nvPicPr>
        <p:blipFill>
          <a:blip r:embed="rId2"/>
          <a:stretch>
            <a:fillRect/>
          </a:stretch>
        </p:blipFill>
        <p:spPr>
          <a:xfrm>
            <a:off x="896560" y="619820"/>
            <a:ext cx="7765496" cy="5754085"/>
          </a:xfrm>
        </p:spPr>
      </p:pic>
    </p:spTree>
    <p:extLst>
      <p:ext uri="{BB962C8B-B14F-4D97-AF65-F5344CB8AC3E}">
        <p14:creationId xmlns:p14="http://schemas.microsoft.com/office/powerpoint/2010/main" xmlns="" val="33276419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D8AFD15B-CF29-4306-884F-47675092F91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40658" y="457200"/>
            <a:ext cx="3651884" cy="1517984"/>
          </a:xfrm>
        </p:spPr>
        <p:txBody>
          <a:bodyPr>
            <a:normAutofit/>
          </a:bodyPr>
          <a:lstStyle/>
          <a:p>
            <a:r>
              <a:rPr lang="en-US" sz="3600" dirty="0">
                <a:solidFill>
                  <a:srgbClr val="000000"/>
                </a:solidFill>
              </a:rPr>
              <a:t>ACCESSORY MUSCLES OF INSPIRATION</a:t>
            </a:r>
          </a:p>
        </p:txBody>
      </p:sp>
      <p:pic>
        <p:nvPicPr>
          <p:cNvPr id="5" name="Picture 4" descr="The radiologic figure of a skeleton">
            <a:extLst>
              <a:ext uri="{FF2B5EF4-FFF2-40B4-BE49-F238E27FC236}">
                <a16:creationId xmlns:a16="http://schemas.microsoft.com/office/drawing/2014/main" xmlns="" id="{98B28FFF-88F7-B3E5-42D2-E7770F923DDD}"/>
              </a:ext>
            </a:extLst>
          </p:cNvPr>
          <p:cNvPicPr>
            <a:picLocks noChangeAspect="1"/>
          </p:cNvPicPr>
          <p:nvPr/>
        </p:nvPicPr>
        <p:blipFill>
          <a:blip r:embed="rId2"/>
          <a:srcRect l="52920" r="9" b="9"/>
          <a:stretch/>
        </p:blipFill>
        <p:spPr>
          <a:xfrm>
            <a:off x="-7399" y="401980"/>
            <a:ext cx="4586799" cy="6456021"/>
          </a:xfrm>
          <a:custGeom>
            <a:avLst/>
            <a:gdLst/>
            <a:ahLst/>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p:spPr>
      </p:pic>
      <p:sp>
        <p:nvSpPr>
          <p:cNvPr id="11" name="Freeform: Shape 10">
            <a:extLst>
              <a:ext uri="{FF2B5EF4-FFF2-40B4-BE49-F238E27FC236}">
                <a16:creationId xmlns:a16="http://schemas.microsoft.com/office/drawing/2014/main" xmlns="" id="{96349AB3-1BD3-41E1-8979-1DBDCB5CDCF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99" y="401980"/>
            <a:ext cx="4586799" cy="6456021"/>
          </a:xfrm>
          <a:custGeom>
            <a:avLst/>
            <a:gdLst>
              <a:gd name="connsiteX0" fmla="*/ 2259477 w 6115733"/>
              <a:gd name="connsiteY0" fmla="*/ 433395 h 6456021"/>
              <a:gd name="connsiteX1" fmla="*/ 5681904 w 6115733"/>
              <a:gd name="connsiteY1" fmla="*/ 3852396 h 6456021"/>
              <a:gd name="connsiteX2" fmla="*/ 4679499 w 6115733"/>
              <a:gd name="connsiteY2" fmla="*/ 6269995 h 6456021"/>
              <a:gd name="connsiteX3" fmla="*/ 4474613 w 6115733"/>
              <a:gd name="connsiteY3" fmla="*/ 6456021 h 6456021"/>
              <a:gd name="connsiteX4" fmla="*/ 44341 w 6115733"/>
              <a:gd name="connsiteY4" fmla="*/ 6456021 h 6456021"/>
              <a:gd name="connsiteX5" fmla="*/ 0 w 6115733"/>
              <a:gd name="connsiteY5" fmla="*/ 6415762 h 6456021"/>
              <a:gd name="connsiteX6" fmla="*/ 0 w 6115733"/>
              <a:gd name="connsiteY6" fmla="*/ 1289029 h 6456021"/>
              <a:gd name="connsiteX7" fmla="*/ 82495 w 6115733"/>
              <a:gd name="connsiteY7" fmla="*/ 1214128 h 6456021"/>
              <a:gd name="connsiteX8" fmla="*/ 2259477 w 6115733"/>
              <a:gd name="connsiteY8" fmla="*/ 433395 h 6456021"/>
              <a:gd name="connsiteX9" fmla="*/ 2259477 w 6115733"/>
              <a:gd name="connsiteY9" fmla="*/ 0 h 6456021"/>
              <a:gd name="connsiteX10" fmla="*/ 6115733 w 6115733"/>
              <a:gd name="connsiteY10" fmla="*/ 3852396 h 6456021"/>
              <a:gd name="connsiteX11" fmla="*/ 5235152 w 6115733"/>
              <a:gd name="connsiteY11" fmla="*/ 6302877 h 6456021"/>
              <a:gd name="connsiteX12" fmla="*/ 5095826 w 6115733"/>
              <a:gd name="connsiteY12" fmla="*/ 6456021 h 6456021"/>
              <a:gd name="connsiteX13" fmla="*/ 4617788 w 6115733"/>
              <a:gd name="connsiteY13" fmla="*/ 6456021 h 6456021"/>
              <a:gd name="connsiteX14" fmla="*/ 4747668 w 6115733"/>
              <a:gd name="connsiteY14" fmla="*/ 6338096 h 6456021"/>
              <a:gd name="connsiteX15" fmla="*/ 5778311 w 6115733"/>
              <a:gd name="connsiteY15" fmla="*/ 3852396 h 6456021"/>
              <a:gd name="connsiteX16" fmla="*/ 2259477 w 6115733"/>
              <a:gd name="connsiteY16" fmla="*/ 337085 h 6456021"/>
              <a:gd name="connsiteX17" fmla="*/ 21172 w 6115733"/>
              <a:gd name="connsiteY17" fmla="*/ 1139811 h 6456021"/>
              <a:gd name="connsiteX18" fmla="*/ 0 w 6115733"/>
              <a:gd name="connsiteY18" fmla="*/ 1159034 h 6456021"/>
              <a:gd name="connsiteX19" fmla="*/ 0 w 6115733"/>
              <a:gd name="connsiteY19" fmla="*/ 735177 h 6456021"/>
              <a:gd name="connsiteX20" fmla="*/ 103407 w 6115733"/>
              <a:gd name="connsiteY20" fmla="*/ 657929 h 6456021"/>
              <a:gd name="connsiteX21" fmla="*/ 2259477 w 6115733"/>
              <a:gd name="connsiteY21" fmla="*/ 0 h 645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a:blipFill dpi="0" rotWithShape="1">
            <a:blip r:embed="rId3">
              <a:alphaModFix amt="30000"/>
              <a:duotone>
                <a:prstClr val="black"/>
                <a:schemeClr val="accent1">
                  <a:tint val="45000"/>
                  <a:satMod val="400000"/>
                </a:schemeClr>
              </a:duotone>
              <a:extLst>
                <a:ext uri="{BEBA8EAE-BF5A-486C-A8C5-ECC9F3942E4B}">
                  <a14:imgProps xmlns:a14="http://schemas.microsoft.com/office/drawing/2010/main" xmlns="">
                    <a14:imgLayer r:embed="rId4">
                      <a14:imgEffect>
                        <a14:sharpenSoften amount="61000"/>
                      </a14:imgEffect>
                      <a14:imgEffect>
                        <a14:brightnessContrast bright="-25000" contrast="20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3" name="Content Placeholder 2"/>
          <p:cNvSpPr>
            <a:spLocks noGrp="1"/>
          </p:cNvSpPr>
          <p:nvPr>
            <p:ph idx="1"/>
          </p:nvPr>
        </p:nvSpPr>
        <p:spPr>
          <a:xfrm>
            <a:off x="4586799" y="2286000"/>
            <a:ext cx="4201687" cy="3939654"/>
          </a:xfrm>
        </p:spPr>
        <p:txBody>
          <a:bodyPr anchor="t">
            <a:normAutofit/>
          </a:bodyPr>
          <a:lstStyle/>
          <a:p>
            <a:r>
              <a:rPr lang="en-US" sz="1800" dirty="0">
                <a:solidFill>
                  <a:srgbClr val="000000"/>
                </a:solidFill>
              </a:rPr>
              <a:t>These muscles normally don’t contract during quiet inspiration but these contract during deep inspiration like in exercise. </a:t>
            </a:r>
          </a:p>
          <a:p>
            <a:endParaRPr lang="en-US" sz="1800" dirty="0">
              <a:solidFill>
                <a:srgbClr val="000000"/>
              </a:solidFill>
            </a:endParaRPr>
          </a:p>
          <a:p>
            <a:r>
              <a:rPr lang="en-US" sz="1800" dirty="0">
                <a:solidFill>
                  <a:srgbClr val="000000"/>
                </a:solidFill>
              </a:rPr>
              <a:t>These include</a:t>
            </a:r>
          </a:p>
          <a:p>
            <a:pPr lvl="1"/>
            <a:r>
              <a:rPr lang="en-US" dirty="0" smtClean="0">
                <a:solidFill>
                  <a:srgbClr val="000000"/>
                </a:solidFill>
              </a:rPr>
              <a:t>Sternocleidomastoid</a:t>
            </a:r>
            <a:endParaRPr lang="en-US" dirty="0">
              <a:solidFill>
                <a:srgbClr val="000000"/>
              </a:solidFill>
            </a:endParaRPr>
          </a:p>
          <a:p>
            <a:pPr lvl="1"/>
            <a:r>
              <a:rPr lang="en-US" dirty="0">
                <a:solidFill>
                  <a:srgbClr val="000000"/>
                </a:solidFill>
              </a:rPr>
              <a:t>Pectoralis minor</a:t>
            </a:r>
          </a:p>
          <a:p>
            <a:pPr lvl="1"/>
            <a:r>
              <a:rPr lang="en-US" dirty="0">
                <a:solidFill>
                  <a:srgbClr val="000000"/>
                </a:solidFill>
              </a:rPr>
              <a:t>Scalene</a:t>
            </a:r>
          </a:p>
          <a:p>
            <a:pPr lvl="1"/>
            <a:r>
              <a:rPr lang="en-US" dirty="0">
                <a:solidFill>
                  <a:srgbClr val="000000"/>
                </a:solidFill>
              </a:rPr>
              <a:t>Serratus anterior</a:t>
            </a:r>
          </a:p>
          <a:p>
            <a:endParaRPr lang="en-US" sz="1800" dirty="0">
              <a:solidFill>
                <a:srgbClr val="000000"/>
              </a:solidFill>
            </a:endParaRPr>
          </a:p>
        </p:txBody>
      </p:sp>
      <p:grpSp>
        <p:nvGrpSpPr>
          <p:cNvPr id="13" name="Group 12">
            <a:extLst>
              <a:ext uri="{FF2B5EF4-FFF2-40B4-BE49-F238E27FC236}">
                <a16:creationId xmlns:a16="http://schemas.microsoft.com/office/drawing/2014/main" xmlns="" id="{54CA915D-BDF0-41F8-B00E-FB186EFF7BD6}"/>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8551293" y="6229681"/>
            <a:ext cx="342900" cy="457200"/>
            <a:chOff x="11361456" y="6195813"/>
            <a:chExt cx="548640" cy="548640"/>
          </a:xfrm>
        </p:grpSpPr>
        <p:sp>
          <p:nvSpPr>
            <p:cNvPr id="14" name="Oval 13">
              <a:extLst>
                <a:ext uri="{FF2B5EF4-FFF2-40B4-BE49-F238E27FC236}">
                  <a16:creationId xmlns:a16="http://schemas.microsoft.com/office/drawing/2014/main" xmlns="" id="{317AAC03-BF64-4E67-9032-3BD02499802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extLst>
                  <a:ext uri="{BEBA8EAE-BF5A-486C-A8C5-ECC9F3942E4B}">
                    <a14:imgProps xmlns:a14="http://schemas.microsoft.com/office/drawing/2010/main" xmlns="">
                      <a14:imgLayer r:embed="rId6">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5" name="Oval 14">
              <a:extLst>
                <a:ext uri="{FF2B5EF4-FFF2-40B4-BE49-F238E27FC236}">
                  <a16:creationId xmlns:a16="http://schemas.microsoft.com/office/drawing/2014/main" xmlns="" id="{1A131397-5A45-4344-9983-5E400A3EA58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1396488" y="6230844"/>
              <a:ext cx="478576" cy="478578"/>
            </a:xfrm>
            <a:prstGeom prst="ellipse">
              <a:avLst/>
            </a:prstGeom>
            <a:noFill/>
            <a:ln w="12700" cap="flat" cmpd="sng" algn="ctr">
              <a:solidFill>
                <a:srgbClr val="FFFFFF"/>
              </a:solidFill>
              <a:prstDash val="solid"/>
            </a:ln>
            <a:effectLst/>
          </p:spPr>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5118BA95-03E7-41B7-B442-0AF8C0A7FF6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white">
          <a:xfrm>
            <a:off x="2286" y="0"/>
            <a:ext cx="914171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Oval 10">
            <a:extLst>
              <a:ext uri="{FF2B5EF4-FFF2-40B4-BE49-F238E27FC236}">
                <a16:creationId xmlns:a16="http://schemas.microsoft.com/office/drawing/2014/main" xmlns="" id="{059D8741-EAD6-41B1-A882-70D70FC3582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95776" y="1679569"/>
            <a:ext cx="2624148" cy="3498858"/>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xmlns="">
                    <a14:imgLayer r:embed="rId3">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xmlns="" id="{45444F36-3103-4D11-A25F-C054D4606DA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934600" y="1864667"/>
            <a:ext cx="2346500" cy="312866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xmlns="" id="{754D216B-BD74-5885-7946-BA92393206E3}"/>
              </a:ext>
            </a:extLst>
          </p:cNvPr>
          <p:cNvSpPr>
            <a:spLocks noGrp="1"/>
          </p:cNvSpPr>
          <p:nvPr>
            <p:ph type="title"/>
          </p:nvPr>
        </p:nvSpPr>
        <p:spPr>
          <a:xfrm>
            <a:off x="1117608" y="2376862"/>
            <a:ext cx="1980485" cy="2104273"/>
          </a:xfrm>
          <a:noFill/>
        </p:spPr>
        <p:txBody>
          <a:bodyPr>
            <a:normAutofit/>
          </a:bodyPr>
          <a:lstStyle/>
          <a:p>
            <a:pPr algn="ctr"/>
            <a:r>
              <a:rPr lang="en-US" sz="2600">
                <a:solidFill>
                  <a:srgbClr val="FFFFFF"/>
                </a:solidFill>
              </a:rPr>
              <a:t>MECHANICS OF EXPIRATION</a:t>
            </a:r>
          </a:p>
        </p:txBody>
      </p:sp>
      <p:sp>
        <p:nvSpPr>
          <p:cNvPr id="15" name="Rectangle 14">
            <a:extLst>
              <a:ext uri="{FF2B5EF4-FFF2-40B4-BE49-F238E27FC236}">
                <a16:creationId xmlns:a16="http://schemas.microsoft.com/office/drawing/2014/main" xmlns="" id="{AD9B3EAD-A2B3-42C4-927C-3455E3E69EE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2169508" y="3398744"/>
            <a:ext cx="3657600" cy="60512"/>
          </a:xfrm>
          <a:prstGeom prst="rect">
            <a:avLst/>
          </a:prstGeom>
          <a:blipFill dpi="0" rotWithShape="1">
            <a:blip r:embed="rId4">
              <a:alphaModFix amt="85000"/>
              <a:lum bright="70000" contrast="-70000"/>
              <a:extLst>
                <a:ext uri="{BEBA8EAE-BF5A-486C-A8C5-ECC9F3942E4B}">
                  <a14:imgProps xmlns:a14="http://schemas.microsoft.com/office/drawing/2010/main" xmlns="">
                    <a14:imgLayer r:embed="rId5">
                      <a14:imgEffect>
                        <a14:sharpenSoften amount="61000"/>
                      </a14:imgEffect>
                    </a14:imgLayer>
                  </a14:imgProps>
                </a:ext>
                <a:ext uri="{28A0092B-C50C-407E-A947-70E740481C1C}">
                  <a14:useLocalDpi xmlns:a14="http://schemas.microsoft.com/office/drawing/2010/main" xmlns=""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5" name="Content Placeholder 2">
            <a:extLst>
              <a:ext uri="{FF2B5EF4-FFF2-40B4-BE49-F238E27FC236}">
                <a16:creationId xmlns:a16="http://schemas.microsoft.com/office/drawing/2014/main" xmlns="" id="{A626410A-6DF4-EB19-C6F4-C0CD7DF71F84}"/>
              </a:ext>
            </a:extLst>
          </p:cNvPr>
          <p:cNvGraphicFramePr>
            <a:graphicFrameLocks noGrp="1"/>
          </p:cNvGraphicFramePr>
          <p:nvPr>
            <p:ph idx="1"/>
            <p:extLst>
              <p:ext uri="{D42A27DB-BD31-4B8C-83A1-F6EECF244321}">
                <p14:modId xmlns:p14="http://schemas.microsoft.com/office/powerpoint/2010/main" xmlns="" val="1548543417"/>
              </p:ext>
            </p:extLst>
          </p:nvPr>
        </p:nvGraphicFramePr>
        <p:xfrm>
          <a:off x="4234196" y="304800"/>
          <a:ext cx="4909804" cy="63246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xmlns="" val="12825971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1743" y="250371"/>
            <a:ext cx="7086600" cy="639762"/>
          </a:xfrm>
        </p:spPr>
        <p:txBody>
          <a:bodyPr>
            <a:normAutofit fontScale="90000"/>
          </a:bodyPr>
          <a:lstStyle/>
          <a:p>
            <a:r>
              <a:rPr lang="en-US" dirty="0">
                <a:solidFill>
                  <a:schemeClr val="tx1"/>
                </a:solidFill>
              </a:rPr>
              <a:t>Muscles of Expiration</a:t>
            </a:r>
          </a:p>
        </p:txBody>
      </p:sp>
      <p:sp>
        <p:nvSpPr>
          <p:cNvPr id="3" name="Content Placeholder 2"/>
          <p:cNvSpPr>
            <a:spLocks noGrp="1"/>
          </p:cNvSpPr>
          <p:nvPr>
            <p:ph idx="1"/>
          </p:nvPr>
        </p:nvSpPr>
        <p:spPr>
          <a:xfrm>
            <a:off x="566057" y="1371600"/>
            <a:ext cx="8001000" cy="4114800"/>
          </a:xfrm>
        </p:spPr>
        <p:txBody>
          <a:bodyPr vert="horz" lIns="91440" tIns="45720" rIns="91440" bIns="45720" rtlCol="0" anchor="t">
            <a:normAutofit fontScale="85000" lnSpcReduction="20000"/>
          </a:bodyPr>
          <a:lstStyle/>
          <a:p>
            <a:pPr lvl="0"/>
            <a:r>
              <a:rPr lang="en-US" sz="2800" dirty="0"/>
              <a:t>Forceful expiration is </a:t>
            </a:r>
            <a:r>
              <a:rPr lang="en-US" sz="2800" b="1" dirty="0"/>
              <a:t>an active process </a:t>
            </a:r>
            <a:r>
              <a:rPr lang="en-US" sz="2800" dirty="0"/>
              <a:t>and expiratory muscles contract to produce expiration like in exercise, vomiting, sneezing and even during speech.</a:t>
            </a:r>
          </a:p>
          <a:p>
            <a:pPr lvl="0"/>
            <a:endParaRPr lang="en-US" sz="2800" dirty="0"/>
          </a:p>
          <a:p>
            <a:pPr lvl="0"/>
            <a:r>
              <a:rPr lang="en-US" sz="2800" dirty="0"/>
              <a:t>Expiratory muscles include</a:t>
            </a:r>
            <a:r>
              <a:rPr lang="en-US" sz="2800" dirty="0">
                <a:solidFill>
                  <a:srgbClr val="92D050"/>
                </a:solidFill>
              </a:rPr>
              <a:t>: </a:t>
            </a:r>
            <a:r>
              <a:rPr lang="en-US" sz="2800" b="1" dirty="0">
                <a:solidFill>
                  <a:srgbClr val="0070C0"/>
                </a:solidFill>
              </a:rPr>
              <a:t>Internal intercostals and also muscles of abdominal wall</a:t>
            </a:r>
            <a:r>
              <a:rPr lang="en-US" sz="2800" dirty="0">
                <a:solidFill>
                  <a:srgbClr val="0070C0"/>
                </a:solidFill>
              </a:rPr>
              <a:t>. Abdominal muscles which include internal oblique, external oblique, </a:t>
            </a:r>
            <a:r>
              <a:rPr lang="en-US" sz="2800" dirty="0" err="1">
                <a:solidFill>
                  <a:srgbClr val="0070C0"/>
                </a:solidFill>
              </a:rPr>
              <a:t>transverus</a:t>
            </a:r>
            <a:r>
              <a:rPr lang="en-US" sz="2800" dirty="0">
                <a:solidFill>
                  <a:srgbClr val="0070C0"/>
                </a:solidFill>
              </a:rPr>
              <a:t> abdominus and rectus abdominus</a:t>
            </a:r>
          </a:p>
          <a:p>
            <a:pPr lvl="0"/>
            <a:endParaRPr lang="en-US" sz="2800" dirty="0">
              <a:solidFill>
                <a:srgbClr val="0070C0"/>
              </a:solidFill>
            </a:endParaRPr>
          </a:p>
          <a:p>
            <a:r>
              <a:rPr lang="en-US" sz="2800" dirty="0"/>
              <a:t>When internal intercostals contract</a:t>
            </a:r>
            <a:r>
              <a:rPr lang="en-US" sz="2800" b="1" dirty="0"/>
              <a:t> size of thoracic cavity decreases in AP and transverse diameter.</a:t>
            </a:r>
          </a:p>
          <a:p>
            <a:pPr marL="0" indent="0">
              <a:buNone/>
            </a:pPr>
            <a:endParaRPr lang="en-US" sz="2800" dirty="0"/>
          </a:p>
          <a:p>
            <a:endParaRPr lang="en-US" dirty="0"/>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107300-6FC0-4463-DAE9-5B6817DBB84F}"/>
              </a:ext>
            </a:extLst>
          </p:cNvPr>
          <p:cNvSpPr>
            <a:spLocks noGrp="1"/>
          </p:cNvSpPr>
          <p:nvPr>
            <p:ph type="title"/>
          </p:nvPr>
        </p:nvSpPr>
        <p:spPr/>
        <p:txBody>
          <a:bodyPr/>
          <a:lstStyle/>
          <a:p>
            <a:endParaRPr lang="en-US"/>
          </a:p>
        </p:txBody>
      </p:sp>
      <p:pic>
        <p:nvPicPr>
          <p:cNvPr id="4" name="Content Placeholder 3" descr="A diagram of a lungs&#10;&#10;AI-generated content may be incorrect.">
            <a:extLst>
              <a:ext uri="{FF2B5EF4-FFF2-40B4-BE49-F238E27FC236}">
                <a16:creationId xmlns:a16="http://schemas.microsoft.com/office/drawing/2014/main" xmlns="" id="{94425EAD-B24D-3D43-B26A-44B4C525527B}"/>
              </a:ext>
            </a:extLst>
          </p:cNvPr>
          <p:cNvPicPr>
            <a:picLocks noGrp="1" noChangeAspect="1"/>
          </p:cNvPicPr>
          <p:nvPr>
            <p:ph idx="1"/>
          </p:nvPr>
        </p:nvPicPr>
        <p:blipFill>
          <a:blip r:embed="rId2"/>
          <a:stretch>
            <a:fillRect/>
          </a:stretch>
        </p:blipFill>
        <p:spPr>
          <a:xfrm>
            <a:off x="372409" y="2989"/>
            <a:ext cx="8399180" cy="6852769"/>
          </a:xfrm>
        </p:spPr>
      </p:pic>
    </p:spTree>
    <p:extLst>
      <p:ext uri="{BB962C8B-B14F-4D97-AF65-F5344CB8AC3E}">
        <p14:creationId xmlns:p14="http://schemas.microsoft.com/office/powerpoint/2010/main" xmlns="" val="16738672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C05B1A-562A-7315-11BE-3B626C709608}"/>
              </a:ext>
            </a:extLst>
          </p:cNvPr>
          <p:cNvSpPr>
            <a:spLocks noGrp="1"/>
          </p:cNvSpPr>
          <p:nvPr>
            <p:ph type="title"/>
          </p:nvPr>
        </p:nvSpPr>
        <p:spPr/>
        <p:txBody>
          <a:bodyPr/>
          <a:lstStyle/>
          <a:p>
            <a:endParaRPr lang="en-US"/>
          </a:p>
        </p:txBody>
      </p:sp>
      <p:pic>
        <p:nvPicPr>
          <p:cNvPr id="7" name="Content Placeholder 6" descr="A diagram of the internal organs of a person&#10;&#10;AI-generated content may be incorrect.">
            <a:extLst>
              <a:ext uri="{FF2B5EF4-FFF2-40B4-BE49-F238E27FC236}">
                <a16:creationId xmlns:a16="http://schemas.microsoft.com/office/drawing/2014/main" xmlns="" id="{9F85738F-D456-6484-DDB3-EE8868ADDD7B}"/>
              </a:ext>
            </a:extLst>
          </p:cNvPr>
          <p:cNvPicPr>
            <a:picLocks noGrp="1" noChangeAspect="1"/>
          </p:cNvPicPr>
          <p:nvPr>
            <p:ph idx="1"/>
          </p:nvPr>
        </p:nvPicPr>
        <p:blipFill>
          <a:blip r:embed="rId2"/>
          <a:stretch>
            <a:fillRect/>
          </a:stretch>
        </p:blipFill>
        <p:spPr>
          <a:xfrm>
            <a:off x="195944" y="485902"/>
            <a:ext cx="8534399" cy="5340095"/>
          </a:xfrm>
        </p:spPr>
      </p:pic>
    </p:spTree>
    <p:extLst>
      <p:ext uri="{BB962C8B-B14F-4D97-AF65-F5344CB8AC3E}">
        <p14:creationId xmlns:p14="http://schemas.microsoft.com/office/powerpoint/2010/main" xmlns="" val="18940445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969106"/>
            <a:ext cx="7406640" cy="1472184"/>
          </a:xfrm>
        </p:spPr>
        <p:txBody>
          <a:bodyPr>
            <a:normAutofit fontScale="90000"/>
          </a:bodyPr>
          <a:lstStyle/>
          <a:p>
            <a:r>
              <a:rPr lang="en-US" sz="6000" b="1" dirty="0">
                <a:solidFill>
                  <a:schemeClr val="tx1"/>
                </a:solidFill>
              </a:rPr>
              <a:t>SURFACTANT</a:t>
            </a:r>
            <a:br>
              <a:rPr lang="en-US" sz="6000" b="1" dirty="0">
                <a:solidFill>
                  <a:schemeClr val="tx1"/>
                </a:solidFill>
              </a:rPr>
            </a:br>
            <a:r>
              <a:rPr lang="en-US" sz="6000" b="1" dirty="0">
                <a:solidFill>
                  <a:schemeClr val="tx1"/>
                </a:solidFill>
              </a:rPr>
              <a:t>LUNG COMPLIANCE</a:t>
            </a:r>
          </a:p>
        </p:txBody>
      </p:sp>
      <p:sp>
        <p:nvSpPr>
          <p:cNvPr id="4" name="Subtitle 3"/>
          <p:cNvSpPr>
            <a:spLocks noGrp="1"/>
          </p:cNvSpPr>
          <p:nvPr>
            <p:ph type="subTitle" idx="1"/>
          </p:nvPr>
        </p:nvSpPr>
        <p:spPr>
          <a:xfrm>
            <a:off x="-457200" y="5257800"/>
            <a:ext cx="6400800" cy="424732"/>
          </a:xfrm>
          <a:prstGeom prst="rect">
            <a:avLst/>
          </a:prstGeom>
        </p:spPr>
        <p:txBody>
          <a:bodyPr>
            <a:spAutoFit/>
          </a:bodyPr>
          <a:lstStyle/>
          <a:p>
            <a:pPr algn="ctr"/>
            <a:r>
              <a:rPr lang="en-US" sz="2400" b="1" dirty="0">
                <a:ln w="0"/>
                <a:effectLst>
                  <a:outerShdw blurRad="38100" dist="25400" dir="5400000" algn="ctr" rotWithShape="0">
                    <a:srgbClr val="6E747A">
                      <a:alpha val="43000"/>
                    </a:srgbClr>
                  </a:outerShdw>
                </a:effectLst>
              </a:rPr>
              <a:t>Dr. Tabish Masood Ranjha</a:t>
            </a:r>
          </a:p>
        </p:txBody>
      </p:sp>
    </p:spTree>
    <p:extLst>
      <p:ext uri="{BB962C8B-B14F-4D97-AF65-F5344CB8AC3E}">
        <p14:creationId xmlns:p14="http://schemas.microsoft.com/office/powerpoint/2010/main" xmlns="" val="31281105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E009DD9B-5EE2-4C0D-8B2B-351C8C10220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E720DB99-7745-4E75-9D96-AAB6D55C531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xmlns="" id="{D68803C4-E159-4360-B7BB-74205C8F782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xmlns="" id="{504B0465-3B07-49BF-BEA7-D8147624629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2386" y="484632"/>
            <a:ext cx="7543800" cy="1609344"/>
          </a:xfrm>
        </p:spPr>
        <p:txBody>
          <a:bodyPr>
            <a:normAutofit/>
          </a:bodyPr>
          <a:lstStyle/>
          <a:p>
            <a:r>
              <a:rPr lang="en-US"/>
              <a:t>SURFACTANT</a:t>
            </a:r>
          </a:p>
        </p:txBody>
      </p:sp>
      <p:sp>
        <p:nvSpPr>
          <p:cNvPr id="3" name="Content Placeholder 2"/>
          <p:cNvSpPr>
            <a:spLocks noGrp="1"/>
          </p:cNvSpPr>
          <p:nvPr>
            <p:ph idx="1"/>
          </p:nvPr>
        </p:nvSpPr>
        <p:spPr>
          <a:xfrm>
            <a:off x="802386" y="2320412"/>
            <a:ext cx="7543800" cy="3851787"/>
          </a:xfrm>
        </p:spPr>
        <p:txBody>
          <a:bodyPr vert="horz" lIns="91440" tIns="45720" rIns="91440" bIns="45720" rtlCol="0" anchor="t">
            <a:normAutofit lnSpcReduction="10000"/>
          </a:bodyPr>
          <a:lstStyle/>
          <a:p>
            <a:r>
              <a:rPr lang="en-US" b="1" dirty="0"/>
              <a:t>It is a lipoprotein mixture present in thin layer of fluid lining the alveoli at the air fluid interface. </a:t>
            </a:r>
          </a:p>
          <a:p>
            <a:pPr>
              <a:buClr>
                <a:srgbClr val="9E3611"/>
              </a:buClr>
            </a:pPr>
            <a:r>
              <a:rPr lang="en-US" dirty="0"/>
              <a:t>Mainly produced by </a:t>
            </a:r>
            <a:r>
              <a:rPr lang="en-US" err="1"/>
              <a:t>typeII</a:t>
            </a:r>
            <a:r>
              <a:rPr lang="en-US" dirty="0"/>
              <a:t> alveolar cells.</a:t>
            </a:r>
          </a:p>
          <a:p>
            <a:pPr>
              <a:buClr>
                <a:srgbClr val="9E3611"/>
              </a:buClr>
            </a:pPr>
            <a:r>
              <a:rPr lang="en-US" dirty="0"/>
              <a:t>Reduces </a:t>
            </a:r>
            <a:r>
              <a:rPr lang="en-US" b="1" dirty="0"/>
              <a:t>Surface tension and increases lung compliance.</a:t>
            </a:r>
          </a:p>
          <a:p>
            <a:pPr marL="0" indent="0">
              <a:buNone/>
            </a:pPr>
            <a:r>
              <a:rPr lang="en-US" dirty="0"/>
              <a:t>   </a:t>
            </a:r>
          </a:p>
          <a:p>
            <a:pPr marL="0" indent="0">
              <a:buNone/>
            </a:pPr>
            <a:r>
              <a:rPr lang="en-US" b="1" dirty="0"/>
              <a:t>COMPOSITION</a:t>
            </a:r>
            <a:endParaRPr lang="en-US" dirty="0"/>
          </a:p>
          <a:p>
            <a:pPr marL="0" indent="0">
              <a:buNone/>
            </a:pPr>
            <a:r>
              <a:rPr lang="en-US" dirty="0"/>
              <a:t> It is composed of </a:t>
            </a:r>
          </a:p>
          <a:p>
            <a:pPr lvl="0"/>
            <a:r>
              <a:rPr lang="en-US" dirty="0"/>
              <a:t>Apoprotein</a:t>
            </a:r>
          </a:p>
          <a:p>
            <a:pPr lvl="0"/>
            <a:r>
              <a:rPr lang="en-US" dirty="0"/>
              <a:t>Calcium ions</a:t>
            </a:r>
          </a:p>
          <a:p>
            <a:pPr lvl="0"/>
            <a:r>
              <a:rPr lang="en-US" dirty="0"/>
              <a:t>Phospholipids i.e. dipalmitoyl lecithin</a:t>
            </a:r>
          </a:p>
          <a:p>
            <a:endParaRPr lang="en-US" dirty="0"/>
          </a:p>
        </p:txBody>
      </p:sp>
      <p:sp>
        <p:nvSpPr>
          <p:cNvPr id="16" name="Oval 15">
            <a:extLst>
              <a:ext uri="{FF2B5EF4-FFF2-40B4-BE49-F238E27FC236}">
                <a16:creationId xmlns:a16="http://schemas.microsoft.com/office/drawing/2014/main" xmlns="" id="{49B7FFA5-14CB-4A4F-9BCC-CA3AA5D9D27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xmlns="" id="{04E48745-7512-4EC2-9E20-9092D12150C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xmlns="" val="8823135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7" descr="S23283-026-f009a.jpg"/>
          <p:cNvPicPr>
            <a:picLocks noChangeAspect="1" noChangeArrowheads="1"/>
          </p:cNvPicPr>
          <p:nvPr/>
        </p:nvPicPr>
        <p:blipFill>
          <a:blip r:embed="rId2" cstate="print"/>
          <a:srcRect/>
          <a:stretch>
            <a:fillRect/>
          </a:stretch>
        </p:blipFill>
        <p:spPr bwMode="auto">
          <a:xfrm>
            <a:off x="337457" y="130629"/>
            <a:ext cx="8458200" cy="6730518"/>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xmlns="" id="{E009DD9B-5EE2-4C0D-8B2B-351C8C10220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xmlns="" id="{E720DB99-7745-4E75-9D96-AAB6D55C531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Rectangle 23">
            <a:extLst>
              <a:ext uri="{FF2B5EF4-FFF2-40B4-BE49-F238E27FC236}">
                <a16:creationId xmlns:a16="http://schemas.microsoft.com/office/drawing/2014/main" xmlns="" id="{D68803C4-E159-4360-B7BB-74205C8F782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a:extLst>
              <a:ext uri="{FF2B5EF4-FFF2-40B4-BE49-F238E27FC236}">
                <a16:creationId xmlns:a16="http://schemas.microsoft.com/office/drawing/2014/main" xmlns="" id="{504B0465-3B07-49BF-BEA7-D8147624629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2386" y="484632"/>
            <a:ext cx="7543800" cy="1609344"/>
          </a:xfrm>
        </p:spPr>
        <p:txBody>
          <a:bodyPr>
            <a:normAutofit/>
          </a:bodyPr>
          <a:lstStyle/>
          <a:p>
            <a:r>
              <a:rPr lang="en-US"/>
              <a:t>FUNCTIONS OF SURFACTANT</a:t>
            </a:r>
          </a:p>
        </p:txBody>
      </p:sp>
      <p:sp>
        <p:nvSpPr>
          <p:cNvPr id="3" name="Content Placeholder 2"/>
          <p:cNvSpPr>
            <a:spLocks noGrp="1"/>
          </p:cNvSpPr>
          <p:nvPr>
            <p:ph idx="1"/>
          </p:nvPr>
        </p:nvSpPr>
        <p:spPr>
          <a:xfrm>
            <a:off x="802386" y="2320412"/>
            <a:ext cx="7543800" cy="3851787"/>
          </a:xfrm>
        </p:spPr>
        <p:txBody>
          <a:bodyPr vert="horz" lIns="91440" tIns="45720" rIns="91440" bIns="45720" rtlCol="0" anchor="t">
            <a:noAutofit/>
          </a:bodyPr>
          <a:lstStyle/>
          <a:p>
            <a:pPr lvl="0"/>
            <a:r>
              <a:rPr lang="en-US" dirty="0"/>
              <a:t>Prevents collapse of lungs</a:t>
            </a:r>
          </a:p>
          <a:p>
            <a:pPr lvl="0"/>
            <a:r>
              <a:rPr lang="en-US" dirty="0"/>
              <a:t>Stabilize size of alveoli</a:t>
            </a:r>
          </a:p>
          <a:p>
            <a:r>
              <a:rPr lang="en-US" dirty="0"/>
              <a:t>Surfactant helps to keep lungs expanded. If there is deficiency of surfactant then the pressure of -20 to -30 mm of Hg will be required to keep the lungs expanded</a:t>
            </a:r>
          </a:p>
          <a:p>
            <a:r>
              <a:rPr lang="en-US" dirty="0"/>
              <a:t>Surfactant also helps to keep the alveoli dry and prevent development of pulmonary edema.</a:t>
            </a:r>
          </a:p>
          <a:p>
            <a:r>
              <a:rPr lang="en-US" dirty="0"/>
              <a:t>Surfactant is also helpful in lung expansion at birth. If there is deficiency then there is Respiratory Distress Syndrome.</a:t>
            </a:r>
          </a:p>
        </p:txBody>
      </p:sp>
      <p:sp>
        <p:nvSpPr>
          <p:cNvPr id="26" name="Oval 25">
            <a:extLst>
              <a:ext uri="{FF2B5EF4-FFF2-40B4-BE49-F238E27FC236}">
                <a16:creationId xmlns:a16="http://schemas.microsoft.com/office/drawing/2014/main" xmlns="" id="{49B7FFA5-14CB-4A4F-9BCC-CA3AA5D9D27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7" name="Oval 26">
            <a:extLst>
              <a:ext uri="{FF2B5EF4-FFF2-40B4-BE49-F238E27FC236}">
                <a16:creationId xmlns:a16="http://schemas.microsoft.com/office/drawing/2014/main" xmlns="" id="{04E48745-7512-4EC2-9E20-9092D12150C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E009DD9B-5EE2-4C0D-8B2B-351C8C10220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E720DB99-7745-4E75-9D96-AAB6D55C531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xmlns="" id="{D68803C4-E159-4360-B7BB-74205C8F782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xmlns="" id="{504B0465-3B07-49BF-BEA7-D8147624629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2386" y="484632"/>
            <a:ext cx="7543800" cy="1609344"/>
          </a:xfrm>
        </p:spPr>
        <p:txBody>
          <a:bodyPr>
            <a:normAutofit/>
          </a:bodyPr>
          <a:lstStyle/>
          <a:p>
            <a:r>
              <a:rPr lang="en-US" b="1"/>
              <a:t>COMPLIANCE</a:t>
            </a:r>
          </a:p>
        </p:txBody>
      </p:sp>
      <p:sp>
        <p:nvSpPr>
          <p:cNvPr id="3" name="Content Placeholder 2"/>
          <p:cNvSpPr>
            <a:spLocks noGrp="1"/>
          </p:cNvSpPr>
          <p:nvPr>
            <p:ph idx="1"/>
          </p:nvPr>
        </p:nvSpPr>
        <p:spPr>
          <a:xfrm>
            <a:off x="802386" y="2320412"/>
            <a:ext cx="7543800" cy="3851787"/>
          </a:xfrm>
        </p:spPr>
        <p:txBody>
          <a:bodyPr vert="horz" lIns="91440" tIns="45720" rIns="91440" bIns="45720" rtlCol="0">
            <a:normAutofit/>
          </a:bodyPr>
          <a:lstStyle/>
          <a:p>
            <a:pPr marL="0" indent="0">
              <a:buNone/>
            </a:pPr>
            <a:endParaRPr lang="en-US"/>
          </a:p>
          <a:p>
            <a:pPr marL="0" indent="0">
              <a:buNone/>
            </a:pPr>
            <a:r>
              <a:rPr lang="en-US"/>
              <a:t>  </a:t>
            </a:r>
            <a:r>
              <a:rPr lang="en-US" b="1"/>
              <a:t>   “</a:t>
            </a:r>
            <a:r>
              <a:rPr lang="en-US" b="1" dirty="0"/>
              <a:t>Compliance is the measure of expansibility or distensibility of the lungs. It indicates with how much ease lungs can be expanded”.</a:t>
            </a:r>
          </a:p>
          <a:p>
            <a:pPr marL="0" indent="0">
              <a:buNone/>
            </a:pPr>
            <a:endParaRPr lang="en-US" dirty="0"/>
          </a:p>
          <a:p>
            <a:endParaRPr lang="en-US" dirty="0"/>
          </a:p>
          <a:p>
            <a:endParaRPr lang="en-US" dirty="0"/>
          </a:p>
        </p:txBody>
      </p:sp>
      <p:sp>
        <p:nvSpPr>
          <p:cNvPr id="16" name="Oval 15">
            <a:extLst>
              <a:ext uri="{FF2B5EF4-FFF2-40B4-BE49-F238E27FC236}">
                <a16:creationId xmlns:a16="http://schemas.microsoft.com/office/drawing/2014/main" xmlns="" id="{49B7FFA5-14CB-4A4F-9BCC-CA3AA5D9D27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xmlns="" id="{04E48745-7512-4EC2-9E20-9092D12150C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E009DD9B-5EE2-4C0D-8B2B-351C8C10220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E720DB99-7745-4E75-9D96-AAB6D55C531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xmlns="" id="{D68803C4-E159-4360-B7BB-74205C8F782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xmlns="" id="{504B0465-3B07-49BF-BEA7-D8147624629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2386" y="484632"/>
            <a:ext cx="7543800" cy="1609344"/>
          </a:xfrm>
        </p:spPr>
        <p:txBody>
          <a:bodyPr>
            <a:normAutofit/>
          </a:bodyPr>
          <a:lstStyle/>
          <a:p>
            <a:r>
              <a:rPr lang="en-US"/>
              <a:t>Measurement of Compliance</a:t>
            </a:r>
          </a:p>
        </p:txBody>
      </p:sp>
      <p:sp>
        <p:nvSpPr>
          <p:cNvPr id="3" name="Content Placeholder 2"/>
          <p:cNvSpPr>
            <a:spLocks noGrp="1"/>
          </p:cNvSpPr>
          <p:nvPr>
            <p:ph idx="1"/>
          </p:nvPr>
        </p:nvSpPr>
        <p:spPr>
          <a:xfrm>
            <a:off x="802386" y="2320412"/>
            <a:ext cx="7543800" cy="3851787"/>
          </a:xfrm>
        </p:spPr>
        <p:txBody>
          <a:bodyPr vert="horz" lIns="91440" tIns="45720" rIns="91440" bIns="45720" rtlCol="0" anchor="t">
            <a:normAutofit/>
          </a:bodyPr>
          <a:lstStyle/>
          <a:p>
            <a:r>
              <a:rPr lang="en-US" dirty="0"/>
              <a:t>To measure compliance we ask the subject to inspire and expire in short steps of 50-100 ml. in this way we measure the transpulmunory pressure.</a:t>
            </a:r>
          </a:p>
          <a:p>
            <a:pPr>
              <a:buNone/>
            </a:pPr>
            <a:endParaRPr lang="en-US" dirty="0"/>
          </a:p>
          <a:p>
            <a:r>
              <a:rPr lang="en-US" dirty="0"/>
              <a:t>Transpulmunory pressure = alveolar pressure – pleural pressure.</a:t>
            </a:r>
          </a:p>
          <a:p>
            <a:r>
              <a:rPr lang="en-US" dirty="0"/>
              <a:t>When alveolar pressure becomes zero i.e. when the subject is not inspiring or expiring, alveolar pressure is zero. So transpulmunory pressure becomes equal to pleural pressure which we can measure by esophageal method.</a:t>
            </a:r>
          </a:p>
          <a:p>
            <a:r>
              <a:rPr lang="en-US" b="1" dirty="0"/>
              <a:t>If we remove one lung, compliance becomes half</a:t>
            </a:r>
          </a:p>
          <a:p>
            <a:endParaRPr lang="en-US" dirty="0"/>
          </a:p>
          <a:p>
            <a:endParaRPr lang="en-US" dirty="0"/>
          </a:p>
        </p:txBody>
      </p:sp>
      <p:sp>
        <p:nvSpPr>
          <p:cNvPr id="16" name="Oval 15">
            <a:extLst>
              <a:ext uri="{FF2B5EF4-FFF2-40B4-BE49-F238E27FC236}">
                <a16:creationId xmlns:a16="http://schemas.microsoft.com/office/drawing/2014/main" xmlns="" id="{49B7FFA5-14CB-4A4F-9BCC-CA3AA5D9D27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xmlns="" id="{04E48745-7512-4EC2-9E20-9092D12150C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1"/>
          <p:cNvPicPr>
            <a:picLocks noChangeAspect="1" noChangeArrowheads="1"/>
          </p:cNvPicPr>
          <p:nvPr/>
        </p:nvPicPr>
        <p:blipFill>
          <a:blip r:embed="rId2" cstate="print"/>
          <a:srcRect/>
          <a:stretch>
            <a:fillRect/>
          </a:stretch>
        </p:blipFill>
        <p:spPr bwMode="auto">
          <a:xfrm>
            <a:off x="1371600" y="213797"/>
            <a:ext cx="6629400" cy="6644203"/>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r>
              <a:rPr lang="en-US" dirty="0">
                <a:solidFill>
                  <a:schemeClr val="tx1"/>
                </a:solidFill>
              </a:rPr>
              <a:t>APPLIED PHYSIOLOGY</a:t>
            </a:r>
          </a:p>
        </p:txBody>
      </p:sp>
      <p:sp>
        <p:nvSpPr>
          <p:cNvPr id="4" name="Text Placeholder 3"/>
          <p:cNvSpPr>
            <a:spLocks noGrp="1"/>
          </p:cNvSpPr>
          <p:nvPr>
            <p:ph type="body" idx="1"/>
          </p:nvPr>
        </p:nvSpPr>
        <p:spPr>
          <a:xfrm>
            <a:off x="457200" y="914401"/>
            <a:ext cx="4040188" cy="609600"/>
          </a:xfrm>
        </p:spPr>
        <p:txBody>
          <a:bodyPr/>
          <a:lstStyle/>
          <a:p>
            <a:r>
              <a:rPr lang="en-US" dirty="0"/>
              <a:t>Increase in Compliance</a:t>
            </a:r>
          </a:p>
        </p:txBody>
      </p:sp>
      <p:sp>
        <p:nvSpPr>
          <p:cNvPr id="5" name="Content Placeholder 4"/>
          <p:cNvSpPr>
            <a:spLocks noGrp="1"/>
          </p:cNvSpPr>
          <p:nvPr>
            <p:ph sz="half" idx="2"/>
          </p:nvPr>
        </p:nvSpPr>
        <p:spPr>
          <a:xfrm>
            <a:off x="152400" y="1600200"/>
            <a:ext cx="4344988" cy="5105400"/>
          </a:xfrm>
        </p:spPr>
        <p:txBody>
          <a:bodyPr vert="horz" lIns="91440" tIns="45720" rIns="91440" bIns="45720" rtlCol="0" anchor="t">
            <a:normAutofit/>
          </a:bodyPr>
          <a:lstStyle/>
          <a:p>
            <a:r>
              <a:rPr lang="en-US" b="1" dirty="0"/>
              <a:t>Physiological condition</a:t>
            </a:r>
            <a:r>
              <a:rPr lang="en-US" dirty="0"/>
              <a:t>: </a:t>
            </a:r>
            <a:endParaRPr lang="en-US"/>
          </a:p>
          <a:p>
            <a:pPr marL="0" indent="0">
              <a:buClr>
                <a:srgbClr val="9E3611"/>
              </a:buClr>
              <a:buNone/>
            </a:pPr>
            <a:r>
              <a:rPr lang="en-US" dirty="0"/>
              <a:t>Old age due to loss of elastic property of lung tissues.</a:t>
            </a:r>
          </a:p>
          <a:p>
            <a:r>
              <a:rPr lang="en-US" b="1" dirty="0"/>
              <a:t> Pathological condition:</a:t>
            </a:r>
            <a:r>
              <a:rPr lang="en-US" dirty="0"/>
              <a:t> Emphysema -only condition in which there is loss of membranes and loss of elastic tissue.</a:t>
            </a:r>
          </a:p>
        </p:txBody>
      </p:sp>
      <p:sp>
        <p:nvSpPr>
          <p:cNvPr id="6" name="Text Placeholder 5"/>
          <p:cNvSpPr>
            <a:spLocks noGrp="1"/>
          </p:cNvSpPr>
          <p:nvPr>
            <p:ph type="body" sz="quarter" idx="3"/>
          </p:nvPr>
        </p:nvSpPr>
        <p:spPr>
          <a:xfrm>
            <a:off x="4645025" y="914401"/>
            <a:ext cx="4041775" cy="609600"/>
          </a:xfrm>
        </p:spPr>
        <p:txBody>
          <a:bodyPr/>
          <a:lstStyle/>
          <a:p>
            <a:r>
              <a:rPr lang="en-US" dirty="0"/>
              <a:t>Decrease in Compliance</a:t>
            </a:r>
          </a:p>
        </p:txBody>
      </p:sp>
      <p:sp>
        <p:nvSpPr>
          <p:cNvPr id="7" name="Content Placeholder 6"/>
          <p:cNvSpPr>
            <a:spLocks noGrp="1"/>
          </p:cNvSpPr>
          <p:nvPr>
            <p:ph sz="quarter" idx="4"/>
          </p:nvPr>
        </p:nvSpPr>
        <p:spPr>
          <a:xfrm>
            <a:off x="4645025" y="1524000"/>
            <a:ext cx="4422775" cy="5181600"/>
          </a:xfrm>
        </p:spPr>
        <p:txBody>
          <a:bodyPr vert="horz" lIns="91440" tIns="45720" rIns="91440" bIns="45720" rtlCol="0" anchor="t">
            <a:normAutofit/>
          </a:bodyPr>
          <a:lstStyle/>
          <a:p>
            <a:r>
              <a:rPr lang="en-US" dirty="0"/>
              <a:t>Decreased compliance means </a:t>
            </a:r>
            <a:r>
              <a:rPr lang="en-US" b="1" dirty="0"/>
              <a:t>lungs are difficult to expand. </a:t>
            </a:r>
          </a:p>
          <a:p>
            <a:r>
              <a:rPr lang="en-US" dirty="0"/>
              <a:t>Decreased lung compliance occurs in </a:t>
            </a:r>
            <a:r>
              <a:rPr lang="en-US" b="1" dirty="0"/>
              <a:t>fibrosis, atelectasis, COPD, effusion , Bony deformities kyphosis, scoliosis, surfactant deficiency, respiratory muscle weakness.</a:t>
            </a:r>
          </a:p>
          <a:p>
            <a:endParaRPr lang="en-US" b="1" dirty="0"/>
          </a:p>
        </p:txBody>
      </p:sp>
    </p:spTree>
    <p:extLst>
      <p:ext uri="{BB962C8B-B14F-4D97-AF65-F5344CB8AC3E}">
        <p14:creationId xmlns:p14="http://schemas.microsoft.com/office/powerpoint/2010/main" xmlns="" val="17960385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xmlns="" id="{132FD491-28F3-42E7-AEBF-A9E3C462C92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8551293" y="6229681"/>
            <a:ext cx="342900" cy="457200"/>
            <a:chOff x="11361456" y="6195813"/>
            <a:chExt cx="548640" cy="548640"/>
          </a:xfrm>
        </p:grpSpPr>
        <p:sp>
          <p:nvSpPr>
            <p:cNvPr id="9" name="Oval 8">
              <a:extLst>
                <a:ext uri="{FF2B5EF4-FFF2-40B4-BE49-F238E27FC236}">
                  <a16:creationId xmlns:a16="http://schemas.microsoft.com/office/drawing/2014/main" xmlns="" id="{AD016B6E-F283-4CFB-9099-05C8DA6AB3F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xmlns="">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a:extLst>
                <a:ext uri="{FF2B5EF4-FFF2-40B4-BE49-F238E27FC236}">
                  <a16:creationId xmlns:a16="http://schemas.microsoft.com/office/drawing/2014/main" xmlns="" id="{72D0360E-345F-4790-B0A0-03ADC36B5E4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1396488" y="6230844"/>
              <a:ext cx="478576" cy="478578"/>
            </a:xfrm>
            <a:prstGeom prst="ellipse">
              <a:avLst/>
            </a:prstGeom>
            <a:noFill/>
            <a:ln w="12700" cap="flat" cmpd="sng" algn="ctr">
              <a:solidFill>
                <a:srgbClr val="FFFFFF"/>
              </a:solidFill>
              <a:prstDash val="solid"/>
            </a:ln>
            <a:effectLst/>
          </p:spPr>
        </p:sp>
      </p:grpSp>
      <p:sp useBgFill="1">
        <p:nvSpPr>
          <p:cNvPr id="12" name="Rectangle 11">
            <a:extLst>
              <a:ext uri="{FF2B5EF4-FFF2-40B4-BE49-F238E27FC236}">
                <a16:creationId xmlns:a16="http://schemas.microsoft.com/office/drawing/2014/main" xmlns="" id="{4FCA88C2-C73C-4062-A097-8FBCE3090BE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83981C21-E132-4402-B31B-D725C1CE77D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1203" y="653241"/>
            <a:ext cx="8181594" cy="80683"/>
          </a:xfrm>
          <a:prstGeom prst="rect">
            <a:avLst/>
          </a:prstGeom>
          <a:blipFill dpi="0" rotWithShape="1">
            <a:blip r:embed="rId4">
              <a:alphaModFix amt="85000"/>
              <a:lum bright="70000" contrast="-70000"/>
              <a:extLst>
                <a:ext uri="{BEBA8EAE-BF5A-486C-A8C5-ECC9F3942E4B}">
                  <a14:imgProps xmlns:a14="http://schemas.microsoft.com/office/drawing/2010/main" xmlns="">
                    <a14:imgLayer r:embed="rId5">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6A685C77-4E84-486A-9AE5-F3635BE98EF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1201" y="822324"/>
            <a:ext cx="3862197" cy="5228279"/>
          </a:xfrm>
          <a:prstGeom prst="rect">
            <a:avLst/>
          </a:prstGeom>
          <a:blipFill dpi="0" rotWithShape="1">
            <a:blip r:embed="rId4">
              <a:alphaModFix amt="85000"/>
              <a:lum bright="70000" contrast="-70000"/>
              <a:extLst>
                <a:ext uri="{BEBA8EAE-BF5A-486C-A8C5-ECC9F3942E4B}">
                  <a14:imgProps xmlns:a14="http://schemas.microsoft.com/office/drawing/2010/main" xmlns="">
                    <a14:imgLayer r:embed="rId5">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D5F2020F-EFFD-39F5-367C-4A2FA764B9FB}"/>
              </a:ext>
            </a:extLst>
          </p:cNvPr>
          <p:cNvSpPr>
            <a:spLocks noGrp="1"/>
          </p:cNvSpPr>
          <p:nvPr>
            <p:ph type="title"/>
          </p:nvPr>
        </p:nvSpPr>
        <p:spPr>
          <a:xfrm>
            <a:off x="965200" y="1465790"/>
            <a:ext cx="2895599" cy="3941345"/>
          </a:xfrm>
        </p:spPr>
        <p:txBody>
          <a:bodyPr vert="horz" lIns="91440" tIns="45720" rIns="91440" bIns="45720" rtlCol="0" anchor="ctr">
            <a:normAutofit/>
          </a:bodyPr>
          <a:lstStyle/>
          <a:p>
            <a:r>
              <a:rPr lang="en-US" sz="4800"/>
              <a:t>TYPES OF COMPLIANCE </a:t>
            </a:r>
          </a:p>
        </p:txBody>
      </p:sp>
      <p:sp>
        <p:nvSpPr>
          <p:cNvPr id="3" name="Content Placeholder 2"/>
          <p:cNvSpPr>
            <a:spLocks noGrp="1"/>
          </p:cNvSpPr>
          <p:nvPr>
            <p:ph sz="half" idx="1"/>
          </p:nvPr>
        </p:nvSpPr>
        <p:spPr>
          <a:xfrm>
            <a:off x="4341292" y="1007398"/>
            <a:ext cx="4682453" cy="4612604"/>
          </a:xfrm>
        </p:spPr>
        <p:txBody>
          <a:bodyPr vert="horz" lIns="91440" tIns="45720" rIns="91440" bIns="45720" rtlCol="0" anchor="ctr">
            <a:normAutofit/>
          </a:bodyPr>
          <a:lstStyle/>
          <a:p>
            <a:pPr marL="0" indent="0">
              <a:spcAft>
                <a:spcPts val="1800"/>
              </a:spcAft>
              <a:buNone/>
            </a:pPr>
            <a:r>
              <a:rPr lang="en-US" sz="1300" dirty="0">
                <a:effectLst/>
              </a:rPr>
              <a:t/>
            </a:r>
            <a:br>
              <a:rPr lang="en-US" sz="1300" dirty="0">
                <a:effectLst/>
              </a:rPr>
            </a:br>
            <a:r>
              <a:rPr lang="en-US" sz="1300" b="1">
                <a:effectLst/>
              </a:rPr>
              <a:t>STATIC COMPLIANCE:</a:t>
            </a:r>
            <a:r>
              <a:rPr lang="en-US" sz="1300">
                <a:effectLst/>
              </a:rPr>
              <a:t> This is assessed while the individual is holding their breath.</a:t>
            </a:r>
            <a:endParaRPr lang="en-US"/>
          </a:p>
          <a:p>
            <a:pPr marL="0" indent="0">
              <a:spcAft>
                <a:spcPts val="1800"/>
              </a:spcAft>
              <a:buNone/>
            </a:pPr>
            <a:r>
              <a:rPr lang="en-US" sz="1300" b="1">
                <a:effectLst/>
              </a:rPr>
              <a:t>DYNAMIC COMPLIANCE:</a:t>
            </a:r>
            <a:r>
              <a:rPr lang="en-US" sz="1300">
                <a:effectLst/>
              </a:rPr>
              <a:t> This measurement occurs during normal breathing.</a:t>
            </a:r>
            <a:endParaRPr lang="en-US" sz="1300"/>
          </a:p>
          <a:p>
            <a:pPr marL="0" indent="0">
              <a:spcAft>
                <a:spcPts val="1800"/>
              </a:spcAft>
              <a:buNone/>
            </a:pPr>
            <a:r>
              <a:rPr lang="en-US" sz="1300" b="1" dirty="0"/>
              <a:t>SPECIFIC COMPLIANCE</a:t>
            </a:r>
            <a:r>
              <a:rPr lang="en-US" sz="1300" b="1" dirty="0">
                <a:effectLst/>
              </a:rPr>
              <a:t>:</a:t>
            </a:r>
            <a:r>
              <a:rPr lang="en-US" sz="1300" dirty="0">
                <a:effectLst/>
              </a:rPr>
              <a:t> It refers to the </a:t>
            </a:r>
            <a:r>
              <a:rPr lang="en-US" sz="1300">
                <a:effectLst/>
              </a:rPr>
              <a:t>compliance measured per liter of lung volume.</a:t>
            </a:r>
            <a:endParaRPr lang="en-US" sz="1300"/>
          </a:p>
          <a:p>
            <a:pPr marL="0" indent="0" algn="ctr">
              <a:spcAft>
                <a:spcPts val="1800"/>
              </a:spcAft>
              <a:buNone/>
            </a:pPr>
            <a:r>
              <a:rPr lang="en-US" sz="1300" dirty="0">
                <a:effectLst/>
              </a:rPr>
              <a:t/>
            </a:r>
            <a:br>
              <a:rPr lang="en-US" sz="1300" dirty="0">
                <a:effectLst/>
              </a:rPr>
            </a:br>
            <a:r>
              <a:rPr lang="en-US" sz="1300" b="1" dirty="0">
                <a:effectLst/>
              </a:rPr>
              <a:t>Specific Compliance = Compliance of the lungs / Functional Residual Capacity</a:t>
            </a:r>
            <a:r>
              <a:rPr lang="en-US" sz="1300" dirty="0">
                <a:effectLst/>
              </a:rPr>
              <a:t/>
            </a:r>
            <a:br>
              <a:rPr lang="en-US" sz="1300" dirty="0">
                <a:effectLst/>
              </a:rPr>
            </a:br>
            <a:endParaRPr lang="en-US" sz="1300" b="1" dirty="0"/>
          </a:p>
        </p:txBody>
      </p:sp>
      <p:sp>
        <p:nvSpPr>
          <p:cNvPr id="18" name="Rectangle 17">
            <a:extLst>
              <a:ext uri="{FF2B5EF4-FFF2-40B4-BE49-F238E27FC236}">
                <a16:creationId xmlns:a16="http://schemas.microsoft.com/office/drawing/2014/main" xmlns="" id="{E55C1C3E-5158-47F3-8FD9-14B22C3E6E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1203" y="6121662"/>
            <a:ext cx="8181594" cy="80683"/>
          </a:xfrm>
          <a:prstGeom prst="rect">
            <a:avLst/>
          </a:prstGeom>
          <a:blipFill dpi="0" rotWithShape="1">
            <a:blip r:embed="rId4">
              <a:alphaModFix amt="85000"/>
              <a:lum bright="70000" contrast="-70000"/>
              <a:extLst>
                <a:ext uri="{BEBA8EAE-BF5A-486C-A8C5-ECC9F3942E4B}">
                  <a14:imgProps xmlns:a14="http://schemas.microsoft.com/office/drawing/2010/main" xmlns="">
                    <a14:imgLayer r:embed="rId5">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39878443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xmlns="" id="{4FCA88C2-C73C-4062-A097-8FBCE3090BE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xmlns="" id="{83981C21-E132-4402-B31B-D725C1CE77D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1203" y="653241"/>
            <a:ext cx="818159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xmlns="" id="{6A685C77-4E84-486A-9AE5-F3635BE98EF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1201" y="822324"/>
            <a:ext cx="3862197" cy="5228279"/>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5200" y="1465790"/>
            <a:ext cx="2895599" cy="3941345"/>
          </a:xfrm>
        </p:spPr>
        <p:txBody>
          <a:bodyPr>
            <a:normAutofit/>
          </a:bodyPr>
          <a:lstStyle/>
          <a:p>
            <a:r>
              <a:rPr lang="en-US" sz="4400" b="1"/>
              <a:t>Work of Breathing</a:t>
            </a:r>
          </a:p>
        </p:txBody>
      </p:sp>
      <p:sp>
        <p:nvSpPr>
          <p:cNvPr id="3" name="Content Placeholder 2"/>
          <p:cNvSpPr>
            <a:spLocks noGrp="1"/>
          </p:cNvSpPr>
          <p:nvPr>
            <p:ph idx="1"/>
          </p:nvPr>
        </p:nvSpPr>
        <p:spPr>
          <a:xfrm>
            <a:off x="4813299" y="1359090"/>
            <a:ext cx="3849499" cy="4048046"/>
          </a:xfrm>
        </p:spPr>
        <p:txBody>
          <a:bodyPr vert="horz" lIns="91440" tIns="45720" rIns="91440" bIns="45720" rtlCol="0" anchor="ctr">
            <a:normAutofit/>
          </a:bodyPr>
          <a:lstStyle/>
          <a:p>
            <a:pPr marL="0" indent="0">
              <a:buNone/>
            </a:pPr>
            <a:r>
              <a:rPr lang="en-US" b="1" dirty="0"/>
              <a:t>  “Work of breathing is the work done by respiratory muscles during breathing to overcome the resistance in thorax and respiratory tract.”</a:t>
            </a:r>
          </a:p>
          <a:p>
            <a:endParaRPr lang="en-US" dirty="0"/>
          </a:p>
        </p:txBody>
      </p:sp>
      <p:sp>
        <p:nvSpPr>
          <p:cNvPr id="29" name="Rectangle 28">
            <a:extLst>
              <a:ext uri="{FF2B5EF4-FFF2-40B4-BE49-F238E27FC236}">
                <a16:creationId xmlns:a16="http://schemas.microsoft.com/office/drawing/2014/main" xmlns="" id="{E55C1C3E-5158-47F3-8FD9-14B22C3E6E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1203" y="6121662"/>
            <a:ext cx="818159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645081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4FCA88C2-C73C-4062-A097-8FBCE3090BE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83981C21-E132-4402-B31B-D725C1CE77D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1203" y="653241"/>
            <a:ext cx="818159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6A685C77-4E84-486A-9AE5-F3635BE98EF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1201" y="822324"/>
            <a:ext cx="3862197" cy="5228279"/>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5200" y="1465790"/>
            <a:ext cx="2895599" cy="3941345"/>
          </a:xfrm>
        </p:spPr>
        <p:txBody>
          <a:bodyPr>
            <a:normAutofit/>
          </a:bodyPr>
          <a:lstStyle/>
          <a:p>
            <a:r>
              <a:rPr lang="en-US" sz="4800"/>
              <a:t>WORK DONE BY RESPIRATORY MUSCLES</a:t>
            </a:r>
          </a:p>
        </p:txBody>
      </p:sp>
      <p:sp>
        <p:nvSpPr>
          <p:cNvPr id="3" name="Content Placeholder 2"/>
          <p:cNvSpPr>
            <a:spLocks noGrp="1"/>
          </p:cNvSpPr>
          <p:nvPr>
            <p:ph idx="1"/>
          </p:nvPr>
        </p:nvSpPr>
        <p:spPr>
          <a:xfrm>
            <a:off x="4813299" y="1359090"/>
            <a:ext cx="3849499" cy="4048046"/>
          </a:xfrm>
        </p:spPr>
        <p:txBody>
          <a:bodyPr anchor="ctr">
            <a:noAutofit/>
          </a:bodyPr>
          <a:lstStyle/>
          <a:p>
            <a:r>
              <a:rPr lang="en-US" sz="2400" dirty="0">
                <a:latin typeface="Rockwell"/>
                <a:cs typeface="Times New Roman"/>
              </a:rPr>
              <a:t>During respiratory processes, inspiration is active process and the expiration is a passive process. </a:t>
            </a:r>
            <a:endParaRPr lang="en-US"/>
          </a:p>
          <a:p>
            <a:pPr>
              <a:buClr>
                <a:srgbClr val="9E3611"/>
              </a:buClr>
            </a:pPr>
            <a:r>
              <a:rPr lang="en-US" sz="2400" dirty="0">
                <a:latin typeface="Rockwell"/>
                <a:cs typeface="Times New Roman"/>
              </a:rPr>
              <a:t>So, during quiet breathing, respiratory muscles perform the work only during inspiration and not during expiration</a:t>
            </a:r>
            <a:endParaRPr lang="en-US"/>
          </a:p>
        </p:txBody>
      </p:sp>
      <p:sp>
        <p:nvSpPr>
          <p:cNvPr id="14" name="Rectangle 13">
            <a:extLst>
              <a:ext uri="{FF2B5EF4-FFF2-40B4-BE49-F238E27FC236}">
                <a16:creationId xmlns:a16="http://schemas.microsoft.com/office/drawing/2014/main" xmlns="" id="{E55C1C3E-5158-47F3-8FD9-14B22C3E6E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1203" y="6121662"/>
            <a:ext cx="818159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9816313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4FCA88C2-C73C-4062-A097-8FBCE3090BE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83981C21-E132-4402-B31B-D725C1CE77D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1203" y="653241"/>
            <a:ext cx="818159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xmlns="" id="{6A685C77-4E84-486A-9AE5-F3635BE98EF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1201" y="822324"/>
            <a:ext cx="3862197" cy="5228279"/>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a:spLocks noGrp="1"/>
          </p:cNvSpPr>
          <p:nvPr>
            <p:ph type="title"/>
          </p:nvPr>
        </p:nvSpPr>
        <p:spPr>
          <a:xfrm>
            <a:off x="965200" y="1465790"/>
            <a:ext cx="2895599" cy="3941345"/>
          </a:xfrm>
        </p:spPr>
        <p:txBody>
          <a:bodyPr>
            <a:normAutofit/>
          </a:bodyPr>
          <a:lstStyle/>
          <a:p>
            <a:r>
              <a:rPr lang="en-US" sz="4400" b="1"/>
              <a:t>Work of Breathing</a:t>
            </a:r>
          </a:p>
        </p:txBody>
      </p:sp>
      <p:sp>
        <p:nvSpPr>
          <p:cNvPr id="3" name="Content Placeholder 2"/>
          <p:cNvSpPr>
            <a:spLocks noGrp="1"/>
          </p:cNvSpPr>
          <p:nvPr>
            <p:ph idx="1"/>
          </p:nvPr>
        </p:nvSpPr>
        <p:spPr>
          <a:xfrm>
            <a:off x="4350962" y="742641"/>
            <a:ext cx="4799857" cy="5460742"/>
          </a:xfrm>
        </p:spPr>
        <p:txBody>
          <a:bodyPr anchor="ctr">
            <a:normAutofit/>
          </a:bodyPr>
          <a:lstStyle/>
          <a:p>
            <a:r>
              <a:rPr lang="en-US" dirty="0"/>
              <a:t>65% of work of breathing is to overcome elastic recoil tendency of the lungs and this is called the elastic work or compliance work. </a:t>
            </a:r>
            <a:endParaRPr lang="en-US" sz="2400" dirty="0"/>
          </a:p>
          <a:p>
            <a:r>
              <a:rPr lang="en-US" dirty="0"/>
              <a:t> 28% of work of breathing is to overcome the airway resistance. Medium and large sized airways offer most of the airway resistance not terminal bronchioles.</a:t>
            </a:r>
          </a:p>
          <a:p>
            <a:pPr marL="0" indent="0">
              <a:buNone/>
            </a:pPr>
            <a:endParaRPr lang="en-US"/>
          </a:p>
          <a:p>
            <a:r>
              <a:rPr lang="en-US" dirty="0"/>
              <a:t>7 % of work of breathing is to overcome the tissue resistance</a:t>
            </a:r>
          </a:p>
        </p:txBody>
      </p:sp>
      <p:sp>
        <p:nvSpPr>
          <p:cNvPr id="15" name="Rectangle 14">
            <a:extLst>
              <a:ext uri="{FF2B5EF4-FFF2-40B4-BE49-F238E27FC236}">
                <a16:creationId xmlns:a16="http://schemas.microsoft.com/office/drawing/2014/main" xmlns="" id="{E55C1C3E-5158-47F3-8FD9-14B22C3E6E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1203" y="6121662"/>
            <a:ext cx="8181594"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41503229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EE0FBA-FCCB-79D7-6913-7F6F816E1823}"/>
              </a:ext>
            </a:extLst>
          </p:cNvPr>
          <p:cNvSpPr>
            <a:spLocks noGrp="1"/>
          </p:cNvSpPr>
          <p:nvPr>
            <p:ph type="ctrTitle"/>
          </p:nvPr>
        </p:nvSpPr>
        <p:spPr/>
        <p:txBody>
          <a:bodyPr/>
          <a:lstStyle/>
          <a:p>
            <a:r>
              <a:rPr lang="en-US" dirty="0"/>
              <a:t>PROTECTIVE REFLEXES</a:t>
            </a:r>
          </a:p>
        </p:txBody>
      </p:sp>
      <p:sp>
        <p:nvSpPr>
          <p:cNvPr id="3" name="Content Placeholder 2">
            <a:extLst>
              <a:ext uri="{FF2B5EF4-FFF2-40B4-BE49-F238E27FC236}">
                <a16:creationId xmlns:a16="http://schemas.microsoft.com/office/drawing/2014/main" xmlns="" id="{11B04EDC-186D-C76A-7DE9-57907E6F695D}"/>
              </a:ext>
            </a:extLst>
          </p:cNvPr>
          <p:cNvSpPr>
            <a:spLocks noGrp="1"/>
          </p:cNvSpPr>
          <p:nvPr>
            <p:ph type="subTitle" idx="1"/>
          </p:nvPr>
        </p:nvSpPr>
        <p:spPr/>
        <p:txBody>
          <a:bodyPr vert="horz" lIns="91440" tIns="45720" rIns="91440" bIns="45720" rtlCol="0" anchor="t">
            <a:normAutofit/>
          </a:bodyPr>
          <a:lstStyle/>
          <a:p>
            <a:r>
              <a:rPr lang="en-US" b="1" dirty="0"/>
              <a:t>Dr. Tabish Masood Ranjha</a:t>
            </a:r>
          </a:p>
        </p:txBody>
      </p:sp>
    </p:spTree>
    <p:extLst>
      <p:ext uri="{BB962C8B-B14F-4D97-AF65-F5344CB8AC3E}">
        <p14:creationId xmlns:p14="http://schemas.microsoft.com/office/powerpoint/2010/main" xmlns="" val="36788982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3964958D-AF5D-4863-B5FB-83F6B8CB12A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508" y="0"/>
            <a:ext cx="9141492" cy="6857999"/>
          </a:xfrm>
          <a:prstGeom prst="rect">
            <a:avLst/>
          </a:prstGeom>
          <a:blipFill dpi="0" rotWithShape="1">
            <a:blip r:embed="rId2">
              <a:alphaModFix amt="6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4FAB0C2E-F67F-5B21-1C52-D6E23E628283}"/>
              </a:ext>
            </a:extLst>
          </p:cNvPr>
          <p:cNvSpPr>
            <a:spLocks noGrp="1"/>
          </p:cNvSpPr>
          <p:nvPr>
            <p:ph type="title"/>
          </p:nvPr>
        </p:nvSpPr>
        <p:spPr>
          <a:xfrm>
            <a:off x="3727581" y="484632"/>
            <a:ext cx="5047708" cy="1609344"/>
          </a:xfrm>
          <a:ln>
            <a:noFill/>
          </a:ln>
        </p:spPr>
        <p:txBody>
          <a:bodyPr>
            <a:normAutofit/>
          </a:bodyPr>
          <a:lstStyle/>
          <a:p>
            <a:r>
              <a:rPr lang="en-US" dirty="0"/>
              <a:t>PROTECTIVE REFLEXES</a:t>
            </a:r>
          </a:p>
        </p:txBody>
      </p:sp>
      <p:pic>
        <p:nvPicPr>
          <p:cNvPr id="5" name="Picture 4" descr="Close up of cells">
            <a:extLst>
              <a:ext uri="{FF2B5EF4-FFF2-40B4-BE49-F238E27FC236}">
                <a16:creationId xmlns:a16="http://schemas.microsoft.com/office/drawing/2014/main" xmlns="" id="{4F42E185-3203-20AB-E95C-61E6960F3432}"/>
              </a:ext>
            </a:extLst>
          </p:cNvPr>
          <p:cNvPicPr>
            <a:picLocks noChangeAspect="1"/>
          </p:cNvPicPr>
          <p:nvPr/>
        </p:nvPicPr>
        <p:blipFill>
          <a:blip r:embed="rId4"/>
          <a:srcRect l="39318" r="32097" b="-2"/>
          <a:stretch/>
        </p:blipFill>
        <p:spPr>
          <a:xfrm>
            <a:off x="2508" y="10"/>
            <a:ext cx="3485044" cy="6857990"/>
          </a:xfrm>
          <a:prstGeom prst="rect">
            <a:avLst/>
          </a:prstGeom>
        </p:spPr>
      </p:pic>
      <p:sp>
        <p:nvSpPr>
          <p:cNvPr id="3" name="Content Placeholder 2">
            <a:extLst>
              <a:ext uri="{FF2B5EF4-FFF2-40B4-BE49-F238E27FC236}">
                <a16:creationId xmlns:a16="http://schemas.microsoft.com/office/drawing/2014/main" xmlns="" id="{F5803113-14E5-C186-E77E-33C24412FE43}"/>
              </a:ext>
            </a:extLst>
          </p:cNvPr>
          <p:cNvSpPr>
            <a:spLocks noGrp="1"/>
          </p:cNvSpPr>
          <p:nvPr>
            <p:ph idx="1"/>
          </p:nvPr>
        </p:nvSpPr>
        <p:spPr>
          <a:xfrm>
            <a:off x="3727581" y="2121408"/>
            <a:ext cx="5047707" cy="4050792"/>
          </a:xfrm>
        </p:spPr>
        <p:txBody>
          <a:bodyPr vert="horz" lIns="91440" tIns="45720" rIns="91440" bIns="45720" rtlCol="0">
            <a:normAutofit/>
          </a:bodyPr>
          <a:lstStyle/>
          <a:p>
            <a:pPr>
              <a:spcBef>
                <a:spcPct val="20000"/>
              </a:spcBef>
              <a:spcAft>
                <a:spcPct val="0"/>
              </a:spcAft>
            </a:pPr>
            <a:r>
              <a:rPr lang="en-US" sz="1600">
                <a:latin typeface="Rockwell"/>
                <a:cs typeface="Arial"/>
              </a:rPr>
              <a:t>Triggered by receptors in epithelium of respiratory tract when lungs are exposed to:</a:t>
            </a:r>
          </a:p>
          <a:p>
            <a:pPr lvl="1">
              <a:spcBef>
                <a:spcPct val="20000"/>
              </a:spcBef>
              <a:spcAft>
                <a:spcPct val="0"/>
              </a:spcAft>
              <a:buClr>
                <a:srgbClr val="9E3611"/>
              </a:buClr>
            </a:pPr>
            <a:r>
              <a:rPr lang="en-US" sz="1600">
                <a:latin typeface="Rockwell"/>
                <a:cs typeface="Arial"/>
              </a:rPr>
              <a:t>toxic vapors</a:t>
            </a:r>
          </a:p>
          <a:p>
            <a:pPr lvl="1">
              <a:spcBef>
                <a:spcPct val="20000"/>
              </a:spcBef>
              <a:spcAft>
                <a:spcPct val="0"/>
              </a:spcAft>
              <a:buClr>
                <a:srgbClr val="9E3611"/>
              </a:buClr>
            </a:pPr>
            <a:r>
              <a:rPr lang="en-US" sz="1600">
                <a:latin typeface="Rockwell"/>
                <a:cs typeface="Arial"/>
              </a:rPr>
              <a:t>chemicals irritants</a:t>
            </a:r>
          </a:p>
          <a:p>
            <a:pPr lvl="1">
              <a:spcBef>
                <a:spcPct val="20000"/>
              </a:spcBef>
              <a:spcAft>
                <a:spcPct val="0"/>
              </a:spcAft>
              <a:buClr>
                <a:srgbClr val="9E3611"/>
              </a:buClr>
            </a:pPr>
            <a:r>
              <a:rPr lang="en-US" sz="1600">
                <a:latin typeface="Rockwell"/>
                <a:cs typeface="Arial"/>
              </a:rPr>
              <a:t>mechanical stimulation</a:t>
            </a:r>
            <a:br>
              <a:rPr lang="en-US" sz="1600">
                <a:latin typeface="Rockwell"/>
                <a:cs typeface="Arial"/>
              </a:rPr>
            </a:br>
            <a:endParaRPr lang="en-US" sz="1600">
              <a:latin typeface="Rockwell"/>
              <a:cs typeface="Arial"/>
            </a:endParaRPr>
          </a:p>
          <a:p>
            <a:pPr>
              <a:spcBef>
                <a:spcPct val="20000"/>
              </a:spcBef>
              <a:spcAft>
                <a:spcPct val="0"/>
              </a:spcAft>
              <a:buClr>
                <a:srgbClr val="9E3611"/>
              </a:buClr>
            </a:pPr>
            <a:r>
              <a:rPr lang="en-US" sz="1600">
                <a:latin typeface="Rockwell"/>
                <a:cs typeface="Arial"/>
              </a:rPr>
              <a:t>Cause sneezing, coughing, and laryngeal spasm</a:t>
            </a:r>
          </a:p>
          <a:p>
            <a:pPr>
              <a:buClr>
                <a:srgbClr val="9E3611"/>
              </a:buClr>
            </a:pPr>
            <a:endParaRPr lang="en-US" sz="1600"/>
          </a:p>
        </p:txBody>
      </p:sp>
      <p:grpSp>
        <p:nvGrpSpPr>
          <p:cNvPr id="11" name="Group 10">
            <a:extLst>
              <a:ext uri="{FF2B5EF4-FFF2-40B4-BE49-F238E27FC236}">
                <a16:creationId xmlns:a16="http://schemas.microsoft.com/office/drawing/2014/main" xmlns="" id="{11002ACD-3B0C-4885-8754-8A00E926FE4B}"/>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8551293" y="6229681"/>
            <a:ext cx="342900" cy="457200"/>
            <a:chOff x="11361456" y="6195813"/>
            <a:chExt cx="548640" cy="548640"/>
          </a:xfrm>
        </p:grpSpPr>
        <p:sp>
          <p:nvSpPr>
            <p:cNvPr id="16" name="Oval 15">
              <a:extLst>
                <a:ext uri="{FF2B5EF4-FFF2-40B4-BE49-F238E27FC236}">
                  <a16:creationId xmlns:a16="http://schemas.microsoft.com/office/drawing/2014/main" xmlns="" id="{DF0313CD-4196-4456-A70D-5EE2B995BAD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xmlns="" id="{80DE0B32-9EE8-4975-AD48-3855B0A82A3E}"/>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xmlns="" val="27124891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96" name="Rectangle 28695">
            <a:extLst>
              <a:ext uri="{FF2B5EF4-FFF2-40B4-BE49-F238E27FC236}">
                <a16:creationId xmlns:a16="http://schemas.microsoft.com/office/drawing/2014/main" xmlns="" id="{1C7FF924-8DA0-4BE9-8C7E-095B0EC13A4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549876" y="0"/>
            <a:ext cx="4594123" cy="6857999"/>
          </a:xfrm>
          <a:prstGeom prst="rect">
            <a:avLst/>
          </a:prstGeom>
          <a:blipFill dpi="0" rotWithShape="1">
            <a:blip r:embed="rId2">
              <a:alphaModFix amt="6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81B8FD16-4127-E1C5-ACD4-33D5CBD0750E}"/>
              </a:ext>
            </a:extLst>
          </p:cNvPr>
          <p:cNvSpPr>
            <a:spLocks noGrp="1"/>
          </p:cNvSpPr>
          <p:nvPr>
            <p:ph type="title"/>
          </p:nvPr>
        </p:nvSpPr>
        <p:spPr>
          <a:xfrm>
            <a:off x="4800600" y="484632"/>
            <a:ext cx="3974689" cy="1609344"/>
          </a:xfrm>
          <a:ln>
            <a:noFill/>
          </a:ln>
        </p:spPr>
        <p:txBody>
          <a:bodyPr>
            <a:normAutofit/>
          </a:bodyPr>
          <a:lstStyle/>
          <a:p>
            <a:pPr>
              <a:defRPr/>
            </a:pPr>
            <a:r>
              <a:rPr lang="en-US" sz="3500">
                <a:latin typeface="rockwell condensed"/>
              </a:rPr>
              <a:t>Cough Reflex</a:t>
            </a:r>
          </a:p>
        </p:txBody>
      </p:sp>
      <p:pic>
        <p:nvPicPr>
          <p:cNvPr id="3" name="Picture 2" descr="A cartoon of a person with lungs and lungs&#10;&#10;AI-generated content may be incorrect.">
            <a:extLst>
              <a:ext uri="{FF2B5EF4-FFF2-40B4-BE49-F238E27FC236}">
                <a16:creationId xmlns:a16="http://schemas.microsoft.com/office/drawing/2014/main" xmlns="" id="{39D1CFB9-0A7E-257F-4471-0A651ED8E10E}"/>
              </a:ext>
            </a:extLst>
          </p:cNvPr>
          <p:cNvPicPr>
            <a:picLocks noChangeAspect="1"/>
          </p:cNvPicPr>
          <p:nvPr/>
        </p:nvPicPr>
        <p:blipFill>
          <a:blip r:embed="rId4"/>
          <a:stretch>
            <a:fillRect/>
          </a:stretch>
        </p:blipFill>
        <p:spPr>
          <a:xfrm>
            <a:off x="475499" y="1081771"/>
            <a:ext cx="3834346" cy="4704719"/>
          </a:xfrm>
          <a:prstGeom prst="rect">
            <a:avLst/>
          </a:prstGeom>
        </p:spPr>
      </p:pic>
      <p:sp>
        <p:nvSpPr>
          <p:cNvPr id="28675" name="Content Placeholder 2">
            <a:extLst>
              <a:ext uri="{FF2B5EF4-FFF2-40B4-BE49-F238E27FC236}">
                <a16:creationId xmlns:a16="http://schemas.microsoft.com/office/drawing/2014/main" xmlns="" id="{AD5D29AF-A845-E10C-A8B9-A160FC0EDFC1}"/>
              </a:ext>
            </a:extLst>
          </p:cNvPr>
          <p:cNvSpPr>
            <a:spLocks noGrp="1"/>
          </p:cNvSpPr>
          <p:nvPr>
            <p:ph sz="quarter" idx="1"/>
          </p:nvPr>
        </p:nvSpPr>
        <p:spPr>
          <a:xfrm>
            <a:off x="4800599" y="2121408"/>
            <a:ext cx="3974689" cy="4050792"/>
          </a:xfrm>
        </p:spPr>
        <p:txBody>
          <a:bodyPr>
            <a:normAutofit/>
          </a:bodyPr>
          <a:lstStyle/>
          <a:p>
            <a:r>
              <a:rPr lang="en-US" altLang="en-US" sz="1500" b="1" dirty="0"/>
              <a:t>Stimulus</a:t>
            </a:r>
            <a:r>
              <a:rPr lang="en-US" altLang="en-US" sz="1500" dirty="0"/>
              <a:t>: foreign particle, noxious chemical, SO</a:t>
            </a:r>
            <a:r>
              <a:rPr lang="en-US" altLang="en-US" sz="1500" baseline="-25000" dirty="0"/>
              <a:t>2</a:t>
            </a:r>
            <a:r>
              <a:rPr lang="en-US" altLang="en-US" sz="1500" dirty="0"/>
              <a:t>, Cl</a:t>
            </a:r>
            <a:r>
              <a:rPr lang="en-US" altLang="en-US" sz="1500" baseline="-25000" dirty="0"/>
              <a:t>2</a:t>
            </a:r>
            <a:r>
              <a:rPr lang="en-US" altLang="en-US" sz="1500" dirty="0"/>
              <a:t>gas</a:t>
            </a:r>
          </a:p>
          <a:p>
            <a:r>
              <a:rPr lang="en-US" altLang="en-US" sz="1500" b="1" dirty="0"/>
              <a:t>Receptors:</a:t>
            </a:r>
          </a:p>
          <a:p>
            <a:pPr>
              <a:buFontTx/>
              <a:buNone/>
            </a:pPr>
            <a:r>
              <a:rPr lang="en-US" altLang="en-US" sz="1500" dirty="0"/>
              <a:t>		Trachea/ Bronchi: touch receptors</a:t>
            </a:r>
          </a:p>
          <a:p>
            <a:pPr>
              <a:buFontTx/>
              <a:buNone/>
            </a:pPr>
            <a:r>
              <a:rPr lang="en-US" altLang="en-US" sz="1500" dirty="0"/>
              <a:t>		Terminal bronchioles/ alveoli: chemical receptors</a:t>
            </a:r>
          </a:p>
          <a:p>
            <a:r>
              <a:rPr lang="en-US" altLang="en-US" sz="1500" b="1" dirty="0" smtClean="0"/>
              <a:t>Afferents(sensory):</a:t>
            </a:r>
            <a:r>
              <a:rPr lang="en-US" altLang="en-US" sz="1500" dirty="0" smtClean="0"/>
              <a:t> </a:t>
            </a:r>
            <a:r>
              <a:rPr lang="en-US" altLang="en-US" sz="1500" dirty="0" err="1"/>
              <a:t>Vagus</a:t>
            </a:r>
            <a:r>
              <a:rPr lang="en-US" altLang="en-US" sz="1500" dirty="0"/>
              <a:t> Nerve</a:t>
            </a:r>
          </a:p>
          <a:p>
            <a:r>
              <a:rPr lang="en-US" altLang="en-US" sz="1500" b="1" dirty="0"/>
              <a:t>Centre</a:t>
            </a:r>
            <a:r>
              <a:rPr lang="en-US" altLang="en-US" sz="1500" dirty="0"/>
              <a:t>: Medulla</a:t>
            </a:r>
          </a:p>
          <a:p>
            <a:r>
              <a:rPr lang="en-US" altLang="en-US" sz="1500" b="1" dirty="0" err="1" smtClean="0"/>
              <a:t>Efferents</a:t>
            </a:r>
            <a:r>
              <a:rPr lang="en-US" altLang="en-US" sz="1500" b="1" dirty="0" smtClean="0"/>
              <a:t>(motor):</a:t>
            </a:r>
            <a:r>
              <a:rPr lang="en-US" altLang="en-US" sz="1500" dirty="0" smtClean="0"/>
              <a:t> </a:t>
            </a:r>
            <a:r>
              <a:rPr lang="en-US" altLang="en-US" sz="1500" dirty="0" err="1"/>
              <a:t>vagus</a:t>
            </a:r>
            <a:r>
              <a:rPr lang="en-US" altLang="en-US" sz="1500" dirty="0"/>
              <a:t> (10</a:t>
            </a:r>
            <a:r>
              <a:rPr lang="en-US" altLang="en-US" sz="1500" baseline="30000" dirty="0"/>
              <a:t>th</a:t>
            </a:r>
            <a:r>
              <a:rPr lang="en-US" altLang="en-US" sz="1500" dirty="0"/>
              <a:t> cranial), </a:t>
            </a:r>
            <a:r>
              <a:rPr lang="en-US" altLang="en-US" sz="1500" dirty="0" err="1"/>
              <a:t>Phrenic</a:t>
            </a:r>
            <a:r>
              <a:rPr lang="en-US" altLang="en-US" sz="1500" dirty="0"/>
              <a:t> Nerve, </a:t>
            </a:r>
            <a:r>
              <a:rPr lang="en-US" altLang="en-US" sz="1500" dirty="0" err="1"/>
              <a:t>Intercostal</a:t>
            </a:r>
            <a:r>
              <a:rPr lang="en-US" altLang="en-US" sz="1500" dirty="0"/>
              <a:t> Nerves</a:t>
            </a:r>
          </a:p>
          <a:p>
            <a:r>
              <a:rPr lang="en-US" altLang="en-US" sz="1500" b="1" dirty="0" err="1"/>
              <a:t>Effector</a:t>
            </a:r>
            <a:r>
              <a:rPr lang="en-US" altLang="en-US" sz="1500" b="1" dirty="0"/>
              <a:t> Organs</a:t>
            </a:r>
            <a:r>
              <a:rPr lang="en-US" altLang="en-US" sz="1500" dirty="0"/>
              <a:t>: Epiglottis, Vocal Cords, Abdominal Muscles, Intercostals</a:t>
            </a:r>
          </a:p>
        </p:txBody>
      </p:sp>
      <p:grpSp>
        <p:nvGrpSpPr>
          <p:cNvPr id="28697" name="Group 28696">
            <a:extLst>
              <a:ext uri="{FF2B5EF4-FFF2-40B4-BE49-F238E27FC236}">
                <a16:creationId xmlns:a16="http://schemas.microsoft.com/office/drawing/2014/main" xmlns="" id="{5029B4A8-2CF0-48DC-B29E-F3B62EDDC445}"/>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8551293" y="6229681"/>
            <a:ext cx="342900" cy="457200"/>
            <a:chOff x="11361456" y="6195813"/>
            <a:chExt cx="548640" cy="548640"/>
          </a:xfrm>
        </p:grpSpPr>
        <p:sp>
          <p:nvSpPr>
            <p:cNvPr id="28693" name="Oval 28692">
              <a:extLst>
                <a:ext uri="{FF2B5EF4-FFF2-40B4-BE49-F238E27FC236}">
                  <a16:creationId xmlns:a16="http://schemas.microsoft.com/office/drawing/2014/main" xmlns="" id="{F71DA811-F7AE-460D-9891-57F221994B9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8694" name="Oval 28693">
              <a:extLst>
                <a:ext uri="{FF2B5EF4-FFF2-40B4-BE49-F238E27FC236}">
                  <a16:creationId xmlns:a16="http://schemas.microsoft.com/office/drawing/2014/main" xmlns="" id="{3747795E-BBFD-44B4-892D-2054745A841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7" name="Rectangle 2">
            <a:extLst>
              <a:ext uri="{FF2B5EF4-FFF2-40B4-BE49-F238E27FC236}">
                <a16:creationId xmlns:a16="http://schemas.microsoft.com/office/drawing/2014/main" xmlns="" id="{DA4F6950-7B4F-10C8-C948-530B8D5CF316}"/>
              </a:ext>
            </a:extLst>
          </p:cNvPr>
          <p:cNvSpPr>
            <a:spLocks noGrp="1" noChangeArrowheads="1"/>
          </p:cNvSpPr>
          <p:nvPr>
            <p:ph type="title"/>
          </p:nvPr>
        </p:nvSpPr>
        <p:spPr>
          <a:xfrm>
            <a:off x="802386" y="484632"/>
            <a:ext cx="7543800" cy="1609344"/>
          </a:xfrm>
        </p:spPr>
        <p:txBody>
          <a:bodyPr>
            <a:normAutofit/>
          </a:bodyPr>
          <a:lstStyle/>
          <a:p>
            <a:pPr eaLnBrk="1" hangingPunct="1">
              <a:defRPr/>
            </a:pPr>
            <a:r>
              <a:rPr lang="en-US" dirty="0"/>
              <a:t>Mechanism and significance of cough</a:t>
            </a:r>
          </a:p>
        </p:txBody>
      </p:sp>
      <p:sp>
        <p:nvSpPr>
          <p:cNvPr id="57368" name="Rectangle 57367">
            <a:extLst>
              <a:ext uri="{FF2B5EF4-FFF2-40B4-BE49-F238E27FC236}">
                <a16:creationId xmlns:a16="http://schemas.microsoft.com/office/drawing/2014/main" xmlns="" id="{3FD711E9-7F79-40A9-8D9E-4AE293C154A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00100" y="2013293"/>
            <a:ext cx="7543800"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7363" name="Rectangle 3">
            <a:extLst>
              <a:ext uri="{FF2B5EF4-FFF2-40B4-BE49-F238E27FC236}">
                <a16:creationId xmlns:a16="http://schemas.microsoft.com/office/drawing/2014/main" xmlns="" id="{F86F7D4E-B69B-BDCE-39F6-E15CF13EE708}"/>
              </a:ext>
            </a:extLst>
          </p:cNvPr>
          <p:cNvGraphicFramePr>
            <a:graphicFrameLocks noGrp="1"/>
          </p:cNvGraphicFramePr>
          <p:nvPr>
            <p:ph sz="quarter" idx="1"/>
            <p:extLst>
              <p:ext uri="{D42A27DB-BD31-4B8C-83A1-F6EECF244321}">
                <p14:modId xmlns:p14="http://schemas.microsoft.com/office/powerpoint/2010/main" xmlns="" val="1819152490"/>
              </p:ext>
            </p:extLst>
          </p:nvPr>
        </p:nvGraphicFramePr>
        <p:xfrm>
          <a:off x="802481" y="2385390"/>
          <a:ext cx="7543800" cy="36178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28" name="Rectangle 30727">
            <a:extLst>
              <a:ext uri="{FF2B5EF4-FFF2-40B4-BE49-F238E27FC236}">
                <a16:creationId xmlns:a16="http://schemas.microsoft.com/office/drawing/2014/main" xmlns="" id="{D8AFD15B-CF29-4306-884F-47675092F91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24" name="Picture 30723" descr="Illuminating smoke on a black background">
            <a:extLst>
              <a:ext uri="{FF2B5EF4-FFF2-40B4-BE49-F238E27FC236}">
                <a16:creationId xmlns:a16="http://schemas.microsoft.com/office/drawing/2014/main" xmlns="" id="{5F3A39CF-DDFA-0FE4-6FE7-76AB27382080}"/>
              </a:ext>
            </a:extLst>
          </p:cNvPr>
          <p:cNvPicPr>
            <a:picLocks noChangeAspect="1"/>
          </p:cNvPicPr>
          <p:nvPr/>
        </p:nvPicPr>
        <p:blipFill>
          <a:blip r:embed="rId2"/>
          <a:srcRect l="34629" r="18021" b="7"/>
          <a:stretch/>
        </p:blipFill>
        <p:spPr>
          <a:xfrm>
            <a:off x="-7399" y="401980"/>
            <a:ext cx="4586799" cy="6456021"/>
          </a:xfrm>
          <a:custGeom>
            <a:avLst/>
            <a:gdLst/>
            <a:ahLst/>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p:spPr>
      </p:pic>
      <p:sp>
        <p:nvSpPr>
          <p:cNvPr id="30730" name="Freeform: Shape 30729">
            <a:extLst>
              <a:ext uri="{FF2B5EF4-FFF2-40B4-BE49-F238E27FC236}">
                <a16:creationId xmlns:a16="http://schemas.microsoft.com/office/drawing/2014/main" xmlns="" id="{96349AB3-1BD3-41E1-8979-1DBDCB5CDCF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99" y="401980"/>
            <a:ext cx="4586799" cy="6456021"/>
          </a:xfrm>
          <a:custGeom>
            <a:avLst/>
            <a:gdLst>
              <a:gd name="connsiteX0" fmla="*/ 2259477 w 6115733"/>
              <a:gd name="connsiteY0" fmla="*/ 433395 h 6456021"/>
              <a:gd name="connsiteX1" fmla="*/ 5681904 w 6115733"/>
              <a:gd name="connsiteY1" fmla="*/ 3852396 h 6456021"/>
              <a:gd name="connsiteX2" fmla="*/ 4679499 w 6115733"/>
              <a:gd name="connsiteY2" fmla="*/ 6269995 h 6456021"/>
              <a:gd name="connsiteX3" fmla="*/ 4474613 w 6115733"/>
              <a:gd name="connsiteY3" fmla="*/ 6456021 h 6456021"/>
              <a:gd name="connsiteX4" fmla="*/ 44341 w 6115733"/>
              <a:gd name="connsiteY4" fmla="*/ 6456021 h 6456021"/>
              <a:gd name="connsiteX5" fmla="*/ 0 w 6115733"/>
              <a:gd name="connsiteY5" fmla="*/ 6415762 h 6456021"/>
              <a:gd name="connsiteX6" fmla="*/ 0 w 6115733"/>
              <a:gd name="connsiteY6" fmla="*/ 1289029 h 6456021"/>
              <a:gd name="connsiteX7" fmla="*/ 82495 w 6115733"/>
              <a:gd name="connsiteY7" fmla="*/ 1214128 h 6456021"/>
              <a:gd name="connsiteX8" fmla="*/ 2259477 w 6115733"/>
              <a:gd name="connsiteY8" fmla="*/ 433395 h 6456021"/>
              <a:gd name="connsiteX9" fmla="*/ 2259477 w 6115733"/>
              <a:gd name="connsiteY9" fmla="*/ 0 h 6456021"/>
              <a:gd name="connsiteX10" fmla="*/ 6115733 w 6115733"/>
              <a:gd name="connsiteY10" fmla="*/ 3852396 h 6456021"/>
              <a:gd name="connsiteX11" fmla="*/ 5235152 w 6115733"/>
              <a:gd name="connsiteY11" fmla="*/ 6302877 h 6456021"/>
              <a:gd name="connsiteX12" fmla="*/ 5095826 w 6115733"/>
              <a:gd name="connsiteY12" fmla="*/ 6456021 h 6456021"/>
              <a:gd name="connsiteX13" fmla="*/ 4617788 w 6115733"/>
              <a:gd name="connsiteY13" fmla="*/ 6456021 h 6456021"/>
              <a:gd name="connsiteX14" fmla="*/ 4747668 w 6115733"/>
              <a:gd name="connsiteY14" fmla="*/ 6338096 h 6456021"/>
              <a:gd name="connsiteX15" fmla="*/ 5778311 w 6115733"/>
              <a:gd name="connsiteY15" fmla="*/ 3852396 h 6456021"/>
              <a:gd name="connsiteX16" fmla="*/ 2259477 w 6115733"/>
              <a:gd name="connsiteY16" fmla="*/ 337085 h 6456021"/>
              <a:gd name="connsiteX17" fmla="*/ 21172 w 6115733"/>
              <a:gd name="connsiteY17" fmla="*/ 1139811 h 6456021"/>
              <a:gd name="connsiteX18" fmla="*/ 0 w 6115733"/>
              <a:gd name="connsiteY18" fmla="*/ 1159034 h 6456021"/>
              <a:gd name="connsiteX19" fmla="*/ 0 w 6115733"/>
              <a:gd name="connsiteY19" fmla="*/ 735177 h 6456021"/>
              <a:gd name="connsiteX20" fmla="*/ 103407 w 6115733"/>
              <a:gd name="connsiteY20" fmla="*/ 657929 h 6456021"/>
              <a:gd name="connsiteX21" fmla="*/ 2259477 w 6115733"/>
              <a:gd name="connsiteY21" fmla="*/ 0 h 645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a:blipFill dpi="0" rotWithShape="1">
            <a:blip r:embed="rId3">
              <a:alphaModFix amt="30000"/>
              <a:duotone>
                <a:prstClr val="black"/>
                <a:schemeClr val="accent1">
                  <a:tint val="45000"/>
                  <a:satMod val="400000"/>
                </a:schemeClr>
              </a:duotone>
              <a:extLst>
                <a:ext uri="{BEBA8EAE-BF5A-486C-A8C5-ECC9F3942E4B}">
                  <a14:imgProps xmlns:a14="http://schemas.microsoft.com/office/drawing/2010/main" xmlns="">
                    <a14:imgLayer r:embed="rId4">
                      <a14:imgEffect>
                        <a14:sharpenSoften amount="61000"/>
                      </a14:imgEffect>
                      <a14:imgEffect>
                        <a14:brightnessContrast bright="-25000" contrast="20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30722" name="Content Placeholder 2">
            <a:extLst>
              <a:ext uri="{FF2B5EF4-FFF2-40B4-BE49-F238E27FC236}">
                <a16:creationId xmlns:a16="http://schemas.microsoft.com/office/drawing/2014/main" xmlns="" id="{A43D806B-6698-0C92-5645-4B40ED945521}"/>
              </a:ext>
            </a:extLst>
          </p:cNvPr>
          <p:cNvSpPr>
            <a:spLocks noGrp="1"/>
          </p:cNvSpPr>
          <p:nvPr>
            <p:ph sz="quarter" idx="1"/>
          </p:nvPr>
        </p:nvSpPr>
        <p:spPr>
          <a:xfrm>
            <a:off x="4797783" y="3629316"/>
            <a:ext cx="4458709" cy="1359769"/>
          </a:xfrm>
        </p:spPr>
        <p:txBody>
          <a:bodyPr anchor="t">
            <a:normAutofit/>
          </a:bodyPr>
          <a:lstStyle/>
          <a:p>
            <a:pPr marL="0" indent="0">
              <a:buNone/>
            </a:pPr>
            <a:r>
              <a:rPr lang="en-US" altLang="en-US" sz="1600" dirty="0">
                <a:solidFill>
                  <a:srgbClr val="000000"/>
                </a:solidFill>
                <a:latin typeface="Comic Sans MS"/>
              </a:rPr>
              <a:t>Smokers are less sensitive to cough-inducing irritants, which may have important medical </a:t>
            </a:r>
            <a:r>
              <a:rPr lang="en-US" altLang="en-US" sz="1600">
                <a:solidFill>
                  <a:srgbClr val="000000"/>
                </a:solidFill>
                <a:latin typeface="Comic Sans MS"/>
              </a:rPr>
              <a:t>implications.</a:t>
            </a:r>
            <a:endParaRPr lang="en-US">
              <a:latin typeface="Comic Sans MS"/>
            </a:endParaRPr>
          </a:p>
          <a:p>
            <a:endParaRPr lang="en-US" altLang="en-US" sz="1600">
              <a:solidFill>
                <a:srgbClr val="000000"/>
              </a:solidFill>
              <a:latin typeface="Comic Sans MS" panose="030F0702030302020204" pitchFamily="66" charset="0"/>
            </a:endParaRPr>
          </a:p>
        </p:txBody>
      </p:sp>
      <p:grpSp>
        <p:nvGrpSpPr>
          <p:cNvPr id="30732" name="Group 30731">
            <a:extLst>
              <a:ext uri="{FF2B5EF4-FFF2-40B4-BE49-F238E27FC236}">
                <a16:creationId xmlns:a16="http://schemas.microsoft.com/office/drawing/2014/main" xmlns="" id="{54CA915D-BDF0-41F8-B00E-FB186EFF7BD6}"/>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8551293" y="6229681"/>
            <a:ext cx="342900" cy="457200"/>
            <a:chOff x="11361456" y="6195813"/>
            <a:chExt cx="548640" cy="548640"/>
          </a:xfrm>
        </p:grpSpPr>
        <p:sp>
          <p:nvSpPr>
            <p:cNvPr id="30733" name="Oval 30732">
              <a:extLst>
                <a:ext uri="{FF2B5EF4-FFF2-40B4-BE49-F238E27FC236}">
                  <a16:creationId xmlns:a16="http://schemas.microsoft.com/office/drawing/2014/main" xmlns="" id="{317AAC03-BF64-4E67-9032-3BD02499802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extLst>
                  <a:ext uri="{BEBA8EAE-BF5A-486C-A8C5-ECC9F3942E4B}">
                    <a14:imgProps xmlns:a14="http://schemas.microsoft.com/office/drawing/2010/main" xmlns="">
                      <a14:imgLayer r:embed="rId6">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30734" name="Oval 30733">
              <a:extLst>
                <a:ext uri="{FF2B5EF4-FFF2-40B4-BE49-F238E27FC236}">
                  <a16:creationId xmlns:a16="http://schemas.microsoft.com/office/drawing/2014/main" xmlns="" id="{1A131397-5A45-4344-9983-5E400A3EA58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1396488" y="6230844"/>
              <a:ext cx="478576" cy="478578"/>
            </a:xfrm>
            <a:prstGeom prst="ellipse">
              <a:avLst/>
            </a:prstGeom>
            <a:noFill/>
            <a:ln w="12700" cap="flat" cmpd="sng" algn="ctr">
              <a:solidFill>
                <a:srgbClr val="FFFFFF"/>
              </a:solidFill>
              <a:prstDash val="solid"/>
            </a:ln>
            <a:effectLst/>
          </p:spPr>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xmlns="" id="{4863AD45-F025-4500-8898-7DE237E4CBC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5658955" cy="6857999"/>
          </a:xfrm>
          <a:prstGeom prst="rect">
            <a:avLst/>
          </a:prstGeom>
          <a:blipFill dpi="0" rotWithShape="1">
            <a:blip r:embed="rId3">
              <a:alphaModFix amt="60000"/>
              <a:lum bright="70000" contrast="-70000"/>
              <a:extLs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990B09D9-1383-646B-A0D3-02746C78EB90}"/>
              </a:ext>
            </a:extLst>
          </p:cNvPr>
          <p:cNvSpPr>
            <a:spLocks noGrp="1"/>
          </p:cNvSpPr>
          <p:nvPr>
            <p:ph type="title"/>
          </p:nvPr>
        </p:nvSpPr>
        <p:spPr>
          <a:xfrm>
            <a:off x="286710" y="484632"/>
            <a:ext cx="5057883" cy="1609344"/>
          </a:xfrm>
        </p:spPr>
        <p:txBody>
          <a:bodyPr>
            <a:normAutofit/>
          </a:bodyPr>
          <a:lstStyle/>
          <a:p>
            <a:pPr>
              <a:defRPr/>
            </a:pPr>
            <a:r>
              <a:rPr lang="en-US" b="1">
                <a:latin typeface="Rockwell"/>
                <a:cs typeface="Times New Roman" pitchFamily="18" charset="0"/>
              </a:rPr>
              <a:t>Sneeze Reflex</a:t>
            </a:r>
          </a:p>
        </p:txBody>
      </p:sp>
      <p:sp>
        <p:nvSpPr>
          <p:cNvPr id="3" name="Content Placeholder 2">
            <a:extLst>
              <a:ext uri="{FF2B5EF4-FFF2-40B4-BE49-F238E27FC236}">
                <a16:creationId xmlns:a16="http://schemas.microsoft.com/office/drawing/2014/main" xmlns="" id="{0DF9F393-2041-554A-048A-43CAD61ECCEF}"/>
              </a:ext>
            </a:extLst>
          </p:cNvPr>
          <p:cNvSpPr>
            <a:spLocks noGrp="1"/>
          </p:cNvSpPr>
          <p:nvPr>
            <p:ph sz="quarter" idx="1"/>
          </p:nvPr>
        </p:nvSpPr>
        <p:spPr>
          <a:xfrm>
            <a:off x="286709" y="2121408"/>
            <a:ext cx="5057884" cy="4050792"/>
          </a:xfrm>
        </p:spPr>
        <p:txBody>
          <a:bodyPr>
            <a:normAutofit lnSpcReduction="10000"/>
          </a:bodyPr>
          <a:lstStyle/>
          <a:p>
            <a:pPr>
              <a:defRPr/>
            </a:pPr>
            <a:r>
              <a:rPr lang="en-US" sz="1400" b="1" dirty="0">
                <a:latin typeface="Rockwell"/>
                <a:cs typeface="Times New Roman" pitchFamily="18" charset="0"/>
              </a:rPr>
              <a:t>Receptors: </a:t>
            </a:r>
            <a:r>
              <a:rPr lang="en-US" sz="1400" dirty="0">
                <a:latin typeface="Rockwell"/>
                <a:cs typeface="Times New Roman" pitchFamily="18" charset="0"/>
              </a:rPr>
              <a:t>Nasal Passages</a:t>
            </a:r>
          </a:p>
          <a:p>
            <a:pPr>
              <a:defRPr/>
            </a:pPr>
            <a:endParaRPr lang="en-US" sz="1400" dirty="0">
              <a:latin typeface="Rockwell"/>
              <a:cs typeface="Times New Roman" pitchFamily="18" charset="0"/>
            </a:endParaRPr>
          </a:p>
          <a:p>
            <a:pPr>
              <a:defRPr/>
            </a:pPr>
            <a:r>
              <a:rPr lang="en-US" sz="1400" b="1" dirty="0">
                <a:latin typeface="Rockwell"/>
                <a:cs typeface="Times New Roman" pitchFamily="18" charset="0"/>
              </a:rPr>
              <a:t>Afferents:</a:t>
            </a:r>
            <a:r>
              <a:rPr lang="en-US" sz="1400" dirty="0">
                <a:latin typeface="Rockwell"/>
                <a:cs typeface="Times New Roman" pitchFamily="18" charset="0"/>
              </a:rPr>
              <a:t> 5</a:t>
            </a:r>
            <a:r>
              <a:rPr lang="en-US" sz="1400" baseline="30000" dirty="0">
                <a:latin typeface="Rockwell"/>
                <a:cs typeface="Times New Roman" pitchFamily="18" charset="0"/>
              </a:rPr>
              <a:t>th</a:t>
            </a:r>
            <a:r>
              <a:rPr lang="en-US" sz="1400" dirty="0">
                <a:latin typeface="Rockwell"/>
                <a:cs typeface="Times New Roman" pitchFamily="18" charset="0"/>
              </a:rPr>
              <a:t> Cranial Nerve (Trigeminal Nerve</a:t>
            </a:r>
            <a:r>
              <a:rPr lang="en-US" sz="1400" dirty="0" smtClean="0">
                <a:latin typeface="Rockwell"/>
                <a:cs typeface="Times New Roman" pitchFamily="18" charset="0"/>
              </a:rPr>
              <a:t>)  responsible for mastication</a:t>
            </a:r>
            <a:endParaRPr lang="en-US" sz="1400" dirty="0">
              <a:latin typeface="Rockwell"/>
              <a:cs typeface="Times New Roman" pitchFamily="18" charset="0"/>
            </a:endParaRPr>
          </a:p>
          <a:p>
            <a:pPr>
              <a:defRPr/>
            </a:pPr>
            <a:r>
              <a:rPr lang="en-US" sz="1400" b="1" dirty="0">
                <a:latin typeface="Rockwell"/>
                <a:cs typeface="Times New Roman" pitchFamily="18" charset="0"/>
              </a:rPr>
              <a:t>Centre </a:t>
            </a:r>
            <a:r>
              <a:rPr lang="en-US" sz="1400" dirty="0">
                <a:latin typeface="Rockwell"/>
                <a:cs typeface="Times New Roman" pitchFamily="18" charset="0"/>
              </a:rPr>
              <a:t>: Medulla</a:t>
            </a:r>
          </a:p>
          <a:p>
            <a:pPr>
              <a:defRPr/>
            </a:pPr>
            <a:r>
              <a:rPr lang="en-US" sz="1400" b="1" dirty="0" err="1">
                <a:latin typeface="Rockwell"/>
                <a:cs typeface="Times New Roman" pitchFamily="18" charset="0"/>
              </a:rPr>
              <a:t>Efferents</a:t>
            </a:r>
            <a:r>
              <a:rPr lang="en-US" sz="1400" b="1" dirty="0">
                <a:latin typeface="Rockwell"/>
                <a:cs typeface="Times New Roman" pitchFamily="18" charset="0"/>
              </a:rPr>
              <a:t>:</a:t>
            </a:r>
            <a:r>
              <a:rPr lang="en-US" sz="1400" dirty="0">
                <a:latin typeface="Rockwell"/>
                <a:cs typeface="Times New Roman" pitchFamily="18" charset="0"/>
              </a:rPr>
              <a:t> </a:t>
            </a:r>
            <a:r>
              <a:rPr lang="en-US" sz="1400" dirty="0" err="1">
                <a:latin typeface="Rockwell"/>
                <a:cs typeface="Times New Roman" pitchFamily="18" charset="0"/>
              </a:rPr>
              <a:t>Vagus</a:t>
            </a:r>
            <a:r>
              <a:rPr lang="en-US" sz="1400" dirty="0">
                <a:latin typeface="Rockwell"/>
                <a:cs typeface="Times New Roman" pitchFamily="18" charset="0"/>
              </a:rPr>
              <a:t> (10</a:t>
            </a:r>
            <a:r>
              <a:rPr lang="en-US" sz="1400" baseline="30000" dirty="0">
                <a:latin typeface="Rockwell"/>
                <a:cs typeface="Times New Roman" pitchFamily="18" charset="0"/>
              </a:rPr>
              <a:t>th</a:t>
            </a:r>
            <a:r>
              <a:rPr lang="en-US" sz="1400" dirty="0">
                <a:latin typeface="Rockwell"/>
                <a:cs typeface="Times New Roman" pitchFamily="18" charset="0"/>
              </a:rPr>
              <a:t> cranial), Accessory(11</a:t>
            </a:r>
            <a:r>
              <a:rPr lang="en-US" sz="1400" baseline="30000" dirty="0">
                <a:latin typeface="Rockwell"/>
                <a:cs typeface="Times New Roman" pitchFamily="18" charset="0"/>
              </a:rPr>
              <a:t>th</a:t>
            </a:r>
            <a:r>
              <a:rPr lang="en-US" sz="1400" dirty="0">
                <a:latin typeface="Rockwell"/>
                <a:cs typeface="Times New Roman" pitchFamily="18" charset="0"/>
              </a:rPr>
              <a:t> cranial), </a:t>
            </a:r>
            <a:r>
              <a:rPr lang="en-US" sz="1400" dirty="0" err="1">
                <a:latin typeface="Rockwell"/>
                <a:cs typeface="Times New Roman" pitchFamily="18" charset="0"/>
              </a:rPr>
              <a:t>Phrenic</a:t>
            </a:r>
            <a:r>
              <a:rPr lang="en-US" sz="1400" dirty="0">
                <a:latin typeface="Rockwell"/>
                <a:cs typeface="Times New Roman" pitchFamily="18" charset="0"/>
              </a:rPr>
              <a:t> Nerve, </a:t>
            </a:r>
            <a:r>
              <a:rPr lang="en-US" sz="1400" dirty="0" err="1">
                <a:latin typeface="Rockwell"/>
                <a:cs typeface="Times New Roman" pitchFamily="18" charset="0"/>
              </a:rPr>
              <a:t>Intercostal</a:t>
            </a:r>
            <a:r>
              <a:rPr lang="en-US" sz="1400" dirty="0">
                <a:latin typeface="Rockwell"/>
                <a:cs typeface="Times New Roman" pitchFamily="18" charset="0"/>
              </a:rPr>
              <a:t> Nerves</a:t>
            </a:r>
          </a:p>
          <a:p>
            <a:pPr>
              <a:defRPr/>
            </a:pPr>
            <a:endParaRPr lang="en-US" sz="1400" dirty="0">
              <a:latin typeface="Rockwell"/>
              <a:cs typeface="Times New Roman" pitchFamily="18" charset="0"/>
            </a:endParaRPr>
          </a:p>
          <a:p>
            <a:pPr>
              <a:defRPr/>
            </a:pPr>
            <a:r>
              <a:rPr lang="en-US" sz="1400" b="1" dirty="0" err="1">
                <a:latin typeface="Rockwell"/>
                <a:cs typeface="Times New Roman" pitchFamily="18" charset="0"/>
              </a:rPr>
              <a:t>Effector</a:t>
            </a:r>
            <a:r>
              <a:rPr lang="en-US" sz="1400" b="1" dirty="0">
                <a:latin typeface="Rockwell"/>
                <a:cs typeface="Times New Roman" pitchFamily="18" charset="0"/>
              </a:rPr>
              <a:t> Organs</a:t>
            </a:r>
            <a:r>
              <a:rPr lang="en-US" sz="1400" dirty="0">
                <a:latin typeface="Rockwell"/>
                <a:cs typeface="Times New Roman" pitchFamily="18" charset="0"/>
              </a:rPr>
              <a:t>: Uvula, Epiglottis, Vocal Cords, Abdominal Muscles, Intercostals</a:t>
            </a:r>
          </a:p>
          <a:p>
            <a:pPr>
              <a:defRPr/>
            </a:pPr>
            <a:endParaRPr lang="en-US" sz="1400" dirty="0">
              <a:latin typeface="Rockwell"/>
              <a:cs typeface="Times New Roman" pitchFamily="18" charset="0"/>
            </a:endParaRPr>
          </a:p>
          <a:p>
            <a:pPr>
              <a:defRPr/>
            </a:pPr>
            <a:r>
              <a:rPr lang="en-US" sz="1400" dirty="0">
                <a:latin typeface="Rockwell"/>
                <a:cs typeface="Times New Roman" pitchFamily="18" charset="0"/>
              </a:rPr>
              <a:t>Depression of uvula helps passage of air rapidly through </a:t>
            </a:r>
            <a:r>
              <a:rPr lang="en-US" sz="1400" dirty="0" err="1">
                <a:latin typeface="Rockwell"/>
                <a:cs typeface="Times New Roman" pitchFamily="18" charset="0"/>
              </a:rPr>
              <a:t>naso</a:t>
            </a:r>
            <a:r>
              <a:rPr lang="en-US" sz="1400" dirty="0">
                <a:latin typeface="Rockwell"/>
                <a:cs typeface="Times New Roman" pitchFamily="18" charset="0"/>
              </a:rPr>
              <a:t>-pharynx</a:t>
            </a:r>
          </a:p>
          <a:p>
            <a:pPr>
              <a:defRPr/>
            </a:pPr>
            <a:r>
              <a:rPr lang="en-US" sz="1400" dirty="0">
                <a:latin typeface="Rockwell"/>
              </a:rPr>
              <a:t>Nasal passages are cleared of irritants</a:t>
            </a:r>
          </a:p>
          <a:p>
            <a:pPr>
              <a:defRPr/>
            </a:pPr>
            <a:endParaRPr lang="en-US" sz="1400" dirty="0">
              <a:latin typeface="Rockwell"/>
            </a:endParaRPr>
          </a:p>
          <a:p>
            <a:pPr>
              <a:defRPr/>
            </a:pPr>
            <a:endParaRPr lang="en-US" sz="1400" dirty="0">
              <a:latin typeface="Rockwell"/>
            </a:endParaRPr>
          </a:p>
          <a:p>
            <a:pPr>
              <a:defRPr/>
            </a:pPr>
            <a:endParaRPr lang="en-US" sz="1400" dirty="0">
              <a:latin typeface="Rockwell"/>
            </a:endParaRPr>
          </a:p>
          <a:p>
            <a:pPr>
              <a:defRPr/>
            </a:pPr>
            <a:endParaRPr lang="en-US" sz="1400" dirty="0">
              <a:latin typeface="Rockwell"/>
            </a:endParaRPr>
          </a:p>
          <a:p>
            <a:pPr>
              <a:defRPr/>
            </a:pPr>
            <a:endParaRPr lang="en-US" sz="1400" dirty="0">
              <a:latin typeface="Rockwell"/>
            </a:endParaRPr>
          </a:p>
        </p:txBody>
      </p:sp>
      <p:pic>
        <p:nvPicPr>
          <p:cNvPr id="4" name="Picture 3" descr="A person blowing his nose with a tissue&#10;&#10;AI-generated content may be incorrect.">
            <a:extLst>
              <a:ext uri="{FF2B5EF4-FFF2-40B4-BE49-F238E27FC236}">
                <a16:creationId xmlns:a16="http://schemas.microsoft.com/office/drawing/2014/main" xmlns="" id="{CBAF61DE-C3F7-4A71-17F6-63152FFB3CF5}"/>
              </a:ext>
            </a:extLst>
          </p:cNvPr>
          <p:cNvPicPr>
            <a:picLocks noChangeAspect="1"/>
          </p:cNvPicPr>
          <p:nvPr/>
        </p:nvPicPr>
        <p:blipFill>
          <a:blip r:embed="rId4"/>
          <a:srcRect l="26010" r="26136" b="-1"/>
          <a:stretch/>
        </p:blipFill>
        <p:spPr>
          <a:xfrm>
            <a:off x="6152595" y="640080"/>
            <a:ext cx="2526882" cy="5280471"/>
          </a:xfrm>
          <a:prstGeom prst="rect">
            <a:avLst/>
          </a:prstGeom>
        </p:spPr>
      </p:pic>
      <p:grpSp>
        <p:nvGrpSpPr>
          <p:cNvPr id="33" name="Group 32">
            <a:extLst>
              <a:ext uri="{FF2B5EF4-FFF2-40B4-BE49-F238E27FC236}">
                <a16:creationId xmlns:a16="http://schemas.microsoft.com/office/drawing/2014/main" xmlns="" id="{639A5BF8-72C2-43E2-A19E-D54875260B52}"/>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8551293" y="6229681"/>
            <a:ext cx="342900" cy="457200"/>
            <a:chOff x="11361456" y="6195813"/>
            <a:chExt cx="548640" cy="548640"/>
          </a:xfrm>
        </p:grpSpPr>
        <p:sp>
          <p:nvSpPr>
            <p:cNvPr id="34" name="Oval 33">
              <a:extLst>
                <a:ext uri="{FF2B5EF4-FFF2-40B4-BE49-F238E27FC236}">
                  <a16:creationId xmlns:a16="http://schemas.microsoft.com/office/drawing/2014/main" xmlns="" id="{892693D9-6EE8-42C4-B9CB-C347A34A56B0}"/>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5" name="Oval 34">
              <a:extLst>
                <a:ext uri="{FF2B5EF4-FFF2-40B4-BE49-F238E27FC236}">
                  <a16:creationId xmlns:a16="http://schemas.microsoft.com/office/drawing/2014/main" xmlns="" id="{6EB50024-24B3-46AB-9E69-716EE18835FD}"/>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xmlns=""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xmlns=""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Wood Type</Template>
  <TotalTime>1047</TotalTime>
  <Words>2078</Words>
  <Application>Microsoft Office PowerPoint</Application>
  <PresentationFormat>On-screen Show (4:3)</PresentationFormat>
  <Paragraphs>364</Paragraphs>
  <Slides>53</Slides>
  <Notes>6</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Wood Type</vt:lpstr>
      <vt:lpstr>Introduction to Respiration  and Mechanics of Ventilation</vt:lpstr>
      <vt:lpstr>INTRODUCTION</vt:lpstr>
      <vt:lpstr>TYPES OF RESPIRATION</vt:lpstr>
      <vt:lpstr>PHASES OF RESPIRATION</vt:lpstr>
      <vt:lpstr>Upper and Lower Respiratory Tracts</vt:lpstr>
      <vt:lpstr>RESPIRATORY UNIT</vt:lpstr>
      <vt:lpstr>Slide 7</vt:lpstr>
      <vt:lpstr>Alveolar Cells or Pneumocytes</vt:lpstr>
      <vt:lpstr>Slide 9</vt:lpstr>
      <vt:lpstr>Functions of lungs</vt:lpstr>
      <vt:lpstr>Non Respiratory functions</vt:lpstr>
      <vt:lpstr>Non-respiratory functions</vt:lpstr>
      <vt:lpstr>Slide 13</vt:lpstr>
      <vt:lpstr>Slide 14</vt:lpstr>
      <vt:lpstr>Mechanics of Pulmonary Ventilation</vt:lpstr>
      <vt:lpstr>Pressures in the Thorax</vt:lpstr>
      <vt:lpstr>Pleural Pressure</vt:lpstr>
      <vt:lpstr>Slide 18</vt:lpstr>
      <vt:lpstr>Pleural Pressure</vt:lpstr>
      <vt:lpstr>Alveolar Pressure</vt:lpstr>
      <vt:lpstr>Slide 21</vt:lpstr>
      <vt:lpstr>Transpulmunary Pressure</vt:lpstr>
      <vt:lpstr>Slide 23</vt:lpstr>
      <vt:lpstr>Slide 24</vt:lpstr>
      <vt:lpstr>Slide 25</vt:lpstr>
      <vt:lpstr>MECHANICS OF PULMUNORY VENTILATION</vt:lpstr>
      <vt:lpstr>MECHANICS OF INSPIRATION</vt:lpstr>
      <vt:lpstr>MUSCLES OF QUIET INSPIRATION</vt:lpstr>
      <vt:lpstr>MUSCLES OF QUIET INSPIRATION</vt:lpstr>
      <vt:lpstr>Slide 30</vt:lpstr>
      <vt:lpstr>ACCESSORY MUSCLES OF INSPIRATION</vt:lpstr>
      <vt:lpstr>MECHANICS OF EXPIRATION</vt:lpstr>
      <vt:lpstr>Muscles of Expiration</vt:lpstr>
      <vt:lpstr>Slide 34</vt:lpstr>
      <vt:lpstr>Slide 35</vt:lpstr>
      <vt:lpstr>SURFACTANT LUNG COMPLIANCE</vt:lpstr>
      <vt:lpstr>SURFACTANT</vt:lpstr>
      <vt:lpstr>Slide 38</vt:lpstr>
      <vt:lpstr>FUNCTIONS OF SURFACTANT</vt:lpstr>
      <vt:lpstr>COMPLIANCE</vt:lpstr>
      <vt:lpstr>Measurement of Compliance</vt:lpstr>
      <vt:lpstr>Slide 42</vt:lpstr>
      <vt:lpstr>APPLIED PHYSIOLOGY</vt:lpstr>
      <vt:lpstr>TYPES OF COMPLIANCE </vt:lpstr>
      <vt:lpstr>Work of Breathing</vt:lpstr>
      <vt:lpstr>WORK DONE BY RESPIRATORY MUSCLES</vt:lpstr>
      <vt:lpstr>Work of Breathing</vt:lpstr>
      <vt:lpstr>PROTECTIVE REFLEXES</vt:lpstr>
      <vt:lpstr>PROTECTIVE REFLEXES</vt:lpstr>
      <vt:lpstr>Cough Reflex</vt:lpstr>
      <vt:lpstr>Mechanism and significance of cough</vt:lpstr>
      <vt:lpstr>Slide 52</vt:lpstr>
      <vt:lpstr>Sneeze Reflex</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Respiratory System</dc:title>
  <dc:creator>MOHSIN</dc:creator>
  <cp:lastModifiedBy>Muhammad diyan irfan</cp:lastModifiedBy>
  <cp:revision>451</cp:revision>
  <dcterms:created xsi:type="dcterms:W3CDTF">2013-04-07T19:12:32Z</dcterms:created>
  <dcterms:modified xsi:type="dcterms:W3CDTF">2026-04-04T08:11:58Z</dcterms:modified>
</cp:coreProperties>
</file>