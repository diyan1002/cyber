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20" r:id="rId1"/>
  </p:sldMasterIdLst>
  <p:notesMasterIdLst>
    <p:notesMasterId r:id="rId5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1" r:id="rId35"/>
    <p:sldId id="290" r:id="rId36"/>
    <p:sldId id="293" r:id="rId37"/>
    <p:sldId id="292" r:id="rId38"/>
    <p:sldId id="294" r:id="rId39"/>
    <p:sldId id="295" r:id="rId40"/>
    <p:sldId id="296" r:id="rId41"/>
    <p:sldId id="297" r:id="rId42"/>
    <p:sldId id="301" r:id="rId43"/>
    <p:sldId id="302" r:id="rId44"/>
    <p:sldId id="403" r:id="rId45"/>
    <p:sldId id="396" r:id="rId46"/>
    <p:sldId id="404" r:id="rId47"/>
    <p:sldId id="407" r:id="rId48"/>
    <p:sldId id="388" r:id="rId49"/>
    <p:sldId id="397" r:id="rId50"/>
    <p:sldId id="398" r:id="rId51"/>
    <p:sldId id="399" r:id="rId52"/>
    <p:sldId id="408" r:id="rId5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3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BFACFD-499B-46EA-97EC-CF503A66F062}" type="datetimeFigureOut">
              <a:rPr lang="en-US" smtClean="0"/>
              <a:t>3/17/2025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1EC6EA-0884-43F6-874A-E4C6E572BD4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9251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1EC6EA-0884-43F6-874A-E4C6E572BD4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7976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1EC6EA-0884-43F6-874A-E4C6E572BD4A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50309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4C9C4F5-E25D-48C7-BBA8-06F9794DEBBC}" type="datetime2">
              <a:rPr lang="en-US" smtClean="0"/>
              <a:pPr>
                <a:defRPr/>
              </a:pPr>
              <a:t>Monday, March 17,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FEFD5B4F-905B-471F-80B8-87B5A4E394AC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69113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7AB1DA5-336F-4F7E-92CE-A591309C0FBF}" type="datetime2">
              <a:rPr lang="en-US" smtClean="0"/>
              <a:pPr>
                <a:defRPr/>
              </a:pPr>
              <a:t>Monday, March 17,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116C2-0BEA-4936-945D-B049DFD640A8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84844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pPr>
              <a:defRPr/>
            </a:pPr>
            <a:fld id="{DC7D8253-BB21-4736-93BF-C03C6FCA2BB7}" type="datetime2">
              <a:rPr lang="en-US" smtClean="0"/>
              <a:pPr>
                <a:defRPr/>
              </a:pPr>
              <a:t>Monday, March 17,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15CD2450-EA66-465E-A1A2-4588860CB981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77529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06BC0BC-80EF-46E6-A37B-DDD86D139537}" type="datetime2">
              <a:rPr lang="en-US" smtClean="0"/>
              <a:pPr>
                <a:defRPr/>
              </a:pPr>
              <a:t>Monday, March 17, 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183FC-22F4-440C-AAA3-467721E95E2D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29237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70DE023-3A9E-4FFE-A8D3-300D05370353}" type="datetime2">
              <a:rPr lang="en-US" smtClean="0"/>
              <a:pPr>
                <a:defRPr/>
              </a:pPr>
              <a:t>Monday, March 17, 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1BCA-2946-4966-8A0B-CE999132D4C6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85490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A6EDEB7-42D2-4E1C-9D52-3B5AB23C036C}" type="datetime2">
              <a:rPr lang="en-US" smtClean="0"/>
              <a:pPr>
                <a:defRPr/>
              </a:pPr>
              <a:t>Monday, March 17, 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5FCCD-B7CD-454F-B959-345AD259DC5A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25621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423EC5F-C05D-4294-B415-31E3A2F7CB17}" type="datetime2">
              <a:rPr lang="en-US" smtClean="0"/>
              <a:pPr>
                <a:defRPr/>
              </a:pPr>
              <a:t>Monday, March 17, 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45661-3524-4482-9087-B97D1B5E23B2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18938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F46A78E-8051-4351-93AC-B2340CD1383F}" type="datetime2">
              <a:rPr lang="en-US" smtClean="0"/>
              <a:pPr>
                <a:defRPr/>
              </a:pPr>
              <a:t>Monday, March 17, 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55E14-C811-4696-8247-67A30C0A3D50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22058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5DDFEFC-26FA-42EC-BBB5-EED72AD5E090}" type="datetime2">
              <a:rPr lang="en-US" smtClean="0"/>
              <a:pPr>
                <a:defRPr/>
              </a:pPr>
              <a:t>Monday, March 17, 2025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C735B-9CF8-4413-8F32-54A7FA8B483B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78939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F880080-1C6F-4BBF-B348-C1ED1E897356}" type="datetime2">
              <a:rPr lang="en-US" smtClean="0"/>
              <a:pPr>
                <a:defRPr/>
              </a:pPr>
              <a:t>Monday, March 17,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73F1B-D08B-4CA6-827F-C8E5E4B2F422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87218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A54BCFA-73BD-44B2-850E-A00484C31194}" type="datetime2">
              <a:rPr lang="en-US" smtClean="0"/>
              <a:pPr>
                <a:defRPr/>
              </a:pPr>
              <a:t>Monday, March 17,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B68E7-C4EE-40A1-98A5-D5F48B8F9DF8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70830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5E046EFF-80D9-4F31-91F8-F24655AD4A54}" type="datetimeFigureOut">
              <a:rPr lang="en-US" smtClean="0"/>
              <a:t>3/17/2025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32636B0E-3EAD-448D-960B-D651CBFD91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9355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1" r:id="rId1"/>
    <p:sldLayoutId id="2147484022" r:id="rId2"/>
    <p:sldLayoutId id="2147484023" r:id="rId3"/>
    <p:sldLayoutId id="2147484024" r:id="rId4"/>
    <p:sldLayoutId id="2147484025" r:id="rId5"/>
    <p:sldLayoutId id="2147484026" r:id="rId6"/>
    <p:sldLayoutId id="2147484027" r:id="rId7"/>
    <p:sldLayoutId id="2147484028" r:id="rId8"/>
    <p:sldLayoutId id="2147484029" r:id="rId9"/>
    <p:sldLayoutId id="2147484030" r:id="rId10"/>
    <p:sldLayoutId id="2147484031" r:id="rId11"/>
  </p:sldLayoutIdLst>
  <p:transition spd="med">
    <p:pull dir="d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E68B8-E36E-AE98-B0B6-B8C4BBF0DB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Gaseous Exchange Through Alveolar Membrane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1D0543-8269-DC63-DC17-8A3505A5E4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4747" y="5805309"/>
            <a:ext cx="5654449" cy="448382"/>
          </a:xfrm>
        </p:spPr>
        <p:txBody>
          <a:bodyPr>
            <a:normAutofit/>
          </a:bodyPr>
          <a:lstStyle/>
          <a:p>
            <a:r>
              <a:rPr lang="en-US" dirty="0"/>
              <a:t>Dr. Tabish Masood Ranjha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ED0434-FF04-45EE-93E6-17AD75A4D3F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9669" y="3525669"/>
            <a:ext cx="3332331" cy="3332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366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7587797-6E5B-D089-78A5-D7CBD73188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048" y="1472479"/>
            <a:ext cx="10058400" cy="405079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sz="2600" dirty="0"/>
              <a:t>The purpose of the respiratory system is to perform gas exchange. </a:t>
            </a:r>
          </a:p>
          <a:p>
            <a:pPr fontAlgn="base"/>
            <a:r>
              <a:rPr lang="en-US" sz="2600" dirty="0"/>
              <a:t>Pulmonary ventilation provides air to the alveoli for this gas exchange process. </a:t>
            </a:r>
          </a:p>
          <a:p>
            <a:pPr fontAlgn="base"/>
            <a:r>
              <a:rPr lang="en-US" sz="2600" dirty="0"/>
              <a:t>At the respiratory membrane, where the alveolar and capillary walls meet, gases move across the membranes, with oxygen entering the bloodstream and carbon dioxide exiting.</a:t>
            </a:r>
          </a:p>
          <a:p>
            <a:pPr fontAlgn="base"/>
            <a:r>
              <a:rPr lang="en-US" sz="2600" dirty="0"/>
              <a:t> It is through this mechanism that blood is oxygenated and carbon dioxide, the waste product of cellular respiration, is removed from the body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10477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F77A2-1CFB-836A-5C4B-91637B4BB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646" y="176979"/>
            <a:ext cx="6538451" cy="1384447"/>
          </a:xfrm>
        </p:spPr>
        <p:txBody>
          <a:bodyPr>
            <a:normAutofit fontScale="90000"/>
          </a:bodyPr>
          <a:lstStyle/>
          <a:p>
            <a:r>
              <a:rPr lang="en-US" dirty="0"/>
              <a:t>RESPIRATORY UNIT/LOBULE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EA75B9-577D-957A-FAB3-AD7B0E1DD18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1406" y="50406"/>
            <a:ext cx="5393981" cy="6757187"/>
          </a:xfr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32CF52-391C-8CCE-1EC4-3FAEE1303A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12955" y="1472307"/>
            <a:ext cx="6538451" cy="5285873"/>
          </a:xfrm>
        </p:spPr>
        <p:txBody>
          <a:bodyPr>
            <a:normAutofit/>
          </a:bodyPr>
          <a:lstStyle/>
          <a:p>
            <a:r>
              <a:rPr lang="en-US" sz="2800" dirty="0"/>
              <a:t>Respiratory lobule is composed of </a:t>
            </a:r>
          </a:p>
          <a:p>
            <a:pPr lvl="1"/>
            <a:r>
              <a:rPr lang="en-US" sz="2800" b="1" dirty="0"/>
              <a:t>Respiratory bronchiole</a:t>
            </a:r>
          </a:p>
          <a:p>
            <a:pPr lvl="1"/>
            <a:r>
              <a:rPr lang="en-US" sz="2800" b="1" dirty="0"/>
              <a:t>Alveolar ducts</a:t>
            </a:r>
          </a:p>
          <a:p>
            <a:pPr lvl="1"/>
            <a:r>
              <a:rPr lang="en-US" sz="2800" b="1" dirty="0"/>
              <a:t>Atria</a:t>
            </a:r>
          </a:p>
          <a:p>
            <a:pPr lvl="1"/>
            <a:r>
              <a:rPr lang="en-US" sz="2800" b="1" dirty="0"/>
              <a:t>Alveoli</a:t>
            </a:r>
          </a:p>
          <a:p>
            <a:r>
              <a:rPr lang="en-US" sz="2800" b="1" dirty="0"/>
              <a:t>300 million </a:t>
            </a:r>
            <a:r>
              <a:rPr lang="en-US" sz="2800" dirty="0"/>
              <a:t>alveoli in both lungs</a:t>
            </a:r>
          </a:p>
          <a:p>
            <a:r>
              <a:rPr lang="en-US" sz="2800" dirty="0"/>
              <a:t>Each alveolus has a diameter of </a:t>
            </a:r>
            <a:r>
              <a:rPr lang="en-US" sz="2800" b="1" dirty="0"/>
              <a:t>0.2mm</a:t>
            </a:r>
          </a:p>
          <a:p>
            <a:r>
              <a:rPr lang="en-US" sz="2800" dirty="0"/>
              <a:t>Extremely thin walled, in </a:t>
            </a:r>
            <a:r>
              <a:rPr lang="en-US" sz="2800" b="1" dirty="0"/>
              <a:t>between two alveoli is a network of capillaries.</a:t>
            </a:r>
          </a:p>
        </p:txBody>
      </p:sp>
    </p:spTree>
    <p:extLst>
      <p:ext uri="{BB962C8B-B14F-4D97-AF65-F5344CB8AC3E}">
        <p14:creationId xmlns:p14="http://schemas.microsoft.com/office/powerpoint/2010/main" val="21361151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EDA952B-256A-91AB-D117-33BDE37660D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488" r="-7738"/>
          <a:stretch/>
        </p:blipFill>
        <p:spPr>
          <a:xfrm>
            <a:off x="6502400" y="-14292"/>
            <a:ext cx="5689600" cy="6850638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CF7D0E2-9B31-65C1-25C4-73FCC85BBF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363" y="-14292"/>
            <a:ext cx="5998037" cy="6901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916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282F9-3DFA-1772-00FF-B30DDF0A0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536" y="157317"/>
            <a:ext cx="5437239" cy="1838337"/>
          </a:xfrm>
        </p:spPr>
        <p:txBody>
          <a:bodyPr/>
          <a:lstStyle/>
          <a:p>
            <a:r>
              <a:rPr lang="en-US" dirty="0"/>
              <a:t>RESPIRATORY MEMBRANE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DE966ED-5FEE-B16F-5D8C-4117252865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9847" y="2194559"/>
            <a:ext cx="5437239" cy="4506123"/>
          </a:xfrm>
        </p:spPr>
        <p:txBody>
          <a:bodyPr/>
          <a:lstStyle/>
          <a:p>
            <a:r>
              <a:rPr lang="en-US" dirty="0"/>
              <a:t>Gas exchange between alveolar air and pulmonary blood </a:t>
            </a:r>
            <a:r>
              <a:rPr lang="en-US" b="1" dirty="0"/>
              <a:t>occurs through membranes of all terminal portions of lungs </a:t>
            </a:r>
            <a:r>
              <a:rPr lang="en-US" dirty="0"/>
              <a:t>not merely at alveoli.</a:t>
            </a:r>
          </a:p>
          <a:p>
            <a:r>
              <a:rPr lang="en-US" dirty="0"/>
              <a:t>All these membranes are called </a:t>
            </a:r>
            <a:r>
              <a:rPr lang="en-US" b="1" dirty="0"/>
              <a:t>respiratory membranes </a:t>
            </a:r>
            <a:r>
              <a:rPr lang="en-US" dirty="0"/>
              <a:t>or </a:t>
            </a:r>
            <a:r>
              <a:rPr lang="en-US" b="1" dirty="0"/>
              <a:t>Pulmonary membrane.</a:t>
            </a:r>
          </a:p>
          <a:p>
            <a:r>
              <a:rPr lang="en-US" dirty="0"/>
              <a:t>Oxygen diffuses from </a:t>
            </a:r>
            <a:r>
              <a:rPr lang="en-US" b="1" dirty="0"/>
              <a:t>alveolus to red blood cell </a:t>
            </a:r>
            <a:r>
              <a:rPr lang="en-US" dirty="0"/>
              <a:t>whereas carbon dioxide diffuses in the opposite direction.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C93DFAE-B023-9053-0E9D-346D5D59C9B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8452" y="1"/>
            <a:ext cx="5653549" cy="6858000"/>
          </a:xfrm>
        </p:spPr>
      </p:pic>
    </p:spTree>
    <p:extLst>
      <p:ext uri="{BB962C8B-B14F-4D97-AF65-F5344CB8AC3E}">
        <p14:creationId xmlns:p14="http://schemas.microsoft.com/office/powerpoint/2010/main" val="2179481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8B4D0-41D0-1008-EB1C-12C8225F0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78" y="344130"/>
            <a:ext cx="4583700" cy="1622028"/>
          </a:xfrm>
        </p:spPr>
        <p:txBody>
          <a:bodyPr>
            <a:normAutofit fontScale="90000"/>
          </a:bodyPr>
          <a:lstStyle/>
          <a:p>
            <a:r>
              <a:rPr lang="en-US" dirty="0"/>
              <a:t>LAYERS OF RESPIRATORY MEMBRANE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06BB651-E5F5-EB48-896C-DC975932EE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111"/>
          <a:stretch/>
        </p:blipFill>
        <p:spPr>
          <a:xfrm>
            <a:off x="4304205" y="600122"/>
            <a:ext cx="5087928" cy="5967825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5BBABBD-60B5-868C-24A8-190AE495CC67}"/>
              </a:ext>
            </a:extLst>
          </p:cNvPr>
          <p:cNvSpPr txBox="1"/>
          <p:nvPr/>
        </p:nvSpPr>
        <p:spPr>
          <a:xfrm>
            <a:off x="3962400" y="1976284"/>
            <a:ext cx="373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027DC4-C3F8-7F2E-E7A3-A7E665B59599}"/>
              </a:ext>
            </a:extLst>
          </p:cNvPr>
          <p:cNvSpPr txBox="1"/>
          <p:nvPr/>
        </p:nvSpPr>
        <p:spPr>
          <a:xfrm>
            <a:off x="4188543" y="835740"/>
            <a:ext cx="117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4A7321-B5E3-DBAB-729A-19E340FD9A56}"/>
              </a:ext>
            </a:extLst>
          </p:cNvPr>
          <p:cNvSpPr txBox="1"/>
          <p:nvPr/>
        </p:nvSpPr>
        <p:spPr>
          <a:xfrm>
            <a:off x="5338916" y="452641"/>
            <a:ext cx="353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F92E227-F32F-6E7B-F28B-4F469F71A3AC}"/>
              </a:ext>
            </a:extLst>
          </p:cNvPr>
          <p:cNvSpPr/>
          <p:nvPr/>
        </p:nvSpPr>
        <p:spPr>
          <a:xfrm>
            <a:off x="5319252" y="6223819"/>
            <a:ext cx="1415845" cy="2700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F052DE-5876-B291-39C3-E191B7BDF303}"/>
              </a:ext>
            </a:extLst>
          </p:cNvPr>
          <p:cNvSpPr txBox="1"/>
          <p:nvPr/>
        </p:nvSpPr>
        <p:spPr>
          <a:xfrm>
            <a:off x="4955458" y="6154998"/>
            <a:ext cx="363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4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F45BFB7-B49D-A63B-531F-45E00A16D99B}"/>
              </a:ext>
            </a:extLst>
          </p:cNvPr>
          <p:cNvSpPr/>
          <p:nvPr/>
        </p:nvSpPr>
        <p:spPr>
          <a:xfrm>
            <a:off x="6971071" y="6331974"/>
            <a:ext cx="2300748" cy="2359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38C401-8DCE-094E-4262-E7BB9278F548}"/>
              </a:ext>
            </a:extLst>
          </p:cNvPr>
          <p:cNvSpPr txBox="1"/>
          <p:nvPr/>
        </p:nvSpPr>
        <p:spPr>
          <a:xfrm>
            <a:off x="6784260" y="6228383"/>
            <a:ext cx="127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5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CF38815-1295-F85D-9B1C-EAF87EB24CDE}"/>
              </a:ext>
            </a:extLst>
          </p:cNvPr>
          <p:cNvSpPr/>
          <p:nvPr/>
        </p:nvSpPr>
        <p:spPr>
          <a:xfrm>
            <a:off x="7325032" y="6154998"/>
            <a:ext cx="1641987" cy="14720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F7CE6F-0C35-1B0E-9372-BD5A1C906713}"/>
              </a:ext>
            </a:extLst>
          </p:cNvPr>
          <p:cNvSpPr txBox="1"/>
          <p:nvPr/>
        </p:nvSpPr>
        <p:spPr>
          <a:xfrm>
            <a:off x="7059558" y="6036742"/>
            <a:ext cx="127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6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F297D79-9C6F-BDD8-96DE-B831C2F22698}"/>
              </a:ext>
            </a:extLst>
          </p:cNvPr>
          <p:cNvSpPr/>
          <p:nvPr/>
        </p:nvSpPr>
        <p:spPr>
          <a:xfrm>
            <a:off x="4348889" y="1994965"/>
            <a:ext cx="1268361" cy="580103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D5FBA5B-FEDF-0CAD-C8DC-C42A73AB7CC4}"/>
              </a:ext>
            </a:extLst>
          </p:cNvPr>
          <p:cNvSpPr/>
          <p:nvPr/>
        </p:nvSpPr>
        <p:spPr>
          <a:xfrm>
            <a:off x="4414684" y="889672"/>
            <a:ext cx="934064" cy="3693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A69240E-D204-DBB6-6C30-CAC4E191DC74}"/>
              </a:ext>
            </a:extLst>
          </p:cNvPr>
          <p:cNvSpPr/>
          <p:nvPr/>
        </p:nvSpPr>
        <p:spPr>
          <a:xfrm>
            <a:off x="5358581" y="727588"/>
            <a:ext cx="934064" cy="53719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BEED4A4-F7CA-28A6-6178-E6F73AC3122F}"/>
              </a:ext>
            </a:extLst>
          </p:cNvPr>
          <p:cNvSpPr txBox="1"/>
          <p:nvPr/>
        </p:nvSpPr>
        <p:spPr>
          <a:xfrm>
            <a:off x="14663" y="2205079"/>
            <a:ext cx="42672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Despite all these layers, the thickness of membrane ranges from </a:t>
            </a:r>
            <a:r>
              <a:rPr lang="en-US" b="1" dirty="0"/>
              <a:t>0.2 to 0.6mm.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total surface area of the respiratory membrane is about </a:t>
            </a:r>
            <a:r>
              <a:rPr lang="en-US" b="1" dirty="0"/>
              <a:t>70 square meters </a:t>
            </a:r>
            <a:r>
              <a:rPr lang="en-US" dirty="0"/>
              <a:t>which is equal to floor area of a </a:t>
            </a:r>
            <a:r>
              <a:rPr lang="en-US" b="1" dirty="0"/>
              <a:t>25 ×  30-foot </a:t>
            </a:r>
            <a:r>
              <a:rPr lang="en-US" dirty="0"/>
              <a:t>room.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Total blood in capillaries at any given moment is </a:t>
            </a:r>
            <a:r>
              <a:rPr lang="en-US" b="1" dirty="0"/>
              <a:t>60-140ml.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34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  <p:bldP spid="12" grpId="0"/>
      <p:bldP spid="14" grpId="0"/>
      <p:bldP spid="15" grpId="0" animBg="1"/>
      <p:bldP spid="16" grpId="0"/>
      <p:bldP spid="17" grpId="0" animBg="1"/>
      <p:bldP spid="18" grpId="0"/>
      <p:bldP spid="19" grpId="0" animBg="1"/>
      <p:bldP spid="20" grpId="0"/>
      <p:bldP spid="21" grpId="0" animBg="1"/>
      <p:bldP spid="22" grpId="0" animBg="1"/>
      <p:bldP spid="23" grpId="0" animBg="1"/>
      <p:bldP spid="2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10BE1-189D-7E16-4AD3-8B72CAA7B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30671"/>
            <a:ext cx="10058400" cy="1609344"/>
          </a:xfrm>
        </p:spPr>
        <p:txBody>
          <a:bodyPr/>
          <a:lstStyle/>
          <a:p>
            <a:r>
              <a:rPr lang="en-US" dirty="0"/>
              <a:t>FACTORS AFFECTING DIFFUSION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B9D11-B8DB-91F9-7EF0-E99F1EAC7A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935" y="1661652"/>
            <a:ext cx="10903975" cy="519634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b="1" i="1" dirty="0">
                <a:effectLst/>
              </a:rPr>
              <a:t>thickness of the membrane</a:t>
            </a:r>
            <a:r>
              <a:rPr lang="en-US" b="0" i="1" dirty="0">
                <a:effectLst/>
              </a:rPr>
              <a:t>,</a:t>
            </a:r>
            <a:r>
              <a:rPr lang="en-US" b="0" i="0" dirty="0">
                <a:effectLst/>
              </a:rPr>
              <a:t> 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i="1" dirty="0">
                <a:effectLst/>
              </a:rPr>
              <a:t>surface area of the membrane</a:t>
            </a:r>
            <a:r>
              <a:rPr lang="en-US" b="0" i="1" dirty="0">
                <a:effectLst/>
              </a:rPr>
              <a:t>, 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i="1" dirty="0">
                <a:effectLst/>
              </a:rPr>
              <a:t>diffusion coefficient </a:t>
            </a:r>
            <a:r>
              <a:rPr lang="en-US" b="1" i="0" dirty="0">
                <a:effectLst/>
              </a:rPr>
              <a:t>of the gas </a:t>
            </a:r>
            <a:r>
              <a:rPr lang="en-US" b="0" i="0" dirty="0">
                <a:effectLst/>
              </a:rPr>
              <a:t>in the substance of the membrane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i="1" dirty="0">
                <a:effectLst/>
              </a:rPr>
              <a:t>partial pressure difference</a:t>
            </a:r>
            <a:r>
              <a:rPr lang="en-US" b="1" i="0" dirty="0">
                <a:effectLst/>
              </a:rPr>
              <a:t> of the gas </a:t>
            </a:r>
            <a:r>
              <a:rPr lang="en-US" b="0" i="0" dirty="0">
                <a:effectLst/>
              </a:rPr>
              <a:t>between the two sides of the membrane.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002060"/>
                </a:solidFill>
              </a:rPr>
              <a:t>FICK’S LAW  for Gas Diffusion Volume = </a:t>
            </a:r>
            <a:r>
              <a:rPr lang="en-US" b="1" u="sng" dirty="0">
                <a:solidFill>
                  <a:srgbClr val="002060"/>
                </a:solidFill>
              </a:rPr>
              <a:t>(A </a:t>
            </a:r>
            <a:r>
              <a:rPr lang="en-US" sz="1600" b="1" u="sng" dirty="0">
                <a:solidFill>
                  <a:srgbClr val="002060"/>
                </a:solidFill>
              </a:rPr>
              <a:t>*</a:t>
            </a:r>
            <a:r>
              <a:rPr lang="en-US" b="1" u="sng" dirty="0">
                <a:solidFill>
                  <a:srgbClr val="002060"/>
                </a:solidFill>
              </a:rPr>
              <a:t> </a:t>
            </a:r>
            <a:r>
              <a:rPr lang="en-US" b="1" u="sng" dirty="0">
                <a:solidFill>
                  <a:srgbClr val="002060"/>
                </a:solidFill>
                <a:latin typeface="Symbol" pitchFamily="18" charset="2"/>
              </a:rPr>
              <a:t>D</a:t>
            </a:r>
            <a:r>
              <a:rPr lang="en-US" b="1" u="sng" dirty="0">
                <a:solidFill>
                  <a:srgbClr val="002060"/>
                </a:solidFill>
              </a:rPr>
              <a:t>pp </a:t>
            </a:r>
            <a:r>
              <a:rPr lang="en-US" sz="1600" b="1" u="sng" dirty="0">
                <a:solidFill>
                  <a:srgbClr val="002060"/>
                </a:solidFill>
              </a:rPr>
              <a:t>*</a:t>
            </a:r>
            <a:r>
              <a:rPr lang="en-US" b="1" u="sng" dirty="0">
                <a:solidFill>
                  <a:srgbClr val="002060"/>
                </a:solidFill>
              </a:rPr>
              <a:t> D)  </a:t>
            </a:r>
            <a:endParaRPr lang="en-US" b="1" dirty="0">
              <a:solidFill>
                <a:srgbClr val="002060"/>
              </a:solidFill>
            </a:endParaRPr>
          </a:p>
          <a:p>
            <a:pPr marL="0" indent="0" algn="ctr">
              <a:buNone/>
            </a:pPr>
            <a:r>
              <a:rPr lang="en-US" dirty="0">
                <a:solidFill>
                  <a:srgbClr val="002060"/>
                </a:solidFill>
              </a:rPr>
              <a:t>                                                     </a:t>
            </a:r>
            <a:r>
              <a:rPr lang="en-US" b="1" dirty="0">
                <a:solidFill>
                  <a:srgbClr val="002060"/>
                </a:solidFill>
              </a:rPr>
              <a:t>T</a:t>
            </a:r>
          </a:p>
          <a:p>
            <a:pPr lvl="1"/>
            <a:r>
              <a:rPr lang="en-US" b="1" dirty="0"/>
              <a:t>A</a:t>
            </a:r>
            <a:r>
              <a:rPr lang="en-US" dirty="0"/>
              <a:t> is cross sectional area of membrane</a:t>
            </a:r>
          </a:p>
          <a:p>
            <a:pPr lvl="1"/>
            <a:r>
              <a:rPr lang="en-US" b="1" dirty="0">
                <a:latin typeface="Symbol" pitchFamily="18" charset="2"/>
              </a:rPr>
              <a:t>D</a:t>
            </a:r>
            <a:r>
              <a:rPr lang="en-US" b="1" dirty="0"/>
              <a:t>pp</a:t>
            </a:r>
            <a:r>
              <a:rPr lang="en-US" dirty="0"/>
              <a:t> is the driving pressure (partial pressure difference)</a:t>
            </a:r>
          </a:p>
          <a:p>
            <a:pPr lvl="1"/>
            <a:r>
              <a:rPr lang="en-US" b="1" dirty="0"/>
              <a:t>D</a:t>
            </a:r>
            <a:r>
              <a:rPr lang="en-US" dirty="0"/>
              <a:t> is gas coefficient</a:t>
            </a:r>
          </a:p>
          <a:p>
            <a:pPr lvl="1"/>
            <a:r>
              <a:rPr lang="en-US" b="1" dirty="0"/>
              <a:t>T</a:t>
            </a:r>
            <a:r>
              <a:rPr lang="en-US" dirty="0"/>
              <a:t> is tissue thickness or length through membrane</a:t>
            </a:r>
            <a:endParaRPr lang="en-US" dirty="0">
              <a:latin typeface="Symbol" pitchFamily="18" charset="2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376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8659DCE-954F-654E-0DFD-5A7E7779A17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12891" y="118676"/>
            <a:ext cx="11240012" cy="2565534"/>
          </a:xfrm>
        </p:spPr>
        <p:txBody>
          <a:bodyPr>
            <a:normAutofit/>
          </a:bodyPr>
          <a:lstStyle/>
          <a:p>
            <a:pPr marL="609600" indent="-609600"/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</a:rPr>
              <a:t>Thickness of respiratory membrane</a:t>
            </a:r>
          </a:p>
          <a:p>
            <a:pPr marL="990600" lvl="1" indent="-533400"/>
            <a:r>
              <a:rPr lang="en-US" sz="2400" dirty="0"/>
              <a:t>Rate of diffusion </a:t>
            </a:r>
            <a:r>
              <a:rPr lang="en-US" sz="2400" b="1" dirty="0"/>
              <a:t>inversely proportional </a:t>
            </a:r>
            <a:r>
              <a:rPr lang="en-US" sz="2400" dirty="0"/>
              <a:t>to membrane thickness</a:t>
            </a:r>
          </a:p>
          <a:p>
            <a:pPr marL="990600" lvl="1" indent="-533400"/>
            <a:r>
              <a:rPr lang="en-US" sz="2400" b="1" dirty="0"/>
              <a:t>Increasing thickness by 2 – 3 times interferes </a:t>
            </a:r>
            <a:r>
              <a:rPr lang="en-US" sz="2400" dirty="0"/>
              <a:t>significantly with normal respiratory exchange</a:t>
            </a:r>
          </a:p>
          <a:p>
            <a:pPr marL="990600" lvl="1" indent="-533400"/>
            <a:r>
              <a:rPr lang="en-US" sz="2400" b="1" dirty="0"/>
              <a:t>Edema fluid &amp; fibrosis increase </a:t>
            </a:r>
            <a:r>
              <a:rPr lang="en-US" sz="2400" dirty="0"/>
              <a:t>thickness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7B84315-6E45-3027-3B65-DFD7C16070A5}"/>
              </a:ext>
            </a:extLst>
          </p:cNvPr>
          <p:cNvSpPr txBox="1">
            <a:spLocks noChangeArrowheads="1"/>
          </p:cNvSpPr>
          <p:nvPr/>
        </p:nvSpPr>
        <p:spPr>
          <a:xfrm>
            <a:off x="-188554" y="3097162"/>
            <a:ext cx="11095704" cy="34929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2"/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600" indent="-609600">
              <a:buFontTx/>
              <a:buNone/>
            </a:pPr>
            <a:r>
              <a:rPr lang="en-US" sz="2800" b="1" dirty="0"/>
              <a:t>	</a:t>
            </a:r>
            <a:r>
              <a:rPr lang="en-US" sz="2800" b="1" dirty="0">
                <a:solidFill>
                  <a:srgbClr val="FF0000"/>
                </a:solidFill>
              </a:rPr>
              <a:t>Surface area of respiratory membrane</a:t>
            </a:r>
          </a:p>
          <a:p>
            <a:pPr marL="990600" lvl="1" indent="-533400"/>
            <a:r>
              <a:rPr lang="en-US" sz="2400" b="1" dirty="0"/>
              <a:t>Decreases of surface area to </a:t>
            </a:r>
            <a:r>
              <a:rPr lang="en-US" sz="2400" b="1" dirty="0">
                <a:cs typeface="Times New Roman" pitchFamily="18" charset="0"/>
              </a:rPr>
              <a:t>¼ normal </a:t>
            </a:r>
            <a:r>
              <a:rPr lang="en-US" sz="2400" dirty="0">
                <a:cs typeface="Times New Roman" pitchFamily="18" charset="0"/>
              </a:rPr>
              <a:t>impedes gas exchange significantly</a:t>
            </a:r>
          </a:p>
          <a:p>
            <a:pPr marL="990600" lvl="1" indent="-533400"/>
            <a:endParaRPr lang="en-US" sz="2400" u="sng" dirty="0">
              <a:cs typeface="Times New Roman" pitchFamily="18" charset="0"/>
            </a:endParaRPr>
          </a:p>
          <a:p>
            <a:pPr marL="990600" lvl="1" indent="-533400"/>
            <a:r>
              <a:rPr lang="en-US" sz="2400" b="1" u="sng" dirty="0">
                <a:cs typeface="Times New Roman" pitchFamily="18" charset="0"/>
              </a:rPr>
              <a:t>Emphysema</a:t>
            </a:r>
            <a:r>
              <a:rPr lang="en-US" sz="2400" dirty="0">
                <a:cs typeface="Times New Roman" pitchFamily="18" charset="0"/>
              </a:rPr>
              <a:t> – dissolution of many alveolar walls to coalesce alveoli into larger chambers (</a:t>
            </a:r>
            <a:r>
              <a:rPr lang="en-US" sz="2400" b="1" dirty="0">
                <a:cs typeface="Times New Roman" pitchFamily="18" charset="0"/>
              </a:rPr>
              <a:t>surface area decreased as much as 5-fold)</a:t>
            </a:r>
          </a:p>
          <a:p>
            <a:pPr marL="990600" lvl="1" indent="-533400"/>
            <a:endParaRPr lang="en-US" sz="2400" dirty="0">
              <a:cs typeface="Times New Roman" pitchFamily="18" charset="0"/>
            </a:endParaRPr>
          </a:p>
          <a:p>
            <a:pPr marL="990600" lvl="1" indent="-533400"/>
            <a:r>
              <a:rPr lang="en-US" sz="2400" b="1" dirty="0">
                <a:cs typeface="Times New Roman" pitchFamily="18" charset="0"/>
              </a:rPr>
              <a:t>Removal of lung tissue during surgery </a:t>
            </a:r>
            <a:r>
              <a:rPr lang="en-US" sz="2400" dirty="0">
                <a:cs typeface="Times New Roman" pitchFamily="18" charset="0"/>
              </a:rPr>
              <a:t>can be detriment to gas exchange</a:t>
            </a:r>
          </a:p>
        </p:txBody>
      </p:sp>
    </p:spTree>
    <p:extLst>
      <p:ext uri="{BB962C8B-B14F-4D97-AF65-F5344CB8AC3E}">
        <p14:creationId xmlns:p14="http://schemas.microsoft.com/office/powerpoint/2010/main" val="3880380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A1523E4-BB47-A481-13DC-49C2B69C99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68592" y="449826"/>
            <a:ext cx="11110451" cy="2647335"/>
          </a:xfrm>
        </p:spPr>
        <p:txBody>
          <a:bodyPr>
            <a:normAutofit/>
          </a:bodyPr>
          <a:lstStyle/>
          <a:p>
            <a:pPr marL="609600" indent="-609600">
              <a:buFontTx/>
              <a:buNone/>
            </a:pPr>
            <a:r>
              <a:rPr lang="en-US" sz="2800" b="1" dirty="0">
                <a:solidFill>
                  <a:srgbClr val="FF0000"/>
                </a:solidFill>
              </a:rPr>
              <a:t>Diffusion coefficient (D)</a:t>
            </a:r>
          </a:p>
          <a:p>
            <a:pPr marL="609600" indent="-609600" algn="ctr">
              <a:buFontTx/>
              <a:buNone/>
            </a:pPr>
            <a:r>
              <a:rPr lang="en-US" sz="2800" b="1" dirty="0">
                <a:solidFill>
                  <a:srgbClr val="002060"/>
                </a:solidFill>
              </a:rPr>
              <a:t>D=Solubility/Molecular Wt.</a:t>
            </a:r>
          </a:p>
          <a:p>
            <a:pPr lvl="1" indent="0">
              <a:buNone/>
            </a:pPr>
            <a:r>
              <a:rPr lang="en-US" sz="2000" b="1" dirty="0"/>
              <a:t>Directly proportional to solubility </a:t>
            </a:r>
          </a:p>
          <a:p>
            <a:pPr lvl="1" indent="0">
              <a:buNone/>
            </a:pPr>
            <a:r>
              <a:rPr lang="en-US" sz="2000" b="1" dirty="0"/>
              <a:t>Inversely proportional to Wt.</a:t>
            </a:r>
          </a:p>
          <a:p>
            <a:pPr marL="990600" lvl="1" indent="-533400"/>
            <a:r>
              <a:rPr lang="en-US" sz="2000" dirty="0"/>
              <a:t>CO2 diffuses 20 times faster than Oxygen</a:t>
            </a:r>
          </a:p>
          <a:p>
            <a:pPr marL="990600" lvl="1" indent="-533400"/>
            <a:r>
              <a:rPr lang="en-US" sz="2000" dirty="0"/>
              <a:t>Oxygen diffuses twice as rapidly as nitrogen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6D86C99-44D4-C629-A1B2-36AF745FAC66}"/>
              </a:ext>
            </a:extLst>
          </p:cNvPr>
          <p:cNvSpPr txBox="1">
            <a:spLocks noChangeArrowheads="1"/>
          </p:cNvSpPr>
          <p:nvPr/>
        </p:nvSpPr>
        <p:spPr>
          <a:xfrm>
            <a:off x="344131" y="3097161"/>
            <a:ext cx="11179277" cy="3610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2"/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3400" indent="-533400" algn="ctr">
              <a:buFontTx/>
              <a:buNone/>
            </a:pPr>
            <a:endParaRPr lang="en-US" sz="2400" b="1" u="sng" dirty="0"/>
          </a:p>
          <a:p>
            <a:pPr marL="533400" indent="-533400">
              <a:buFontTx/>
              <a:buNone/>
            </a:pPr>
            <a:r>
              <a:rPr lang="en-US" sz="2800" b="1" dirty="0">
                <a:solidFill>
                  <a:srgbClr val="FF0000"/>
                </a:solidFill>
              </a:rPr>
              <a:t>Pressure difference across the respiratory membrane</a:t>
            </a:r>
          </a:p>
          <a:p>
            <a:pPr marL="914400" lvl="1" indent="-457200"/>
            <a:r>
              <a:rPr lang="en-US" sz="2000" dirty="0"/>
              <a:t>Difference in partial pressures of gas in alveoli &amp; pulmonary blood</a:t>
            </a:r>
          </a:p>
          <a:p>
            <a:pPr marL="914400" lvl="1" indent="-457200"/>
            <a:endParaRPr lang="en-US" sz="2000" dirty="0"/>
          </a:p>
          <a:p>
            <a:pPr marL="914400" lvl="1" indent="-457200"/>
            <a:r>
              <a:rPr lang="en-US" sz="2000" dirty="0"/>
              <a:t>This pressure difference is measure of </a:t>
            </a:r>
            <a:r>
              <a:rPr lang="en-US" sz="2000" b="1" i="1" dirty="0"/>
              <a:t>net tendency</a:t>
            </a:r>
            <a:r>
              <a:rPr lang="en-US" sz="2000" b="1" dirty="0"/>
              <a:t> </a:t>
            </a:r>
            <a:r>
              <a:rPr lang="en-US" sz="2000" dirty="0"/>
              <a:t>for gas molecules to move through the membrane</a:t>
            </a:r>
          </a:p>
          <a:p>
            <a:pPr marL="914400" lvl="1" indent="-457200"/>
            <a:endParaRPr lang="en-US" sz="2000" dirty="0"/>
          </a:p>
          <a:p>
            <a:pPr marL="914400" lvl="1" indent="-457200"/>
            <a:r>
              <a:rPr lang="en-US" sz="2000" b="1" dirty="0"/>
              <a:t>Diffusion occurs across the membrane down the pressure gradient</a:t>
            </a:r>
            <a:r>
              <a:rPr lang="en-US" sz="2000" dirty="0"/>
              <a:t>, simple diffusion</a:t>
            </a:r>
          </a:p>
        </p:txBody>
      </p:sp>
    </p:spTree>
    <p:extLst>
      <p:ext uri="{BB962C8B-B14F-4D97-AF65-F5344CB8AC3E}">
        <p14:creationId xmlns:p14="http://schemas.microsoft.com/office/powerpoint/2010/main" val="1341985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03691-68D7-B59B-49F7-DB0B3881C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5800"/>
            <a:ext cx="9963912" cy="105968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DIFFUSING CAPACITY OF RESPIRATORY MEMBRANE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34E61-8E07-6B44-5E99-812DDABBD0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>
                <a:effectLst/>
                <a:latin typeface="Times New Roman" panose="02020603050405020304" pitchFamily="18" charset="0"/>
              </a:rPr>
              <a:t>The volume of a gas that will diffuse through the mem-brane each minute for a partial pressure difference of 1 mm Hg.</a:t>
            </a:r>
          </a:p>
        </p:txBody>
      </p:sp>
    </p:spTree>
    <p:extLst>
      <p:ext uri="{BB962C8B-B14F-4D97-AF65-F5344CB8AC3E}">
        <p14:creationId xmlns:p14="http://schemas.microsoft.com/office/powerpoint/2010/main" val="2355516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2614C-8381-8D15-B9B6-BBB0CCF98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588" y="213360"/>
            <a:ext cx="7388352" cy="1103376"/>
          </a:xfrm>
        </p:spPr>
        <p:txBody>
          <a:bodyPr>
            <a:normAutofit/>
          </a:bodyPr>
          <a:lstStyle/>
          <a:p>
            <a:r>
              <a:rPr lang="en-US" sz="3600" dirty="0"/>
              <a:t>Diffusing Capacity of Oxygen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D8E1A-CD38-CC6F-DB65-698E06E1D9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228" y="1316736"/>
            <a:ext cx="11106912" cy="4602480"/>
          </a:xfrm>
        </p:spPr>
        <p:txBody>
          <a:bodyPr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2060"/>
                </a:solidFill>
              </a:rPr>
              <a:t>Volume of diffused gas= Diffusing capacity × Pressure Difference</a:t>
            </a:r>
          </a:p>
          <a:p>
            <a:pPr marL="274320" lvl="1" indent="0">
              <a:buNone/>
            </a:pPr>
            <a:r>
              <a:rPr lang="en-US" dirty="0">
                <a:solidFill>
                  <a:srgbClr val="333333"/>
                </a:solidFill>
                <a:effectLst/>
              </a:rPr>
              <a:t>The </a:t>
            </a:r>
            <a:r>
              <a:rPr lang="en-US" b="1" dirty="0">
                <a:solidFill>
                  <a:srgbClr val="333333"/>
                </a:solidFill>
                <a:effectLst/>
              </a:rPr>
              <a:t>diffusing capacity for oxygen </a:t>
            </a:r>
            <a:r>
              <a:rPr lang="en-US" dirty="0">
                <a:solidFill>
                  <a:srgbClr val="333333"/>
                </a:solidFill>
                <a:effectLst/>
              </a:rPr>
              <a:t>=</a:t>
            </a:r>
            <a:r>
              <a:rPr lang="en-US" b="1" dirty="0">
                <a:solidFill>
                  <a:srgbClr val="333333"/>
                </a:solidFill>
                <a:effectLst/>
              </a:rPr>
              <a:t>21 ml/min/mm Hg.</a:t>
            </a:r>
          </a:p>
          <a:p>
            <a:pPr marL="274320" lvl="1" indent="0">
              <a:buNone/>
            </a:pPr>
            <a:r>
              <a:rPr lang="en-US" i="0" dirty="0">
                <a:solidFill>
                  <a:srgbClr val="333333"/>
                </a:solidFill>
                <a:effectLst/>
              </a:rPr>
              <a:t>The mean </a:t>
            </a:r>
            <a:r>
              <a:rPr lang="en-US" b="1" i="0" dirty="0">
                <a:solidFill>
                  <a:srgbClr val="333333"/>
                </a:solidFill>
                <a:effectLst/>
              </a:rPr>
              <a:t>oxygen pressure difference </a:t>
            </a:r>
            <a:r>
              <a:rPr lang="en-US" i="0" dirty="0">
                <a:solidFill>
                  <a:srgbClr val="333333"/>
                </a:solidFill>
                <a:effectLst/>
              </a:rPr>
              <a:t>=</a:t>
            </a:r>
            <a:r>
              <a:rPr lang="en-US" b="1" i="0" dirty="0">
                <a:solidFill>
                  <a:srgbClr val="333333"/>
                </a:solidFill>
                <a:effectLst/>
              </a:rPr>
              <a:t>11 mm Hg</a:t>
            </a:r>
          </a:p>
          <a:p>
            <a:pPr marL="274320" lvl="1" indent="0">
              <a:buNone/>
            </a:pPr>
            <a:r>
              <a:rPr lang="en-US" b="1" dirty="0">
                <a:solidFill>
                  <a:srgbClr val="333333"/>
                </a:solidFill>
              </a:rPr>
              <a:t>Total oxygen uptake= (11mmHg× 21ml) =230ml per minute at Rest</a:t>
            </a:r>
            <a:r>
              <a:rPr lang="en-US" dirty="0">
                <a:solidFill>
                  <a:srgbClr val="333333"/>
                </a:solidFill>
              </a:rPr>
              <a:t>.</a:t>
            </a:r>
          </a:p>
          <a:p>
            <a:pPr marL="274320" lvl="1" indent="0">
              <a:buNone/>
            </a:pPr>
            <a:endParaRPr lang="en-US" dirty="0">
              <a:solidFill>
                <a:srgbClr val="333333"/>
              </a:solidFill>
            </a:endParaRPr>
          </a:p>
          <a:p>
            <a:r>
              <a:rPr lang="en-US" sz="1800" dirty="0"/>
              <a:t>This rate of diffusing </a:t>
            </a:r>
            <a:r>
              <a:rPr lang="en-US" sz="1800" b="1" dirty="0"/>
              <a:t>capacity increases up to three times </a:t>
            </a:r>
            <a:r>
              <a:rPr lang="en-US" sz="1800" dirty="0"/>
              <a:t>during strenuous </a:t>
            </a:r>
            <a:r>
              <a:rPr lang="en-US" sz="1800" b="1" dirty="0"/>
              <a:t>exercise.</a:t>
            </a:r>
          </a:p>
          <a:p>
            <a:r>
              <a:rPr lang="en-US" sz="1800" dirty="0"/>
              <a:t>This is due to</a:t>
            </a:r>
          </a:p>
          <a:p>
            <a:pPr lvl="1"/>
            <a:r>
              <a:rPr lang="en-US" b="0" i="0" dirty="0">
                <a:effectLst/>
              </a:rPr>
              <a:t> </a:t>
            </a:r>
            <a:r>
              <a:rPr lang="en-US" b="1" i="0" dirty="0">
                <a:effectLst/>
              </a:rPr>
              <a:t>opening up </a:t>
            </a:r>
            <a:r>
              <a:rPr lang="en-US" b="0" i="0" dirty="0">
                <a:effectLst/>
              </a:rPr>
              <a:t>of many previously </a:t>
            </a:r>
            <a:r>
              <a:rPr lang="en-US" b="1" i="0" dirty="0">
                <a:effectLst/>
              </a:rPr>
              <a:t>dormant pulmonary capillaries or extra dilation </a:t>
            </a:r>
            <a:r>
              <a:rPr lang="en-US" b="0" i="0" dirty="0">
                <a:effectLst/>
              </a:rPr>
              <a:t>of already open capillaries</a:t>
            </a:r>
          </a:p>
          <a:p>
            <a:pPr lvl="1"/>
            <a:r>
              <a:rPr lang="en-US" b="0" i="0" dirty="0">
                <a:effectLst/>
              </a:rPr>
              <a:t>a better match between </a:t>
            </a:r>
            <a:r>
              <a:rPr lang="en-US" b="1" i="0" dirty="0">
                <a:effectLst/>
              </a:rPr>
              <a:t>the ventilation of the alveoli and the perfusion of the alveolar capillaries </a:t>
            </a:r>
            <a:r>
              <a:rPr lang="en-US" b="0" i="0" dirty="0">
                <a:effectLst/>
              </a:rPr>
              <a:t>with blood, called the </a:t>
            </a:r>
            <a:r>
              <a:rPr lang="en-US" b="1" i="1" dirty="0">
                <a:effectLst/>
              </a:rPr>
              <a:t>ventilation-perfusion ratio</a:t>
            </a:r>
            <a:endParaRPr lang="en-US" b="1" dirty="0"/>
          </a:p>
          <a:p>
            <a:pPr marL="0" indent="0">
              <a:buNone/>
            </a:pPr>
            <a:endParaRPr lang="en-US" dirty="0">
              <a:solidFill>
                <a:srgbClr val="333333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97929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47831-8EFA-1CEB-879E-D8A737FA2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236220"/>
            <a:ext cx="5910072" cy="1522476"/>
          </a:xfrm>
        </p:spPr>
        <p:txBody>
          <a:bodyPr>
            <a:normAutofit/>
          </a:bodyPr>
          <a:lstStyle/>
          <a:p>
            <a:r>
              <a:rPr lang="en-US" sz="3200" dirty="0"/>
              <a:t>Diffusing Capacity For Carbon dioxide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7BF5B-0CC4-21B5-F277-EA28297648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735" y="2199722"/>
            <a:ext cx="4652772" cy="4061460"/>
          </a:xfrm>
        </p:spPr>
        <p:txBody>
          <a:bodyPr/>
          <a:lstStyle/>
          <a:p>
            <a:r>
              <a:rPr lang="en-US" dirty="0"/>
              <a:t>Carbon dioxide diffuses </a:t>
            </a:r>
            <a:r>
              <a:rPr lang="en-US" b="1" dirty="0"/>
              <a:t>20 times more rapidly than O2.</a:t>
            </a:r>
          </a:p>
          <a:p>
            <a:r>
              <a:rPr lang="en-US" dirty="0"/>
              <a:t>At rest, Co2 diffusing capacity= </a:t>
            </a:r>
            <a:r>
              <a:rPr lang="en-US" b="1" dirty="0"/>
              <a:t>400-450ml/min</a:t>
            </a:r>
          </a:p>
          <a:p>
            <a:r>
              <a:rPr lang="en-US" dirty="0"/>
              <a:t>During Exercise= </a:t>
            </a:r>
            <a:r>
              <a:rPr lang="en-US" b="1" dirty="0"/>
              <a:t>1200 to 1300ml/min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7208C8-BADF-0EA9-5537-1EFB178B40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2" y="0"/>
            <a:ext cx="4652772" cy="6875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2530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8E364-D9A6-7C9D-39BE-D9E6ADA09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VENTILATION &amp; PERFUSION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0C259-9966-584D-E727-116F7EFF1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624" y="2093976"/>
            <a:ext cx="10589768" cy="429260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ym typeface="Wingdings" pitchFamily="2" charset="2"/>
              </a:rPr>
              <a:t>VENTILATION </a:t>
            </a:r>
            <a:r>
              <a:rPr lang="en-US" b="1" dirty="0">
                <a:solidFill>
                  <a:srgbClr val="FF0000"/>
                </a:solidFill>
                <a:sym typeface="Wingdings" pitchFamily="2" charset="2"/>
              </a:rPr>
              <a:t>(V)</a:t>
            </a:r>
          </a:p>
          <a:p>
            <a:pPr marL="0" indent="0">
              <a:buNone/>
            </a:pPr>
            <a:r>
              <a:rPr lang="en-US" dirty="0">
                <a:sym typeface="Wingdings" pitchFamily="2" charset="2"/>
              </a:rPr>
              <a:t>T</a:t>
            </a:r>
            <a:r>
              <a:rPr lang="en-US" dirty="0"/>
              <a:t>he rate at  which air enters or leaves the lungs.</a:t>
            </a:r>
          </a:p>
          <a:p>
            <a:r>
              <a:rPr lang="en-US" dirty="0"/>
              <a:t>Types : </a:t>
            </a:r>
          </a:p>
          <a:p>
            <a:pPr lvl="1"/>
            <a:r>
              <a:rPr lang="en-US" b="1" dirty="0"/>
              <a:t>Pulmonary Ventilation</a:t>
            </a:r>
          </a:p>
          <a:p>
            <a:pPr lvl="1"/>
            <a:r>
              <a:rPr lang="en-US" b="1" dirty="0"/>
              <a:t>Alveolar Ventilation</a:t>
            </a:r>
          </a:p>
          <a:p>
            <a:endParaRPr lang="en-US" b="1" dirty="0"/>
          </a:p>
          <a:p>
            <a:pPr marL="0" indent="0">
              <a:buNone/>
            </a:pPr>
            <a:r>
              <a:rPr lang="en-US" b="1" dirty="0"/>
              <a:t>PERFUSION </a:t>
            </a:r>
            <a:r>
              <a:rPr lang="en-US" b="1" dirty="0">
                <a:solidFill>
                  <a:srgbClr val="FF0000"/>
                </a:solidFill>
              </a:rPr>
              <a:t>(Q)</a:t>
            </a:r>
          </a:p>
          <a:p>
            <a:pPr marL="0" indent="0">
              <a:buNone/>
            </a:pPr>
            <a:r>
              <a:rPr lang="en-US" dirty="0"/>
              <a:t>The volume of blood reaching the alveoli via pulmonary vessels including</a:t>
            </a:r>
            <a:r>
              <a:rPr lang="en-US" sz="1800" dirty="0"/>
              <a:t> </a:t>
            </a:r>
            <a:r>
              <a:rPr lang="en-US" altLang="en-US" sz="1800" b="1" dirty="0"/>
              <a:t>Pulmonary artery, smaller arteries, and arterioles.</a:t>
            </a:r>
          </a:p>
          <a:p>
            <a:pPr marL="0" indent="0">
              <a:buNone/>
            </a:pPr>
            <a:endParaRPr lang="en-US" altLang="en-US" sz="1800" b="1" dirty="0"/>
          </a:p>
          <a:p>
            <a:pPr lvl="1"/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49935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969A3-5E62-2B0C-7BD8-76DB80D8D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016000"/>
            <a:ext cx="10305288" cy="51562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 1) Pulmonary Ventilation (</a:t>
            </a:r>
            <a:r>
              <a:rPr lang="en-US" dirty="0"/>
              <a:t>minute ventilation or respiratory minute volume)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 Volume </a:t>
            </a:r>
            <a:r>
              <a:rPr lang="en-US" b="1" u="sng" dirty="0"/>
              <a:t>of air moving in and out of respiratory tract in a given unit of time </a:t>
            </a:r>
            <a:r>
              <a:rPr lang="en-US" dirty="0"/>
              <a:t>during quiet breathing</a:t>
            </a:r>
          </a:p>
          <a:p>
            <a:r>
              <a:rPr lang="en-US" b="1" u="sng" dirty="0"/>
              <a:t>Pulmonary Ventilation</a:t>
            </a:r>
            <a:r>
              <a:rPr lang="en-US" dirty="0"/>
              <a:t>= Tidal volume X Respiratory Rate </a:t>
            </a:r>
          </a:p>
          <a:p>
            <a:pPr marL="0" indent="0">
              <a:buNone/>
            </a:pPr>
            <a:r>
              <a:rPr lang="en-US" dirty="0"/>
              <a:t>                                             = 500 ml x 12/minute</a:t>
            </a:r>
          </a:p>
          <a:p>
            <a:pPr marL="0" indent="0">
              <a:buNone/>
            </a:pPr>
            <a:r>
              <a:rPr lang="en-US" dirty="0"/>
              <a:t>                                             = </a:t>
            </a:r>
            <a:r>
              <a:rPr lang="en-US" b="1" dirty="0"/>
              <a:t>6000 ml/minute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2) Alveolar ventilation: </a:t>
            </a:r>
            <a:r>
              <a:rPr lang="en-US" dirty="0"/>
              <a:t>It is the amount of </a:t>
            </a:r>
            <a:r>
              <a:rPr lang="en-US" b="1" u="sng" dirty="0"/>
              <a:t>air utilized for gaseous exchange every minute.</a:t>
            </a:r>
          </a:p>
          <a:p>
            <a:pPr marL="0" indent="0">
              <a:buNone/>
            </a:pPr>
            <a:r>
              <a:rPr lang="en-US" dirty="0"/>
              <a:t>Alveolar ventilation </a:t>
            </a:r>
          </a:p>
          <a:p>
            <a:pPr marL="0" indent="0">
              <a:buNone/>
            </a:pPr>
            <a:r>
              <a:rPr lang="en-US" dirty="0"/>
              <a:t>                   = (Tidal volume – Dead space) X Respiratory Rate</a:t>
            </a:r>
          </a:p>
          <a:p>
            <a:pPr marL="0" indent="0">
              <a:buNone/>
            </a:pPr>
            <a:r>
              <a:rPr lang="en-US" dirty="0"/>
              <a:t>                   = ( 500 – 150 ) ml x 12/minute</a:t>
            </a:r>
          </a:p>
          <a:p>
            <a:pPr marL="0" indent="0">
              <a:buNone/>
            </a:pPr>
            <a:r>
              <a:rPr lang="en-US" dirty="0"/>
              <a:t>                   = </a:t>
            </a:r>
            <a:r>
              <a:rPr lang="en-US" b="1" dirty="0"/>
              <a:t>4200ml/minute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29407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987E8-AB0C-5DB0-5026-FB4DCDE39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ZONES OF PERFUSION</a:t>
            </a:r>
          </a:p>
        </p:txBody>
      </p:sp>
      <p:pic>
        <p:nvPicPr>
          <p:cNvPr id="4" name="Content Placeholder 3" descr="C:\Users\Karsang\Desktop\lung zones.jpg">
            <a:extLst>
              <a:ext uri="{FF2B5EF4-FFF2-40B4-BE49-F238E27FC236}">
                <a16:creationId xmlns:a16="http://schemas.microsoft.com/office/drawing/2014/main" id="{131F7859-FD86-90F8-8562-C331F436881D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96" b="13023"/>
          <a:stretch/>
        </p:blipFill>
        <p:spPr bwMode="auto">
          <a:xfrm>
            <a:off x="5637276" y="1463040"/>
            <a:ext cx="6341364" cy="448056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E28AD0-6717-CBA9-9743-3757B25956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0568" y="2093976"/>
            <a:ext cx="5259832" cy="3977640"/>
          </a:xfrm>
        </p:spPr>
        <p:txBody>
          <a:bodyPr/>
          <a:lstStyle/>
          <a:p>
            <a:r>
              <a:rPr lang="en-US" dirty="0"/>
              <a:t>Pulmonary distribution of blood flow is in three zones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b="1" dirty="0"/>
              <a:t>Zone 1  (no flow)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b="1" dirty="0"/>
              <a:t>Zone 2 –Apex (intermittent flow)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b="1" dirty="0"/>
              <a:t>Zone 3- Base(Continuous flow)</a:t>
            </a:r>
          </a:p>
          <a:p>
            <a:endParaRPr lang="en-US" b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296448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Karsang\Desktop\photo-1.jpg">
            <a:extLst>
              <a:ext uri="{FF2B5EF4-FFF2-40B4-BE49-F238E27FC236}">
                <a16:creationId xmlns:a16="http://schemas.microsoft.com/office/drawing/2014/main" id="{D1F49B45-92A1-EDA2-2836-416B4CB549E6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66944" y="383540"/>
            <a:ext cx="6777603" cy="581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A57ADD9-A41E-6C49-8FAA-AEF42D8235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7453" y="657860"/>
            <a:ext cx="5648960" cy="5679440"/>
          </a:xfrm>
        </p:spPr>
        <p:txBody>
          <a:bodyPr>
            <a:noAutofit/>
          </a:bodyPr>
          <a:lstStyle/>
          <a:p>
            <a:r>
              <a:rPr lang="en-US" sz="2400" b="1" dirty="0"/>
              <a:t>Zone 1</a:t>
            </a:r>
          </a:p>
          <a:p>
            <a:pPr lvl="1"/>
            <a:r>
              <a:rPr lang="en-US" sz="2400" b="1" dirty="0"/>
              <a:t> ↑ Intrapleural alveolar pressure</a:t>
            </a:r>
            <a:r>
              <a:rPr lang="en-US" sz="2400" dirty="0"/>
              <a:t>, </a:t>
            </a:r>
          </a:p>
          <a:p>
            <a:pPr lvl="1"/>
            <a:r>
              <a:rPr lang="en-US" sz="2400" dirty="0"/>
              <a:t>↓ Arterial pressure due to gravity </a:t>
            </a:r>
          </a:p>
          <a:p>
            <a:pPr lvl="1"/>
            <a:r>
              <a:rPr lang="en-US" sz="2400" dirty="0"/>
              <a:t>No perfusion</a:t>
            </a:r>
          </a:p>
          <a:p>
            <a:r>
              <a:rPr lang="en-US" sz="2400" b="1" dirty="0"/>
              <a:t>Zone 2</a:t>
            </a:r>
          </a:p>
          <a:p>
            <a:pPr lvl="1"/>
            <a:r>
              <a:rPr lang="en-US" sz="2400" b="1" dirty="0"/>
              <a:t>Arterial pressure greater than alveolar and venous pressure</a:t>
            </a:r>
            <a:r>
              <a:rPr lang="en-US" sz="2400" dirty="0"/>
              <a:t>, hence intermittent perfusion</a:t>
            </a:r>
          </a:p>
          <a:p>
            <a:r>
              <a:rPr lang="en-US" sz="2400" b="1" dirty="0"/>
              <a:t>Zone 3</a:t>
            </a:r>
          </a:p>
          <a:p>
            <a:pPr lvl="1"/>
            <a:r>
              <a:rPr lang="en-US" sz="2400" dirty="0"/>
              <a:t>Smaller alveoli, lowest alveolar pressure</a:t>
            </a:r>
          </a:p>
          <a:p>
            <a:pPr lvl="1"/>
            <a:r>
              <a:rPr lang="en-US" sz="2400" b="1" dirty="0"/>
              <a:t>Greater arterial pressure due to gravity</a:t>
            </a:r>
          </a:p>
          <a:p>
            <a:pPr lvl="1"/>
            <a:r>
              <a:rPr lang="en-US" sz="2400" dirty="0"/>
              <a:t>Maximal Perfusion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821087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E6DDF-2A13-F807-447B-4BE3C067C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49504"/>
            <a:ext cx="10058400" cy="1609344"/>
          </a:xfrm>
        </p:spPr>
        <p:txBody>
          <a:bodyPr/>
          <a:lstStyle/>
          <a:p>
            <a:r>
              <a:rPr lang="en-US" dirty="0"/>
              <a:t>ZONES OF VENTILATION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961B9-865D-3E14-0CCB-A25D8A3A73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4320" y="1440180"/>
            <a:ext cx="4754880" cy="4909820"/>
          </a:xfrm>
        </p:spPr>
        <p:txBody>
          <a:bodyPr>
            <a:normAutofit/>
          </a:bodyPr>
          <a:lstStyle/>
          <a:p>
            <a:r>
              <a:rPr lang="en-US" b="1" dirty="0"/>
              <a:t>Zone 1</a:t>
            </a:r>
          </a:p>
          <a:p>
            <a:pPr lvl="1"/>
            <a:r>
              <a:rPr lang="en-US" dirty="0"/>
              <a:t>Greater diameter of alveoli, maximal ventilation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b="1" dirty="0"/>
              <a:t>Zone 2</a:t>
            </a:r>
          </a:p>
          <a:p>
            <a:pPr lvl="1"/>
            <a:r>
              <a:rPr lang="en-US" b="1" dirty="0"/>
              <a:t>Intermittent size of alveoli</a:t>
            </a:r>
          </a:p>
          <a:p>
            <a:pPr lvl="1"/>
            <a:endParaRPr lang="en-US" b="1" dirty="0"/>
          </a:p>
          <a:p>
            <a:pPr lvl="1"/>
            <a:endParaRPr lang="en-US" b="1" dirty="0"/>
          </a:p>
          <a:p>
            <a:pPr lvl="1"/>
            <a:endParaRPr lang="en-US" b="1" dirty="0"/>
          </a:p>
          <a:p>
            <a:r>
              <a:rPr lang="en-US" b="1" dirty="0"/>
              <a:t>Zone 3</a:t>
            </a:r>
          </a:p>
          <a:p>
            <a:pPr lvl="1"/>
            <a:r>
              <a:rPr lang="en-US" dirty="0"/>
              <a:t>Smallest size of alveoli</a:t>
            </a:r>
          </a:p>
          <a:p>
            <a:pPr lvl="1"/>
            <a:endParaRPr lang="en-US" dirty="0"/>
          </a:p>
        </p:txBody>
      </p:sp>
      <p:pic>
        <p:nvPicPr>
          <p:cNvPr id="5" name="Picture 2" descr="G:\regional_differences_in_ventilation_-_gravity1325972748756.jpg">
            <a:extLst>
              <a:ext uri="{FF2B5EF4-FFF2-40B4-BE49-F238E27FC236}">
                <a16:creationId xmlns:a16="http://schemas.microsoft.com/office/drawing/2014/main" id="{AA687291-B62C-22B9-33BE-DB6F7E2D04E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91" r="1966"/>
          <a:stretch/>
        </p:blipFill>
        <p:spPr bwMode="auto">
          <a:xfrm>
            <a:off x="5043487" y="975360"/>
            <a:ext cx="7148513" cy="5598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5048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023F1-F6D7-3B4E-0A69-42A1B8972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Ventilation/Perfusion (V/Q) Ratio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489D6-6A3B-66DC-BAF4-2852095431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53796" y="2022856"/>
            <a:ext cx="10579608" cy="4191000"/>
          </a:xfrm>
        </p:spPr>
        <p:txBody>
          <a:bodyPr>
            <a:normAutofit/>
          </a:bodyPr>
          <a:lstStyle/>
          <a:p>
            <a:r>
              <a:rPr lang="en-US" sz="2800" u="sng" dirty="0"/>
              <a:t>It is the ratio of alveolar ventilation and the amount of blood that perfuse the alveoli.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/>
              <a:t>V/Q= </a:t>
            </a:r>
            <a:r>
              <a:rPr lang="en-US" sz="2800" b="1" i="1" dirty="0"/>
              <a:t>alveolar ventilation ÷ pulmonary blood flow</a:t>
            </a:r>
          </a:p>
          <a:p>
            <a:pPr marL="0" indent="0">
              <a:buNone/>
            </a:pPr>
            <a:r>
              <a:rPr lang="en-US" sz="2800" dirty="0"/>
              <a:t>Alveolar ventilation </a:t>
            </a:r>
            <a:r>
              <a:rPr lang="en-US" sz="2800" b="1" dirty="0"/>
              <a:t>(V)=</a:t>
            </a:r>
            <a:r>
              <a:rPr lang="en-US" sz="2800" dirty="0"/>
              <a:t> 4200ml/minute</a:t>
            </a:r>
          </a:p>
          <a:p>
            <a:pPr marL="0" indent="0">
              <a:buNone/>
            </a:pPr>
            <a:r>
              <a:rPr lang="en-US" sz="2800" dirty="0"/>
              <a:t>Pulmonary blood flow</a:t>
            </a:r>
            <a:r>
              <a:rPr lang="en-US" sz="2800" b="1" dirty="0"/>
              <a:t>(Q)</a:t>
            </a:r>
            <a:r>
              <a:rPr lang="en-US" sz="2800" dirty="0"/>
              <a:t>=5000ml/minute</a:t>
            </a:r>
          </a:p>
          <a:p>
            <a:pPr marL="0" indent="0">
              <a:buNone/>
            </a:pPr>
            <a:r>
              <a:rPr lang="en-US" sz="2800" dirty="0"/>
              <a:t>So, </a:t>
            </a:r>
            <a:r>
              <a:rPr lang="en-US" sz="2800" b="1" dirty="0"/>
              <a:t>V/Q= 0.84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112271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745901-C4F0-72C5-26B1-8979B3E4156F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090168" y="1036320"/>
            <a:ext cx="10543032" cy="5201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Tx/>
              <a:buNone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812800" indent="-812800" algn="l" eaLnBrk="1" hangingPunct="1">
              <a:lnSpc>
                <a:spcPct val="90000"/>
              </a:lnSpc>
              <a:defRPr/>
            </a:pPr>
            <a:endParaRPr lang="en-US" sz="2400" dirty="0">
              <a:effectLst/>
            </a:endParaRPr>
          </a:p>
          <a:p>
            <a:pPr marL="812800" indent="-812800" algn="l" eaLnBrk="1" hangingPunct="1">
              <a:lnSpc>
                <a:spcPct val="90000"/>
              </a:lnSpc>
              <a:defRPr/>
            </a:pPr>
            <a:r>
              <a:rPr lang="en-US" sz="2400" dirty="0">
                <a:effectLst/>
              </a:rPr>
              <a:t>Alveolar PO2 and PCO2 is determined by two factors </a:t>
            </a:r>
          </a:p>
          <a:p>
            <a:pPr marL="812800" indent="-812800" algn="l" eaLnBrk="1" hangingPunct="1">
              <a:lnSpc>
                <a:spcPct val="90000"/>
              </a:lnSpc>
              <a:buFontTx/>
              <a:buAutoNum type="alphaLcPeriod"/>
              <a:defRPr/>
            </a:pPr>
            <a:r>
              <a:rPr lang="en-US" sz="2400" b="1" dirty="0">
                <a:effectLst/>
              </a:rPr>
              <a:t>Rate of alveolar ventilation (VA)</a:t>
            </a:r>
          </a:p>
          <a:p>
            <a:pPr marL="812800" indent="-812800" algn="l" eaLnBrk="1" hangingPunct="1">
              <a:lnSpc>
                <a:spcPct val="90000"/>
              </a:lnSpc>
              <a:buFontTx/>
              <a:buAutoNum type="alphaLcPeriod"/>
              <a:defRPr/>
            </a:pPr>
            <a:r>
              <a:rPr lang="en-US" sz="2400" b="1" dirty="0">
                <a:effectLst/>
              </a:rPr>
              <a:t>Rate of transfer of O2 ,CO2 through respiratory membrane (Rate of blood flow) (Q)</a:t>
            </a:r>
          </a:p>
          <a:p>
            <a:pPr algn="l" eaLnBrk="1" hangingPunct="1">
              <a:lnSpc>
                <a:spcPct val="90000"/>
              </a:lnSpc>
              <a:defRPr/>
            </a:pPr>
            <a:endParaRPr lang="en-US" sz="2400" b="1" dirty="0">
              <a:effectLst/>
            </a:endParaRPr>
          </a:p>
          <a:p>
            <a:pPr marL="812800" indent="-812800" algn="l" eaLnBrk="1" hangingPunct="1">
              <a:lnSpc>
                <a:spcPct val="90000"/>
              </a:lnSpc>
              <a:defRPr/>
            </a:pPr>
            <a:r>
              <a:rPr lang="en-US" sz="2400" b="1" dirty="0">
                <a:effectLst/>
              </a:rPr>
              <a:t>				</a:t>
            </a:r>
          </a:p>
        </p:txBody>
      </p:sp>
    </p:spTree>
    <p:extLst>
      <p:ext uri="{BB962C8B-B14F-4D97-AF65-F5344CB8AC3E}">
        <p14:creationId xmlns:p14="http://schemas.microsoft.com/office/powerpoint/2010/main" val="40608755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06B53-5102-AE68-83B6-8F7DF7F5502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133600" y="484188"/>
            <a:ext cx="10058400" cy="1609725"/>
          </a:xfrm>
        </p:spPr>
        <p:txBody>
          <a:bodyPr/>
          <a:lstStyle/>
          <a:p>
            <a:r>
              <a:rPr lang="en-US" dirty="0"/>
              <a:t>V/Q In ZONES OF LUNGS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5B7AE6-9564-6510-9C47-8BE11A77D325}"/>
              </a:ext>
            </a:extLst>
          </p:cNvPr>
          <p:cNvSpPr txBox="1"/>
          <p:nvPr/>
        </p:nvSpPr>
        <p:spPr>
          <a:xfrm>
            <a:off x="355600" y="2244060"/>
            <a:ext cx="821944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u="sng" dirty="0"/>
              <a:t> Zone 1: </a:t>
            </a:r>
            <a:r>
              <a:rPr lang="en-US" sz="2400" dirty="0"/>
              <a:t>Ventilation(V)</a:t>
            </a:r>
            <a:r>
              <a:rPr lang="en-GB" sz="2400" dirty="0"/>
              <a:t> &gt;&gt;&gt; Perfusion(Q)</a:t>
            </a:r>
          </a:p>
          <a:p>
            <a:pPr marL="0" indent="0">
              <a:buNone/>
            </a:pPr>
            <a:r>
              <a:rPr lang="en-US" sz="2400" dirty="0"/>
              <a:t>                </a:t>
            </a:r>
            <a:r>
              <a:rPr lang="en-US" sz="2400" b="1" dirty="0"/>
              <a:t>V/Q= 3.4 (high)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u="sng" dirty="0"/>
              <a:t>Zone 2: </a:t>
            </a:r>
            <a:r>
              <a:rPr lang="en-US" sz="2400" dirty="0"/>
              <a:t>Ventilation(V) = Perfusion(Q)</a:t>
            </a:r>
          </a:p>
          <a:p>
            <a:pPr marL="0" indent="0">
              <a:buNone/>
            </a:pPr>
            <a:r>
              <a:rPr lang="en-US" sz="2400" dirty="0"/>
              <a:t>             </a:t>
            </a:r>
            <a:r>
              <a:rPr lang="en-US" sz="2400" b="1" dirty="0"/>
              <a:t>V/Q= 0.8 (average)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u="sng" dirty="0"/>
              <a:t>Zone 3: </a:t>
            </a:r>
            <a:r>
              <a:rPr lang="en-US" sz="2400" dirty="0"/>
              <a:t>Perfusion(Q) &gt;&gt;&gt; Ventilation(V)</a:t>
            </a:r>
          </a:p>
          <a:p>
            <a:pPr marL="0" indent="0">
              <a:buNone/>
            </a:pPr>
            <a:r>
              <a:rPr lang="en-US" sz="2400" dirty="0"/>
              <a:t>             </a:t>
            </a:r>
            <a:r>
              <a:rPr lang="en-US" sz="2400" b="1" dirty="0"/>
              <a:t>V/Q=0.63(low)</a:t>
            </a:r>
          </a:p>
        </p:txBody>
      </p:sp>
    </p:spTree>
    <p:extLst>
      <p:ext uri="{BB962C8B-B14F-4D97-AF65-F5344CB8AC3E}">
        <p14:creationId xmlns:p14="http://schemas.microsoft.com/office/powerpoint/2010/main" val="14198138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AABA66A-60DB-D816-798C-50A4AED5A88A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944880" y="1130300"/>
            <a:ext cx="82296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en-US" sz="2800" b="1" dirty="0"/>
              <a:t>VA</a:t>
            </a:r>
            <a:r>
              <a:rPr lang="en-US" altLang="en-US" sz="2800" b="1" baseline="30000" dirty="0"/>
              <a:t>0</a:t>
            </a:r>
            <a:r>
              <a:rPr lang="en-US" altLang="en-US" sz="2800" b="1" dirty="0"/>
              <a:t> / Q</a:t>
            </a:r>
            <a:r>
              <a:rPr lang="en-US" altLang="en-US" sz="2800" b="1" baseline="30000" dirty="0"/>
              <a:t>0</a:t>
            </a:r>
            <a:r>
              <a:rPr lang="en-US" altLang="en-US" sz="2800" b="1" dirty="0"/>
              <a:t> – Zero; When ventilation is zero, but perfusion is still there.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800" b="1" dirty="0"/>
              <a:t>		PO</a:t>
            </a:r>
            <a:r>
              <a:rPr lang="en-US" altLang="en-US" sz="2800" b="1" baseline="-25000" dirty="0"/>
              <a:t>2 </a:t>
            </a:r>
            <a:r>
              <a:rPr lang="en-US" altLang="en-US" sz="2800" b="1" dirty="0"/>
              <a:t>=40 mm Hg  	 PCO</a:t>
            </a:r>
            <a:r>
              <a:rPr lang="en-US" altLang="en-US" sz="2800" b="1" baseline="-25000" dirty="0"/>
              <a:t>2</a:t>
            </a:r>
            <a:r>
              <a:rPr lang="en-US" altLang="en-US" sz="2800" b="1" dirty="0"/>
              <a:t> = 45 mm Hg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altLang="en-US" b="1" dirty="0"/>
          </a:p>
          <a:p>
            <a:pPr eaLnBrk="1" hangingPunct="1">
              <a:lnSpc>
                <a:spcPct val="90000"/>
              </a:lnSpc>
            </a:pPr>
            <a:r>
              <a:rPr lang="en-US" altLang="en-US" sz="2800" b="1" dirty="0"/>
              <a:t>VA</a:t>
            </a:r>
            <a:r>
              <a:rPr lang="en-US" altLang="en-US" sz="2800" b="1" baseline="30000" dirty="0"/>
              <a:t>0</a:t>
            </a:r>
            <a:r>
              <a:rPr lang="en-US" altLang="en-US" sz="2800" b="1" dirty="0"/>
              <a:t> / Q</a:t>
            </a:r>
            <a:r>
              <a:rPr lang="en-US" altLang="en-US" sz="2800" b="1" baseline="30000" dirty="0"/>
              <a:t>0</a:t>
            </a:r>
            <a:r>
              <a:rPr lang="en-US" altLang="en-US" sz="2800" b="1" dirty="0"/>
              <a:t>  - Infinity ; When ventilation is adequate but perfusion is zero.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800" b="1" dirty="0"/>
              <a:t>		PO</a:t>
            </a:r>
            <a:r>
              <a:rPr lang="en-US" altLang="en-US" sz="2800" b="1" baseline="-25000" dirty="0"/>
              <a:t>2</a:t>
            </a:r>
            <a:r>
              <a:rPr lang="en-US" altLang="en-US" sz="2800" b="1" dirty="0"/>
              <a:t> = 149 mm Hg 	PCO</a:t>
            </a:r>
            <a:r>
              <a:rPr lang="en-US" altLang="en-US" sz="2800" b="1" baseline="-25000" dirty="0"/>
              <a:t>2</a:t>
            </a:r>
            <a:r>
              <a:rPr lang="en-US" altLang="en-US" sz="2800" b="1" dirty="0"/>
              <a:t> = 0 mm Hg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2800" b="1" dirty="0"/>
          </a:p>
          <a:p>
            <a:pPr eaLnBrk="1" hangingPunct="1">
              <a:lnSpc>
                <a:spcPct val="90000"/>
              </a:lnSpc>
            </a:pPr>
            <a:r>
              <a:rPr lang="en-US" altLang="en-US" sz="2800" b="1" dirty="0"/>
              <a:t>VA</a:t>
            </a:r>
            <a:r>
              <a:rPr lang="en-US" altLang="en-US" sz="2800" b="1" baseline="30000" dirty="0"/>
              <a:t>0</a:t>
            </a:r>
            <a:r>
              <a:rPr lang="en-US" altLang="en-US" sz="2800" b="1" dirty="0"/>
              <a:t> / Q</a:t>
            </a:r>
            <a:r>
              <a:rPr lang="en-US" altLang="en-US" sz="2800" b="1" baseline="30000" dirty="0"/>
              <a:t>0</a:t>
            </a:r>
            <a:r>
              <a:rPr lang="en-US" altLang="en-US" sz="2800" b="1" dirty="0"/>
              <a:t> – Normal ;When ventilation and perfusion are normal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800" b="1" dirty="0"/>
              <a:t>		PO</a:t>
            </a:r>
            <a:r>
              <a:rPr lang="en-US" altLang="en-US" sz="2800" b="1" baseline="-25000" dirty="0"/>
              <a:t>2</a:t>
            </a:r>
            <a:r>
              <a:rPr lang="en-US" altLang="en-US" sz="2800" b="1" dirty="0"/>
              <a:t> = 104 mm Hg  	 PCO</a:t>
            </a:r>
            <a:r>
              <a:rPr lang="en-US" altLang="en-US" sz="2800" b="1" baseline="-25000" dirty="0"/>
              <a:t>2</a:t>
            </a:r>
            <a:r>
              <a:rPr lang="en-US" altLang="en-US" sz="2800" b="1" dirty="0"/>
              <a:t> = 40 mm Hg</a:t>
            </a:r>
            <a:endParaRPr lang="en-US" altLang="en-US" sz="2800" b="1" u="sng" dirty="0"/>
          </a:p>
          <a:p>
            <a:pPr eaLnBrk="1" hangingPunct="1">
              <a:lnSpc>
                <a:spcPct val="90000"/>
              </a:lnSpc>
            </a:pPr>
            <a:endParaRPr lang="en-US" altLang="en-US" sz="2800" b="1" u="sng" dirty="0"/>
          </a:p>
        </p:txBody>
      </p:sp>
    </p:spTree>
    <p:extLst>
      <p:ext uri="{BB962C8B-B14F-4D97-AF65-F5344CB8AC3E}">
        <p14:creationId xmlns:p14="http://schemas.microsoft.com/office/powerpoint/2010/main" val="20731039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08304-7C85-8630-EA1C-F36CEC23D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V/Q=0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9767F-09AD-79AC-34C7-5FDFEAB498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6968" y="2093976"/>
            <a:ext cx="4822952" cy="3671824"/>
          </a:xfrm>
        </p:spPr>
        <p:txBody>
          <a:bodyPr/>
          <a:lstStyle/>
          <a:p>
            <a:r>
              <a:rPr lang="en-US" dirty="0"/>
              <a:t>No alveolar ventilation. (</a:t>
            </a:r>
            <a:r>
              <a:rPr lang="en-US" b="1" dirty="0"/>
              <a:t>V=0</a:t>
            </a:r>
            <a:r>
              <a:rPr lang="en-US" dirty="0"/>
              <a:t>)</a:t>
            </a:r>
          </a:p>
          <a:p>
            <a:r>
              <a:rPr lang="en-US" dirty="0"/>
              <a:t>Venous blood returning to lungs from the body present in capillaries</a:t>
            </a:r>
          </a:p>
          <a:p>
            <a:r>
              <a:rPr lang="en-US" dirty="0"/>
              <a:t>The alveolar air equilibrates itself with venous O2 and CO2.</a:t>
            </a:r>
          </a:p>
          <a:p>
            <a:r>
              <a:rPr lang="en-US" dirty="0"/>
              <a:t>Hence, </a:t>
            </a:r>
            <a:r>
              <a:rPr lang="en-US" b="1" dirty="0"/>
              <a:t>pO2= 40mmHg , pCO2= 45mmHg, </a:t>
            </a:r>
            <a:r>
              <a:rPr lang="en-US" dirty="0"/>
              <a:t>similar to venous pressures.</a:t>
            </a:r>
            <a:endParaRPr lang="en-US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C48BA5-CB36-EEDD-A6BA-C9FBB0C0BA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4781" y="484632"/>
            <a:ext cx="6522453" cy="6281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0096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1C3BD-DCF5-BEAB-39A7-C22E63855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V/Q=∞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9596B-B251-A030-1608-7CA4B422A6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888" y="1887728"/>
            <a:ext cx="5269992" cy="4050792"/>
          </a:xfrm>
        </p:spPr>
        <p:txBody>
          <a:bodyPr/>
          <a:lstStyle/>
          <a:p>
            <a:r>
              <a:rPr lang="en-US" b="1" dirty="0"/>
              <a:t>No perfusion (Q=0)</a:t>
            </a:r>
            <a:r>
              <a:rPr lang="en-US" dirty="0"/>
              <a:t>, no capillary flow to carry O2 away or bring CO2 to alveoli.</a:t>
            </a:r>
          </a:p>
          <a:p>
            <a:r>
              <a:rPr lang="en-US" b="1" dirty="0"/>
              <a:t>Alveolar air equilibrates itself with humidified inspired air</a:t>
            </a:r>
          </a:p>
          <a:p>
            <a:r>
              <a:rPr lang="en-US" dirty="0"/>
              <a:t>No gaseous exchange occurs</a:t>
            </a:r>
          </a:p>
          <a:p>
            <a:r>
              <a:rPr lang="en-US" dirty="0"/>
              <a:t>Hence, </a:t>
            </a:r>
          </a:p>
          <a:p>
            <a:pPr lvl="1"/>
            <a:r>
              <a:rPr lang="en-US" b="1" dirty="0"/>
              <a:t>pO2=Normal inspired air= 149mmHg</a:t>
            </a:r>
          </a:p>
          <a:p>
            <a:pPr lvl="1"/>
            <a:r>
              <a:rPr lang="en-US" b="1" dirty="0"/>
              <a:t>pCO2= 0mmHg</a:t>
            </a:r>
          </a:p>
          <a:p>
            <a:pPr marL="548640" lvl="2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91FFF6-F860-8154-F5F9-6504A0D667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9535" y="0"/>
            <a:ext cx="6772465" cy="6522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3230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4397B-1C33-ADD2-5B10-B9322064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V/Q=Normal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7FBA2-AB65-21FC-4FF4-D91BF22E6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928" y="2021840"/>
            <a:ext cx="4548632" cy="4170680"/>
          </a:xfrm>
        </p:spPr>
        <p:txBody>
          <a:bodyPr/>
          <a:lstStyle/>
          <a:p>
            <a:r>
              <a:rPr lang="en-US" dirty="0"/>
              <a:t>Normal alveolar ventilation and perfusion</a:t>
            </a:r>
          </a:p>
          <a:p>
            <a:r>
              <a:rPr lang="en-US" dirty="0"/>
              <a:t>Optimal exchange of O2 and CO2</a:t>
            </a:r>
          </a:p>
          <a:p>
            <a:r>
              <a:rPr lang="en-US" dirty="0"/>
              <a:t>Hence.</a:t>
            </a:r>
          </a:p>
          <a:p>
            <a:pPr lvl="1"/>
            <a:r>
              <a:rPr lang="en-US" b="1" dirty="0"/>
              <a:t>pO2= 104mmHg</a:t>
            </a:r>
          </a:p>
          <a:p>
            <a:pPr lvl="1"/>
            <a:r>
              <a:rPr lang="en-US" b="1" dirty="0"/>
              <a:t>pCO2=40mmHg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9BF57D-1A4D-95C4-DC78-5FDBA0C862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9619" y="413512"/>
            <a:ext cx="6522453" cy="6281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0779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E7BF4-794F-C4A9-47B0-528585CF9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PHYSIOLOGICAL SHUNT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57DDD-7851-1AA0-ED47-183966AD5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V/Q is below normal</a:t>
            </a:r>
          </a:p>
          <a:p>
            <a:r>
              <a:rPr lang="en-US" dirty="0"/>
              <a:t>Inadequate ventilation, hence, a certain fraction of blood perfused is not oxygenated. This is called </a:t>
            </a:r>
            <a:r>
              <a:rPr lang="en-US" b="1" dirty="0"/>
              <a:t> shunted blood.</a:t>
            </a:r>
          </a:p>
          <a:p>
            <a:r>
              <a:rPr lang="en-US" b="1" dirty="0"/>
              <a:t>2% of the cardiac output, </a:t>
            </a:r>
            <a:r>
              <a:rPr lang="en-US" dirty="0"/>
              <a:t> via </a:t>
            </a:r>
            <a:r>
              <a:rPr lang="en-US" b="1" dirty="0"/>
              <a:t>bronchial vessels </a:t>
            </a:r>
            <a:r>
              <a:rPr lang="en-US" dirty="0"/>
              <a:t>is also unoxygenated.</a:t>
            </a:r>
          </a:p>
          <a:p>
            <a:r>
              <a:rPr lang="en-US" b="1" dirty="0"/>
              <a:t>Total quantitative amount of shunted blood per minute is called physiological shunt.</a:t>
            </a:r>
          </a:p>
        </p:txBody>
      </p:sp>
    </p:spTree>
    <p:extLst>
      <p:ext uri="{BB962C8B-B14F-4D97-AF65-F5344CB8AC3E}">
        <p14:creationId xmlns:p14="http://schemas.microsoft.com/office/powerpoint/2010/main" val="17555654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6A73B-293B-A2AF-DF47-1403E8BE3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PHYSIOLOGICAL DEAD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3080A-0B50-1CF7-83F1-EFE9824D77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V/Q is greater than normal.</a:t>
            </a:r>
          </a:p>
          <a:p>
            <a:r>
              <a:rPr lang="en-US" b="1" dirty="0"/>
              <a:t>Low amount of perfusion </a:t>
            </a:r>
            <a:r>
              <a:rPr lang="en-US" dirty="0"/>
              <a:t>but </a:t>
            </a:r>
            <a:r>
              <a:rPr lang="en-US" b="1" dirty="0"/>
              <a:t>more than adequate ventilation</a:t>
            </a:r>
            <a:r>
              <a:rPr lang="en-US" dirty="0"/>
              <a:t>, far more oxygen is available and </a:t>
            </a:r>
            <a:r>
              <a:rPr lang="en-US" b="1" dirty="0"/>
              <a:t>hence ventilation is said to be wasted.</a:t>
            </a:r>
          </a:p>
          <a:p>
            <a:r>
              <a:rPr lang="en-US" dirty="0"/>
              <a:t>Ventilation of anatomical dead spaces also wasted</a:t>
            </a:r>
          </a:p>
          <a:p>
            <a:r>
              <a:rPr lang="en-US" dirty="0"/>
              <a:t>Cumulative of these two wasted ventilations is called </a:t>
            </a:r>
            <a:r>
              <a:rPr lang="en-US" b="1" dirty="0"/>
              <a:t>physiological dead space.</a:t>
            </a:r>
          </a:p>
          <a:p>
            <a:r>
              <a:rPr lang="en-US" b="1" dirty="0"/>
              <a:t>When physiological dead space is great, work of ventilation is wasted as due to low perfusion, much of the ventilated air never reaches the blood.</a:t>
            </a:r>
          </a:p>
        </p:txBody>
      </p:sp>
    </p:spTree>
    <p:extLst>
      <p:ext uri="{BB962C8B-B14F-4D97-AF65-F5344CB8AC3E}">
        <p14:creationId xmlns:p14="http://schemas.microsoft.com/office/powerpoint/2010/main" val="33486035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80FBD-8E75-C359-B01C-0DC9979DD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68" y="0"/>
            <a:ext cx="10058400" cy="1609344"/>
          </a:xfrm>
        </p:spPr>
        <p:txBody>
          <a:bodyPr/>
          <a:lstStyle/>
          <a:p>
            <a:r>
              <a:rPr lang="en-US" dirty="0"/>
              <a:t>ABNORMALITIES OF V/Q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3543E6A-74AD-A9BC-A873-239B3F749D77}"/>
              </a:ext>
            </a:extLst>
          </p:cNvPr>
          <p:cNvPicPr>
            <a:picLocks noGrp="1" noChangeArrowheads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 bwMode="auto">
          <a:xfrm>
            <a:off x="5669280" y="1301600"/>
            <a:ext cx="6448552" cy="548528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0A9A67F-EE65-B0DE-1BB1-0F91B78B54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93040" y="1609343"/>
            <a:ext cx="5134864" cy="4859528"/>
          </a:xfrm>
        </p:spPr>
        <p:txBody>
          <a:bodyPr/>
          <a:lstStyle/>
          <a:p>
            <a:r>
              <a:rPr lang="en-US" dirty="0"/>
              <a:t>In a normal lung, there is a V/Q mismatch in upper and lower lung.</a:t>
            </a:r>
          </a:p>
          <a:p>
            <a:r>
              <a:rPr lang="en-US" dirty="0"/>
              <a:t>At </a:t>
            </a:r>
            <a:r>
              <a:rPr lang="en-US" b="1" dirty="0"/>
              <a:t>top of lung, V/Q is 2.5 times greater than ideal value</a:t>
            </a:r>
            <a:r>
              <a:rPr lang="en-US" dirty="0"/>
              <a:t>, due to low perfusion, causing </a:t>
            </a:r>
            <a:r>
              <a:rPr lang="en-US" b="1" dirty="0"/>
              <a:t>physiologic dead space.</a:t>
            </a:r>
          </a:p>
          <a:p>
            <a:r>
              <a:rPr lang="en-US" dirty="0"/>
              <a:t>At </a:t>
            </a:r>
            <a:r>
              <a:rPr lang="en-US" b="1" dirty="0"/>
              <a:t>the bottom of lung/Q is as low as 0.6 times the ideal value</a:t>
            </a:r>
            <a:r>
              <a:rPr lang="en-US" dirty="0"/>
              <a:t>, the ventilation is inadequate to the blood flow, leaving some blood non-oxygenated as </a:t>
            </a:r>
            <a:r>
              <a:rPr lang="en-US" b="1" dirty="0"/>
              <a:t>physiologic shunt.</a:t>
            </a:r>
          </a:p>
        </p:txBody>
      </p:sp>
    </p:spTree>
    <p:extLst>
      <p:ext uri="{BB962C8B-B14F-4D97-AF65-F5344CB8AC3E}">
        <p14:creationId xmlns:p14="http://schemas.microsoft.com/office/powerpoint/2010/main" val="21713511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8AFF7-B2C9-2C53-1C36-853EC6709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1808"/>
            <a:ext cx="10614152" cy="1609344"/>
          </a:xfrm>
        </p:spPr>
        <p:txBody>
          <a:bodyPr>
            <a:normAutofit/>
          </a:bodyPr>
          <a:lstStyle/>
          <a:p>
            <a:r>
              <a:rPr lang="en-US" dirty="0"/>
              <a:t>VENTILATION PERFUSION MISMATCH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2AF03-466A-6F01-F91F-720C996D94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861312"/>
            <a:ext cx="4754880" cy="3977640"/>
          </a:xfrm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/>
          <a:lstStyle/>
          <a:p>
            <a:pPr marL="812800" indent="-812800" eaLnBrk="1" hangingPunct="1">
              <a:lnSpc>
                <a:spcPct val="90000"/>
              </a:lnSpc>
              <a:buFontTx/>
              <a:buNone/>
            </a:pPr>
            <a:r>
              <a:rPr lang="en-US" altLang="en-US" b="1" dirty="0"/>
              <a:t>Chronic obstructive disorders </a:t>
            </a:r>
          </a:p>
          <a:p>
            <a:pPr marL="812800" indent="-812800" eaLnBrk="1" hangingPunct="1">
              <a:lnSpc>
                <a:spcPct val="90000"/>
              </a:lnSpc>
              <a:buFontTx/>
              <a:buNone/>
            </a:pPr>
            <a:r>
              <a:rPr lang="en-US" altLang="en-US" dirty="0"/>
              <a:t>      VA</a:t>
            </a:r>
            <a:r>
              <a:rPr lang="en-US" altLang="en-US" baseline="30000" dirty="0"/>
              <a:t>0</a:t>
            </a:r>
            <a:r>
              <a:rPr lang="en-US" altLang="en-US" dirty="0"/>
              <a:t> / Q</a:t>
            </a:r>
            <a:r>
              <a:rPr lang="en-US" altLang="en-US" baseline="30000" dirty="0"/>
              <a:t>0</a:t>
            </a:r>
            <a:r>
              <a:rPr lang="en-US" altLang="en-US" dirty="0"/>
              <a:t> Below normal</a:t>
            </a:r>
          </a:p>
          <a:p>
            <a:r>
              <a:rPr lang="en-US" dirty="0"/>
              <a:t>As, Q= Normal</a:t>
            </a:r>
          </a:p>
          <a:p>
            <a:r>
              <a:rPr lang="en-US" dirty="0"/>
              <a:t>      V= low</a:t>
            </a:r>
          </a:p>
          <a:p>
            <a:pPr marL="812800" indent="-812800" eaLnBrk="1" hangingPunct="1">
              <a:lnSpc>
                <a:spcPct val="90000"/>
              </a:lnSpc>
              <a:buFontTx/>
              <a:buNone/>
            </a:pPr>
            <a:r>
              <a:rPr lang="en-US" altLang="en-US" b="1" dirty="0"/>
              <a:t>Pulmonary Emphysema </a:t>
            </a:r>
          </a:p>
          <a:p>
            <a:pPr marL="812800" indent="-812800" eaLnBrk="1" hangingPunct="1">
              <a:lnSpc>
                <a:spcPct val="90000"/>
              </a:lnSpc>
              <a:buFontTx/>
              <a:buNone/>
            </a:pPr>
            <a:r>
              <a:rPr lang="en-US" altLang="en-US" dirty="0"/>
              <a:t>      VA</a:t>
            </a:r>
            <a:r>
              <a:rPr lang="en-US" altLang="en-US" baseline="30000" dirty="0"/>
              <a:t>0</a:t>
            </a:r>
            <a:r>
              <a:rPr lang="en-US" altLang="en-US" dirty="0"/>
              <a:t> / Q</a:t>
            </a:r>
            <a:r>
              <a:rPr lang="en-US" altLang="en-US" baseline="30000" dirty="0"/>
              <a:t>0</a:t>
            </a:r>
            <a:r>
              <a:rPr lang="en-US" altLang="en-US" dirty="0"/>
              <a:t> Above normal   </a:t>
            </a:r>
          </a:p>
          <a:p>
            <a:pPr marL="812800" indent="-812800" eaLnBrk="1" hangingPunct="1">
              <a:lnSpc>
                <a:spcPct val="90000"/>
              </a:lnSpc>
              <a:buFontTx/>
              <a:buNone/>
            </a:pPr>
            <a:r>
              <a:rPr lang="en-US" altLang="en-US" dirty="0"/>
              <a:t>As, V= Above normal</a:t>
            </a:r>
          </a:p>
          <a:p>
            <a:pPr marL="812800" indent="-812800" eaLnBrk="1" hangingPunct="1">
              <a:lnSpc>
                <a:spcPct val="90000"/>
              </a:lnSpc>
              <a:buFontTx/>
              <a:buNone/>
            </a:pPr>
            <a:r>
              <a:rPr lang="en-US" altLang="en-US" dirty="0"/>
              <a:t>      Q= Normal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91EC1B-2DC3-1057-E48B-C942BA2B53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7272" y="2669032"/>
            <a:ext cx="4754880" cy="2337817"/>
          </a:xfrm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/>
          <a:lstStyle/>
          <a:p>
            <a:r>
              <a:rPr lang="en-US" dirty="0"/>
              <a:t>Inadequate oxygenation, </a:t>
            </a:r>
            <a:r>
              <a:rPr lang="en-US" b="1" dirty="0"/>
              <a:t>Hypoxemia</a:t>
            </a:r>
          </a:p>
          <a:p>
            <a:r>
              <a:rPr lang="en-US" b="1" dirty="0"/>
              <a:t>Increased dead space </a:t>
            </a:r>
            <a:r>
              <a:rPr lang="en-US" dirty="0"/>
              <a:t>ventilation</a:t>
            </a:r>
          </a:p>
          <a:p>
            <a:r>
              <a:rPr lang="en-US" b="1" dirty="0"/>
              <a:t>Shunt-like mixing</a:t>
            </a:r>
          </a:p>
          <a:p>
            <a:r>
              <a:rPr lang="en-US" b="1" dirty="0"/>
              <a:t>Respiratory failure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245880AF-93DE-0582-5066-9E0B949B991E}"/>
              </a:ext>
            </a:extLst>
          </p:cNvPr>
          <p:cNvSpPr/>
          <p:nvPr/>
        </p:nvSpPr>
        <p:spPr>
          <a:xfrm>
            <a:off x="4846320" y="3429000"/>
            <a:ext cx="1248156" cy="3606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4730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3F358-2A8A-6459-918D-18537A531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445" y="-164527"/>
            <a:ext cx="10772648" cy="1707896"/>
          </a:xfrm>
        </p:spPr>
        <p:txBody>
          <a:bodyPr/>
          <a:lstStyle/>
          <a:p>
            <a:r>
              <a:rPr lang="en-US" dirty="0"/>
              <a:t>Transport of oxygen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99506A2-39B9-0484-6E77-83A3A8072C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627" y="1435510"/>
            <a:ext cx="5199626" cy="4807974"/>
          </a:xfrm>
        </p:spPr>
        <p:txBody>
          <a:bodyPr>
            <a:normAutofit/>
          </a:bodyPr>
          <a:lstStyle/>
          <a:p>
            <a:r>
              <a:rPr lang="en-US" dirty="0"/>
              <a:t>Oxygen diffuses out of the alveoli into the capillary bed at the respiratory membrane due to difference in partial pressures.</a:t>
            </a:r>
          </a:p>
          <a:p>
            <a:r>
              <a:rPr lang="en-US" dirty="0"/>
              <a:t>Upon reaching the tissues, a similar pressure difference is created as pO2 in capillary blood is higher as compared to the tissues, hence, once again oxygen diffuses out into the tissues.</a:t>
            </a:r>
          </a:p>
          <a:p>
            <a:r>
              <a:rPr lang="en-US" dirty="0"/>
              <a:t>Conversely, CO2 is released from tissues to capillary blood once oxygen is metabolized in the cells.</a:t>
            </a:r>
          </a:p>
          <a:p>
            <a:r>
              <a:rPr lang="en-US" dirty="0"/>
              <a:t>As blood flows to the lungs, CO2 diffuses out of the blood to alveoli because pCO2 in capillary blood is higher than alveoli.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85C6FACA-5EDA-80FA-5282-8785835F3A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2749" y="0"/>
            <a:ext cx="5199626" cy="6680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95381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D6FE2-F879-DC58-9E03-715B6FFE9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071" y="1130709"/>
            <a:ext cx="5319252" cy="5220929"/>
          </a:xfrm>
        </p:spPr>
        <p:txBody>
          <a:bodyPr>
            <a:normAutofit/>
          </a:bodyPr>
          <a:lstStyle/>
          <a:p>
            <a:r>
              <a:rPr lang="en-US" dirty="0"/>
              <a:t>pO2 at the gaseous </a:t>
            </a:r>
            <a:r>
              <a:rPr lang="en-US" b="1" dirty="0"/>
              <a:t>alveolus is 104mmHg</a:t>
            </a:r>
          </a:p>
          <a:p>
            <a:r>
              <a:rPr lang="en-US" dirty="0"/>
              <a:t>pO2 at the </a:t>
            </a:r>
            <a:r>
              <a:rPr lang="en-US" b="1" dirty="0"/>
              <a:t>capillary end is only 40mmHg</a:t>
            </a:r>
          </a:p>
          <a:p>
            <a:r>
              <a:rPr lang="en-US" dirty="0"/>
              <a:t>This creates </a:t>
            </a:r>
            <a:r>
              <a:rPr lang="en-US" b="1" dirty="0"/>
              <a:t>an initial pressure difference of 64mmHg </a:t>
            </a:r>
            <a:r>
              <a:rPr lang="en-US" dirty="0"/>
              <a:t>causing alveolar pO2 to diffuse into the capillary.</a:t>
            </a:r>
          </a:p>
          <a:p>
            <a:r>
              <a:rPr lang="en-US" dirty="0"/>
              <a:t>As the </a:t>
            </a:r>
            <a:r>
              <a:rPr lang="en-US" b="1" dirty="0"/>
              <a:t>blood passes through the capillary </a:t>
            </a:r>
            <a:r>
              <a:rPr lang="en-US" dirty="0"/>
              <a:t>there is  </a:t>
            </a:r>
            <a:r>
              <a:rPr lang="en-US" b="1" dirty="0"/>
              <a:t>rapid rise in the pO2</a:t>
            </a:r>
            <a:r>
              <a:rPr lang="en-US" dirty="0"/>
              <a:t> to almost that of the alveolar air.</a:t>
            </a:r>
          </a:p>
          <a:p>
            <a:r>
              <a:rPr lang="en-US" b="1" dirty="0"/>
              <a:t>98% </a:t>
            </a:r>
            <a:r>
              <a:rPr lang="en-US" dirty="0"/>
              <a:t>of blood is oxygenated here</a:t>
            </a:r>
          </a:p>
          <a:p>
            <a:r>
              <a:rPr lang="en-US" b="1" dirty="0"/>
              <a:t>2% </a:t>
            </a:r>
            <a:r>
              <a:rPr lang="en-US" dirty="0"/>
              <a:t>is in the shunt flow to bronchial circulation</a:t>
            </a:r>
            <a:endParaRPr lang="en-US" b="1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F5B364B-4BD2-1D98-7D2F-712186B63A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3977" y="484632"/>
            <a:ext cx="4448175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58546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D98AA-9058-095D-DC07-988173855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806" y="805950"/>
            <a:ext cx="6125497" cy="5506360"/>
          </a:xfrm>
        </p:spPr>
        <p:txBody>
          <a:bodyPr/>
          <a:lstStyle/>
          <a:p>
            <a:r>
              <a:rPr lang="en-US" dirty="0"/>
              <a:t>Upon leaving the lungs the pO2 of capillary blood is </a:t>
            </a:r>
            <a:r>
              <a:rPr lang="en-US" b="1" dirty="0"/>
              <a:t>104mmHg, </a:t>
            </a:r>
            <a:r>
              <a:rPr lang="en-US" dirty="0"/>
              <a:t>whereas pO2 of shunt flow is </a:t>
            </a:r>
            <a:r>
              <a:rPr lang="en-US" b="1" dirty="0"/>
              <a:t>40mmHg. </a:t>
            </a:r>
          </a:p>
          <a:p>
            <a:r>
              <a:rPr lang="en-US" dirty="0"/>
              <a:t>This combines in the pulmonary veins, </a:t>
            </a:r>
            <a:r>
              <a:rPr lang="en-US" b="1" dirty="0"/>
              <a:t>venous admixture of blood</a:t>
            </a:r>
            <a:r>
              <a:rPr lang="en-US" dirty="0"/>
              <a:t>, causing the pO2 of blood entering the left heart and aorta to fall to about </a:t>
            </a:r>
            <a:r>
              <a:rPr lang="en-US" b="1" dirty="0"/>
              <a:t>95mmHg.</a:t>
            </a:r>
          </a:p>
          <a:p>
            <a:r>
              <a:rPr lang="en-US" dirty="0"/>
              <a:t>When this reaches the </a:t>
            </a:r>
            <a:r>
              <a:rPr lang="en-US" b="1" dirty="0"/>
              <a:t>interstitium of tissues, pO2 of fluid is 40mmHg</a:t>
            </a:r>
            <a:r>
              <a:rPr lang="en-US" dirty="0"/>
              <a:t> and that of </a:t>
            </a:r>
            <a:r>
              <a:rPr lang="en-US" b="1" dirty="0"/>
              <a:t>tissues is 23mmHg</a:t>
            </a:r>
            <a:r>
              <a:rPr lang="en-US" dirty="0"/>
              <a:t>. This pressure difference causes O2 to diffuse rapidly into the tissue cells.</a:t>
            </a:r>
          </a:p>
          <a:p>
            <a:r>
              <a:rPr lang="en-US" dirty="0"/>
              <a:t>pO2 entering </a:t>
            </a:r>
            <a:r>
              <a:rPr lang="en-US" b="1" dirty="0"/>
              <a:t>systemic veins </a:t>
            </a:r>
            <a:r>
              <a:rPr lang="en-US" dirty="0"/>
              <a:t>is hence, about </a:t>
            </a:r>
            <a:r>
              <a:rPr lang="en-US" b="1" dirty="0"/>
              <a:t>40mmHg.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9960A50-F3F1-6A59-6887-0CF66B687B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7" t="1690" r="1801" b="24707"/>
          <a:stretch/>
        </p:blipFill>
        <p:spPr bwMode="auto">
          <a:xfrm>
            <a:off x="7197212" y="0"/>
            <a:ext cx="4994788" cy="3854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755568AA-E2CF-CF93-A517-A3588BA8E1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969" y="4233402"/>
            <a:ext cx="5071634" cy="2541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75229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2EB62CD6-F0CA-E95A-AD3B-1B4492F8F2CB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37313" y="68826"/>
            <a:ext cx="5757774" cy="6093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260B0ED-57A2-FFE2-F489-BD809B25F1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82433" y="806245"/>
            <a:ext cx="4754880" cy="5356123"/>
          </a:xfrm>
        </p:spPr>
        <p:txBody>
          <a:bodyPr/>
          <a:lstStyle/>
          <a:p>
            <a:r>
              <a:rPr lang="en-US" dirty="0"/>
              <a:t>Increasing tissue blood flow increases O2 transported to cells. </a:t>
            </a:r>
          </a:p>
          <a:p>
            <a:r>
              <a:rPr lang="en-US" dirty="0"/>
              <a:t>400  times the flow increases pO2 by 66mmHg, and up to 95mmHg at the maximal blood flow</a:t>
            </a:r>
          </a:p>
          <a:p>
            <a:r>
              <a:rPr lang="en-US" dirty="0"/>
              <a:t>If the cells use more O2, interstitial pO2 is reduced</a:t>
            </a:r>
          </a:p>
          <a:p>
            <a:r>
              <a:rPr lang="en-US" dirty="0"/>
              <a:t>When consumption by cells is decreased pO2 of interstitial fluid is conversely increased.</a:t>
            </a:r>
          </a:p>
        </p:txBody>
      </p:sp>
    </p:spTree>
    <p:extLst>
      <p:ext uri="{BB962C8B-B14F-4D97-AF65-F5344CB8AC3E}">
        <p14:creationId xmlns:p14="http://schemas.microsoft.com/office/powerpoint/2010/main" val="22576235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46560-56F0-52DC-E3B5-716C4818C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of hemoglobin in transport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61EDB-F688-E95F-99D5-884D731631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7228" y="1842959"/>
            <a:ext cx="10768192" cy="5044243"/>
          </a:xfrm>
        </p:spPr>
        <p:txBody>
          <a:bodyPr>
            <a:normAutofit/>
          </a:bodyPr>
          <a:lstStyle/>
          <a:p>
            <a:r>
              <a:rPr lang="en-US" dirty="0"/>
              <a:t>97% oxygen is transported in combination with hemoglobin.</a:t>
            </a:r>
          </a:p>
          <a:p>
            <a:r>
              <a:rPr lang="en-US" dirty="0"/>
              <a:t>3% is dissolved in water of plasma and blood cells.</a:t>
            </a:r>
          </a:p>
          <a:p>
            <a:r>
              <a:rPr lang="en-US" dirty="0"/>
              <a:t>O2 binds reversibly with Hb. </a:t>
            </a:r>
          </a:p>
          <a:p>
            <a:r>
              <a:rPr lang="en-US" dirty="0"/>
              <a:t>If pO2 is high, oxygen binds with Hb, if pO2 is low as in tissues, Hb releases O2.</a:t>
            </a:r>
          </a:p>
          <a:p>
            <a:r>
              <a:rPr lang="en-US" dirty="0"/>
              <a:t>One gram of Hb can bind 1.34 ml of Oxygen</a:t>
            </a:r>
          </a:p>
          <a:p>
            <a:r>
              <a:rPr lang="en-US" dirty="0"/>
              <a:t>Normal level of Hb is 15 grams/dL</a:t>
            </a:r>
          </a:p>
          <a:p>
            <a:pPr algn="just"/>
            <a:r>
              <a:rPr lang="en-US" dirty="0"/>
              <a:t>Thus 15 grams of hemoglobin in 100 milliliters of blood can combine with a total of almost exactly 20 milliliters of oxygen if the  hemoglobin is 100 per cent saturated</a:t>
            </a:r>
          </a:p>
          <a:p>
            <a:pPr algn="just"/>
            <a:r>
              <a:rPr lang="en-US" dirty="0"/>
              <a:t>This is usually expressed as 20 volumes per cent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8724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4E6AF-478E-CBDA-FEB0-4DA9C6FA49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3626" y="1602658"/>
            <a:ext cx="5451102" cy="4569542"/>
          </a:xfrm>
        </p:spPr>
        <p:txBody>
          <a:bodyPr>
            <a:normAutofit/>
          </a:bodyPr>
          <a:lstStyle/>
          <a:p>
            <a:r>
              <a:rPr lang="en-US" dirty="0"/>
              <a:t>O2 bound with hemoglobin in systemic arterial blood is 97% saturated, about </a:t>
            </a:r>
            <a:r>
              <a:rPr lang="en-US" b="1" dirty="0"/>
              <a:t>19.4ml per 100ml blood.</a:t>
            </a:r>
          </a:p>
          <a:p>
            <a:r>
              <a:rPr lang="en-US" dirty="0"/>
              <a:t>On passing capillaries, it is reduced to </a:t>
            </a:r>
            <a:r>
              <a:rPr lang="en-US" b="1" dirty="0"/>
              <a:t>14.4ml.</a:t>
            </a:r>
          </a:p>
          <a:p>
            <a:r>
              <a:rPr lang="en-US" b="1" dirty="0"/>
              <a:t>Only about 5ml of O2 is transported from lungs to tissues per 100ml flow.</a:t>
            </a:r>
          </a:p>
          <a:p>
            <a:r>
              <a:rPr lang="en-US" dirty="0"/>
              <a:t>During exercise, cellular O2 consumption increases, interstitial pO2 falls from 40mmHg to 15mmHg.</a:t>
            </a:r>
          </a:p>
          <a:p>
            <a:r>
              <a:rPr lang="en-US" dirty="0"/>
              <a:t>Only 4.4ml remains bound and </a:t>
            </a:r>
            <a:r>
              <a:rPr lang="en-US" b="1" dirty="0"/>
              <a:t>15ml of O2 </a:t>
            </a:r>
            <a:r>
              <a:rPr lang="en-US" dirty="0"/>
              <a:t> is delivered to cells.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FADCAFC2-2332-D2F4-4840-A85286EC633E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6871370" y="2193925"/>
            <a:ext cx="3740398" cy="3978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87764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5ABD4-CE13-C130-46A3-0F2550593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260" y="0"/>
            <a:ext cx="10483055" cy="1609344"/>
          </a:xfrm>
        </p:spPr>
        <p:txBody>
          <a:bodyPr/>
          <a:lstStyle/>
          <a:p>
            <a:r>
              <a:rPr lang="en-US" dirty="0"/>
              <a:t>Oxygen-hemoglobin dissociation curve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81548F-A5A9-E28C-1357-C089D15DED9E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75532" y="1709928"/>
            <a:ext cx="5252372" cy="5471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l">
              <a:buNone/>
            </a:pPr>
            <a:r>
              <a:rPr lang="en-US" sz="2000" b="0" i="0" u="none" strike="noStrike" baseline="0" dirty="0">
                <a:latin typeface="Bookman Old Style" panose="02050604050505020204" pitchFamily="18" charset="0"/>
              </a:rPr>
              <a:t>The oxygen-hemoglobin dissociation curve is a </a:t>
            </a:r>
            <a:r>
              <a:rPr lang="en-US" sz="2000" b="1" i="0" u="none" strike="noStrike" baseline="0" dirty="0">
                <a:latin typeface="Bookman Old Style" panose="02050604050505020204" pitchFamily="18" charset="0"/>
              </a:rPr>
              <a:t>graphical representation of the relationship between partial pressure of oxygen (PaO2) and the saturation of hemoglobin with oxygen (SaO2).</a:t>
            </a:r>
          </a:p>
          <a:p>
            <a:pPr marL="0" indent="0" algn="l">
              <a:buNone/>
            </a:pPr>
            <a:r>
              <a:rPr lang="en-US" sz="2000" b="0" i="0" u="none" strike="noStrike" baseline="0" dirty="0">
                <a:latin typeface="Bookman Old Style" panose="02050604050505020204" pitchFamily="18" charset="0"/>
              </a:rPr>
              <a:t>● SaO2 = % of hemoglobin (Hb) bound to oxygen</a:t>
            </a:r>
          </a:p>
          <a:p>
            <a:pPr marL="0" indent="0" algn="l">
              <a:buNone/>
            </a:pPr>
            <a:r>
              <a:rPr lang="en-US" sz="2000" b="0" i="0" u="none" strike="noStrike" baseline="0" dirty="0">
                <a:latin typeface="Bookman Old Style" panose="02050604050505020204" pitchFamily="18" charset="0"/>
              </a:rPr>
              <a:t>● PaO2 = amount of oxygen dissolved in blood</a:t>
            </a:r>
          </a:p>
          <a:p>
            <a:pPr marL="0" indent="0">
              <a:buNone/>
            </a:pPr>
            <a:r>
              <a:rPr lang="en-US" altLang="en-US" sz="2400" dirty="0">
                <a:latin typeface="Bookman Old Style" panose="02050604050505020204" pitchFamily="18" charset="0"/>
              </a:rPr>
              <a:t>It shows </a:t>
            </a:r>
            <a:r>
              <a:rPr lang="en-US" altLang="en-US" sz="2400" b="1" dirty="0">
                <a:latin typeface="Bookman Old Style" panose="02050604050505020204" pitchFamily="18" charset="0"/>
              </a:rPr>
              <a:t>that % of Hb saturation increases with increase in PO2</a:t>
            </a:r>
            <a:r>
              <a:rPr lang="en-US" altLang="en-US" sz="2400" dirty="0">
                <a:latin typeface="Bookman Old Style" panose="02050604050505020204" pitchFamily="18" charset="0"/>
              </a:rPr>
              <a:t>, but this relationship is </a:t>
            </a:r>
            <a:r>
              <a:rPr lang="en-US" altLang="en-US" sz="2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not linear but sigmoid shaped.</a:t>
            </a:r>
          </a:p>
          <a:p>
            <a:pPr marL="0" indent="0" algn="l">
              <a:buNone/>
            </a:pPr>
            <a:endParaRPr lang="en-US" altLang="en-US" sz="2000" b="1" dirty="0">
              <a:latin typeface="Bookman Old Style" panose="020506040505050202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BF553F-E948-151F-C66C-2CE7373E209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F4AB37-68D2-1F17-20B3-DCA5B19317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7904" y="1709928"/>
            <a:ext cx="6864096" cy="51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86917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4AFC2-CB4A-1FA3-1393-E7119B9A5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B5961-0CA8-4978-A63E-EB60F16897F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Loading zone </a:t>
            </a:r>
            <a:r>
              <a:rPr lang="en-US" dirty="0"/>
              <a:t> refers to O2 uptake in lungs, higher affinity of </a:t>
            </a:r>
            <a:r>
              <a:rPr lang="en-US" b="1" dirty="0"/>
              <a:t>Hb </a:t>
            </a:r>
            <a:r>
              <a:rPr lang="en-US" dirty="0"/>
              <a:t> for O2 here.</a:t>
            </a:r>
          </a:p>
          <a:p>
            <a:r>
              <a:rPr lang="en-US" b="1" dirty="0"/>
              <a:t>Unloading zone </a:t>
            </a:r>
            <a:r>
              <a:rPr lang="en-US" dirty="0"/>
              <a:t>refers to release or dissociation of O2 from </a:t>
            </a:r>
            <a:r>
              <a:rPr lang="en-US" b="1" dirty="0"/>
              <a:t>Hb </a:t>
            </a:r>
            <a:r>
              <a:rPr lang="en-US" dirty="0"/>
              <a:t>at cellular level to make O2 readily available.</a:t>
            </a:r>
          </a:p>
          <a:p>
            <a:r>
              <a:rPr lang="en-US" b="1" dirty="0"/>
              <a:t>A small change in pO2 can dramatically affect the oxy-hemoglobin dissociation.</a:t>
            </a:r>
          </a:p>
          <a:p>
            <a:r>
              <a:rPr lang="en-US" dirty="0"/>
              <a:t>The curve can be either shifted to </a:t>
            </a:r>
            <a:r>
              <a:rPr lang="en-US" b="1" dirty="0"/>
              <a:t>Right </a:t>
            </a:r>
            <a:r>
              <a:rPr lang="en-US" dirty="0"/>
              <a:t> or </a:t>
            </a:r>
            <a:r>
              <a:rPr lang="en-US" b="1" dirty="0"/>
              <a:t> Left </a:t>
            </a:r>
            <a:r>
              <a:rPr lang="en-US" dirty="0"/>
              <a:t>depending upon multiple factors.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2A801C-8E18-33DD-5928-342A027E59FB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470486"/>
            <a:ext cx="5642057" cy="4701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72079F6-438C-6468-04A6-EA6FA093CC65}"/>
              </a:ext>
            </a:extLst>
          </p:cNvPr>
          <p:cNvSpPr txBox="1"/>
          <p:nvPr/>
        </p:nvSpPr>
        <p:spPr>
          <a:xfrm>
            <a:off x="8976852" y="2438401"/>
            <a:ext cx="191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Loading zone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FED1AE-766B-A79B-83B8-AF1B3CDB532B}"/>
              </a:ext>
            </a:extLst>
          </p:cNvPr>
          <p:cNvSpPr txBox="1"/>
          <p:nvPr/>
        </p:nvSpPr>
        <p:spPr>
          <a:xfrm rot="16200000">
            <a:off x="6636773" y="3183196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Unloading </a:t>
            </a:r>
          </a:p>
        </p:txBody>
      </p:sp>
    </p:spTree>
    <p:extLst>
      <p:ext uri="{BB962C8B-B14F-4D97-AF65-F5344CB8AC3E}">
        <p14:creationId xmlns:p14="http://schemas.microsoft.com/office/powerpoint/2010/main" val="2152508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B5214-6876-D4D5-F3BB-A73E76CCD8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950" y="747254"/>
            <a:ext cx="5861895" cy="6145161"/>
          </a:xfrm>
        </p:spPr>
        <p:txBody>
          <a:bodyPr>
            <a:normAutofit/>
          </a:bodyPr>
          <a:lstStyle/>
          <a:p>
            <a:r>
              <a:rPr lang="en-US" dirty="0"/>
              <a:t>A shift to the right means increased release of O2 at a lower pO2 from blood into tissues due to increased dissociation.</a:t>
            </a:r>
          </a:p>
          <a:p>
            <a:r>
              <a:rPr lang="en-US" dirty="0"/>
              <a:t> Factors causing right shift </a:t>
            </a:r>
          </a:p>
          <a:p>
            <a:pPr lvl="1"/>
            <a:r>
              <a:rPr lang="en-US" sz="2000" dirty="0"/>
              <a:t>Increased CO2 concentration(</a:t>
            </a:r>
            <a:r>
              <a:rPr lang="en-US" sz="2000" b="1" dirty="0"/>
              <a:t>Bohr’s effect</a:t>
            </a:r>
            <a:r>
              <a:rPr lang="en-US" sz="2000" dirty="0"/>
              <a:t>)</a:t>
            </a:r>
          </a:p>
          <a:p>
            <a:pPr lvl="1"/>
            <a:r>
              <a:rPr lang="en-US" sz="2000" dirty="0"/>
              <a:t>Increased temperature</a:t>
            </a:r>
          </a:p>
          <a:p>
            <a:pPr lvl="1"/>
            <a:r>
              <a:rPr lang="en-US" sz="2000" dirty="0"/>
              <a:t>Increased 2,3 BPG</a:t>
            </a:r>
            <a:r>
              <a:rPr lang="en-US" sz="2000" b="1" dirty="0"/>
              <a:t>(hypoxia </a:t>
            </a:r>
            <a:r>
              <a:rPr lang="en-US" sz="2000" b="1" dirty="0">
                <a:latin typeface="Bookman Old Style" panose="02050604050505020204" pitchFamily="18" charset="0"/>
              </a:rPr>
              <a:t>↑ BPG)</a:t>
            </a:r>
            <a:endParaRPr lang="en-US" sz="2000" dirty="0"/>
          </a:p>
          <a:p>
            <a:pPr lvl="1"/>
            <a:r>
              <a:rPr lang="en-US" sz="2000" dirty="0"/>
              <a:t>Increased H+ Ions</a:t>
            </a:r>
          </a:p>
          <a:p>
            <a:pPr lvl="1"/>
            <a:r>
              <a:rPr lang="en-US" sz="2000" dirty="0"/>
              <a:t>Reduced pH</a:t>
            </a:r>
          </a:p>
          <a:p>
            <a:pPr lvl="1"/>
            <a:r>
              <a:rPr lang="en-US" sz="2000" dirty="0"/>
              <a:t>Exercise indirectly increases above factors</a:t>
            </a:r>
          </a:p>
          <a:p>
            <a:r>
              <a:rPr lang="en-US" b="1" dirty="0"/>
              <a:t>BOHR’S EFFECT</a:t>
            </a:r>
          </a:p>
          <a:p>
            <a:pPr lvl="1"/>
            <a:r>
              <a:rPr lang="en-US" sz="2000" dirty="0"/>
              <a:t>Raised blood CO2 and H+ enhances release of O2 from Hb.</a:t>
            </a:r>
          </a:p>
          <a:p>
            <a:pPr lvl="1"/>
            <a:r>
              <a:rPr lang="en-US" sz="2000" dirty="0"/>
              <a:t>Raised CO2 causes increased carbonic acid and </a:t>
            </a:r>
            <a:r>
              <a:rPr lang="en-US" sz="2000" b="1" dirty="0"/>
              <a:t>H+ </a:t>
            </a:r>
            <a:r>
              <a:rPr lang="en-US" sz="2000" dirty="0"/>
              <a:t> concentration, forcing O2 away from Hb and into cells.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C033D8-A0B5-A5B7-76AA-1920D38688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2" t="4584" r="4012" b="5063"/>
          <a:stretch/>
        </p:blipFill>
        <p:spPr bwMode="auto">
          <a:xfrm>
            <a:off x="5820697" y="934066"/>
            <a:ext cx="6371303" cy="4650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471484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F5591-9CF6-D55A-388D-1CBE25A83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43EF2-207B-09A9-8B0C-AF062716164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DEDC8C-C1AF-137D-5C4E-ED1E943D0ED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452020-58F9-DADF-925E-BA82028159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2270"/>
            <a:ext cx="12192000" cy="6329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6104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C189879-9B38-E40C-4448-20BD328E8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Left shift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8F98F3F-DF30-6A81-5E6A-405E7F1E1D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FETAL HEMOGLOBIN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22581B4-0899-3ECF-EE93-68612E0A895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80BE4AA-F6C2-21BD-2F2D-56E87885E4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CO POISONING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724503-92AE-7858-775D-1FD6D4153622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20598" y="2688336"/>
            <a:ext cx="4847898" cy="39329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2" descr="C:\Documents and Settings\Administrator\Desktop\M9780323045827-023-f006.jpg">
            <a:extLst>
              <a:ext uri="{FF2B5EF4-FFF2-40B4-BE49-F238E27FC236}">
                <a16:creationId xmlns:a16="http://schemas.microsoft.com/office/drawing/2014/main" id="{2CA3F39E-5EBA-82E2-D706-0A5E138A5E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4" t="5538" r="4888" b="6485"/>
          <a:stretch/>
        </p:blipFill>
        <p:spPr bwMode="auto">
          <a:xfrm>
            <a:off x="5914698" y="2656234"/>
            <a:ext cx="5909620" cy="4215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593118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9DC929D-EA58-E7A1-DF7E-B5D564C09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Transport of carbon dioxide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85213D0-BA67-8EEA-0F08-DDA63B4BF23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</a:rPr>
              <a:t>Carbon dioxide diffuses out of the tissue cells in the dissolved molecular carbon dioxide form.</a:t>
            </a:r>
          </a:p>
          <a:p>
            <a:r>
              <a:rPr 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</a:rPr>
              <a:t> On entering the tissue capillaries, the carbon dioxide is converted to </a:t>
            </a:r>
            <a:r>
              <a:rPr lang="en-US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</a:rPr>
              <a:t>carbonic acid </a:t>
            </a:r>
            <a:endParaRPr lang="en-US" b="0" i="0" dirty="0">
              <a:solidFill>
                <a:srgbClr val="333333"/>
              </a:solidFill>
              <a:effectLst/>
              <a:latin typeface="Times New Roman" panose="02020603050405020304" pitchFamily="18" charset="0"/>
            </a:endParaRPr>
          </a:p>
          <a:p>
            <a:r>
              <a:rPr lang="en-US" dirty="0">
                <a:solidFill>
                  <a:srgbClr val="333333"/>
                </a:solidFill>
                <a:latin typeface="Times New Roman" panose="02020603050405020304" pitchFamily="18" charset="0"/>
              </a:rPr>
              <a:t>pCO2 venous blood is </a:t>
            </a:r>
            <a:r>
              <a:rPr lang="en-US" b="1" dirty="0">
                <a:solidFill>
                  <a:srgbClr val="333333"/>
                </a:solidFill>
                <a:latin typeface="Times New Roman" panose="02020603050405020304" pitchFamily="18" charset="0"/>
              </a:rPr>
              <a:t>45mmHg</a:t>
            </a:r>
          </a:p>
          <a:p>
            <a:r>
              <a:rPr lang="en-US" dirty="0">
                <a:solidFill>
                  <a:srgbClr val="333333"/>
                </a:solidFill>
                <a:latin typeface="Times New Roman" panose="02020603050405020304" pitchFamily="18" charset="0"/>
              </a:rPr>
              <a:t>pCO2 arterial blood is </a:t>
            </a:r>
            <a:r>
              <a:rPr lang="en-US" b="1" dirty="0">
                <a:solidFill>
                  <a:srgbClr val="333333"/>
                </a:solidFill>
                <a:latin typeface="Times New Roman" panose="02020603050405020304" pitchFamily="18" charset="0"/>
              </a:rPr>
              <a:t>40mmHg</a:t>
            </a:r>
          </a:p>
          <a:p>
            <a:r>
              <a:rPr lang="en-US" b="1" dirty="0">
                <a:solidFill>
                  <a:srgbClr val="333333"/>
                </a:solidFill>
                <a:latin typeface="Times New Roman" panose="02020603050405020304" pitchFamily="18" charset="0"/>
              </a:rPr>
              <a:t>Only a small difference is sufficient to initiate diffusion</a:t>
            </a:r>
            <a:endParaRPr lang="en-US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6AC411B5-BDF8-9CED-8F8F-65BEDEEDF093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47462" y="2193925"/>
            <a:ext cx="4388214" cy="3978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740239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5EA5BA8-7FA0-2FE0-CADF-AEE30EB50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Forms of transport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07A932-3F36-0BA0-76A0-9FB647F35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US" b="1" dirty="0"/>
              <a:t>Dissolved in Plasma: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About 7% of CO₂ is transported in dissolved form.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Contributes to the partial pressure of CO₂ in blood.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Bound to Hemoglobin (Carbaminohemoglobin):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CO₂ binds to the amino groups of hemoglobin.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Accounts for approximately 23% of CO₂ transport.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As Bicarbonate Ions (HCO₃⁻):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The majority (70%) of CO₂ is transported as bicarbonate ions.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The Chloride Shift or Hamburger Phenomenon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Catalyzed by the enzyme carbonic anhydrase in red blood cells.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757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64269-11A0-9774-CB79-DD035E921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06D7A-9DC9-A8B0-D113-88D4DA8D5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87885E-5DFA-3886-DCAE-472AE238EF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400" y="0"/>
            <a:ext cx="10277200" cy="6792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879998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8349F-DCD5-B7A9-A2DA-BC0449D01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Carbon dioxide dissociation curve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8B01A69-DE37-1000-F887-AF1DF31E905B}"/>
              </a:ext>
            </a:extLst>
          </p:cNvPr>
          <p:cNvSpPr>
            <a:spLocks noGrp="1"/>
          </p:cNvSpPr>
          <p:nvPr>
            <p:ph sz="half" idx="1"/>
          </p:nvPr>
        </p:nvSpPr>
        <p:spPr bwMode="auto">
          <a:xfrm>
            <a:off x="196770" y="2001378"/>
            <a:ext cx="5489062" cy="4078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buChar char="§"/>
              <a:defRPr sz="18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buChar char="§"/>
              <a:defRPr sz="18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buChar char="§"/>
              <a:defRPr sz="18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buChar char="§"/>
              <a:defRPr sz="18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en-US" dirty="0"/>
              <a:t>Relationship between PCO2 &amp; total CO2 content.</a:t>
            </a:r>
          </a:p>
          <a:p>
            <a:r>
              <a:rPr lang="en-US" altLang="en-US" dirty="0"/>
              <a:t>Relationship is nearly linear over wide range of PCO2</a:t>
            </a:r>
          </a:p>
          <a:p>
            <a:endParaRPr lang="en-US" alt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CF1813-E01B-E80D-C5A2-F17899793D3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2EE636-8FD8-4ACB-0819-B386EC02381B}"/>
              </a:ext>
            </a:extLst>
          </p:cNvPr>
          <p:cNvPicPr>
            <a:picLocks noGrp="1"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4728" y="1815084"/>
            <a:ext cx="6309728" cy="4736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081374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9C0B3BCF-CBA7-2308-02D6-BEF5B7529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>
                <a:solidFill>
                  <a:schemeClr val="tx1"/>
                </a:solidFill>
              </a:rPr>
              <a:t>FACTORS AFFECTING CO2 DISSOCIATION CURVE</a:t>
            </a:r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CD1D7CB1-3C70-4D8F-C699-038B686C69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069" y="2093976"/>
            <a:ext cx="6233777" cy="383411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dirty="0"/>
              <a:t>This combination of CO2 with Hb -</a:t>
            </a:r>
            <a:r>
              <a:rPr lang="en-US" altLang="en-US" b="1" dirty="0"/>
              <a:t>Reversible</a:t>
            </a:r>
          </a:p>
          <a:p>
            <a:pPr>
              <a:lnSpc>
                <a:spcPct val="150000"/>
              </a:lnSpc>
            </a:pPr>
            <a:r>
              <a:rPr lang="en-US" altLang="en-US" dirty="0"/>
              <a:t>Slower than reaction of CO2 with water as more CO2 transported as Bicarbonates (70%) than carbamino compounds (23%)</a:t>
            </a:r>
          </a:p>
        </p:txBody>
      </p:sp>
      <p:sp>
        <p:nvSpPr>
          <p:cNvPr id="13316" name="Date Placeholder 4">
            <a:extLst>
              <a:ext uri="{FF2B5EF4-FFF2-40B4-BE49-F238E27FC236}">
                <a16:creationId xmlns:a16="http://schemas.microsoft.com/office/drawing/2014/main" id="{78C85ABE-D91D-596F-9F94-0EDDC285F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6B72780-94DD-415C-9588-E6A50F15AF90}" type="datetime2">
              <a:rPr lang="en-US" altLang="en-US" smtClean="0">
                <a:latin typeface="Arial" panose="020B0604020202020204" pitchFamily="34" charset="0"/>
              </a:rPr>
              <a:pPr/>
              <a:t>Monday, March 17, 2025</a:t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>
    <p:pull dir="d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9350C499-C62B-3BBD-8E23-E349E4610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470" y="220263"/>
            <a:ext cx="10058400" cy="1609344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FACTORS AFFECTING CO2 DISSOCIATION CURVE</a:t>
            </a:r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4B3CA7BE-E05E-E702-B81D-51EC25B232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9448" y="2295144"/>
            <a:ext cx="4754880" cy="3977640"/>
          </a:xfrm>
        </p:spPr>
        <p:txBody>
          <a:bodyPr/>
          <a:lstStyle/>
          <a:p>
            <a:r>
              <a:rPr lang="en-US" altLang="en-US" dirty="0"/>
              <a:t>OXYGEN</a:t>
            </a:r>
          </a:p>
          <a:p>
            <a:r>
              <a:rPr lang="en-US" altLang="en-US" dirty="0"/>
              <a:t>DPG</a:t>
            </a:r>
          </a:p>
          <a:p>
            <a:r>
              <a:rPr lang="en-US" altLang="en-US" dirty="0"/>
              <a:t>BODY TEMPERATURE.</a:t>
            </a:r>
          </a:p>
        </p:txBody>
      </p:sp>
      <p:pic>
        <p:nvPicPr>
          <p:cNvPr id="15365" name="Picture 6" descr="C:\Users\ACER\Desktop\CO2 TRANSPORT\13   .jpg">
            <a:extLst>
              <a:ext uri="{FF2B5EF4-FFF2-40B4-BE49-F238E27FC236}">
                <a16:creationId xmlns:a16="http://schemas.microsoft.com/office/drawing/2014/main" id="{B4F0BC87-2ABF-9636-13EF-5471D125787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8607" y="1574800"/>
            <a:ext cx="7383393" cy="5158755"/>
          </a:xfrm>
          <a:noFill/>
        </p:spPr>
      </p:pic>
      <p:sp>
        <p:nvSpPr>
          <p:cNvPr id="15364" name="Date Placeholder 4">
            <a:extLst>
              <a:ext uri="{FF2B5EF4-FFF2-40B4-BE49-F238E27FC236}">
                <a16:creationId xmlns:a16="http://schemas.microsoft.com/office/drawing/2014/main" id="{942E6AFC-AF07-D3DD-6B1C-430B32D1E8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72AD434-98F0-4B86-B053-FC5C08A52196}" type="datetime2">
              <a:rPr lang="en-US" altLang="en-US" smtClean="0">
                <a:latin typeface="Arial" panose="020B0604020202020204" pitchFamily="34" charset="0"/>
              </a:rPr>
              <a:pPr/>
              <a:t>Monday, March 17, 2025</a:t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>
    <p:pull dir="d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EC0A8B36-62E9-3C60-DA40-CB8D7F06D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633"/>
            <a:ext cx="10058400" cy="1609344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OXYGEN</a:t>
            </a:r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AB178369-5264-D17F-824E-ED5ADA9BFB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40" y="1708976"/>
            <a:ext cx="5059680" cy="4563807"/>
          </a:xfrm>
        </p:spPr>
        <p:txBody>
          <a:bodyPr/>
          <a:lstStyle/>
          <a:p>
            <a:r>
              <a:rPr lang="en-US" altLang="en-US" b="1" dirty="0"/>
              <a:t>Deoxyhemoglobin</a:t>
            </a:r>
            <a:r>
              <a:rPr lang="en-US" altLang="en-US" dirty="0"/>
              <a:t> is capable of loading more Co2 than </a:t>
            </a:r>
            <a:r>
              <a:rPr lang="en-US" altLang="en-US" b="1" dirty="0"/>
              <a:t>oxyhemoglobin</a:t>
            </a:r>
            <a:r>
              <a:rPr lang="en-US" altLang="en-US" dirty="0"/>
              <a:t>.</a:t>
            </a:r>
          </a:p>
          <a:p>
            <a:r>
              <a:rPr lang="en-US" altLang="en-US" dirty="0"/>
              <a:t>Also, oxygenation of Hb in lungs increases Co2 unloading – </a:t>
            </a:r>
            <a:r>
              <a:rPr lang="en-US" altLang="en-US" b="1" dirty="0"/>
              <a:t>Haldane Effect.</a:t>
            </a:r>
          </a:p>
          <a:p>
            <a:r>
              <a:rPr lang="en-US" altLang="en-US" dirty="0"/>
              <a:t>For any given pCO2, the blood will hold more CO2 when pO2 is reduced.</a:t>
            </a:r>
          </a:p>
          <a:p>
            <a:endParaRPr lang="en-US" altLang="en-US" dirty="0"/>
          </a:p>
        </p:txBody>
      </p:sp>
      <p:pic>
        <p:nvPicPr>
          <p:cNvPr id="16389" name="Picture 6" descr="C:\Users\ACER\Desktop\CO2 TRANSPORT\14   6.jpg">
            <a:extLst>
              <a:ext uri="{FF2B5EF4-FFF2-40B4-BE49-F238E27FC236}">
                <a16:creationId xmlns:a16="http://schemas.microsoft.com/office/drawing/2014/main" id="{D3A6EDC0-5872-F9E0-12CF-B56F42A43310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89" t="16578" b="5002"/>
          <a:stretch/>
        </p:blipFill>
        <p:spPr>
          <a:xfrm>
            <a:off x="6167120" y="352423"/>
            <a:ext cx="5567680" cy="5747640"/>
          </a:xfrm>
          <a:solidFill>
            <a:schemeClr val="bg1"/>
          </a:solidFill>
        </p:spPr>
      </p:pic>
      <p:sp>
        <p:nvSpPr>
          <p:cNvPr id="16388" name="Date Placeholder 4">
            <a:extLst>
              <a:ext uri="{FF2B5EF4-FFF2-40B4-BE49-F238E27FC236}">
                <a16:creationId xmlns:a16="http://schemas.microsoft.com/office/drawing/2014/main" id="{210677C9-DCF7-4200-198A-C2D322F86D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D46568F-316F-4068-83B3-ECBAA6A46531}" type="datetime2">
              <a:rPr lang="en-US" altLang="en-US" smtClean="0">
                <a:latin typeface="Arial" panose="020B0604020202020204" pitchFamily="34" charset="0"/>
              </a:rPr>
              <a:pPr/>
              <a:t>Monday, March 17, 2025</a:t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>
    <p:pull dir="d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EAC3A678-7018-EF64-58F4-7EAAD12A1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008" y="231648"/>
            <a:ext cx="10058400" cy="1609344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OXYGEN</a:t>
            </a:r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C5BEE1EB-F372-2EF4-3FB5-7C0446A208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7040" y="2093976"/>
            <a:ext cx="5989320" cy="4587240"/>
          </a:xfrm>
        </p:spPr>
        <p:txBody>
          <a:bodyPr>
            <a:normAutofit/>
          </a:bodyPr>
          <a:lstStyle/>
          <a:p>
            <a:r>
              <a:rPr lang="en-US" altLang="en-US" sz="2400" dirty="0"/>
              <a:t>Blood with PCO2 40 mmHg reaching the tissue is </a:t>
            </a:r>
            <a:r>
              <a:rPr lang="en-US" altLang="en-US" sz="2400" b="1" dirty="0"/>
              <a:t>capable of drawing CO2 more at PO2 40 mm Hg than at PO2 100 mmHg</a:t>
            </a:r>
            <a:r>
              <a:rPr lang="en-US" altLang="en-US" sz="2400" dirty="0"/>
              <a:t>. So, dissociation </a:t>
            </a:r>
            <a:r>
              <a:rPr lang="en-US" altLang="en-US" sz="2400" b="1" dirty="0"/>
              <a:t>curve shifts to left in tissue</a:t>
            </a:r>
            <a:r>
              <a:rPr lang="en-US" altLang="en-US" sz="2400" dirty="0"/>
              <a:t>.</a:t>
            </a:r>
          </a:p>
          <a:p>
            <a:r>
              <a:rPr lang="en-US" altLang="en-US" sz="2400" dirty="0"/>
              <a:t>Blood with pCO2 45 mmHg reaching the lung is capable of leaving CO2 more at PO2 100 mm Hg than at PO2 40 mmHg. So, dissociation </a:t>
            </a:r>
            <a:r>
              <a:rPr lang="en-US" altLang="en-US" sz="2400" b="1" dirty="0"/>
              <a:t>curve shifts to right in lungs</a:t>
            </a:r>
            <a:r>
              <a:rPr lang="en-US" altLang="en-US" sz="2400" dirty="0"/>
              <a:t>.</a:t>
            </a:r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</p:txBody>
      </p:sp>
      <p:pic>
        <p:nvPicPr>
          <p:cNvPr id="17413" name="Picture 6" descr="C:\Users\ACER\Desktop\CO2 TRANSPORT\14 main-qimg-9fb7dd452ff2260a6df49233ad3840ed.gif">
            <a:extLst>
              <a:ext uri="{FF2B5EF4-FFF2-40B4-BE49-F238E27FC236}">
                <a16:creationId xmlns:a16="http://schemas.microsoft.com/office/drawing/2014/main" id="{372789C1-2AE6-DE02-AE35-31620331181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557" y="1297235"/>
            <a:ext cx="6260443" cy="5383981"/>
          </a:xfrm>
          <a:noFill/>
        </p:spPr>
      </p:pic>
      <p:sp>
        <p:nvSpPr>
          <p:cNvPr id="17412" name="Date Placeholder 4">
            <a:extLst>
              <a:ext uri="{FF2B5EF4-FFF2-40B4-BE49-F238E27FC236}">
                <a16:creationId xmlns:a16="http://schemas.microsoft.com/office/drawing/2014/main" id="{AEE6DA37-4230-753B-3CF6-3F83735C94B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8D80E87-4DAD-4B25-8075-6808DFA93FFD}" type="datetime2">
              <a:rPr lang="en-US" altLang="en-US" smtClean="0">
                <a:latin typeface="Arial" panose="020B0604020202020204" pitchFamily="34" charset="0"/>
              </a:rPr>
              <a:pPr/>
              <a:t>Monday, March 17, 2025</a:t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>
    <p:pull dir="d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07463679-BDDC-D126-E403-C7E069BB3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85928"/>
            <a:ext cx="10058400" cy="1609344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RELEASE OF CO2 IN LUNGS.</a:t>
            </a:r>
          </a:p>
        </p:txBody>
      </p:sp>
      <p:sp>
        <p:nvSpPr>
          <p:cNvPr id="20483" name="Content Placeholder 4">
            <a:extLst>
              <a:ext uri="{FF2B5EF4-FFF2-40B4-BE49-F238E27FC236}">
                <a16:creationId xmlns:a16="http://schemas.microsoft.com/office/drawing/2014/main" id="{808DADE0-B76E-25E6-E7F3-FB12044312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800" y="1911795"/>
            <a:ext cx="5405120" cy="4546600"/>
          </a:xfrm>
        </p:spPr>
        <p:txBody>
          <a:bodyPr>
            <a:normAutofit/>
          </a:bodyPr>
          <a:lstStyle/>
          <a:p>
            <a:r>
              <a:rPr lang="en-US" altLang="en-US" sz="2400" b="1" dirty="0"/>
              <a:t>Venous blood </a:t>
            </a:r>
            <a:r>
              <a:rPr lang="en-US" altLang="en-US" sz="2400" dirty="0"/>
              <a:t>with PCO2 45 mm Hg &amp; PO2 40 mm Hg contains CO2 52ml/100 ml.</a:t>
            </a:r>
          </a:p>
          <a:p>
            <a:r>
              <a:rPr lang="en-US" altLang="en-US" sz="2400" b="1" dirty="0"/>
              <a:t>Alveolar air </a:t>
            </a:r>
            <a:r>
              <a:rPr lang="en-US" altLang="en-US" sz="2400" dirty="0"/>
              <a:t>with Pco2 40 mmHg, PO2 100 mmHg contains CO2 48ml/100ml.</a:t>
            </a:r>
          </a:p>
          <a:p>
            <a:r>
              <a:rPr lang="en-US" altLang="en-US" sz="2400" b="1" dirty="0"/>
              <a:t>So total diffusion of 4 ml/100 ml.</a:t>
            </a:r>
          </a:p>
        </p:txBody>
      </p:sp>
      <p:pic>
        <p:nvPicPr>
          <p:cNvPr id="20485" name="Picture 6" descr="C:\Users\ACER\Desktop\CO2 TRANSPORT\18   lecture-17-36-638.jpg">
            <a:extLst>
              <a:ext uri="{FF2B5EF4-FFF2-40B4-BE49-F238E27FC236}">
                <a16:creationId xmlns:a16="http://schemas.microsoft.com/office/drawing/2014/main" id="{4014780A-0132-AB77-3ED1-F883115BDEBB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46535" y="1349629"/>
            <a:ext cx="7043587" cy="5288280"/>
          </a:xfrm>
          <a:noFill/>
        </p:spPr>
      </p:pic>
      <p:sp>
        <p:nvSpPr>
          <p:cNvPr id="20484" name="Date Placeholder 3">
            <a:extLst>
              <a:ext uri="{FF2B5EF4-FFF2-40B4-BE49-F238E27FC236}">
                <a16:creationId xmlns:a16="http://schemas.microsoft.com/office/drawing/2014/main" id="{4110D5D4-79CC-2EFE-ACE4-F83744FD57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C826F43-3AB3-4180-B71D-3DA9825E8E59}" type="datetime2">
              <a:rPr lang="en-US" altLang="en-US" smtClean="0">
                <a:latin typeface="Arial" panose="020B0604020202020204" pitchFamily="34" charset="0"/>
              </a:rPr>
              <a:pPr/>
              <a:t>Monday, March 17, 2025</a:t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>
    <p:pull dir="d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79E8EEAC-3907-3376-CEC4-7140DCC03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950" y="185928"/>
            <a:ext cx="10058400" cy="1609344"/>
          </a:xfrm>
        </p:spPr>
        <p:txBody>
          <a:bodyPr>
            <a:normAutofit/>
          </a:bodyPr>
          <a:lstStyle/>
          <a:p>
            <a:r>
              <a:rPr lang="en-US" altLang="en-US" sz="3600" dirty="0">
                <a:solidFill>
                  <a:schemeClr val="tx1"/>
                </a:solidFill>
              </a:rPr>
              <a:t>RELEASE OF CO2 FROM CARBAMINOHAEMOGLOBIN INTO PLASMA</a:t>
            </a:r>
          </a:p>
        </p:txBody>
      </p:sp>
      <p:sp>
        <p:nvSpPr>
          <p:cNvPr id="21507" name="Content Placeholder 4">
            <a:extLst>
              <a:ext uri="{FF2B5EF4-FFF2-40B4-BE49-F238E27FC236}">
                <a16:creationId xmlns:a16="http://schemas.microsoft.com/office/drawing/2014/main" id="{1583C21A-7D4C-29E8-1F79-F02C2DAA86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6720" y="2113280"/>
            <a:ext cx="5031742" cy="4558792"/>
          </a:xfrm>
        </p:spPr>
        <p:txBody>
          <a:bodyPr/>
          <a:lstStyle/>
          <a:p>
            <a:r>
              <a:rPr lang="en-US" altLang="en-US" dirty="0"/>
              <a:t>O2 enters the RBC</a:t>
            </a:r>
          </a:p>
          <a:p>
            <a:endParaRPr lang="en-US" altLang="en-US" b="1" dirty="0"/>
          </a:p>
          <a:p>
            <a:r>
              <a:rPr lang="en-US" altLang="en-US" b="1" dirty="0"/>
              <a:t>Converts Deoxy Hb – to Oxy Hb</a:t>
            </a:r>
          </a:p>
          <a:p>
            <a:endParaRPr lang="en-US" altLang="en-US" b="1" dirty="0"/>
          </a:p>
          <a:p>
            <a:r>
              <a:rPr lang="en-US" altLang="en-US" b="1" dirty="0"/>
              <a:t>Oxy-Hb </a:t>
            </a:r>
            <a:r>
              <a:rPr lang="en-US" altLang="en-US" dirty="0"/>
              <a:t>has low affinity for CO2</a:t>
            </a:r>
          </a:p>
          <a:p>
            <a:endParaRPr lang="en-US" altLang="en-US" dirty="0"/>
          </a:p>
          <a:p>
            <a:r>
              <a:rPr lang="en-US" altLang="en-US" b="1" dirty="0"/>
              <a:t>CO2 </a:t>
            </a:r>
            <a:r>
              <a:rPr lang="en-US" altLang="en-US" dirty="0"/>
              <a:t>released into plasma from Carbaminohemoglobin.</a:t>
            </a:r>
            <a:endParaRPr lang="en-US" altLang="en-US" b="1" dirty="0"/>
          </a:p>
        </p:txBody>
      </p:sp>
      <p:pic>
        <p:nvPicPr>
          <p:cNvPr id="21509" name="Picture 6" descr="C:\Users\ACER\Desktop\CO2 TRANSPORT\19   hqdefault.jpg">
            <a:extLst>
              <a:ext uri="{FF2B5EF4-FFF2-40B4-BE49-F238E27FC236}">
                <a16:creationId xmlns:a16="http://schemas.microsoft.com/office/drawing/2014/main" id="{CE6A27A1-9B7F-C231-4C7E-24585993C90E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458462" y="1587757"/>
            <a:ext cx="6733538" cy="5050152"/>
          </a:xfrm>
          <a:noFill/>
        </p:spPr>
      </p:pic>
      <p:sp>
        <p:nvSpPr>
          <p:cNvPr id="21508" name="Date Placeholder 3">
            <a:extLst>
              <a:ext uri="{FF2B5EF4-FFF2-40B4-BE49-F238E27FC236}">
                <a16:creationId xmlns:a16="http://schemas.microsoft.com/office/drawing/2014/main" id="{9C173CDA-3A2C-1201-D262-A60BA995E0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6FD0231-2492-485D-A7B3-B65D52CA38F5}" type="datetime2">
              <a:rPr lang="en-US" altLang="en-US" smtClean="0">
                <a:latin typeface="Arial" panose="020B0604020202020204" pitchFamily="34" charset="0"/>
              </a:rPr>
              <a:pPr/>
              <a:t>Monday, March 17, 2025</a:t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>
    <p:pull dir="d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9F1CD150-B4F8-368B-3B2A-DA6FBD7BF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26416"/>
            <a:ext cx="10058400" cy="1609344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RELEASE OF CO2 FROM CARBONATE  INTO PLASMA</a:t>
            </a:r>
          </a:p>
        </p:txBody>
      </p:sp>
      <p:sp>
        <p:nvSpPr>
          <p:cNvPr id="22531" name="Content Placeholder 4">
            <a:extLst>
              <a:ext uri="{FF2B5EF4-FFF2-40B4-BE49-F238E27FC236}">
                <a16:creationId xmlns:a16="http://schemas.microsoft.com/office/drawing/2014/main" id="{4DD10695-E671-B24B-7A37-A125D47B6E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7360" y="2019300"/>
            <a:ext cx="4229100" cy="4038600"/>
          </a:xfrm>
        </p:spPr>
        <p:txBody>
          <a:bodyPr/>
          <a:lstStyle/>
          <a:p>
            <a:r>
              <a:rPr lang="en-US" altLang="en-US" b="1" dirty="0"/>
              <a:t>Oxyhemoglobin</a:t>
            </a:r>
            <a:r>
              <a:rPr lang="en-US" altLang="en-US" dirty="0"/>
              <a:t> is strong acid – increases H+ ion conc – to neutralize HCO3- ions enters RBC &amp; Cl</a:t>
            </a:r>
            <a:r>
              <a:rPr lang="en-US" altLang="en-US" baseline="30000" dirty="0"/>
              <a:t>- </a:t>
            </a:r>
            <a:r>
              <a:rPr lang="en-US" altLang="en-US" dirty="0"/>
              <a:t>ions leaves RBC</a:t>
            </a:r>
          </a:p>
          <a:p>
            <a:r>
              <a:rPr lang="en-US" altLang="en-US" b="1" dirty="0"/>
              <a:t>Reversal of chloride shift.</a:t>
            </a:r>
          </a:p>
        </p:txBody>
      </p:sp>
      <p:pic>
        <p:nvPicPr>
          <p:cNvPr id="22533" name="Picture 6" descr="C:\Users\ACER\Desktop\CO2 TRANSPORT\20    Picture31.jpg">
            <a:extLst>
              <a:ext uri="{FF2B5EF4-FFF2-40B4-BE49-F238E27FC236}">
                <a16:creationId xmlns:a16="http://schemas.microsoft.com/office/drawing/2014/main" id="{2E3A36CC-C762-7D8D-823D-9B855E9D374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650484" y="1088465"/>
            <a:ext cx="6541516" cy="5731614"/>
          </a:xfrm>
          <a:noFill/>
        </p:spPr>
      </p:pic>
      <p:sp>
        <p:nvSpPr>
          <p:cNvPr id="22532" name="Date Placeholder 3">
            <a:extLst>
              <a:ext uri="{FF2B5EF4-FFF2-40B4-BE49-F238E27FC236}">
                <a16:creationId xmlns:a16="http://schemas.microsoft.com/office/drawing/2014/main" id="{F84DA795-75C7-3A67-1697-F05E2D7440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1F65223-6E94-4ABB-984B-15A99ADD23BB}" type="datetime2">
              <a:rPr lang="en-US" altLang="en-US" smtClean="0">
                <a:latin typeface="Arial" panose="020B0604020202020204" pitchFamily="34" charset="0"/>
              </a:rPr>
              <a:pPr/>
              <a:t>Monday, March 17, 2025</a:t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>
    <p:pull dir="d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6BE64E37-6672-1D72-6AF2-21718C307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088" y="262128"/>
            <a:ext cx="10058400" cy="1609344"/>
          </a:xfrm>
          <a:ln>
            <a:solidFill>
              <a:schemeClr val="bg1"/>
            </a:solidFill>
          </a:ln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DIFFUSION OF CO2 FROM PLASMA TO ALVEOLI</a:t>
            </a:r>
          </a:p>
        </p:txBody>
      </p:sp>
      <p:sp>
        <p:nvSpPr>
          <p:cNvPr id="23555" name="Content Placeholder 4">
            <a:extLst>
              <a:ext uri="{FF2B5EF4-FFF2-40B4-BE49-F238E27FC236}">
                <a16:creationId xmlns:a16="http://schemas.microsoft.com/office/drawing/2014/main" id="{60D3AF4B-E8DD-3884-C9AF-4A30780558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8168" y="2425065"/>
            <a:ext cx="4822952" cy="4323080"/>
          </a:xfrm>
        </p:spPr>
        <p:txBody>
          <a:bodyPr/>
          <a:lstStyle/>
          <a:p>
            <a:r>
              <a:rPr lang="en-US" altLang="en-US" dirty="0"/>
              <a:t>PCO2 of plasma of capillary </a:t>
            </a:r>
            <a:r>
              <a:rPr lang="en-US" altLang="en-US" b="1" dirty="0"/>
              <a:t>arterial blood 45 mm </a:t>
            </a:r>
            <a:r>
              <a:rPr lang="en-US" altLang="en-US" dirty="0"/>
              <a:t>Hg &amp; PCO2 </a:t>
            </a:r>
            <a:r>
              <a:rPr lang="en-US" altLang="en-US" b="1" dirty="0"/>
              <a:t>of alveolar air is 40 mm Hg.</a:t>
            </a:r>
          </a:p>
          <a:p>
            <a:r>
              <a:rPr lang="en-US" altLang="en-US" dirty="0"/>
              <a:t>Pressure gradient of </a:t>
            </a:r>
            <a:r>
              <a:rPr lang="en-US" altLang="en-US" b="1" dirty="0"/>
              <a:t>5 mm Hg</a:t>
            </a:r>
          </a:p>
          <a:p>
            <a:r>
              <a:rPr lang="en-US" altLang="en-US" b="1" dirty="0"/>
              <a:t> </a:t>
            </a:r>
            <a:r>
              <a:rPr lang="en-US" altLang="en-US" dirty="0"/>
              <a:t>Co</a:t>
            </a:r>
            <a:r>
              <a:rPr lang="en-US" altLang="en-US" baseline="-25000" dirty="0"/>
              <a:t>2</a:t>
            </a:r>
            <a:r>
              <a:rPr lang="en-US" altLang="en-US" dirty="0"/>
              <a:t> transported from plasma to alveoli.</a:t>
            </a:r>
          </a:p>
        </p:txBody>
      </p:sp>
      <p:pic>
        <p:nvPicPr>
          <p:cNvPr id="23557" name="Picture 6" descr="C:\Users\ACER\Desktop\CO2 TRANSPORT\21     ig15.jpg">
            <a:extLst>
              <a:ext uri="{FF2B5EF4-FFF2-40B4-BE49-F238E27FC236}">
                <a16:creationId xmlns:a16="http://schemas.microsoft.com/office/drawing/2014/main" id="{7C6DE794-7B4A-6F28-A6C4-2CE85CEFEEDC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791200" y="982755"/>
            <a:ext cx="6207760" cy="5765390"/>
          </a:xfrm>
          <a:noFill/>
        </p:spPr>
      </p:pic>
      <p:sp>
        <p:nvSpPr>
          <p:cNvPr id="23556" name="Date Placeholder 3">
            <a:extLst>
              <a:ext uri="{FF2B5EF4-FFF2-40B4-BE49-F238E27FC236}">
                <a16:creationId xmlns:a16="http://schemas.microsoft.com/office/drawing/2014/main" id="{0E2267D4-B937-CA72-0999-23748512BE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9B04463-BBFA-4552-95DF-A2DC26FF2283}" type="datetime2">
              <a:rPr lang="en-US" altLang="en-US" smtClean="0">
                <a:latin typeface="Arial" panose="020B0604020202020204" pitchFamily="34" charset="0"/>
              </a:rPr>
              <a:pPr/>
              <a:t>Monday, March 17, 2025</a:t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>
    <p:pull dir="d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55649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599</TotalTime>
  <Words>2805</Words>
  <Application>Microsoft Office PowerPoint</Application>
  <PresentationFormat>Widescreen</PresentationFormat>
  <Paragraphs>330</Paragraphs>
  <Slides>52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61" baseType="lpstr">
      <vt:lpstr>Arial</vt:lpstr>
      <vt:lpstr>Bookman Old Style</vt:lpstr>
      <vt:lpstr>Calibri</vt:lpstr>
      <vt:lpstr>Rockwell</vt:lpstr>
      <vt:lpstr>Rockwell Condensed</vt:lpstr>
      <vt:lpstr>Symbol</vt:lpstr>
      <vt:lpstr>Times New Roman</vt:lpstr>
      <vt:lpstr>Wingdings</vt:lpstr>
      <vt:lpstr>Wood Type</vt:lpstr>
      <vt:lpstr>Gaseous Exchange Through Alveolar Membrane</vt:lpstr>
      <vt:lpstr>PowerPoint Presentation</vt:lpstr>
      <vt:lpstr>RESPIRATORY UNIT/LOBULE</vt:lpstr>
      <vt:lpstr>PowerPoint Presentation</vt:lpstr>
      <vt:lpstr>RESPIRATORY MEMBRANE</vt:lpstr>
      <vt:lpstr>LAYERS OF RESPIRATORY MEMBRANE</vt:lpstr>
      <vt:lpstr>FACTORS AFFECTING DIFFUSION</vt:lpstr>
      <vt:lpstr>PowerPoint Presentation</vt:lpstr>
      <vt:lpstr>PowerPoint Presentation</vt:lpstr>
      <vt:lpstr>DIFFUSING CAPACITY OF RESPIRATORY MEMBRANE</vt:lpstr>
      <vt:lpstr>Diffusing Capacity of Oxygen</vt:lpstr>
      <vt:lpstr>Diffusing Capacity For Carbon dioxide</vt:lpstr>
      <vt:lpstr>VENTILATION &amp; PERFUSION</vt:lpstr>
      <vt:lpstr>PowerPoint Presentation</vt:lpstr>
      <vt:lpstr>ZONES OF PERFUSION</vt:lpstr>
      <vt:lpstr>PowerPoint Presentation</vt:lpstr>
      <vt:lpstr>ZONES OF VENTILATION</vt:lpstr>
      <vt:lpstr>Ventilation/Perfusion (V/Q) Ratio</vt:lpstr>
      <vt:lpstr>PowerPoint Presentation</vt:lpstr>
      <vt:lpstr>V/Q In ZONES OF LUNGS</vt:lpstr>
      <vt:lpstr>PowerPoint Presentation</vt:lpstr>
      <vt:lpstr>V/Q=0</vt:lpstr>
      <vt:lpstr>V/Q=∞</vt:lpstr>
      <vt:lpstr>V/Q=Normal</vt:lpstr>
      <vt:lpstr>PHYSIOLOGICAL SHUNT</vt:lpstr>
      <vt:lpstr>PHYSIOLOGICAL DEAD SPACE</vt:lpstr>
      <vt:lpstr>ABNORMALITIES OF V/Q</vt:lpstr>
      <vt:lpstr>VENTILATION PERFUSION MISMATCH</vt:lpstr>
      <vt:lpstr>Transport of oxygen</vt:lpstr>
      <vt:lpstr>PowerPoint Presentation</vt:lpstr>
      <vt:lpstr>PowerPoint Presentation</vt:lpstr>
      <vt:lpstr>PowerPoint Presentation</vt:lpstr>
      <vt:lpstr>Role of hemoglobin in transport</vt:lpstr>
      <vt:lpstr>PowerPoint Presentation</vt:lpstr>
      <vt:lpstr>Oxygen-hemoglobin dissociation curve</vt:lpstr>
      <vt:lpstr>PowerPoint Presentation</vt:lpstr>
      <vt:lpstr>PowerPoint Presentation</vt:lpstr>
      <vt:lpstr>PowerPoint Presentation</vt:lpstr>
      <vt:lpstr>Left shift</vt:lpstr>
      <vt:lpstr>Transport of carbon dioxide</vt:lpstr>
      <vt:lpstr>Forms of transport</vt:lpstr>
      <vt:lpstr>PowerPoint Presentation</vt:lpstr>
      <vt:lpstr>Carbon dioxide dissociation curve</vt:lpstr>
      <vt:lpstr>FACTORS AFFECTING CO2 DISSOCIATION CURVE</vt:lpstr>
      <vt:lpstr>FACTORS AFFECTING CO2 DISSOCIATION CURVE</vt:lpstr>
      <vt:lpstr>OXYGEN</vt:lpstr>
      <vt:lpstr>OXYGEN</vt:lpstr>
      <vt:lpstr>RELEASE OF CO2 IN LUNGS.</vt:lpstr>
      <vt:lpstr>RELEASE OF CO2 FROM CARBAMINOHAEMOGLOBIN INTO PLASMA</vt:lpstr>
      <vt:lpstr>RELEASE OF CO2 FROM CARBONATE  INTO PLASMA</vt:lpstr>
      <vt:lpstr>DIFFUSION OF CO2 FROM PLASMA TO ALVEOLI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Rabia Saeed</dc:creator>
  <cp:lastModifiedBy>Dr. Rabia Saeed</cp:lastModifiedBy>
  <cp:revision>4</cp:revision>
  <dcterms:created xsi:type="dcterms:W3CDTF">2025-03-16T18:52:44Z</dcterms:created>
  <dcterms:modified xsi:type="dcterms:W3CDTF">2025-03-17T11:56:59Z</dcterms:modified>
</cp:coreProperties>
</file>